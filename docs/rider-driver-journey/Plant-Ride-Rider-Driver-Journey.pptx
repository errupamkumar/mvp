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notesMasterIdLst>
    <p:notesMasterId r:id="rId3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notesMaster" Target="notesMasters/notesMaster1.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shared ride seen through two phones: A. Raghavan who rides, and S. Kumar who drives cab C-12. Every screen is the running MVP with demo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down a column to see the same moment on both phones. Screen numbers refer to the rider and driver sections that follow.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maps are drawn from coordinates on a schematic of the plant: the plant’s internal roads are not on public maps, and no map key is needed. Fixes more than 5 km from every pickup point are ignored.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Raghavan opens Plant Ride and signs in with a personnel number and password. One app serves riders, drivers and the desk; the login decides which screens open.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home screen greets the rider by name, offers the places they go most, and shows the cost centre their rides are charged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Raghavan types “Gate” and chooses Gate 2. Each pickup point tells riders exactly where to wait.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stops reachable on a route are offered as drops. The route and ride time show under the destination. Name and phone come from HR and stay editable. A guest can be booked on the same cost centre.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 checks every cab on duty against the route and the 3-rider cap, and shows what can take the rider now. Searched just now: 6 vehicles on duty were checked. A. Raghavan taps Confirm ride.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engine pools A. Raghavan onto C-12 with M. Iyer and S. Banerjee. No call to the transport desk. Matching checks the route, the 3-rider cap, the detour limit, duty hours and documents, then picks the best cab.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driver’s phone reports C-12’s position every few seconds. The rider sees it on a map of the run, with themselves on it. Every fix brings speed, the nearest stop and how fresh it is: “Stopped · near Admin Block”.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While the cab is on its way, the rider’s phone shares where they are with S. Kumar, so the driver can find them at a busy gate. Only the driver of this cab sees it, and only until boarding. The desk and the tracking link never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4-digit code makes sure the right rider boards the right cab. The link can go to a host or family.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Moments later C-12 is 190 m away, moving at 16 km/h. A. Raghavan has walked to the pickup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C-12’s GPS enters Gate 2’s arrival radius. The rider’s screen changes by itself and shows the code in large digits. The cab waits 5 minutes before the driver can mark a no-show.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driver accepts the code. The screen switches to the ride, with the drop time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distance is now measured to the drop. M. Iyer gets off at Coke Plant on the way. The rider’s own position is no longer shared: it was deleted at boarding.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drop closes the trip. The distance is measured and the cost is split between the riders.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time, clean cab, safe driving. The rating is stored with the trip and counts towards the vendor’s SLA.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Notifications record the match, the arrival, the start of the trip, the drop and the charge, as they happen.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 Kumar signs in with DRV-2281 on the driver’s phone. The same app opens the driver screens.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Documents are checked before a cab can be taken, not at the gate. Cabs with expired documents, off the road, or on duty with another driver cannot be chosen.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 tick boxes for the vehicle check, and the opening odometer that starts the day’s distance 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engine gives C-12 the two riders already waiting at Gate 2, and the driver’s phone starts sharing the cab’s position. Fixes more than 5 km from every pickup point are ignored, so a GPS glitch never moves the cab.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Raghavan has booked too. Three riders now, and all three share where they 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card per rider: name, staff number, pickup and drop, and where their phone says they 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C-12 enters Gate 2’s 40 m arrival radius and the arrival is recorded by itself. The riders are told the cab is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Raghavan shows 0416. The driver types it and taps Board. A wrong code is refused; after 5, boarding locks for the desk.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three codes check out. The trip starts and the next stop is the first drop.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map follows the cab along the route; the riders on board see the same position.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GPS records the arrival at Coke Plant and M. Iyer’s ride completes. Two riders stay on 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the Blast Furnace A. Raghavan and S. Banerjee get off. The trip is costed and charged, and the queue waits for new pickups.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 Kumar enters the closing odometer and the fuel drawn.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duty summary is the record the vendor bill and the fuel log are checked against.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image" Target="../media/image-3-2.jp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jp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jp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jp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jp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520"/>
        </a:solidFill>
      </p:bgPr>
    </p:bg>
    <p:spTree>
      <p:nvGrpSpPr>
        <p:cNvPr id="1" name=""/>
        <p:cNvGrpSpPr/>
        <p:nvPr/>
      </p:nvGrpSpPr>
      <p:grpSpPr>
        <a:xfrm>
          <a:off x="0" y="0"/>
          <a:ext cx="0" cy="0"/>
          <a:chOff x="0" y="0"/>
          <a:chExt cx="0" cy="0"/>
        </a:xfrm>
      </p:grpSpPr>
      <p:sp>
        <p:nvSpPr>
          <p:cNvPr id="2" name="Text 0"/>
          <p:cNvSpPr txBox="1"/>
          <p:nvPr/>
        </p:nvSpPr>
        <p:spPr>
          <a:xfrm>
            <a:off x="731520" y="1005840"/>
            <a:ext cx="7315200" cy="320040"/>
          </a:xfrm>
          <a:prstGeom prst="rect">
            <a:avLst/>
          </a:prstGeom>
          <a:noFill/>
          <a:ln/>
        </p:spPr>
        <p:txBody>
          <a:bodyPr wrap="square" lIns="0" tIns="0" rIns="0" bIns="0" rtlCol="0" anchor="ctr"/>
          <a:lstStyle/>
          <a:p>
            <a:pPr indent="0" marL="0">
              <a:buNone/>
            </a:pPr>
            <a:r>
              <a:rPr lang="en-US" sz="1400" b="1" spc="300" kern="0" dirty="0">
                <a:solidFill>
                  <a:srgbClr val="E85D04"/>
                </a:solidFill>
                <a:latin typeface="Calibri" pitchFamily="34" charset="0"/>
                <a:ea typeface="Calibri" pitchFamily="34" charset="-122"/>
                <a:cs typeface="Calibri" pitchFamily="34" charset="-120"/>
              </a:rPr>
              <a:t>PLANT RIDE · USER JOURNEY ON THE MVP</a:t>
            </a:r>
            <a:endParaRPr lang="en-US" sz="1400" dirty="0"/>
          </a:p>
        </p:txBody>
      </p:sp>
      <p:sp>
        <p:nvSpPr>
          <p:cNvPr id="3" name="Text 1"/>
          <p:cNvSpPr txBox="1"/>
          <p:nvPr/>
        </p:nvSpPr>
        <p:spPr>
          <a:xfrm>
            <a:off x="731520" y="1463040"/>
            <a:ext cx="7132320" cy="1554480"/>
          </a:xfrm>
          <a:prstGeom prst="rect">
            <a:avLst/>
          </a:prstGeom>
          <a:noFill/>
          <a:ln/>
        </p:spPr>
        <p:txBody>
          <a:bodyPr wrap="square" lIns="0" tIns="0" rIns="0" bIns="0" rtlCol="0" anchor="t"/>
          <a:lstStyle/>
          <a:p>
            <a:pPr indent="0" marL="0">
              <a:buNone/>
            </a:pPr>
            <a:r>
              <a:rPr lang="en-US" sz="4600" b="1" dirty="0">
                <a:solidFill>
                  <a:srgbClr val="FFFFFF"/>
                </a:solidFill>
                <a:latin typeface="Calibri" pitchFamily="34" charset="0"/>
                <a:ea typeface="Calibri" pitchFamily="34" charset="-122"/>
                <a:cs typeface="Calibri" pitchFamily="34" charset="-120"/>
              </a:rPr>
              <a:t>Rider → Driver journey, screen by screen</a:t>
            </a:r>
            <a:endParaRPr lang="en-US" sz="4600" dirty="0"/>
          </a:p>
        </p:txBody>
      </p:sp>
      <p:sp>
        <p:nvSpPr>
          <p:cNvPr id="4" name="Text 2"/>
          <p:cNvSpPr txBox="1"/>
          <p:nvPr/>
        </p:nvSpPr>
        <p:spPr>
          <a:xfrm>
            <a:off x="731520" y="3154680"/>
            <a:ext cx="6766560" cy="822960"/>
          </a:xfrm>
          <a:prstGeom prst="rect">
            <a:avLst/>
          </a:prstGeom>
          <a:noFill/>
          <a:ln/>
        </p:spPr>
        <p:txBody>
          <a:bodyPr wrap="square" lIns="0" tIns="0" rIns="0" bIns="0" rtlCol="0" anchor="t"/>
          <a:lstStyle/>
          <a:p>
            <a:pPr indent="0" marL="0">
              <a:buNone/>
            </a:pPr>
            <a:r>
              <a:rPr lang="en-US" sz="1800" dirty="0">
                <a:solidFill>
                  <a:srgbClr val="C9D4E2"/>
                </a:solidFill>
                <a:latin typeface="Calibri" pitchFamily="34" charset="0"/>
                <a:ea typeface="Calibri" pitchFamily="34" charset="-122"/>
                <a:cs typeface="Calibri" pitchFamily="34" charset="-120"/>
              </a:rPr>
              <a:t>One shared ride from Gate 2 to the Blast Furnace, first through the rider’s phone, then through the driver’s.</a:t>
            </a:r>
            <a:endParaRPr lang="en-US" sz="1800" dirty="0"/>
          </a:p>
        </p:txBody>
      </p:sp>
      <p:sp>
        <p:nvSpPr>
          <p:cNvPr id="5" name="Shape 3"/>
          <p:cNvSpPr/>
          <p:nvPr/>
        </p:nvSpPr>
        <p:spPr>
          <a:xfrm>
            <a:off x="731520" y="4206240"/>
            <a:ext cx="438912" cy="438912"/>
          </a:xfrm>
          <a:prstGeom prst="ellipse">
            <a:avLst/>
          </a:prstGeom>
          <a:solidFill>
            <a:srgbClr val="E85D04"/>
          </a:solidFill>
          <a:ln w="6350">
            <a:solidFill>
              <a:srgbClr val="E85D04"/>
            </a:solidFill>
            <a:prstDash val="solid"/>
          </a:ln>
        </p:spPr>
      </p:sp>
      <p:sp>
        <p:nvSpPr>
          <p:cNvPr id="6" name="Text 4"/>
          <p:cNvSpPr txBox="1"/>
          <p:nvPr/>
        </p:nvSpPr>
        <p:spPr>
          <a:xfrm>
            <a:off x="731520" y="4206240"/>
            <a:ext cx="438912" cy="43891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AR</a:t>
            </a:r>
            <a:endParaRPr lang="en-US" sz="1200" dirty="0"/>
          </a:p>
        </p:txBody>
      </p:sp>
      <p:sp>
        <p:nvSpPr>
          <p:cNvPr id="7" name="Text 5"/>
          <p:cNvSpPr txBox="1"/>
          <p:nvPr/>
        </p:nvSpPr>
        <p:spPr>
          <a:xfrm>
            <a:off x="1325880" y="4206240"/>
            <a:ext cx="6217920" cy="438912"/>
          </a:xfrm>
          <a:prstGeom prst="rect">
            <a:avLst/>
          </a:prstGeom>
          <a:noFill/>
          <a:ln/>
        </p:spPr>
        <p:txBody>
          <a:bodyPr wrap="square" lIns="0" tIns="0" rIns="0" bIns="0" rtlCol="0" anchor="ctr"/>
          <a:lstStyle/>
          <a:p>
            <a:pPr indent="0" marL="0">
              <a:buNone/>
            </a:pPr>
            <a:r>
              <a:rPr lang="en-US" sz="1400" b="1" dirty="0">
                <a:solidFill>
                  <a:srgbClr val="E85D04"/>
                </a:solidFill>
                <a:latin typeface="Calibri" pitchFamily="34" charset="0"/>
                <a:ea typeface="Calibri" pitchFamily="34" charset="-122"/>
                <a:cs typeface="Calibri" pitchFamily="34" charset="-120"/>
              </a:rPr>
              <a:t>Rider  </a:t>
            </a:r>
            <a:pPr indent="0" marL="0">
              <a:buNone/>
            </a:pPr>
            <a:r>
              <a:rPr lang="en-US" sz="1400" b="1" dirty="0">
                <a:solidFill>
                  <a:srgbClr val="FFFFFF"/>
                </a:solidFill>
                <a:latin typeface="Calibri" pitchFamily="34" charset="0"/>
                <a:ea typeface="Calibri" pitchFamily="34" charset="-122"/>
                <a:cs typeface="Calibri" pitchFamily="34" charset="-120"/>
              </a:rPr>
              <a:t>A. Raghavan</a:t>
            </a:r>
            <a:pPr indent="0" marL="0">
              <a:buNone/>
            </a:pPr>
            <a:r>
              <a:rPr lang="en-US" sz="1400" dirty="0">
                <a:solidFill>
                  <a:srgbClr val="93A3B8"/>
                </a:solidFill>
                <a:latin typeface="Calibri" pitchFamily="34" charset="0"/>
                <a:ea typeface="Calibri" pitchFamily="34" charset="-122"/>
                <a:cs typeface="Calibri" pitchFamily="34" charset="-120"/>
              </a:rPr>
              <a:t>  ·  LHS-40218 · Operations · CC-4471</a:t>
            </a:r>
            <a:endParaRPr lang="en-US" sz="1400" dirty="0"/>
          </a:p>
        </p:txBody>
      </p:sp>
      <p:sp>
        <p:nvSpPr>
          <p:cNvPr id="8" name="Shape 6"/>
          <p:cNvSpPr/>
          <p:nvPr/>
        </p:nvSpPr>
        <p:spPr>
          <a:xfrm>
            <a:off x="731520" y="4846320"/>
            <a:ext cx="438912" cy="438912"/>
          </a:xfrm>
          <a:prstGeom prst="ellipse">
            <a:avLst/>
          </a:prstGeom>
          <a:solidFill>
            <a:srgbClr val="00A896"/>
          </a:solidFill>
          <a:ln w="6350">
            <a:solidFill>
              <a:srgbClr val="00A896"/>
            </a:solidFill>
            <a:prstDash val="solid"/>
          </a:ln>
        </p:spPr>
      </p:sp>
      <p:sp>
        <p:nvSpPr>
          <p:cNvPr id="9" name="Text 7"/>
          <p:cNvSpPr txBox="1"/>
          <p:nvPr/>
        </p:nvSpPr>
        <p:spPr>
          <a:xfrm>
            <a:off x="731520" y="4846320"/>
            <a:ext cx="438912" cy="43891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SK</a:t>
            </a:r>
            <a:endParaRPr lang="en-US" sz="1200" dirty="0"/>
          </a:p>
        </p:txBody>
      </p:sp>
      <p:sp>
        <p:nvSpPr>
          <p:cNvPr id="10" name="Text 8"/>
          <p:cNvSpPr txBox="1"/>
          <p:nvPr/>
        </p:nvSpPr>
        <p:spPr>
          <a:xfrm>
            <a:off x="1325880" y="4846320"/>
            <a:ext cx="6217920" cy="438912"/>
          </a:xfrm>
          <a:prstGeom prst="rect">
            <a:avLst/>
          </a:prstGeom>
          <a:noFill/>
          <a:ln/>
        </p:spPr>
        <p:txBody>
          <a:bodyPr wrap="square" lIns="0" tIns="0" rIns="0" bIns="0" rtlCol="0" anchor="ctr"/>
          <a:lstStyle/>
          <a:p>
            <a:pPr indent="0" marL="0">
              <a:buNone/>
            </a:pPr>
            <a:r>
              <a:rPr lang="en-US" sz="1400" b="1" dirty="0">
                <a:solidFill>
                  <a:srgbClr val="00A896"/>
                </a:solidFill>
                <a:latin typeface="Calibri" pitchFamily="34" charset="0"/>
                <a:ea typeface="Calibri" pitchFamily="34" charset="-122"/>
                <a:cs typeface="Calibri" pitchFamily="34" charset="-120"/>
              </a:rPr>
              <a:t>Driver  </a:t>
            </a:r>
            <a:pPr indent="0" marL="0">
              <a:buNone/>
            </a:pPr>
            <a:r>
              <a:rPr lang="en-US" sz="1400" b="1" dirty="0">
                <a:solidFill>
                  <a:srgbClr val="FFFFFF"/>
                </a:solidFill>
                <a:latin typeface="Calibri" pitchFamily="34" charset="0"/>
                <a:ea typeface="Calibri" pitchFamily="34" charset="-122"/>
                <a:cs typeface="Calibri" pitchFamily="34" charset="-120"/>
              </a:rPr>
              <a:t>S. Kumar</a:t>
            </a:r>
            <a:pPr indent="0" marL="0">
              <a:buNone/>
            </a:pPr>
            <a:r>
              <a:rPr lang="en-US" sz="1400" dirty="0">
                <a:solidFill>
                  <a:srgbClr val="93A3B8"/>
                </a:solidFill>
                <a:latin typeface="Calibri" pitchFamily="34" charset="0"/>
                <a:ea typeface="Calibri" pitchFamily="34" charset="-122"/>
                <a:cs typeface="Calibri" pitchFamily="34" charset="-120"/>
              </a:rPr>
              <a:t>  ·  DRV-2281 · cab C-12 · MH 12 AB 4412</a:t>
            </a:r>
            <a:endParaRPr lang="en-US" sz="1400" dirty="0"/>
          </a:p>
        </p:txBody>
      </p:sp>
      <p:sp>
        <p:nvSpPr>
          <p:cNvPr id="11" name="Shape 9"/>
          <p:cNvSpPr/>
          <p:nvPr/>
        </p:nvSpPr>
        <p:spPr>
          <a:xfrm>
            <a:off x="8890711" y="493776"/>
            <a:ext cx="2729419" cy="5779008"/>
          </a:xfrm>
          <a:prstGeom prst="roundRect">
            <a:avLst>
              <a:gd name="adj" fmla="val 6030"/>
            </a:avLst>
          </a:prstGeom>
          <a:solidFill>
            <a:srgbClr val="16202B"/>
          </a:solidFill>
          <a:ln w="9525">
            <a:solidFill>
              <a:srgbClr val="16202B"/>
            </a:solidFill>
            <a:prstDash val="solid"/>
          </a:ln>
          <a:effectLst>
            <a:outerShdw sx="100000" sy="100000" kx="0" ky="0" algn="bl" rotWithShape="0" blurRad="127000" dist="38100" dir="5400000">
              <a:srgbClr val="000000">
                <a:alpha val="20000"/>
              </a:srgbClr>
            </a:outerShdw>
          </a:effectLst>
        </p:spPr>
      </p:sp>
      <p:pic>
        <p:nvPicPr>
          <p:cNvPr id="12" name="Image 0" descr="Screenshot: r07-cab-on-map">    </p:cNvPr>
          <p:cNvPicPr>
            <a:picLocks noChangeAspect="1"/>
          </p:cNvPicPr>
          <p:nvPr/>
        </p:nvPicPr>
        <p:blipFill>
          <a:blip r:embed="rId1"/>
          <a:stretch>
            <a:fillRect/>
          </a:stretch>
        </p:blipFill>
        <p:spPr>
          <a:xfrm>
            <a:off x="8945575" y="548640"/>
            <a:ext cx="2619691" cy="5669280"/>
          </a:xfrm>
          <a:prstGeom prst="rect">
            <a:avLst/>
          </a:prstGeom>
        </p:spPr>
      </p:pic>
      <p:sp>
        <p:nvSpPr>
          <p:cNvPr id="13" name="Text 10"/>
          <p:cNvSpPr txBox="1"/>
          <p:nvPr/>
        </p:nvSpPr>
        <p:spPr>
          <a:xfrm>
            <a:off x="731520" y="6309360"/>
            <a:ext cx="7772400" cy="274320"/>
          </a:xfrm>
          <a:prstGeom prst="rect">
            <a:avLst/>
          </a:prstGeom>
          <a:noFill/>
          <a:ln/>
        </p:spPr>
        <p:txBody>
          <a:bodyPr wrap="square" lIns="0" tIns="0" rIns="0" bIns="0" rtlCol="0" anchor="ctr"/>
          <a:lstStyle/>
          <a:p>
            <a:pPr indent="0" marL="0">
              <a:buNone/>
            </a:pPr>
            <a:r>
              <a:rPr lang="en-US" sz="1100" dirty="0">
                <a:solidFill>
                  <a:srgbClr val="93A3B8"/>
                </a:solidFill>
                <a:latin typeface="Calibri" pitchFamily="34" charset="0"/>
                <a:ea typeface="Calibri" pitchFamily="34" charset="-122"/>
                <a:cs typeface="Calibri" pitchFamily="34" charset="-120"/>
              </a:rPr>
              <a:t>Recorded 1 October 2026 on the running MVP · 30 screens · SRM ECO TECH for LHS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5486400" cy="274320"/>
          </a:xfrm>
          <a:prstGeom prst="rect">
            <a:avLst/>
          </a:prstGeom>
          <a:noFill/>
          <a:ln/>
        </p:spPr>
        <p:txBody>
          <a:bodyPr wrap="square" lIns="0" tIns="0" rIns="0" bIns="0" rtlCol="0" anchor="ctr"/>
          <a:lstStyle/>
          <a:p>
            <a:pPr indent="0" marL="0">
              <a:buNone/>
            </a:pPr>
            <a:r>
              <a:rPr lang="en-US" sz="1200" b="1" spc="200" kern="0" dirty="0">
                <a:solidFill>
                  <a:srgbClr val="E85D04"/>
                </a:solidFill>
                <a:latin typeface="Calibri" pitchFamily="34" charset="0"/>
                <a:ea typeface="Calibri" pitchFamily="34" charset="-122"/>
                <a:cs typeface="Calibri" pitchFamily="34" charset="-120"/>
              </a:rPr>
              <a:t>THE JOURNEY AT A GLANCE</a:t>
            </a:r>
            <a:endParaRPr lang="en-US" sz="1200" dirty="0"/>
          </a:p>
        </p:txBody>
      </p:sp>
      <p:sp>
        <p:nvSpPr>
          <p:cNvPr id="3" name="Text 1"/>
          <p:cNvSpPr txBox="1"/>
          <p:nvPr/>
        </p:nvSpPr>
        <p:spPr>
          <a:xfrm>
            <a:off x="548640" y="685800"/>
            <a:ext cx="10972800" cy="548640"/>
          </a:xfrm>
          <a:prstGeom prst="rect">
            <a:avLst/>
          </a:prstGeom>
          <a:noFill/>
          <a:ln/>
        </p:spPr>
        <p:txBody>
          <a:bodyPr wrap="square" lIns="0" tIns="0" rIns="0" bIns="0" rtlCol="0" anchor="ctr"/>
          <a:lstStyle/>
          <a:p>
            <a:pPr indent="0" marL="0">
              <a:buNone/>
            </a:pPr>
            <a:r>
              <a:rPr lang="en-US" sz="3000" b="1" dirty="0">
                <a:solidFill>
                  <a:srgbClr val="16202B"/>
                </a:solidFill>
                <a:latin typeface="Calibri" pitchFamily="34" charset="0"/>
                <a:ea typeface="Calibri" pitchFamily="34" charset="-122"/>
                <a:cs typeface="Calibri" pitchFamily="34" charset="-120"/>
              </a:rPr>
              <a:t>Six moments, two phones</a:t>
            </a:r>
            <a:endParaRPr lang="en-US" sz="3000" dirty="0"/>
          </a:p>
        </p:txBody>
      </p:sp>
      <p:sp>
        <p:nvSpPr>
          <p:cNvPr id="4" name="Shape 2"/>
          <p:cNvSpPr/>
          <p:nvPr/>
        </p:nvSpPr>
        <p:spPr>
          <a:xfrm>
            <a:off x="2103120" y="1481328"/>
            <a:ext cx="329184" cy="329184"/>
          </a:xfrm>
          <a:prstGeom prst="ellipse">
            <a:avLst/>
          </a:prstGeom>
          <a:solidFill>
            <a:srgbClr val="16202B"/>
          </a:solidFill>
          <a:ln w="15875">
            <a:solidFill>
              <a:srgbClr val="FFFFFF"/>
            </a:solidFill>
            <a:prstDash val="solid"/>
          </a:ln>
        </p:spPr>
      </p:sp>
      <p:sp>
        <p:nvSpPr>
          <p:cNvPr id="5" name="Text 3"/>
          <p:cNvSpPr txBox="1"/>
          <p:nvPr/>
        </p:nvSpPr>
        <p:spPr>
          <a:xfrm>
            <a:off x="2103120" y="148132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6" name="Text 4"/>
          <p:cNvSpPr txBox="1"/>
          <p:nvPr/>
        </p:nvSpPr>
        <p:spPr>
          <a:xfrm>
            <a:off x="2514600" y="1463040"/>
            <a:ext cx="1094689" cy="365760"/>
          </a:xfrm>
          <a:prstGeom prst="rect">
            <a:avLst/>
          </a:prstGeom>
          <a:noFill/>
          <a:ln/>
        </p:spPr>
        <p:txBody>
          <a:bodyPr wrap="square" lIns="0" tIns="0" rIns="0" bIns="0" rtlCol="0" anchor="ctr"/>
          <a:lstStyle/>
          <a:p>
            <a:pPr indent="0" marL="0">
              <a:buNone/>
            </a:pPr>
            <a:r>
              <a:rPr lang="en-US" sz="1300" b="1" dirty="0">
                <a:solidFill>
                  <a:srgbClr val="16202B"/>
                </a:solidFill>
                <a:latin typeface="Calibri" pitchFamily="34" charset="0"/>
                <a:ea typeface="Calibri" pitchFamily="34" charset="-122"/>
                <a:cs typeface="Calibri" pitchFamily="34" charset="-120"/>
              </a:rPr>
              <a:t>Shift starts</a:t>
            </a:r>
            <a:endParaRPr lang="en-US" sz="1300" dirty="0"/>
          </a:p>
        </p:txBody>
      </p:sp>
      <p:sp>
        <p:nvSpPr>
          <p:cNvPr id="7" name="Shape 5"/>
          <p:cNvSpPr/>
          <p:nvPr/>
        </p:nvSpPr>
        <p:spPr>
          <a:xfrm>
            <a:off x="3700729" y="1481328"/>
            <a:ext cx="329184" cy="329184"/>
          </a:xfrm>
          <a:prstGeom prst="ellipse">
            <a:avLst/>
          </a:prstGeom>
          <a:solidFill>
            <a:srgbClr val="16202B"/>
          </a:solidFill>
          <a:ln w="15875">
            <a:solidFill>
              <a:srgbClr val="FFFFFF"/>
            </a:solidFill>
            <a:prstDash val="solid"/>
          </a:ln>
        </p:spPr>
      </p:sp>
      <p:sp>
        <p:nvSpPr>
          <p:cNvPr id="8" name="Text 6"/>
          <p:cNvSpPr txBox="1"/>
          <p:nvPr/>
        </p:nvSpPr>
        <p:spPr>
          <a:xfrm>
            <a:off x="3700729" y="148132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9" name="Text 7"/>
          <p:cNvSpPr txBox="1"/>
          <p:nvPr/>
        </p:nvSpPr>
        <p:spPr>
          <a:xfrm>
            <a:off x="4112209" y="1463040"/>
            <a:ext cx="1094689" cy="365760"/>
          </a:xfrm>
          <a:prstGeom prst="rect">
            <a:avLst/>
          </a:prstGeom>
          <a:noFill/>
          <a:ln/>
        </p:spPr>
        <p:txBody>
          <a:bodyPr wrap="square" lIns="0" tIns="0" rIns="0" bIns="0" rtlCol="0" anchor="ctr"/>
          <a:lstStyle/>
          <a:p>
            <a:pPr indent="0" marL="0">
              <a:buNone/>
            </a:pPr>
            <a:r>
              <a:rPr lang="en-US" sz="1300" b="1" dirty="0">
                <a:solidFill>
                  <a:srgbClr val="16202B"/>
                </a:solidFill>
                <a:latin typeface="Calibri" pitchFamily="34" charset="0"/>
                <a:ea typeface="Calibri" pitchFamily="34" charset="-122"/>
                <a:cs typeface="Calibri" pitchFamily="34" charset="-120"/>
              </a:rPr>
              <a:t>Booking</a:t>
            </a:r>
            <a:endParaRPr lang="en-US" sz="1300" dirty="0"/>
          </a:p>
        </p:txBody>
      </p:sp>
      <p:sp>
        <p:nvSpPr>
          <p:cNvPr id="10" name="Shape 8"/>
          <p:cNvSpPr/>
          <p:nvPr/>
        </p:nvSpPr>
        <p:spPr>
          <a:xfrm>
            <a:off x="5298338" y="1481328"/>
            <a:ext cx="329184" cy="329184"/>
          </a:xfrm>
          <a:prstGeom prst="ellipse">
            <a:avLst/>
          </a:prstGeom>
          <a:solidFill>
            <a:srgbClr val="16202B"/>
          </a:solidFill>
          <a:ln w="15875">
            <a:solidFill>
              <a:srgbClr val="FFFFFF"/>
            </a:solidFill>
            <a:prstDash val="solid"/>
          </a:ln>
        </p:spPr>
      </p:sp>
      <p:sp>
        <p:nvSpPr>
          <p:cNvPr id="11" name="Text 9"/>
          <p:cNvSpPr txBox="1"/>
          <p:nvPr/>
        </p:nvSpPr>
        <p:spPr>
          <a:xfrm>
            <a:off x="5298338" y="148132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2" name="Text 10"/>
          <p:cNvSpPr txBox="1"/>
          <p:nvPr/>
        </p:nvSpPr>
        <p:spPr>
          <a:xfrm>
            <a:off x="5709818" y="1463040"/>
            <a:ext cx="1094689" cy="365760"/>
          </a:xfrm>
          <a:prstGeom prst="rect">
            <a:avLst/>
          </a:prstGeom>
          <a:noFill/>
          <a:ln/>
        </p:spPr>
        <p:txBody>
          <a:bodyPr wrap="square" lIns="0" tIns="0" rIns="0" bIns="0" rtlCol="0" anchor="ctr"/>
          <a:lstStyle/>
          <a:p>
            <a:pPr indent="0" marL="0">
              <a:buNone/>
            </a:pPr>
            <a:r>
              <a:rPr lang="en-US" sz="1300" b="1" dirty="0">
                <a:solidFill>
                  <a:srgbClr val="16202B"/>
                </a:solidFill>
                <a:latin typeface="Calibri" pitchFamily="34" charset="0"/>
                <a:ea typeface="Calibri" pitchFamily="34" charset="-122"/>
                <a:cs typeface="Calibri" pitchFamily="34" charset="-120"/>
              </a:rPr>
              <a:t>Cab on its way</a:t>
            </a:r>
            <a:endParaRPr lang="en-US" sz="1300" dirty="0"/>
          </a:p>
        </p:txBody>
      </p:sp>
      <p:sp>
        <p:nvSpPr>
          <p:cNvPr id="13" name="Shape 11"/>
          <p:cNvSpPr/>
          <p:nvPr/>
        </p:nvSpPr>
        <p:spPr>
          <a:xfrm>
            <a:off x="6895948" y="1481328"/>
            <a:ext cx="329184" cy="329184"/>
          </a:xfrm>
          <a:prstGeom prst="ellipse">
            <a:avLst/>
          </a:prstGeom>
          <a:solidFill>
            <a:srgbClr val="16202B"/>
          </a:solidFill>
          <a:ln w="15875">
            <a:solidFill>
              <a:srgbClr val="FFFFFF"/>
            </a:solidFill>
            <a:prstDash val="solid"/>
          </a:ln>
        </p:spPr>
      </p:sp>
      <p:sp>
        <p:nvSpPr>
          <p:cNvPr id="14" name="Text 12"/>
          <p:cNvSpPr txBox="1"/>
          <p:nvPr/>
        </p:nvSpPr>
        <p:spPr>
          <a:xfrm>
            <a:off x="6895948" y="148132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5" name="Text 13"/>
          <p:cNvSpPr txBox="1"/>
          <p:nvPr/>
        </p:nvSpPr>
        <p:spPr>
          <a:xfrm>
            <a:off x="7307428" y="1463040"/>
            <a:ext cx="1094689" cy="365760"/>
          </a:xfrm>
          <a:prstGeom prst="rect">
            <a:avLst/>
          </a:prstGeom>
          <a:noFill/>
          <a:ln/>
        </p:spPr>
        <p:txBody>
          <a:bodyPr wrap="square" lIns="0" tIns="0" rIns="0" bIns="0" rtlCol="0" anchor="ctr"/>
          <a:lstStyle/>
          <a:p>
            <a:pPr indent="0" marL="0">
              <a:buNone/>
            </a:pPr>
            <a:r>
              <a:rPr lang="en-US" sz="1300" b="1" dirty="0">
                <a:solidFill>
                  <a:srgbClr val="16202B"/>
                </a:solidFill>
                <a:latin typeface="Calibri" pitchFamily="34" charset="0"/>
                <a:ea typeface="Calibri" pitchFamily="34" charset="-122"/>
                <a:cs typeface="Calibri" pitchFamily="34" charset="-120"/>
              </a:rPr>
              <a:t>At Gate 2</a:t>
            </a:r>
            <a:endParaRPr lang="en-US" sz="1300" dirty="0"/>
          </a:p>
        </p:txBody>
      </p:sp>
      <p:sp>
        <p:nvSpPr>
          <p:cNvPr id="16" name="Shape 14"/>
          <p:cNvSpPr/>
          <p:nvPr/>
        </p:nvSpPr>
        <p:spPr>
          <a:xfrm>
            <a:off x="8493557" y="1481328"/>
            <a:ext cx="329184" cy="329184"/>
          </a:xfrm>
          <a:prstGeom prst="ellipse">
            <a:avLst/>
          </a:prstGeom>
          <a:solidFill>
            <a:srgbClr val="16202B"/>
          </a:solidFill>
          <a:ln w="15875">
            <a:solidFill>
              <a:srgbClr val="FFFFFF"/>
            </a:solidFill>
            <a:prstDash val="solid"/>
          </a:ln>
        </p:spPr>
      </p:sp>
      <p:sp>
        <p:nvSpPr>
          <p:cNvPr id="17" name="Text 15"/>
          <p:cNvSpPr txBox="1"/>
          <p:nvPr/>
        </p:nvSpPr>
        <p:spPr>
          <a:xfrm>
            <a:off x="8493557" y="148132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18" name="Text 16"/>
          <p:cNvSpPr txBox="1"/>
          <p:nvPr/>
        </p:nvSpPr>
        <p:spPr>
          <a:xfrm>
            <a:off x="8905037" y="1463040"/>
            <a:ext cx="1094689" cy="365760"/>
          </a:xfrm>
          <a:prstGeom prst="rect">
            <a:avLst/>
          </a:prstGeom>
          <a:noFill/>
          <a:ln/>
        </p:spPr>
        <p:txBody>
          <a:bodyPr wrap="square" lIns="0" tIns="0" rIns="0" bIns="0" rtlCol="0" anchor="ctr"/>
          <a:lstStyle/>
          <a:p>
            <a:pPr indent="0" marL="0">
              <a:buNone/>
            </a:pPr>
            <a:r>
              <a:rPr lang="en-US" sz="1300" b="1" dirty="0">
                <a:solidFill>
                  <a:srgbClr val="16202B"/>
                </a:solidFill>
                <a:latin typeface="Calibri" pitchFamily="34" charset="0"/>
                <a:ea typeface="Calibri" pitchFamily="34" charset="-122"/>
                <a:cs typeface="Calibri" pitchFamily="34" charset="-120"/>
              </a:rPr>
              <a:t>The ride</a:t>
            </a:r>
            <a:endParaRPr lang="en-US" sz="1300" dirty="0"/>
          </a:p>
        </p:txBody>
      </p:sp>
      <p:sp>
        <p:nvSpPr>
          <p:cNvPr id="19" name="Shape 17"/>
          <p:cNvSpPr/>
          <p:nvPr/>
        </p:nvSpPr>
        <p:spPr>
          <a:xfrm>
            <a:off x="10091166" y="1481328"/>
            <a:ext cx="329184" cy="329184"/>
          </a:xfrm>
          <a:prstGeom prst="ellipse">
            <a:avLst/>
          </a:prstGeom>
          <a:solidFill>
            <a:srgbClr val="16202B"/>
          </a:solidFill>
          <a:ln w="15875">
            <a:solidFill>
              <a:srgbClr val="FFFFFF"/>
            </a:solidFill>
            <a:prstDash val="solid"/>
          </a:ln>
        </p:spPr>
      </p:sp>
      <p:sp>
        <p:nvSpPr>
          <p:cNvPr id="20" name="Text 18"/>
          <p:cNvSpPr txBox="1"/>
          <p:nvPr/>
        </p:nvSpPr>
        <p:spPr>
          <a:xfrm>
            <a:off x="10091166" y="148132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21" name="Text 19"/>
          <p:cNvSpPr txBox="1"/>
          <p:nvPr/>
        </p:nvSpPr>
        <p:spPr>
          <a:xfrm>
            <a:off x="10502646" y="1463040"/>
            <a:ext cx="1094689" cy="365760"/>
          </a:xfrm>
          <a:prstGeom prst="rect">
            <a:avLst/>
          </a:prstGeom>
          <a:noFill/>
          <a:ln/>
        </p:spPr>
        <p:txBody>
          <a:bodyPr wrap="square" lIns="0" tIns="0" rIns="0" bIns="0" rtlCol="0" anchor="ctr"/>
          <a:lstStyle/>
          <a:p>
            <a:pPr indent="0" marL="0">
              <a:buNone/>
            </a:pPr>
            <a:r>
              <a:rPr lang="en-US" sz="1300" b="1" dirty="0">
                <a:solidFill>
                  <a:srgbClr val="16202B"/>
                </a:solidFill>
                <a:latin typeface="Calibri" pitchFamily="34" charset="0"/>
                <a:ea typeface="Calibri" pitchFamily="34" charset="-122"/>
                <a:cs typeface="Calibri" pitchFamily="34" charset="-120"/>
              </a:rPr>
              <a:t>Closing</a:t>
            </a:r>
            <a:endParaRPr lang="en-US" sz="1300" dirty="0"/>
          </a:p>
        </p:txBody>
      </p:sp>
      <p:sp>
        <p:nvSpPr>
          <p:cNvPr id="22" name="Shape 20"/>
          <p:cNvSpPr/>
          <p:nvPr/>
        </p:nvSpPr>
        <p:spPr>
          <a:xfrm>
            <a:off x="548640" y="2697480"/>
            <a:ext cx="457200" cy="457200"/>
          </a:xfrm>
          <a:prstGeom prst="ellipse">
            <a:avLst/>
          </a:prstGeom>
          <a:solidFill>
            <a:srgbClr val="E85D04"/>
          </a:solidFill>
          <a:ln w="6350">
            <a:solidFill>
              <a:srgbClr val="E85D04"/>
            </a:solidFill>
            <a:prstDash val="solid"/>
          </a:ln>
        </p:spPr>
      </p:sp>
      <p:sp>
        <p:nvSpPr>
          <p:cNvPr id="23" name="Text 21"/>
          <p:cNvSpPr txBox="1"/>
          <p:nvPr/>
        </p:nvSpPr>
        <p:spPr>
          <a:xfrm>
            <a:off x="548640" y="269748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AR</a:t>
            </a:r>
            <a:endParaRPr lang="en-US" sz="1200" dirty="0"/>
          </a:p>
        </p:txBody>
      </p:sp>
      <p:sp>
        <p:nvSpPr>
          <p:cNvPr id="24" name="Text 22"/>
          <p:cNvSpPr txBox="1"/>
          <p:nvPr/>
        </p:nvSpPr>
        <p:spPr>
          <a:xfrm>
            <a:off x="1097280" y="2606040"/>
            <a:ext cx="914400" cy="640080"/>
          </a:xfrm>
          <a:prstGeom prst="rect">
            <a:avLst/>
          </a:prstGeom>
          <a:noFill/>
          <a:ln/>
        </p:spPr>
        <p:txBody>
          <a:bodyPr wrap="square" lIns="0" tIns="0" rIns="0" bIns="0" rtlCol="0" anchor="ctr"/>
          <a:lstStyle/>
          <a:p>
            <a:pPr indent="0" marL="0">
              <a:buNone/>
            </a:pPr>
            <a:r>
              <a:rPr lang="en-US" sz="1200" b="1" dirty="0">
                <a:solidFill>
                  <a:srgbClr val="E85D04"/>
                </a:solidFill>
                <a:latin typeface="Calibri" pitchFamily="34" charset="0"/>
                <a:ea typeface="Calibri" pitchFamily="34" charset="-122"/>
                <a:cs typeface="Calibri" pitchFamily="34" charset="-120"/>
              </a:rPr>
              <a:t>Rider</a:t>
            </a:r>
            <a:endParaRPr lang="en-US" sz="1200" dirty="0"/>
          </a:p>
          <a:p>
            <a:pPr indent="0" marL="0">
              <a:buNone/>
            </a:pPr>
            <a:r>
              <a:rPr lang="en-US" sz="1200" dirty="0">
                <a:solidFill>
                  <a:srgbClr val="16202B"/>
                </a:solidFill>
                <a:latin typeface="Calibri" pitchFamily="34" charset="0"/>
                <a:ea typeface="Calibri" pitchFamily="34" charset="-122"/>
                <a:cs typeface="Calibri" pitchFamily="34" charset="-120"/>
              </a:rPr>
              <a:t>A. Raghavan</a:t>
            </a:r>
            <a:endParaRPr lang="en-US" sz="1200" dirty="0"/>
          </a:p>
        </p:txBody>
      </p:sp>
      <p:sp>
        <p:nvSpPr>
          <p:cNvPr id="25" name="Shape 23"/>
          <p:cNvSpPr/>
          <p:nvPr/>
        </p:nvSpPr>
        <p:spPr>
          <a:xfrm>
            <a:off x="2103120" y="2103120"/>
            <a:ext cx="1460449" cy="1783080"/>
          </a:xfrm>
          <a:prstGeom prst="roundRect">
            <a:avLst>
              <a:gd name="adj" fmla="val 6261"/>
            </a:avLst>
          </a:prstGeom>
          <a:solidFill>
            <a:srgbClr val="FFEDE0"/>
          </a:solidFill>
          <a:ln w="6350">
            <a:solidFill>
              <a:srgbClr val="FFEDE0"/>
            </a:solidFill>
            <a:prstDash val="solid"/>
          </a:ln>
        </p:spPr>
      </p:sp>
      <p:sp>
        <p:nvSpPr>
          <p:cNvPr id="26" name="Text 24"/>
          <p:cNvSpPr txBox="1"/>
          <p:nvPr/>
        </p:nvSpPr>
        <p:spPr>
          <a:xfrm>
            <a:off x="2240280" y="2240280"/>
            <a:ext cx="1186129" cy="1508760"/>
          </a:xfrm>
          <a:prstGeom prst="rect">
            <a:avLst/>
          </a:prstGeom>
          <a:noFill/>
          <a:ln/>
        </p:spPr>
        <p:txBody>
          <a:bodyPr wrap="square" lIns="0" tIns="0" rIns="0" bIns="0" rtlCol="0" anchor="ctr"/>
          <a:lstStyle/>
          <a:p>
            <a:pPr indent="0" marL="0">
              <a:buNone/>
            </a:pPr>
            <a:r>
              <a:rPr lang="en-US" sz="1250" dirty="0">
                <a:solidFill>
                  <a:srgbClr val="16202B"/>
                </a:solidFill>
                <a:latin typeface="Calibri" pitchFamily="34" charset="0"/>
                <a:ea typeface="Calibri" pitchFamily="34" charset="-122"/>
                <a:cs typeface="Calibri" pitchFamily="34" charset="-120"/>
              </a:rPr>
              <a:t>Signs in; Where to? on the home screen · screens 1–2</a:t>
            </a:r>
            <a:endParaRPr lang="en-US" sz="1250" dirty="0"/>
          </a:p>
        </p:txBody>
      </p:sp>
      <p:sp>
        <p:nvSpPr>
          <p:cNvPr id="27" name="Shape 25"/>
          <p:cNvSpPr/>
          <p:nvPr/>
        </p:nvSpPr>
        <p:spPr>
          <a:xfrm>
            <a:off x="3700729" y="2103120"/>
            <a:ext cx="1460449" cy="1783080"/>
          </a:xfrm>
          <a:prstGeom prst="roundRect">
            <a:avLst>
              <a:gd name="adj" fmla="val 6261"/>
            </a:avLst>
          </a:prstGeom>
          <a:solidFill>
            <a:srgbClr val="FFEDE0"/>
          </a:solidFill>
          <a:ln w="6350">
            <a:solidFill>
              <a:srgbClr val="FFEDE0"/>
            </a:solidFill>
            <a:prstDash val="solid"/>
          </a:ln>
        </p:spPr>
      </p:sp>
      <p:sp>
        <p:nvSpPr>
          <p:cNvPr id="28" name="Text 26"/>
          <p:cNvSpPr txBox="1"/>
          <p:nvPr/>
        </p:nvSpPr>
        <p:spPr>
          <a:xfrm>
            <a:off x="3837889" y="2240280"/>
            <a:ext cx="1186129" cy="1508760"/>
          </a:xfrm>
          <a:prstGeom prst="rect">
            <a:avLst/>
          </a:prstGeom>
          <a:noFill/>
          <a:ln/>
        </p:spPr>
        <p:txBody>
          <a:bodyPr wrap="square" lIns="0" tIns="0" rIns="0" bIns="0" rtlCol="0" anchor="ctr"/>
          <a:lstStyle/>
          <a:p>
            <a:pPr indent="0" marL="0">
              <a:buNone/>
            </a:pPr>
            <a:r>
              <a:rPr lang="en-US" sz="1250" dirty="0">
                <a:solidFill>
                  <a:srgbClr val="16202B"/>
                </a:solidFill>
                <a:latin typeface="Calibri" pitchFamily="34" charset="0"/>
                <a:ea typeface="Calibri" pitchFamily="34" charset="-122"/>
                <a:cs typeface="Calibri" pitchFamily="34" charset="-120"/>
              </a:rPr>
              <a:t>Gate 2 → Blast Furnace; C-12 has a seat; matched at once · 3–6</a:t>
            </a:r>
            <a:endParaRPr lang="en-US" sz="1250" dirty="0"/>
          </a:p>
        </p:txBody>
      </p:sp>
      <p:sp>
        <p:nvSpPr>
          <p:cNvPr id="29" name="Shape 27"/>
          <p:cNvSpPr/>
          <p:nvPr/>
        </p:nvSpPr>
        <p:spPr>
          <a:xfrm>
            <a:off x="5298338" y="2103120"/>
            <a:ext cx="1460449" cy="1783080"/>
          </a:xfrm>
          <a:prstGeom prst="roundRect">
            <a:avLst>
              <a:gd name="adj" fmla="val 6261"/>
            </a:avLst>
          </a:prstGeom>
          <a:solidFill>
            <a:srgbClr val="FFEDE0"/>
          </a:solidFill>
          <a:ln w="6350">
            <a:solidFill>
              <a:srgbClr val="FFEDE0"/>
            </a:solidFill>
            <a:prstDash val="solid"/>
          </a:ln>
        </p:spPr>
      </p:sp>
      <p:sp>
        <p:nvSpPr>
          <p:cNvPr id="30" name="Text 28"/>
          <p:cNvSpPr txBox="1"/>
          <p:nvPr/>
        </p:nvSpPr>
        <p:spPr>
          <a:xfrm>
            <a:off x="5435498" y="2240280"/>
            <a:ext cx="1186129" cy="1508760"/>
          </a:xfrm>
          <a:prstGeom prst="rect">
            <a:avLst/>
          </a:prstGeom>
          <a:noFill/>
          <a:ln/>
        </p:spPr>
        <p:txBody>
          <a:bodyPr wrap="square" lIns="0" tIns="0" rIns="0" bIns="0" rtlCol="0" anchor="ctr"/>
          <a:lstStyle/>
          <a:p>
            <a:pPr indent="0" marL="0">
              <a:buNone/>
            </a:pPr>
            <a:r>
              <a:rPr lang="en-US" sz="1250" dirty="0">
                <a:solidFill>
                  <a:srgbClr val="16202B"/>
                </a:solidFill>
                <a:latin typeface="Calibri" pitchFamily="34" charset="0"/>
                <a:ea typeface="Calibri" pitchFamily="34" charset="-122"/>
                <a:cs typeface="Calibri" pitchFamily="34" charset="-120"/>
              </a:rPr>
              <a:t>Sees the cab on a map; shares own location · 7–10</a:t>
            </a:r>
            <a:endParaRPr lang="en-US" sz="1250" dirty="0"/>
          </a:p>
        </p:txBody>
      </p:sp>
      <p:sp>
        <p:nvSpPr>
          <p:cNvPr id="31" name="Shape 29"/>
          <p:cNvSpPr/>
          <p:nvPr/>
        </p:nvSpPr>
        <p:spPr>
          <a:xfrm>
            <a:off x="6895948" y="2103120"/>
            <a:ext cx="1460449" cy="1783080"/>
          </a:xfrm>
          <a:prstGeom prst="roundRect">
            <a:avLst>
              <a:gd name="adj" fmla="val 6261"/>
            </a:avLst>
          </a:prstGeom>
          <a:solidFill>
            <a:srgbClr val="FFEDE0"/>
          </a:solidFill>
          <a:ln w="6350">
            <a:solidFill>
              <a:srgbClr val="FFEDE0"/>
            </a:solidFill>
            <a:prstDash val="solid"/>
          </a:ln>
        </p:spPr>
      </p:sp>
      <p:sp>
        <p:nvSpPr>
          <p:cNvPr id="32" name="Text 30"/>
          <p:cNvSpPr txBox="1"/>
          <p:nvPr/>
        </p:nvSpPr>
        <p:spPr>
          <a:xfrm>
            <a:off x="7033108" y="2240280"/>
            <a:ext cx="1186129" cy="1508760"/>
          </a:xfrm>
          <a:prstGeom prst="rect">
            <a:avLst/>
          </a:prstGeom>
          <a:noFill/>
          <a:ln/>
        </p:spPr>
        <p:txBody>
          <a:bodyPr wrap="square" lIns="0" tIns="0" rIns="0" bIns="0" rtlCol="0" anchor="ctr"/>
          <a:lstStyle/>
          <a:p>
            <a:pPr indent="0" marL="0">
              <a:buNone/>
            </a:pPr>
            <a:r>
              <a:rPr lang="en-US" sz="1250" dirty="0">
                <a:solidFill>
                  <a:srgbClr val="16202B"/>
                </a:solidFill>
                <a:latin typeface="Calibri" pitchFamily="34" charset="0"/>
                <a:ea typeface="Calibri" pitchFamily="34" charset="-122"/>
                <a:cs typeface="Calibri" pitchFamily="34" charset="-120"/>
              </a:rPr>
              <a:t>Your cab has arrived; shows the OTP · 11</a:t>
            </a:r>
            <a:endParaRPr lang="en-US" sz="1250" dirty="0"/>
          </a:p>
        </p:txBody>
      </p:sp>
      <p:sp>
        <p:nvSpPr>
          <p:cNvPr id="33" name="Shape 31"/>
          <p:cNvSpPr/>
          <p:nvPr/>
        </p:nvSpPr>
        <p:spPr>
          <a:xfrm>
            <a:off x="8493557" y="2103120"/>
            <a:ext cx="1460449" cy="1783080"/>
          </a:xfrm>
          <a:prstGeom prst="roundRect">
            <a:avLst>
              <a:gd name="adj" fmla="val 6261"/>
            </a:avLst>
          </a:prstGeom>
          <a:solidFill>
            <a:srgbClr val="FFEDE0"/>
          </a:solidFill>
          <a:ln w="6350">
            <a:solidFill>
              <a:srgbClr val="FFEDE0"/>
            </a:solidFill>
            <a:prstDash val="solid"/>
          </a:ln>
        </p:spPr>
      </p:sp>
      <p:sp>
        <p:nvSpPr>
          <p:cNvPr id="34" name="Text 32"/>
          <p:cNvSpPr txBox="1"/>
          <p:nvPr/>
        </p:nvSpPr>
        <p:spPr>
          <a:xfrm>
            <a:off x="8630717" y="2240280"/>
            <a:ext cx="1186129" cy="1508760"/>
          </a:xfrm>
          <a:prstGeom prst="rect">
            <a:avLst/>
          </a:prstGeom>
          <a:noFill/>
          <a:ln/>
        </p:spPr>
        <p:txBody>
          <a:bodyPr wrap="square" lIns="0" tIns="0" rIns="0" bIns="0" rtlCol="0" anchor="ctr"/>
          <a:lstStyle/>
          <a:p>
            <a:pPr indent="0" marL="0">
              <a:buNone/>
            </a:pPr>
            <a:r>
              <a:rPr lang="en-US" sz="1250" dirty="0">
                <a:solidFill>
                  <a:srgbClr val="16202B"/>
                </a:solidFill>
                <a:latin typeface="Calibri" pitchFamily="34" charset="0"/>
                <a:ea typeface="Calibri" pitchFamily="34" charset="-122"/>
                <a:cs typeface="Calibri" pitchFamily="34" charset="-120"/>
              </a:rPr>
              <a:t>Trip in progress; follows the cab to the drop · 12–13</a:t>
            </a:r>
            <a:endParaRPr lang="en-US" sz="1250" dirty="0"/>
          </a:p>
        </p:txBody>
      </p:sp>
      <p:sp>
        <p:nvSpPr>
          <p:cNvPr id="35" name="Shape 33"/>
          <p:cNvSpPr/>
          <p:nvPr/>
        </p:nvSpPr>
        <p:spPr>
          <a:xfrm>
            <a:off x="10091166" y="2103120"/>
            <a:ext cx="1460449" cy="1783080"/>
          </a:xfrm>
          <a:prstGeom prst="roundRect">
            <a:avLst>
              <a:gd name="adj" fmla="val 6261"/>
            </a:avLst>
          </a:prstGeom>
          <a:solidFill>
            <a:srgbClr val="FFEDE0"/>
          </a:solidFill>
          <a:ln w="6350">
            <a:solidFill>
              <a:srgbClr val="FFEDE0"/>
            </a:solidFill>
            <a:prstDash val="solid"/>
          </a:ln>
        </p:spPr>
      </p:sp>
      <p:sp>
        <p:nvSpPr>
          <p:cNvPr id="36" name="Text 34"/>
          <p:cNvSpPr txBox="1"/>
          <p:nvPr/>
        </p:nvSpPr>
        <p:spPr>
          <a:xfrm>
            <a:off x="10228326" y="2240280"/>
            <a:ext cx="1186129" cy="1508760"/>
          </a:xfrm>
          <a:prstGeom prst="rect">
            <a:avLst/>
          </a:prstGeom>
          <a:noFill/>
          <a:ln/>
        </p:spPr>
        <p:txBody>
          <a:bodyPr wrap="square" lIns="0" tIns="0" rIns="0" bIns="0" rtlCol="0" anchor="ctr"/>
          <a:lstStyle/>
          <a:p>
            <a:pPr indent="0" marL="0">
              <a:buNone/>
            </a:pPr>
            <a:r>
              <a:rPr lang="en-US" sz="1250" dirty="0">
                <a:solidFill>
                  <a:srgbClr val="16202B"/>
                </a:solidFill>
                <a:latin typeface="Calibri" pitchFamily="34" charset="0"/>
                <a:ea typeface="Calibri" pitchFamily="34" charset="-122"/>
                <a:cs typeface="Calibri" pitchFamily="34" charset="-120"/>
              </a:rPr>
              <a:t>₹22.86 to CC-4471; rates 5★; alerts · 14–16</a:t>
            </a:r>
            <a:endParaRPr lang="en-US" sz="1250" dirty="0"/>
          </a:p>
        </p:txBody>
      </p:sp>
      <p:sp>
        <p:nvSpPr>
          <p:cNvPr id="37" name="Shape 35"/>
          <p:cNvSpPr/>
          <p:nvPr/>
        </p:nvSpPr>
        <p:spPr>
          <a:xfrm>
            <a:off x="548640" y="4754880"/>
            <a:ext cx="457200" cy="457200"/>
          </a:xfrm>
          <a:prstGeom prst="ellipse">
            <a:avLst/>
          </a:prstGeom>
          <a:solidFill>
            <a:srgbClr val="00A896"/>
          </a:solidFill>
          <a:ln w="6350">
            <a:solidFill>
              <a:srgbClr val="00A896"/>
            </a:solidFill>
            <a:prstDash val="solid"/>
          </a:ln>
        </p:spPr>
      </p:sp>
      <p:sp>
        <p:nvSpPr>
          <p:cNvPr id="38" name="Text 36"/>
          <p:cNvSpPr txBox="1"/>
          <p:nvPr/>
        </p:nvSpPr>
        <p:spPr>
          <a:xfrm>
            <a:off x="548640" y="475488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SK</a:t>
            </a:r>
            <a:endParaRPr lang="en-US" sz="1200" dirty="0"/>
          </a:p>
        </p:txBody>
      </p:sp>
      <p:sp>
        <p:nvSpPr>
          <p:cNvPr id="39" name="Text 37"/>
          <p:cNvSpPr txBox="1"/>
          <p:nvPr/>
        </p:nvSpPr>
        <p:spPr>
          <a:xfrm>
            <a:off x="1097280" y="4663440"/>
            <a:ext cx="914400" cy="640080"/>
          </a:xfrm>
          <a:prstGeom prst="rect">
            <a:avLst/>
          </a:prstGeom>
          <a:noFill/>
          <a:ln/>
        </p:spPr>
        <p:txBody>
          <a:bodyPr wrap="square" lIns="0" tIns="0" rIns="0" bIns="0" rtlCol="0" anchor="ctr"/>
          <a:lstStyle/>
          <a:p>
            <a:pPr indent="0" marL="0">
              <a:buNone/>
            </a:pPr>
            <a:r>
              <a:rPr lang="en-US" sz="1200" b="1" dirty="0">
                <a:solidFill>
                  <a:srgbClr val="00A896"/>
                </a:solidFill>
                <a:latin typeface="Calibri" pitchFamily="34" charset="0"/>
                <a:ea typeface="Calibri" pitchFamily="34" charset="-122"/>
                <a:cs typeface="Calibri" pitchFamily="34" charset="-120"/>
              </a:rPr>
              <a:t>Driver</a:t>
            </a:r>
            <a:endParaRPr lang="en-US" sz="1200" dirty="0"/>
          </a:p>
          <a:p>
            <a:pPr indent="0" marL="0">
              <a:buNone/>
            </a:pPr>
            <a:r>
              <a:rPr lang="en-US" sz="1200" dirty="0">
                <a:solidFill>
                  <a:srgbClr val="16202B"/>
                </a:solidFill>
                <a:latin typeface="Calibri" pitchFamily="34" charset="0"/>
                <a:ea typeface="Calibri" pitchFamily="34" charset="-122"/>
                <a:cs typeface="Calibri" pitchFamily="34" charset="-120"/>
              </a:rPr>
              <a:t>S. Kumar</a:t>
            </a:r>
            <a:endParaRPr lang="en-US" sz="1200" dirty="0"/>
          </a:p>
        </p:txBody>
      </p:sp>
      <p:sp>
        <p:nvSpPr>
          <p:cNvPr id="40" name="Shape 38"/>
          <p:cNvSpPr/>
          <p:nvPr/>
        </p:nvSpPr>
        <p:spPr>
          <a:xfrm>
            <a:off x="2103120" y="4160520"/>
            <a:ext cx="1460449" cy="1783080"/>
          </a:xfrm>
          <a:prstGeom prst="roundRect">
            <a:avLst>
              <a:gd name="adj" fmla="val 6261"/>
            </a:avLst>
          </a:prstGeom>
          <a:solidFill>
            <a:srgbClr val="DDF5F1"/>
          </a:solidFill>
          <a:ln w="6350">
            <a:solidFill>
              <a:srgbClr val="DDF5F1"/>
            </a:solidFill>
            <a:prstDash val="solid"/>
          </a:ln>
        </p:spPr>
      </p:sp>
      <p:sp>
        <p:nvSpPr>
          <p:cNvPr id="41" name="Text 39"/>
          <p:cNvSpPr txBox="1"/>
          <p:nvPr/>
        </p:nvSpPr>
        <p:spPr>
          <a:xfrm>
            <a:off x="2240280" y="4297680"/>
            <a:ext cx="1186129" cy="1508760"/>
          </a:xfrm>
          <a:prstGeom prst="rect">
            <a:avLst/>
          </a:prstGeom>
          <a:noFill/>
          <a:ln/>
        </p:spPr>
        <p:txBody>
          <a:bodyPr wrap="square" lIns="0" tIns="0" rIns="0" bIns="0" rtlCol="0" anchor="ctr"/>
          <a:lstStyle/>
          <a:p>
            <a:pPr indent="0" marL="0">
              <a:buNone/>
            </a:pPr>
            <a:r>
              <a:rPr lang="en-US" sz="1250" dirty="0">
                <a:solidFill>
                  <a:srgbClr val="16202B"/>
                </a:solidFill>
                <a:latin typeface="Calibri" pitchFamily="34" charset="0"/>
                <a:ea typeface="Calibri" pitchFamily="34" charset="-122"/>
                <a:cs typeface="Calibri" pitchFamily="34" charset="-120"/>
              </a:rPr>
              <a:t>Duty check; signs on with C-12; 2 riders waiting · screens 1–4</a:t>
            </a:r>
            <a:endParaRPr lang="en-US" sz="1250" dirty="0"/>
          </a:p>
        </p:txBody>
      </p:sp>
      <p:sp>
        <p:nvSpPr>
          <p:cNvPr id="42" name="Shape 40"/>
          <p:cNvSpPr/>
          <p:nvPr/>
        </p:nvSpPr>
        <p:spPr>
          <a:xfrm>
            <a:off x="3700729" y="4160520"/>
            <a:ext cx="1460449" cy="1783080"/>
          </a:xfrm>
          <a:prstGeom prst="roundRect">
            <a:avLst>
              <a:gd name="adj" fmla="val 6261"/>
            </a:avLst>
          </a:prstGeom>
          <a:solidFill>
            <a:srgbClr val="DDF5F1"/>
          </a:solidFill>
          <a:ln w="6350">
            <a:solidFill>
              <a:srgbClr val="DDF5F1"/>
            </a:solidFill>
            <a:prstDash val="solid"/>
          </a:ln>
        </p:spPr>
      </p:sp>
      <p:sp>
        <p:nvSpPr>
          <p:cNvPr id="43" name="Text 41"/>
          <p:cNvSpPr txBox="1"/>
          <p:nvPr/>
        </p:nvSpPr>
        <p:spPr>
          <a:xfrm>
            <a:off x="3837889" y="4297680"/>
            <a:ext cx="1186129" cy="1508760"/>
          </a:xfrm>
          <a:prstGeom prst="rect">
            <a:avLst/>
          </a:prstGeom>
          <a:noFill/>
          <a:ln/>
        </p:spPr>
        <p:txBody>
          <a:bodyPr wrap="square" lIns="0" tIns="0" rIns="0" bIns="0" rtlCol="0" anchor="ctr"/>
          <a:lstStyle/>
          <a:p>
            <a:pPr indent="0" marL="0">
              <a:buNone/>
            </a:pPr>
            <a:r>
              <a:rPr lang="en-US" sz="1250" dirty="0">
                <a:solidFill>
                  <a:srgbClr val="16202B"/>
                </a:solidFill>
                <a:latin typeface="Calibri" pitchFamily="34" charset="0"/>
                <a:ea typeface="Calibri" pitchFamily="34" charset="-122"/>
                <a:cs typeface="Calibri" pitchFamily="34" charset="-120"/>
              </a:rPr>
              <a:t>A third rider joins the queue by itself</a:t>
            </a:r>
            <a:endParaRPr lang="en-US" sz="1250" dirty="0"/>
          </a:p>
        </p:txBody>
      </p:sp>
      <p:sp>
        <p:nvSpPr>
          <p:cNvPr id="44" name="Shape 42"/>
          <p:cNvSpPr/>
          <p:nvPr/>
        </p:nvSpPr>
        <p:spPr>
          <a:xfrm>
            <a:off x="5298338" y="4160520"/>
            <a:ext cx="1460449" cy="1783080"/>
          </a:xfrm>
          <a:prstGeom prst="roundRect">
            <a:avLst>
              <a:gd name="adj" fmla="val 6261"/>
            </a:avLst>
          </a:prstGeom>
          <a:solidFill>
            <a:srgbClr val="DDF5F1"/>
          </a:solidFill>
          <a:ln w="6350">
            <a:solidFill>
              <a:srgbClr val="DDF5F1"/>
            </a:solidFill>
            <a:prstDash val="solid"/>
          </a:ln>
        </p:spPr>
      </p:sp>
      <p:sp>
        <p:nvSpPr>
          <p:cNvPr id="45" name="Text 43"/>
          <p:cNvSpPr txBox="1"/>
          <p:nvPr/>
        </p:nvSpPr>
        <p:spPr>
          <a:xfrm>
            <a:off x="5435498" y="4297680"/>
            <a:ext cx="1186129" cy="1508760"/>
          </a:xfrm>
          <a:prstGeom prst="rect">
            <a:avLst/>
          </a:prstGeom>
          <a:noFill/>
          <a:ln/>
        </p:spPr>
        <p:txBody>
          <a:bodyPr wrap="square" lIns="0" tIns="0" rIns="0" bIns="0" rtlCol="0" anchor="ctr"/>
          <a:lstStyle/>
          <a:p>
            <a:pPr indent="0" marL="0">
              <a:buNone/>
            </a:pPr>
            <a:r>
              <a:rPr lang="en-US" sz="1250" dirty="0">
                <a:solidFill>
                  <a:srgbClr val="16202B"/>
                </a:solidFill>
                <a:latin typeface="Calibri" pitchFamily="34" charset="0"/>
                <a:ea typeface="Calibri" pitchFamily="34" charset="-122"/>
                <a:cs typeface="Calibri" pitchFamily="34" charset="-120"/>
              </a:rPr>
              <a:t>Live map of 3 waiting riders; distances, directions · 5–6</a:t>
            </a:r>
            <a:endParaRPr lang="en-US" sz="1250" dirty="0"/>
          </a:p>
        </p:txBody>
      </p:sp>
      <p:sp>
        <p:nvSpPr>
          <p:cNvPr id="46" name="Shape 44"/>
          <p:cNvSpPr/>
          <p:nvPr/>
        </p:nvSpPr>
        <p:spPr>
          <a:xfrm>
            <a:off x="6895948" y="4160520"/>
            <a:ext cx="1460449" cy="1783080"/>
          </a:xfrm>
          <a:prstGeom prst="roundRect">
            <a:avLst>
              <a:gd name="adj" fmla="val 6261"/>
            </a:avLst>
          </a:prstGeom>
          <a:solidFill>
            <a:srgbClr val="DDF5F1"/>
          </a:solidFill>
          <a:ln w="6350">
            <a:solidFill>
              <a:srgbClr val="DDF5F1"/>
            </a:solidFill>
            <a:prstDash val="solid"/>
          </a:ln>
        </p:spPr>
      </p:sp>
      <p:sp>
        <p:nvSpPr>
          <p:cNvPr id="47" name="Text 45"/>
          <p:cNvSpPr txBox="1"/>
          <p:nvPr/>
        </p:nvSpPr>
        <p:spPr>
          <a:xfrm>
            <a:off x="7033108" y="4297680"/>
            <a:ext cx="1186129" cy="1508760"/>
          </a:xfrm>
          <a:prstGeom prst="rect">
            <a:avLst/>
          </a:prstGeom>
          <a:noFill/>
          <a:ln/>
        </p:spPr>
        <p:txBody>
          <a:bodyPr wrap="square" lIns="0" tIns="0" rIns="0" bIns="0" rtlCol="0" anchor="ctr"/>
          <a:lstStyle/>
          <a:p>
            <a:pPr indent="0" marL="0">
              <a:buNone/>
            </a:pPr>
            <a:r>
              <a:rPr lang="en-US" sz="1250" dirty="0">
                <a:solidFill>
                  <a:srgbClr val="16202B"/>
                </a:solidFill>
                <a:latin typeface="Calibri" pitchFamily="34" charset="0"/>
                <a:ea typeface="Calibri" pitchFamily="34" charset="-122"/>
                <a:cs typeface="Calibri" pitchFamily="34" charset="-120"/>
              </a:rPr>
              <a:t>Arrival recorded by GPS; boards 3 riders by OTP · 7–9</a:t>
            </a:r>
            <a:endParaRPr lang="en-US" sz="1250" dirty="0"/>
          </a:p>
        </p:txBody>
      </p:sp>
      <p:sp>
        <p:nvSpPr>
          <p:cNvPr id="48" name="Shape 46"/>
          <p:cNvSpPr/>
          <p:nvPr/>
        </p:nvSpPr>
        <p:spPr>
          <a:xfrm>
            <a:off x="8493557" y="4160520"/>
            <a:ext cx="1460449" cy="1783080"/>
          </a:xfrm>
          <a:prstGeom prst="roundRect">
            <a:avLst>
              <a:gd name="adj" fmla="val 6261"/>
            </a:avLst>
          </a:prstGeom>
          <a:solidFill>
            <a:srgbClr val="DDF5F1"/>
          </a:solidFill>
          <a:ln w="6350">
            <a:solidFill>
              <a:srgbClr val="DDF5F1"/>
            </a:solidFill>
            <a:prstDash val="solid"/>
          </a:ln>
        </p:spPr>
      </p:sp>
      <p:sp>
        <p:nvSpPr>
          <p:cNvPr id="49" name="Text 47"/>
          <p:cNvSpPr txBox="1"/>
          <p:nvPr/>
        </p:nvSpPr>
        <p:spPr>
          <a:xfrm>
            <a:off x="8630717" y="4297680"/>
            <a:ext cx="1186129" cy="1508760"/>
          </a:xfrm>
          <a:prstGeom prst="rect">
            <a:avLst/>
          </a:prstGeom>
          <a:noFill/>
          <a:ln/>
        </p:spPr>
        <p:txBody>
          <a:bodyPr wrap="square" lIns="0" tIns="0" rIns="0" bIns="0" rtlCol="0" anchor="ctr"/>
          <a:lstStyle/>
          <a:p>
            <a:pPr indent="0" marL="0">
              <a:buNone/>
            </a:pPr>
            <a:r>
              <a:rPr lang="en-US" sz="1250" dirty="0">
                <a:solidFill>
                  <a:srgbClr val="16202B"/>
                </a:solidFill>
                <a:latin typeface="Calibri" pitchFamily="34" charset="0"/>
                <a:ea typeface="Calibri" pitchFamily="34" charset="-122"/>
                <a:cs typeface="Calibri" pitchFamily="34" charset="-120"/>
              </a:rPr>
              <a:t>Drops M. Iyer at Coke Plant; last drop closes the trip · 10–12</a:t>
            </a:r>
            <a:endParaRPr lang="en-US" sz="1250" dirty="0"/>
          </a:p>
        </p:txBody>
      </p:sp>
      <p:sp>
        <p:nvSpPr>
          <p:cNvPr id="50" name="Shape 48"/>
          <p:cNvSpPr/>
          <p:nvPr/>
        </p:nvSpPr>
        <p:spPr>
          <a:xfrm>
            <a:off x="10091166" y="4160520"/>
            <a:ext cx="1460449" cy="1783080"/>
          </a:xfrm>
          <a:prstGeom prst="roundRect">
            <a:avLst>
              <a:gd name="adj" fmla="val 6261"/>
            </a:avLst>
          </a:prstGeom>
          <a:solidFill>
            <a:srgbClr val="DDF5F1"/>
          </a:solidFill>
          <a:ln w="6350">
            <a:solidFill>
              <a:srgbClr val="DDF5F1"/>
            </a:solidFill>
            <a:prstDash val="solid"/>
          </a:ln>
        </p:spPr>
      </p:sp>
      <p:sp>
        <p:nvSpPr>
          <p:cNvPr id="51" name="Text 49"/>
          <p:cNvSpPr txBox="1"/>
          <p:nvPr/>
        </p:nvSpPr>
        <p:spPr>
          <a:xfrm>
            <a:off x="10228326" y="4297680"/>
            <a:ext cx="1186129" cy="1508760"/>
          </a:xfrm>
          <a:prstGeom prst="rect">
            <a:avLst/>
          </a:prstGeom>
          <a:noFill/>
          <a:ln/>
        </p:spPr>
        <p:txBody>
          <a:bodyPr wrap="square" lIns="0" tIns="0" rIns="0" bIns="0" rtlCol="0" anchor="ctr"/>
          <a:lstStyle/>
          <a:p>
            <a:pPr indent="0" marL="0">
              <a:buNone/>
            </a:pPr>
            <a:r>
              <a:rPr lang="en-US" sz="1250" dirty="0">
                <a:solidFill>
                  <a:srgbClr val="16202B"/>
                </a:solidFill>
                <a:latin typeface="Calibri" pitchFamily="34" charset="0"/>
                <a:ea typeface="Calibri" pitchFamily="34" charset="-122"/>
                <a:cs typeface="Calibri" pitchFamily="34" charset="-120"/>
              </a:rPr>
              <a:t>Closes duty; GPS km matches the odometer · 13–14</a:t>
            </a:r>
            <a:endParaRPr lang="en-US" sz="1250" dirty="0"/>
          </a:p>
        </p:txBody>
      </p:sp>
      <p:sp>
        <p:nvSpPr>
          <p:cNvPr id="52" name="Text 50"/>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900" dirty="0">
                <a:solidFill>
                  <a:srgbClr val="5E6D7D"/>
                </a:solidFill>
                <a:latin typeface="Calibri" pitchFamily="34" charset="0"/>
                <a:ea typeface="Calibri" pitchFamily="34" charset="-122"/>
                <a:cs typeface="Calibri" pitchFamily="34" charset="-120"/>
              </a:rPr>
              <a:t>Plant Ride · Rider → Driver journey · recorded on the MVP with demo data</a:t>
            </a:r>
            <a:endParaRPr lang="en-US" sz="900" dirty="0"/>
          </a:p>
        </p:txBody>
      </p:sp>
      <p:sp>
        <p:nvSpPr>
          <p:cNvPr id="53" name="Text 51"/>
          <p:cNvSpPr txBox="1"/>
          <p:nvPr/>
        </p:nvSpPr>
        <p:spPr>
          <a:xfrm>
            <a:off x="11185855" y="6473952"/>
            <a:ext cx="457200" cy="228600"/>
          </a:xfrm>
          <a:prstGeom prst="rect">
            <a:avLst/>
          </a:prstGeom>
          <a:noFill/>
          <a:ln/>
        </p:spPr>
        <p:txBody>
          <a:bodyPr wrap="square" lIns="0" tIns="0" rIns="0" bIns="0" rtlCol="0" anchor="ctr"/>
          <a:lstStyle/>
          <a:p>
            <a:pPr algn="r" indent="0" marL="0">
              <a:buNone/>
            </a:pPr>
            <a:r>
              <a:rPr lang="en-US" sz="900" dirty="0">
                <a:solidFill>
                  <a:srgbClr val="5E6D7D"/>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5486400" cy="274320"/>
          </a:xfrm>
          <a:prstGeom prst="rect">
            <a:avLst/>
          </a:prstGeom>
          <a:noFill/>
          <a:ln/>
        </p:spPr>
        <p:txBody>
          <a:bodyPr wrap="square" lIns="0" tIns="0" rIns="0" bIns="0" rtlCol="0" anchor="ctr"/>
          <a:lstStyle/>
          <a:p>
            <a:pPr indent="0" marL="0">
              <a:buNone/>
            </a:pPr>
            <a:r>
              <a:rPr lang="en-US" sz="1200" b="1" spc="200" kern="0" dirty="0">
                <a:solidFill>
                  <a:srgbClr val="00A896"/>
                </a:solidFill>
                <a:latin typeface="Calibri" pitchFamily="34" charset="0"/>
                <a:ea typeface="Calibri" pitchFamily="34" charset="-122"/>
                <a:cs typeface="Calibri" pitchFamily="34" charset="-120"/>
              </a:rPr>
              <a:t>NEW IN THIS BUILD</a:t>
            </a:r>
            <a:endParaRPr lang="en-US" sz="1200" dirty="0"/>
          </a:p>
        </p:txBody>
      </p:sp>
      <p:sp>
        <p:nvSpPr>
          <p:cNvPr id="3" name="Text 1"/>
          <p:cNvSpPr txBox="1"/>
          <p:nvPr/>
        </p:nvSpPr>
        <p:spPr>
          <a:xfrm>
            <a:off x="548640" y="685800"/>
            <a:ext cx="6583680" cy="548640"/>
          </a:xfrm>
          <a:prstGeom prst="rect">
            <a:avLst/>
          </a:prstGeom>
          <a:noFill/>
          <a:ln/>
        </p:spPr>
        <p:txBody>
          <a:bodyPr wrap="square" lIns="0" tIns="0" rIns="0" bIns="0" rtlCol="0" anchor="ctr"/>
          <a:lstStyle/>
          <a:p>
            <a:pPr indent="0" marL="0">
              <a:buNone/>
            </a:pPr>
            <a:r>
              <a:rPr lang="en-US" sz="3000" b="1" dirty="0">
                <a:solidFill>
                  <a:srgbClr val="16202B"/>
                </a:solidFill>
                <a:latin typeface="Calibri" pitchFamily="34" charset="0"/>
                <a:ea typeface="Calibri" pitchFamily="34" charset="-122"/>
                <a:cs typeface="Calibri" pitchFamily="34" charset="-120"/>
              </a:rPr>
              <a:t>Live location, both ways</a:t>
            </a:r>
            <a:endParaRPr lang="en-US" sz="3000" dirty="0"/>
          </a:p>
        </p:txBody>
      </p:sp>
      <p:sp>
        <p:nvSpPr>
          <p:cNvPr id="4" name="Shape 2"/>
          <p:cNvSpPr/>
          <p:nvPr/>
        </p:nvSpPr>
        <p:spPr>
          <a:xfrm>
            <a:off x="548640" y="1463040"/>
            <a:ext cx="6309360" cy="1051560"/>
          </a:xfrm>
          <a:prstGeom prst="roundRect">
            <a:avLst>
              <a:gd name="adj" fmla="val 8696"/>
            </a:avLst>
          </a:prstGeom>
          <a:solidFill>
            <a:srgbClr val="F3F6F9"/>
          </a:solidFill>
          <a:ln w="6350">
            <a:solidFill>
              <a:srgbClr val="F3F6F9"/>
            </a:solidFill>
            <a:prstDash val="solid"/>
          </a:ln>
        </p:spPr>
      </p:sp>
      <p:sp>
        <p:nvSpPr>
          <p:cNvPr id="5" name="Shape 3"/>
          <p:cNvSpPr/>
          <p:nvPr/>
        </p:nvSpPr>
        <p:spPr>
          <a:xfrm>
            <a:off x="749808" y="1764792"/>
            <a:ext cx="420624" cy="420624"/>
          </a:xfrm>
          <a:prstGeom prst="ellipse">
            <a:avLst/>
          </a:prstGeom>
          <a:solidFill>
            <a:srgbClr val="00A896"/>
          </a:solidFill>
          <a:ln w="15875">
            <a:solidFill>
              <a:srgbClr val="FFFFFF"/>
            </a:solidFill>
            <a:prstDash val="solid"/>
          </a:ln>
        </p:spPr>
      </p:sp>
      <p:sp>
        <p:nvSpPr>
          <p:cNvPr id="6" name="Text 4"/>
          <p:cNvSpPr txBox="1"/>
          <p:nvPr/>
        </p:nvSpPr>
        <p:spPr>
          <a:xfrm>
            <a:off x="749808" y="176479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1371600" y="1591056"/>
            <a:ext cx="5303520" cy="310896"/>
          </a:xfrm>
          <a:prstGeom prst="rect">
            <a:avLst/>
          </a:prstGeom>
          <a:noFill/>
          <a:ln/>
        </p:spPr>
        <p:txBody>
          <a:bodyPr wrap="square" lIns="0" tIns="0" rIns="0" bIns="0" rtlCol="0" anchor="ctr"/>
          <a:lstStyle/>
          <a:p>
            <a:pPr indent="0" marL="0">
              <a:buNone/>
            </a:pPr>
            <a:r>
              <a:rPr lang="en-US" sz="1500" b="1" dirty="0">
                <a:solidFill>
                  <a:srgbClr val="16202B"/>
                </a:solidFill>
                <a:latin typeface="Calibri" pitchFamily="34" charset="0"/>
                <a:ea typeface="Calibri" pitchFamily="34" charset="-122"/>
                <a:cs typeface="Calibri" pitchFamily="34" charset="-120"/>
              </a:rPr>
              <a:t>The driver’s phone sends the cab’s position</a:t>
            </a:r>
            <a:endParaRPr lang="en-US" sz="1500" dirty="0"/>
          </a:p>
        </p:txBody>
      </p:sp>
      <p:sp>
        <p:nvSpPr>
          <p:cNvPr id="8" name="Text 6"/>
          <p:cNvSpPr txBox="1"/>
          <p:nvPr/>
        </p:nvSpPr>
        <p:spPr>
          <a:xfrm>
            <a:off x="1371600" y="1920240"/>
            <a:ext cx="5303520" cy="548640"/>
          </a:xfrm>
          <a:prstGeom prst="rect">
            <a:avLst/>
          </a:prstGeom>
          <a:noFill/>
          <a:ln/>
        </p:spPr>
        <p:txBody>
          <a:bodyPr wrap="square" lIns="0" tIns="0" rIns="0" bIns="0" rtlCol="0" anchor="t"/>
          <a:lstStyle/>
          <a:p>
            <a:pPr indent="0" marL="0">
              <a:buNone/>
            </a:pPr>
            <a:r>
              <a:rPr lang="en-US" sz="1200" dirty="0">
                <a:solidFill>
                  <a:srgbClr val="34465A"/>
                </a:solidFill>
                <a:latin typeface="Calibri" pitchFamily="34" charset="0"/>
                <a:ea typeface="Calibri" pitchFamily="34" charset="-122"/>
                <a:cs typeface="Calibri" pitchFamily="34" charset="-120"/>
              </a:rPr>
              <a:t>About every 10 seconds on duty, at least every 30 seconds while parked. It drives the riders’ maps and ETAs, and records arrivals inside a stop’s radius.</a:t>
            </a:r>
            <a:endParaRPr lang="en-US" sz="1200" dirty="0"/>
          </a:p>
        </p:txBody>
      </p:sp>
      <p:sp>
        <p:nvSpPr>
          <p:cNvPr id="9" name="Shape 7"/>
          <p:cNvSpPr/>
          <p:nvPr/>
        </p:nvSpPr>
        <p:spPr>
          <a:xfrm>
            <a:off x="548640" y="2679192"/>
            <a:ext cx="6309360" cy="1051560"/>
          </a:xfrm>
          <a:prstGeom prst="roundRect">
            <a:avLst>
              <a:gd name="adj" fmla="val 8696"/>
            </a:avLst>
          </a:prstGeom>
          <a:solidFill>
            <a:srgbClr val="F3F6F9"/>
          </a:solidFill>
          <a:ln w="6350">
            <a:solidFill>
              <a:srgbClr val="F3F6F9"/>
            </a:solidFill>
            <a:prstDash val="solid"/>
          </a:ln>
        </p:spPr>
      </p:sp>
      <p:sp>
        <p:nvSpPr>
          <p:cNvPr id="10" name="Shape 8"/>
          <p:cNvSpPr/>
          <p:nvPr/>
        </p:nvSpPr>
        <p:spPr>
          <a:xfrm>
            <a:off x="749808" y="2980944"/>
            <a:ext cx="420624" cy="420624"/>
          </a:xfrm>
          <a:prstGeom prst="ellipse">
            <a:avLst/>
          </a:prstGeom>
          <a:solidFill>
            <a:srgbClr val="E85D04"/>
          </a:solidFill>
          <a:ln w="15875">
            <a:solidFill>
              <a:srgbClr val="FFFFFF"/>
            </a:solidFill>
            <a:prstDash val="solid"/>
          </a:ln>
        </p:spPr>
      </p:sp>
      <p:sp>
        <p:nvSpPr>
          <p:cNvPr id="11" name="Text 9"/>
          <p:cNvSpPr txBox="1"/>
          <p:nvPr/>
        </p:nvSpPr>
        <p:spPr>
          <a:xfrm>
            <a:off x="749808" y="298094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txBox="1"/>
          <p:nvPr/>
        </p:nvSpPr>
        <p:spPr>
          <a:xfrm>
            <a:off x="1371600" y="2807208"/>
            <a:ext cx="5303520" cy="310896"/>
          </a:xfrm>
          <a:prstGeom prst="rect">
            <a:avLst/>
          </a:prstGeom>
          <a:noFill/>
          <a:ln/>
        </p:spPr>
        <p:txBody>
          <a:bodyPr wrap="square" lIns="0" tIns="0" rIns="0" bIns="0" rtlCol="0" anchor="ctr"/>
          <a:lstStyle/>
          <a:p>
            <a:pPr indent="0" marL="0">
              <a:buNone/>
            </a:pPr>
            <a:r>
              <a:rPr lang="en-US" sz="1500" b="1" dirty="0">
                <a:solidFill>
                  <a:srgbClr val="16202B"/>
                </a:solidFill>
                <a:latin typeface="Calibri" pitchFamily="34" charset="0"/>
                <a:ea typeface="Calibri" pitchFamily="34" charset="-122"/>
                <a:cs typeface="Calibri" pitchFamily="34" charset="-120"/>
              </a:rPr>
              <a:t>The rider sees the cab and the driver</a:t>
            </a:r>
            <a:endParaRPr lang="en-US" sz="1500" dirty="0"/>
          </a:p>
        </p:txBody>
      </p:sp>
      <p:sp>
        <p:nvSpPr>
          <p:cNvPr id="13" name="Text 11"/>
          <p:cNvSpPr txBox="1"/>
          <p:nvPr/>
        </p:nvSpPr>
        <p:spPr>
          <a:xfrm>
            <a:off x="1371600" y="3136392"/>
            <a:ext cx="5303520" cy="548640"/>
          </a:xfrm>
          <a:prstGeom prst="rect">
            <a:avLst/>
          </a:prstGeom>
          <a:noFill/>
          <a:ln/>
        </p:spPr>
        <p:txBody>
          <a:bodyPr wrap="square" lIns="0" tIns="0" rIns="0" bIns="0" rtlCol="0" anchor="t"/>
          <a:lstStyle/>
          <a:p>
            <a:pPr indent="0" marL="0">
              <a:buNone/>
            </a:pPr>
            <a:r>
              <a:rPr lang="en-US" sz="1200" dirty="0">
                <a:solidFill>
                  <a:srgbClr val="34465A"/>
                </a:solidFill>
                <a:latin typeface="Calibri" pitchFamily="34" charset="0"/>
                <a:ea typeface="Calibri" pitchFamily="34" charset="-122"/>
                <a:cs typeface="Calibri" pitchFamily="34" charset="-120"/>
              </a:rPr>
              <a:t>Distance to the pickup, moving or stopped, nearest stop, how fresh the fix is; the driver’s name, phone, fleet and vehicle.</a:t>
            </a:r>
            <a:endParaRPr lang="en-US" sz="1200" dirty="0"/>
          </a:p>
        </p:txBody>
      </p:sp>
      <p:sp>
        <p:nvSpPr>
          <p:cNvPr id="14" name="Shape 12"/>
          <p:cNvSpPr/>
          <p:nvPr/>
        </p:nvSpPr>
        <p:spPr>
          <a:xfrm>
            <a:off x="548640" y="3895344"/>
            <a:ext cx="6309360" cy="1051560"/>
          </a:xfrm>
          <a:prstGeom prst="roundRect">
            <a:avLst>
              <a:gd name="adj" fmla="val 8696"/>
            </a:avLst>
          </a:prstGeom>
          <a:solidFill>
            <a:srgbClr val="F3F6F9"/>
          </a:solidFill>
          <a:ln w="6350">
            <a:solidFill>
              <a:srgbClr val="F3F6F9"/>
            </a:solidFill>
            <a:prstDash val="solid"/>
          </a:ln>
        </p:spPr>
      </p:sp>
      <p:sp>
        <p:nvSpPr>
          <p:cNvPr id="15" name="Shape 13"/>
          <p:cNvSpPr/>
          <p:nvPr/>
        </p:nvSpPr>
        <p:spPr>
          <a:xfrm>
            <a:off x="749808" y="4197096"/>
            <a:ext cx="420624" cy="420624"/>
          </a:xfrm>
          <a:prstGeom prst="ellipse">
            <a:avLst/>
          </a:prstGeom>
          <a:solidFill>
            <a:srgbClr val="16202B"/>
          </a:solidFill>
          <a:ln w="15875">
            <a:solidFill>
              <a:srgbClr val="FFFFFF"/>
            </a:solidFill>
            <a:prstDash val="solid"/>
          </a:ln>
        </p:spPr>
      </p:sp>
      <p:sp>
        <p:nvSpPr>
          <p:cNvPr id="16" name="Text 14"/>
          <p:cNvSpPr txBox="1"/>
          <p:nvPr/>
        </p:nvSpPr>
        <p:spPr>
          <a:xfrm>
            <a:off x="749808" y="4197096"/>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5"/>
          <p:cNvSpPr txBox="1"/>
          <p:nvPr/>
        </p:nvSpPr>
        <p:spPr>
          <a:xfrm>
            <a:off x="1371600" y="4023360"/>
            <a:ext cx="5303520" cy="310896"/>
          </a:xfrm>
          <a:prstGeom prst="rect">
            <a:avLst/>
          </a:prstGeom>
          <a:noFill/>
          <a:ln/>
        </p:spPr>
        <p:txBody>
          <a:bodyPr wrap="square" lIns="0" tIns="0" rIns="0" bIns="0" rtlCol="0" anchor="ctr"/>
          <a:lstStyle/>
          <a:p>
            <a:pPr indent="0" marL="0">
              <a:buNone/>
            </a:pPr>
            <a:r>
              <a:rPr lang="en-US" sz="1500" b="1" dirty="0">
                <a:solidFill>
                  <a:srgbClr val="16202B"/>
                </a:solidFill>
                <a:latin typeface="Calibri" pitchFamily="34" charset="0"/>
                <a:ea typeface="Calibri" pitchFamily="34" charset="-122"/>
                <a:cs typeface="Calibri" pitchFamily="34" charset="-120"/>
              </a:rPr>
              <a:t>The driver sees the riders waiting</a:t>
            </a:r>
            <a:endParaRPr lang="en-US" sz="1500" dirty="0"/>
          </a:p>
        </p:txBody>
      </p:sp>
      <p:sp>
        <p:nvSpPr>
          <p:cNvPr id="18" name="Text 16"/>
          <p:cNvSpPr txBox="1"/>
          <p:nvPr/>
        </p:nvSpPr>
        <p:spPr>
          <a:xfrm>
            <a:off x="1371600" y="4352544"/>
            <a:ext cx="5303520" cy="548640"/>
          </a:xfrm>
          <a:prstGeom prst="rect">
            <a:avLst/>
          </a:prstGeom>
          <a:noFill/>
          <a:ln/>
        </p:spPr>
        <p:txBody>
          <a:bodyPr wrap="square" lIns="0" tIns="0" rIns="0" bIns="0" rtlCol="0" anchor="t"/>
          <a:lstStyle/>
          <a:p>
            <a:pPr indent="0" marL="0">
              <a:buNone/>
            </a:pPr>
            <a:r>
              <a:rPr lang="en-US" sz="1200" dirty="0">
                <a:solidFill>
                  <a:srgbClr val="34465A"/>
                </a:solidFill>
                <a:latin typeface="Calibri" pitchFamily="34" charset="0"/>
                <a:ea typeface="Calibri" pitchFamily="34" charset="-122"/>
                <a:cs typeface="Calibri" pitchFamily="34" charset="-120"/>
              </a:rPr>
              <a:t>Each rider’s distance from the pickup point and from the cab, with Call and Directions.</a:t>
            </a:r>
            <a:endParaRPr lang="en-US" sz="1200" dirty="0"/>
          </a:p>
        </p:txBody>
      </p:sp>
      <p:sp>
        <p:nvSpPr>
          <p:cNvPr id="19" name="Shape 17"/>
          <p:cNvSpPr/>
          <p:nvPr/>
        </p:nvSpPr>
        <p:spPr>
          <a:xfrm>
            <a:off x="548640" y="5111496"/>
            <a:ext cx="6309360" cy="1051560"/>
          </a:xfrm>
          <a:prstGeom prst="roundRect">
            <a:avLst>
              <a:gd name="adj" fmla="val 8696"/>
            </a:avLst>
          </a:prstGeom>
          <a:solidFill>
            <a:srgbClr val="F3F6F9"/>
          </a:solidFill>
          <a:ln w="6350">
            <a:solidFill>
              <a:srgbClr val="F3F6F9"/>
            </a:solidFill>
            <a:prstDash val="solid"/>
          </a:ln>
        </p:spPr>
      </p:sp>
      <p:sp>
        <p:nvSpPr>
          <p:cNvPr id="20" name="Shape 18"/>
          <p:cNvSpPr/>
          <p:nvPr/>
        </p:nvSpPr>
        <p:spPr>
          <a:xfrm>
            <a:off x="749808" y="5413248"/>
            <a:ext cx="420624" cy="420624"/>
          </a:xfrm>
          <a:prstGeom prst="ellipse">
            <a:avLst/>
          </a:prstGeom>
          <a:solidFill>
            <a:srgbClr val="5E6D7D"/>
          </a:solidFill>
          <a:ln w="15875">
            <a:solidFill>
              <a:srgbClr val="FFFFFF"/>
            </a:solidFill>
            <a:prstDash val="solid"/>
          </a:ln>
        </p:spPr>
      </p:sp>
      <p:sp>
        <p:nvSpPr>
          <p:cNvPr id="21" name="Text 19"/>
          <p:cNvSpPr txBox="1"/>
          <p:nvPr/>
        </p:nvSpPr>
        <p:spPr>
          <a:xfrm>
            <a:off x="749808" y="541324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2" name="Text 20"/>
          <p:cNvSpPr txBox="1"/>
          <p:nvPr/>
        </p:nvSpPr>
        <p:spPr>
          <a:xfrm>
            <a:off x="1371600" y="5239512"/>
            <a:ext cx="5303520" cy="310896"/>
          </a:xfrm>
          <a:prstGeom prst="rect">
            <a:avLst/>
          </a:prstGeom>
          <a:noFill/>
          <a:ln/>
        </p:spPr>
        <p:txBody>
          <a:bodyPr wrap="square" lIns="0" tIns="0" rIns="0" bIns="0" rtlCol="0" anchor="ctr"/>
          <a:lstStyle/>
          <a:p>
            <a:pPr indent="0" marL="0">
              <a:buNone/>
            </a:pPr>
            <a:r>
              <a:rPr lang="en-US" sz="1500" b="1" dirty="0">
                <a:solidFill>
                  <a:srgbClr val="16202B"/>
                </a:solidFill>
                <a:latin typeface="Calibri" pitchFamily="34" charset="0"/>
                <a:ea typeface="Calibri" pitchFamily="34" charset="-122"/>
                <a:cs typeface="Calibri" pitchFamily="34" charset="-120"/>
              </a:rPr>
              <a:t>Private by design</a:t>
            </a:r>
            <a:endParaRPr lang="en-US" sz="1500" dirty="0"/>
          </a:p>
        </p:txBody>
      </p:sp>
      <p:sp>
        <p:nvSpPr>
          <p:cNvPr id="23" name="Text 21"/>
          <p:cNvSpPr txBox="1"/>
          <p:nvPr/>
        </p:nvSpPr>
        <p:spPr>
          <a:xfrm>
            <a:off x="1371600" y="5568696"/>
            <a:ext cx="5303520" cy="548640"/>
          </a:xfrm>
          <a:prstGeom prst="rect">
            <a:avLst/>
          </a:prstGeom>
          <a:noFill/>
          <a:ln/>
        </p:spPr>
        <p:txBody>
          <a:bodyPr wrap="square" lIns="0" tIns="0" rIns="0" bIns="0" rtlCol="0" anchor="t"/>
          <a:lstStyle/>
          <a:p>
            <a:pPr indent="0" marL="0">
              <a:buNone/>
            </a:pPr>
            <a:r>
              <a:rPr lang="en-US" sz="1200" dirty="0">
                <a:solidFill>
                  <a:srgbClr val="34465A"/>
                </a:solidFill>
                <a:latin typeface="Calibri" pitchFamily="34" charset="0"/>
                <a:ea typeface="Calibri" pitchFamily="34" charset="-122"/>
                <a:cs typeface="Calibri" pitchFamily="34" charset="-120"/>
              </a:rPr>
              <a:t>A rider shares only while the cab is on its way, only with that driver, and can stop at any time. The position is deleted at boarding.</a:t>
            </a:r>
            <a:endParaRPr lang="en-US" sz="1200" dirty="0"/>
          </a:p>
        </p:txBody>
      </p:sp>
      <p:sp>
        <p:nvSpPr>
          <p:cNvPr id="24" name="Shape 22"/>
          <p:cNvSpPr/>
          <p:nvPr/>
        </p:nvSpPr>
        <p:spPr>
          <a:xfrm>
            <a:off x="7214616" y="859536"/>
            <a:ext cx="2264635" cy="4773168"/>
          </a:xfrm>
          <a:prstGeom prst="roundRect">
            <a:avLst>
              <a:gd name="adj" fmla="val 7268"/>
            </a:avLst>
          </a:prstGeom>
          <a:solidFill>
            <a:srgbClr val="16202B"/>
          </a:solidFill>
          <a:ln w="9525">
            <a:solidFill>
              <a:srgbClr val="16202B"/>
            </a:solidFill>
            <a:prstDash val="solid"/>
          </a:ln>
          <a:effectLst>
            <a:outerShdw sx="100000" sy="100000" kx="0" ky="0" algn="bl" rotWithShape="0" blurRad="127000" dist="38100" dir="5400000">
              <a:srgbClr val="000000">
                <a:alpha val="20000"/>
              </a:srgbClr>
            </a:outerShdw>
          </a:effectLst>
        </p:spPr>
      </p:sp>
      <p:pic>
        <p:nvPicPr>
          <p:cNvPr id="25" name="Image 0" descr="Screenshot: r07-cab-on-map">    </p:cNvPr>
          <p:cNvPicPr>
            <a:picLocks noChangeAspect="1"/>
          </p:cNvPicPr>
          <p:nvPr/>
        </p:nvPicPr>
        <p:blipFill>
          <a:blip r:embed="rId1"/>
          <a:stretch>
            <a:fillRect/>
          </a:stretch>
        </p:blipFill>
        <p:spPr>
          <a:xfrm>
            <a:off x="7269480" y="914400"/>
            <a:ext cx="2154907" cy="4663440"/>
          </a:xfrm>
          <a:prstGeom prst="rect">
            <a:avLst/>
          </a:prstGeom>
        </p:spPr>
      </p:pic>
      <p:sp>
        <p:nvSpPr>
          <p:cNvPr id="26" name="Shape 23"/>
          <p:cNvSpPr/>
          <p:nvPr/>
        </p:nvSpPr>
        <p:spPr>
          <a:xfrm>
            <a:off x="9433284" y="859536"/>
            <a:ext cx="2264635" cy="4773168"/>
          </a:xfrm>
          <a:prstGeom prst="roundRect">
            <a:avLst>
              <a:gd name="adj" fmla="val 7268"/>
            </a:avLst>
          </a:prstGeom>
          <a:solidFill>
            <a:srgbClr val="16202B"/>
          </a:solidFill>
          <a:ln w="9525">
            <a:solidFill>
              <a:srgbClr val="16202B"/>
            </a:solidFill>
            <a:prstDash val="solid"/>
          </a:ln>
          <a:effectLst>
            <a:outerShdw sx="100000" sy="100000" kx="0" ky="0" algn="bl" rotWithShape="0" blurRad="127000" dist="38100" dir="5400000">
              <a:srgbClr val="000000">
                <a:alpha val="20000"/>
              </a:srgbClr>
            </a:outerShdw>
          </a:effectLst>
        </p:spPr>
      </p:sp>
      <p:pic>
        <p:nvPicPr>
          <p:cNvPr id="27" name="Image 1" descr="Screenshot: d05-live-map">    </p:cNvPr>
          <p:cNvPicPr>
            <a:picLocks noChangeAspect="1"/>
          </p:cNvPicPr>
          <p:nvPr/>
        </p:nvPicPr>
        <p:blipFill>
          <a:blip r:embed="rId2"/>
          <a:stretch>
            <a:fillRect/>
          </a:stretch>
        </p:blipFill>
        <p:spPr>
          <a:xfrm>
            <a:off x="9488148" y="914400"/>
            <a:ext cx="2154907" cy="4663440"/>
          </a:xfrm>
          <a:prstGeom prst="rect">
            <a:avLst/>
          </a:prstGeom>
        </p:spPr>
      </p:pic>
      <p:sp>
        <p:nvSpPr>
          <p:cNvPr id="28" name="Text 24"/>
          <p:cNvSpPr txBox="1"/>
          <p:nvPr/>
        </p:nvSpPr>
        <p:spPr>
          <a:xfrm>
            <a:off x="7269480" y="5715000"/>
            <a:ext cx="2154907" cy="228600"/>
          </a:xfrm>
          <a:prstGeom prst="rect">
            <a:avLst/>
          </a:prstGeom>
          <a:noFill/>
          <a:ln/>
        </p:spPr>
        <p:txBody>
          <a:bodyPr wrap="square" lIns="0" tIns="0" rIns="0" bIns="0" rtlCol="0" anchor="ctr"/>
          <a:lstStyle/>
          <a:p>
            <a:pPr algn="ctr" indent="0" marL="0">
              <a:buNone/>
            </a:pPr>
            <a:r>
              <a:rPr lang="en-US" sz="1050" dirty="0">
                <a:solidFill>
                  <a:srgbClr val="5E6D7D"/>
                </a:solidFill>
                <a:latin typeface="Calibri" pitchFamily="34" charset="0"/>
                <a:ea typeface="Calibri" pitchFamily="34" charset="-122"/>
                <a:cs typeface="Calibri" pitchFamily="34" charset="-120"/>
              </a:rPr>
              <a:t>Rider · screen 7</a:t>
            </a:r>
            <a:endParaRPr lang="en-US" sz="1050" dirty="0"/>
          </a:p>
        </p:txBody>
      </p:sp>
      <p:sp>
        <p:nvSpPr>
          <p:cNvPr id="29" name="Text 25"/>
          <p:cNvSpPr txBox="1"/>
          <p:nvPr/>
        </p:nvSpPr>
        <p:spPr>
          <a:xfrm>
            <a:off x="9488148" y="5715000"/>
            <a:ext cx="2154907" cy="228600"/>
          </a:xfrm>
          <a:prstGeom prst="rect">
            <a:avLst/>
          </a:prstGeom>
          <a:noFill/>
          <a:ln/>
        </p:spPr>
        <p:txBody>
          <a:bodyPr wrap="square" lIns="0" tIns="0" rIns="0" bIns="0" rtlCol="0" anchor="ctr"/>
          <a:lstStyle/>
          <a:p>
            <a:pPr algn="ctr" indent="0" marL="0">
              <a:buNone/>
            </a:pPr>
            <a:r>
              <a:rPr lang="en-US" sz="1050" dirty="0">
                <a:solidFill>
                  <a:srgbClr val="5E6D7D"/>
                </a:solidFill>
                <a:latin typeface="Calibri" pitchFamily="34" charset="0"/>
                <a:ea typeface="Calibri" pitchFamily="34" charset="-122"/>
                <a:cs typeface="Calibri" pitchFamily="34" charset="-120"/>
              </a:rPr>
              <a:t>Driver · screen 5</a:t>
            </a:r>
            <a:endParaRPr lang="en-US" sz="1050" dirty="0"/>
          </a:p>
        </p:txBody>
      </p:sp>
      <p:sp>
        <p:nvSpPr>
          <p:cNvPr id="30" name="Text 26"/>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900" dirty="0">
                <a:solidFill>
                  <a:srgbClr val="5E6D7D"/>
                </a:solidFill>
                <a:latin typeface="Calibri" pitchFamily="34" charset="0"/>
                <a:ea typeface="Calibri" pitchFamily="34" charset="-122"/>
                <a:cs typeface="Calibri" pitchFamily="34" charset="-120"/>
              </a:rPr>
              <a:t>Plant Ride · Rider → Driver journey · recorded on the MVP with demo data</a:t>
            </a:r>
            <a:endParaRPr lang="en-US" sz="900" dirty="0"/>
          </a:p>
        </p:txBody>
      </p:sp>
      <p:sp>
        <p:nvSpPr>
          <p:cNvPr id="31" name="Text 27"/>
          <p:cNvSpPr txBox="1"/>
          <p:nvPr/>
        </p:nvSpPr>
        <p:spPr>
          <a:xfrm>
            <a:off x="11185855" y="6473952"/>
            <a:ext cx="457200" cy="228600"/>
          </a:xfrm>
          <a:prstGeom prst="rect">
            <a:avLst/>
          </a:prstGeom>
          <a:noFill/>
          <a:ln/>
        </p:spPr>
        <p:txBody>
          <a:bodyPr wrap="square" lIns="0" tIns="0" rIns="0" bIns="0" rtlCol="0" anchor="ctr"/>
          <a:lstStyle/>
          <a:p>
            <a:pPr algn="r" indent="0" marL="0">
              <a:buNone/>
            </a:pPr>
            <a:r>
              <a:rPr lang="en-US" sz="900" dirty="0">
                <a:solidFill>
                  <a:srgbClr val="5E6D7D"/>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1520"/>
        </a:solidFill>
      </p:bgPr>
    </p:bg>
    <p:spTree>
      <p:nvGrpSpPr>
        <p:cNvPr id="1" name=""/>
        <p:cNvGrpSpPr/>
        <p:nvPr/>
      </p:nvGrpSpPr>
      <p:grpSpPr>
        <a:xfrm>
          <a:off x="0" y="0"/>
          <a:ext cx="0" cy="0"/>
          <a:chOff x="0" y="0"/>
          <a:chExt cx="0" cy="0"/>
        </a:xfrm>
      </p:grpSpPr>
      <p:sp>
        <p:nvSpPr>
          <p:cNvPr id="2" name="Text 0"/>
          <p:cNvSpPr txBox="1"/>
          <p:nvPr/>
        </p:nvSpPr>
        <p:spPr>
          <a:xfrm>
            <a:off x="731520" y="1051560"/>
            <a:ext cx="6858000" cy="320040"/>
          </a:xfrm>
          <a:prstGeom prst="rect">
            <a:avLst/>
          </a:prstGeom>
          <a:noFill/>
          <a:ln/>
        </p:spPr>
        <p:txBody>
          <a:bodyPr wrap="square" lIns="0" tIns="0" rIns="0" bIns="0" rtlCol="0" anchor="ctr"/>
          <a:lstStyle/>
          <a:p>
            <a:pPr indent="0" marL="0">
              <a:buNone/>
            </a:pPr>
            <a:r>
              <a:rPr lang="en-US" sz="1400" b="1" spc="300" kern="0" dirty="0">
                <a:solidFill>
                  <a:srgbClr val="E85D04"/>
                </a:solidFill>
                <a:latin typeface="Calibri" pitchFamily="34" charset="0"/>
                <a:ea typeface="Calibri" pitchFamily="34" charset="-122"/>
                <a:cs typeface="Calibri" pitchFamily="34" charset="-120"/>
              </a:rPr>
              <a:t>PART 1 OF 2 · RIDER</a:t>
            </a:r>
            <a:endParaRPr lang="en-US" sz="1400" dirty="0"/>
          </a:p>
        </p:txBody>
      </p:sp>
      <p:sp>
        <p:nvSpPr>
          <p:cNvPr id="3" name="Text 1"/>
          <p:cNvSpPr txBox="1"/>
          <p:nvPr/>
        </p:nvSpPr>
        <p:spPr>
          <a:xfrm>
            <a:off x="731520" y="1508760"/>
            <a:ext cx="6949440" cy="1554480"/>
          </a:xfrm>
          <a:prstGeom prst="rect">
            <a:avLst/>
          </a:prstGeom>
          <a:noFill/>
          <a:ln/>
        </p:spPr>
        <p:txBody>
          <a:bodyPr wrap="square" lIns="0" tIns="0" rIns="0" bIns="0" rtlCol="0" anchor="t"/>
          <a:lstStyle/>
          <a:p>
            <a:pPr indent="0" marL="0">
              <a:buNone/>
            </a:pPr>
            <a:r>
              <a:rPr lang="en-US" sz="3800" b="1" dirty="0">
                <a:solidFill>
                  <a:srgbClr val="FFFFFF"/>
                </a:solidFill>
                <a:latin typeface="Calibri" pitchFamily="34" charset="0"/>
                <a:ea typeface="Calibri" pitchFamily="34" charset="-122"/>
                <a:cs typeface="Calibri" pitchFamily="34" charset="-120"/>
              </a:rPr>
              <a:t>A. Raghavan books a shared cab and follows it to the drop</a:t>
            </a:r>
            <a:endParaRPr lang="en-US" sz="3800" dirty="0"/>
          </a:p>
        </p:txBody>
      </p:sp>
      <p:sp>
        <p:nvSpPr>
          <p:cNvPr id="4" name="Shape 2"/>
          <p:cNvSpPr/>
          <p:nvPr/>
        </p:nvSpPr>
        <p:spPr>
          <a:xfrm>
            <a:off x="731520" y="3291840"/>
            <a:ext cx="4937760" cy="868680"/>
          </a:xfrm>
          <a:prstGeom prst="roundRect">
            <a:avLst>
              <a:gd name="adj" fmla="val 12632"/>
            </a:avLst>
          </a:prstGeom>
          <a:solidFill>
            <a:srgbClr val="1A2533"/>
          </a:solidFill>
          <a:ln w="6350">
            <a:solidFill>
              <a:srgbClr val="1A2533"/>
            </a:solidFill>
            <a:prstDash val="solid"/>
          </a:ln>
        </p:spPr>
      </p:sp>
      <p:sp>
        <p:nvSpPr>
          <p:cNvPr id="5" name="Shape 3"/>
          <p:cNvSpPr/>
          <p:nvPr/>
        </p:nvSpPr>
        <p:spPr>
          <a:xfrm>
            <a:off x="896112" y="3447288"/>
            <a:ext cx="548640" cy="548640"/>
          </a:xfrm>
          <a:prstGeom prst="ellipse">
            <a:avLst/>
          </a:prstGeom>
          <a:solidFill>
            <a:srgbClr val="E85D04"/>
          </a:solidFill>
          <a:ln w="6350">
            <a:solidFill>
              <a:srgbClr val="E85D04"/>
            </a:solidFill>
            <a:prstDash val="solid"/>
          </a:ln>
        </p:spPr>
      </p:sp>
      <p:sp>
        <p:nvSpPr>
          <p:cNvPr id="6" name="Text 4"/>
          <p:cNvSpPr txBox="1"/>
          <p:nvPr/>
        </p:nvSpPr>
        <p:spPr>
          <a:xfrm>
            <a:off x="896112" y="3447288"/>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AR</a:t>
            </a:r>
            <a:endParaRPr lang="en-US" sz="1500" dirty="0"/>
          </a:p>
        </p:txBody>
      </p:sp>
      <p:sp>
        <p:nvSpPr>
          <p:cNvPr id="7" name="Text 5"/>
          <p:cNvSpPr txBox="1"/>
          <p:nvPr/>
        </p:nvSpPr>
        <p:spPr>
          <a:xfrm>
            <a:off x="1627632" y="3429000"/>
            <a:ext cx="3840480" cy="3200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A. Raghavan</a:t>
            </a:r>
            <a:endParaRPr lang="en-US" sz="1800" dirty="0"/>
          </a:p>
        </p:txBody>
      </p:sp>
      <p:sp>
        <p:nvSpPr>
          <p:cNvPr id="8" name="Text 6"/>
          <p:cNvSpPr txBox="1"/>
          <p:nvPr/>
        </p:nvSpPr>
        <p:spPr>
          <a:xfrm>
            <a:off x="1627632" y="3749040"/>
            <a:ext cx="3931920" cy="274320"/>
          </a:xfrm>
          <a:prstGeom prst="rect">
            <a:avLst/>
          </a:prstGeom>
          <a:noFill/>
          <a:ln/>
        </p:spPr>
        <p:txBody>
          <a:bodyPr wrap="square" lIns="0" tIns="0" rIns="0" bIns="0" rtlCol="0" anchor="ctr"/>
          <a:lstStyle/>
          <a:p>
            <a:pPr indent="0" marL="0">
              <a:buNone/>
            </a:pPr>
            <a:r>
              <a:rPr lang="en-US" sz="1100" dirty="0">
                <a:solidFill>
                  <a:srgbClr val="93A3B8"/>
                </a:solidFill>
                <a:latin typeface="Calibri" pitchFamily="34" charset="0"/>
                <a:ea typeface="Calibri" pitchFamily="34" charset="-122"/>
                <a:cs typeface="Calibri" pitchFamily="34" charset="-120"/>
              </a:rPr>
              <a:t>LHS-40218 · Operations · CC-4471</a:t>
            </a:r>
            <a:endParaRPr lang="en-US" sz="1100" dirty="0"/>
          </a:p>
        </p:txBody>
      </p:sp>
      <p:sp>
        <p:nvSpPr>
          <p:cNvPr id="9" name="Text 7"/>
          <p:cNvSpPr txBox="1"/>
          <p:nvPr/>
        </p:nvSpPr>
        <p:spPr>
          <a:xfrm>
            <a:off x="731520" y="4434840"/>
            <a:ext cx="6766560" cy="173736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C9D4E2"/>
                </a:solidFill>
                <a:latin typeface="Calibri" pitchFamily="34" charset="0"/>
                <a:ea typeface="Calibri" pitchFamily="34" charset="-122"/>
                <a:cs typeface="Calibri" pitchFamily="34" charset="-120"/>
              </a:rPr>
              <a:t>Books Gate 2 → Blast Furnace and is pooled onto C-12 at once</a:t>
            </a:r>
            <a:endParaRPr lang="en-US" sz="1500" dirty="0"/>
          </a:p>
          <a:p>
            <a:pPr marL="342900" indent="-342900">
              <a:spcAft>
                <a:spcPts val="600"/>
              </a:spcAft>
              <a:buSzPct val="100000"/>
              <a:buChar char="•"/>
            </a:pPr>
            <a:r>
              <a:rPr lang="en-US" sz="1500" dirty="0">
                <a:solidFill>
                  <a:srgbClr val="C9D4E2"/>
                </a:solidFill>
                <a:latin typeface="Calibri" pitchFamily="34" charset="0"/>
                <a:ea typeface="Calibri" pitchFamily="34" charset="-122"/>
                <a:cs typeface="Calibri" pitchFamily="34" charset="-120"/>
              </a:rPr>
              <a:t>Watches the cab come closer on a live map, and shares where they are</a:t>
            </a:r>
            <a:endParaRPr lang="en-US" sz="1500" dirty="0"/>
          </a:p>
          <a:p>
            <a:pPr marL="342900" indent="-342900">
              <a:spcAft>
                <a:spcPts val="600"/>
              </a:spcAft>
              <a:buSzPct val="100000"/>
              <a:buChar char="•"/>
            </a:pPr>
            <a:r>
              <a:rPr lang="en-US" sz="1500" dirty="0">
                <a:solidFill>
                  <a:srgbClr val="C9D4E2"/>
                </a:solidFill>
                <a:latin typeface="Calibri" pitchFamily="34" charset="0"/>
                <a:ea typeface="Calibri" pitchFamily="34" charset="-122"/>
                <a:cs typeface="Calibri" pitchFamily="34" charset="-120"/>
              </a:rPr>
              <a:t>Boards with a code, rides, and ₹22.86 is charged to CC-4471</a:t>
            </a:r>
            <a:endParaRPr lang="en-US" sz="1500" dirty="0"/>
          </a:p>
        </p:txBody>
      </p:sp>
      <p:sp>
        <p:nvSpPr>
          <p:cNvPr id="10" name="Shape 8"/>
          <p:cNvSpPr/>
          <p:nvPr/>
        </p:nvSpPr>
        <p:spPr>
          <a:xfrm>
            <a:off x="8890711" y="493776"/>
            <a:ext cx="2729419" cy="5779008"/>
          </a:xfrm>
          <a:prstGeom prst="roundRect">
            <a:avLst>
              <a:gd name="adj" fmla="val 6030"/>
            </a:avLst>
          </a:prstGeom>
          <a:solidFill>
            <a:srgbClr val="16202B"/>
          </a:solidFill>
          <a:ln w="9525">
            <a:solidFill>
              <a:srgbClr val="16202B"/>
            </a:solidFill>
            <a:prstDash val="solid"/>
          </a:ln>
          <a:effectLst>
            <a:outerShdw sx="100000" sy="100000" kx="0" ky="0" algn="bl" rotWithShape="0" blurRad="127000" dist="38100" dir="5400000">
              <a:srgbClr val="000000">
                <a:alpha val="20000"/>
              </a:srgbClr>
            </a:outerShdw>
          </a:effectLst>
        </p:spPr>
      </p:sp>
      <p:pic>
        <p:nvPicPr>
          <p:cNvPr id="11" name="Image 0" descr="Screenshot: r06-booked">    </p:cNvPr>
          <p:cNvPicPr>
            <a:picLocks noChangeAspect="1"/>
          </p:cNvPicPr>
          <p:nvPr/>
        </p:nvPicPr>
        <p:blipFill>
          <a:blip r:embed="rId1"/>
          <a:stretch>
            <a:fillRect/>
          </a:stretch>
        </p:blipFill>
        <p:spPr>
          <a:xfrm>
            <a:off x="8945575" y="548640"/>
            <a:ext cx="2619691" cy="5669280"/>
          </a:xfrm>
          <a:prstGeom prst="rect">
            <a:avLst/>
          </a:prstGeom>
        </p:spPr>
      </p:pic>
      <p:sp>
        <p:nvSpPr>
          <p:cNvPr id="12" name="Text 9"/>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900" dirty="0">
                <a:solidFill>
                  <a:srgbClr val="93A3B8"/>
                </a:solidFill>
                <a:latin typeface="Calibri" pitchFamily="34" charset="0"/>
                <a:ea typeface="Calibri" pitchFamily="34" charset="-122"/>
                <a:cs typeface="Calibri" pitchFamily="34" charset="-120"/>
              </a:rPr>
              <a:t>Plant Ride · Rider → Driver journey · recorded on the MVP with demo data</a:t>
            </a:r>
            <a:endParaRPr lang="en-US" sz="900" dirty="0"/>
          </a:p>
        </p:txBody>
      </p:sp>
      <p:sp>
        <p:nvSpPr>
          <p:cNvPr id="13" name="Text 10"/>
          <p:cNvSpPr txBox="1"/>
          <p:nvPr/>
        </p:nvSpPr>
        <p:spPr>
          <a:xfrm>
            <a:off x="11185855" y="6473952"/>
            <a:ext cx="457200" cy="228600"/>
          </a:xfrm>
          <a:prstGeom prst="rect">
            <a:avLst/>
          </a:prstGeom>
          <a:noFill/>
          <a:ln/>
        </p:spPr>
        <p:txBody>
          <a:bodyPr wrap="square" lIns="0" tIns="0" rIns="0" bIns="0" rtlCol="0" anchor="ctr"/>
          <a:lstStyle/>
          <a:p>
            <a:pPr algn="r" indent="0" marL="0">
              <a:buNone/>
            </a:pPr>
            <a:r>
              <a:rPr lang="en-US" sz="900" dirty="0">
                <a:solidFill>
                  <a:srgbClr val="93A3B8"/>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50976" y="402336"/>
            <a:ext cx="2813925" cy="5961888"/>
          </a:xfrm>
          <a:prstGeom prst="roundRect">
            <a:avLst>
              <a:gd name="adj" fmla="val 5849"/>
            </a:avLst>
          </a:prstGeom>
          <a:solidFill>
            <a:srgbClr val="16202B"/>
          </a:solidFill>
          <a:ln w="9525">
            <a:solidFill>
              <a:srgbClr val="16202B"/>
            </a:solidFill>
            <a:prstDash val="solid"/>
          </a:ln>
          <a:effectLst>
            <a:outerShdw sx="100000" sy="100000" kx="0" ky="0" algn="bl" rotWithShape="0" blurRad="127000" dist="38100" dir="5400000">
              <a:srgbClr val="000000">
                <a:alpha val="20000"/>
              </a:srgbClr>
            </a:outerShdw>
          </a:effectLst>
        </p:spPr>
      </p:sp>
      <p:pic>
        <p:nvPicPr>
          <p:cNvPr id="3" name="Image 0" descr="Screenshot: r01-sign-in">    </p:cNvPr>
          <p:cNvPicPr>
            <a:picLocks noChangeAspect="1"/>
          </p:cNvPicPr>
          <p:nvPr/>
        </p:nvPicPr>
        <p:blipFill>
          <a:blip r:embed="rId1"/>
          <a:stretch>
            <a:fillRect/>
          </a:stretch>
        </p:blipFill>
        <p:spPr>
          <a:xfrm>
            <a:off x="1005840" y="457200"/>
            <a:ext cx="2704197" cy="5852160"/>
          </a:xfrm>
          <a:prstGeom prst="rect">
            <a:avLst/>
          </a:prstGeom>
        </p:spPr>
      </p:pic>
      <p:sp>
        <p:nvSpPr>
          <p:cNvPr id="4" name="Shape 1"/>
          <p:cNvSpPr/>
          <p:nvPr/>
        </p:nvSpPr>
        <p:spPr>
          <a:xfrm>
            <a:off x="822960" y="2440278"/>
            <a:ext cx="293821" cy="914"/>
          </a:xfrm>
          <a:prstGeom prst="line">
            <a:avLst/>
          </a:prstGeom>
          <a:noFill/>
          <a:ln w="15875">
            <a:solidFill>
              <a:srgbClr val="E85D04"/>
            </a:solidFill>
            <a:prstDash val="solid"/>
          </a:ln>
        </p:spPr>
      </p:sp>
      <p:sp>
        <p:nvSpPr>
          <p:cNvPr id="5" name="Shape 2"/>
          <p:cNvSpPr/>
          <p:nvPr/>
        </p:nvSpPr>
        <p:spPr>
          <a:xfrm>
            <a:off x="1075633" y="2399130"/>
            <a:ext cx="82296" cy="82296"/>
          </a:xfrm>
          <a:prstGeom prst="ellipse">
            <a:avLst/>
          </a:prstGeom>
          <a:solidFill>
            <a:srgbClr val="E85D04"/>
          </a:solidFill>
          <a:ln w="9525">
            <a:solidFill>
              <a:srgbClr val="FFFFFF"/>
            </a:solidFill>
            <a:prstDash val="solid"/>
          </a:ln>
        </p:spPr>
      </p:sp>
      <p:sp>
        <p:nvSpPr>
          <p:cNvPr id="6" name="Shape 3"/>
          <p:cNvSpPr/>
          <p:nvPr/>
        </p:nvSpPr>
        <p:spPr>
          <a:xfrm>
            <a:off x="548640" y="2303118"/>
            <a:ext cx="274320" cy="274320"/>
          </a:xfrm>
          <a:prstGeom prst="ellipse">
            <a:avLst/>
          </a:prstGeom>
          <a:solidFill>
            <a:srgbClr val="E85D04"/>
          </a:solidFill>
          <a:ln w="15875">
            <a:solidFill>
              <a:srgbClr val="FFFFFF"/>
            </a:solidFill>
            <a:prstDash val="solid"/>
          </a:ln>
        </p:spPr>
      </p:sp>
      <p:sp>
        <p:nvSpPr>
          <p:cNvPr id="7" name="Text 4"/>
          <p:cNvSpPr txBox="1"/>
          <p:nvPr/>
        </p:nvSpPr>
        <p:spPr>
          <a:xfrm>
            <a:off x="548640" y="230311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8" name="Shape 5"/>
          <p:cNvSpPr/>
          <p:nvPr/>
        </p:nvSpPr>
        <p:spPr>
          <a:xfrm>
            <a:off x="822960" y="3521957"/>
            <a:ext cx="293821" cy="914"/>
          </a:xfrm>
          <a:prstGeom prst="line">
            <a:avLst/>
          </a:prstGeom>
          <a:noFill/>
          <a:ln w="15875">
            <a:solidFill>
              <a:srgbClr val="E85D04"/>
            </a:solidFill>
            <a:prstDash val="solid"/>
          </a:ln>
        </p:spPr>
      </p:sp>
      <p:sp>
        <p:nvSpPr>
          <p:cNvPr id="9" name="Shape 6"/>
          <p:cNvSpPr/>
          <p:nvPr/>
        </p:nvSpPr>
        <p:spPr>
          <a:xfrm>
            <a:off x="1075633" y="3480809"/>
            <a:ext cx="82296" cy="82296"/>
          </a:xfrm>
          <a:prstGeom prst="ellipse">
            <a:avLst/>
          </a:prstGeom>
          <a:solidFill>
            <a:srgbClr val="E85D04"/>
          </a:solidFill>
          <a:ln w="9525">
            <a:solidFill>
              <a:srgbClr val="FFFFFF"/>
            </a:solidFill>
            <a:prstDash val="solid"/>
          </a:ln>
        </p:spPr>
      </p:sp>
      <p:sp>
        <p:nvSpPr>
          <p:cNvPr id="10" name="Shape 7"/>
          <p:cNvSpPr/>
          <p:nvPr/>
        </p:nvSpPr>
        <p:spPr>
          <a:xfrm>
            <a:off x="548640" y="3384797"/>
            <a:ext cx="274320" cy="274320"/>
          </a:xfrm>
          <a:prstGeom prst="ellipse">
            <a:avLst/>
          </a:prstGeom>
          <a:solidFill>
            <a:srgbClr val="E85D04"/>
          </a:solidFill>
          <a:ln w="15875">
            <a:solidFill>
              <a:srgbClr val="FFFFFF"/>
            </a:solidFill>
            <a:prstDash val="solid"/>
          </a:ln>
        </p:spPr>
      </p:sp>
      <p:sp>
        <p:nvSpPr>
          <p:cNvPr id="11" name="Text 8"/>
          <p:cNvSpPr txBox="1"/>
          <p:nvPr/>
        </p:nvSpPr>
        <p:spPr>
          <a:xfrm>
            <a:off x="548640" y="3384797"/>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2" name="Shape 9"/>
          <p:cNvSpPr/>
          <p:nvPr/>
        </p:nvSpPr>
        <p:spPr>
          <a:xfrm>
            <a:off x="822960" y="3979590"/>
            <a:ext cx="293821" cy="914"/>
          </a:xfrm>
          <a:prstGeom prst="line">
            <a:avLst/>
          </a:prstGeom>
          <a:noFill/>
          <a:ln w="15875">
            <a:solidFill>
              <a:srgbClr val="E85D04"/>
            </a:solidFill>
            <a:prstDash val="solid"/>
          </a:ln>
        </p:spPr>
      </p:sp>
      <p:sp>
        <p:nvSpPr>
          <p:cNvPr id="13" name="Shape 10"/>
          <p:cNvSpPr/>
          <p:nvPr/>
        </p:nvSpPr>
        <p:spPr>
          <a:xfrm>
            <a:off x="1075633" y="3938442"/>
            <a:ext cx="82296" cy="82296"/>
          </a:xfrm>
          <a:prstGeom prst="ellipse">
            <a:avLst/>
          </a:prstGeom>
          <a:solidFill>
            <a:srgbClr val="E85D04"/>
          </a:solidFill>
          <a:ln w="9525">
            <a:solidFill>
              <a:srgbClr val="FFFFFF"/>
            </a:solidFill>
            <a:prstDash val="solid"/>
          </a:ln>
        </p:spPr>
      </p:sp>
      <p:sp>
        <p:nvSpPr>
          <p:cNvPr id="14" name="Shape 11"/>
          <p:cNvSpPr/>
          <p:nvPr/>
        </p:nvSpPr>
        <p:spPr>
          <a:xfrm>
            <a:off x="548640" y="3842430"/>
            <a:ext cx="274320" cy="274320"/>
          </a:xfrm>
          <a:prstGeom prst="ellipse">
            <a:avLst/>
          </a:prstGeom>
          <a:solidFill>
            <a:srgbClr val="E85D04"/>
          </a:solidFill>
          <a:ln w="15875">
            <a:solidFill>
              <a:srgbClr val="FFFFFF"/>
            </a:solidFill>
            <a:prstDash val="solid"/>
          </a:ln>
        </p:spPr>
      </p:sp>
      <p:sp>
        <p:nvSpPr>
          <p:cNvPr id="15" name="Text 12"/>
          <p:cNvSpPr txBox="1"/>
          <p:nvPr/>
        </p:nvSpPr>
        <p:spPr>
          <a:xfrm>
            <a:off x="548640" y="384243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6" name="Shape 13"/>
          <p:cNvSpPr/>
          <p:nvPr/>
        </p:nvSpPr>
        <p:spPr>
          <a:xfrm>
            <a:off x="4434840" y="457200"/>
            <a:ext cx="384048" cy="384048"/>
          </a:xfrm>
          <a:prstGeom prst="ellipse">
            <a:avLst/>
          </a:prstGeom>
          <a:solidFill>
            <a:srgbClr val="E85D04"/>
          </a:solidFill>
          <a:ln w="6350">
            <a:solidFill>
              <a:srgbClr val="E85D04"/>
            </a:solidFill>
            <a:prstDash val="solid"/>
          </a:ln>
        </p:spPr>
      </p:sp>
      <p:sp>
        <p:nvSpPr>
          <p:cNvPr id="17" name="Text 14"/>
          <p:cNvSpPr txBox="1"/>
          <p:nvPr/>
        </p:nvSpPr>
        <p:spPr>
          <a:xfrm>
            <a:off x="4434840" y="457200"/>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AR</a:t>
            </a:r>
            <a:endParaRPr lang="en-US" sz="1100" dirty="0"/>
          </a:p>
        </p:txBody>
      </p:sp>
      <p:sp>
        <p:nvSpPr>
          <p:cNvPr id="18" name="Text 15"/>
          <p:cNvSpPr txBox="1"/>
          <p:nvPr/>
        </p:nvSpPr>
        <p:spPr>
          <a:xfrm>
            <a:off x="4937760" y="457200"/>
            <a:ext cx="3291840" cy="384048"/>
          </a:xfrm>
          <a:prstGeom prst="rect">
            <a:avLst/>
          </a:prstGeom>
          <a:noFill/>
          <a:ln/>
        </p:spPr>
        <p:txBody>
          <a:bodyPr wrap="square" lIns="0" tIns="0" rIns="0" bIns="0" rtlCol="0" anchor="ctr"/>
          <a:lstStyle/>
          <a:p>
            <a:pPr indent="0" marL="0">
              <a:buNone/>
            </a:pPr>
            <a:r>
              <a:rPr lang="en-US" sz="1300" b="1" dirty="0">
                <a:solidFill>
                  <a:srgbClr val="E85D04"/>
                </a:solidFill>
                <a:latin typeface="Calibri" pitchFamily="34" charset="0"/>
                <a:ea typeface="Calibri" pitchFamily="34" charset="-122"/>
                <a:cs typeface="Calibri" pitchFamily="34" charset="-120"/>
              </a:rPr>
              <a:t>Rider  </a:t>
            </a:r>
            <a:pPr indent="0" marL="0">
              <a:buNone/>
            </a:pPr>
            <a:r>
              <a:rPr lang="en-US" sz="1300" b="1" dirty="0">
                <a:solidFill>
                  <a:srgbClr val="16202B"/>
                </a:solidFill>
                <a:latin typeface="Calibri" pitchFamily="34" charset="0"/>
                <a:ea typeface="Calibri" pitchFamily="34" charset="-122"/>
                <a:cs typeface="Calibri" pitchFamily="34" charset="-120"/>
              </a:rPr>
              <a:t>A. Raghavan</a:t>
            </a:r>
            <a:endParaRPr lang="en-US" sz="1300" dirty="0"/>
          </a:p>
        </p:txBody>
      </p:sp>
      <p:sp>
        <p:nvSpPr>
          <p:cNvPr id="19" name="Shape 16"/>
          <p:cNvSpPr/>
          <p:nvPr/>
        </p:nvSpPr>
        <p:spPr>
          <a:xfrm>
            <a:off x="8753551" y="557784"/>
            <a:ext cx="173736" cy="173736"/>
          </a:xfrm>
          <a:prstGeom prst="ellipse">
            <a:avLst/>
          </a:prstGeom>
          <a:solidFill>
            <a:srgbClr val="E85D04"/>
          </a:solidFill>
          <a:ln w="9525">
            <a:solidFill>
              <a:srgbClr val="E85D04"/>
            </a:solidFill>
            <a:prstDash val="solid"/>
          </a:ln>
        </p:spPr>
      </p:sp>
      <p:sp>
        <p:nvSpPr>
          <p:cNvPr id="20" name="Shape 17"/>
          <p:cNvSpPr/>
          <p:nvPr/>
        </p:nvSpPr>
        <p:spPr>
          <a:xfrm>
            <a:off x="8963863" y="585216"/>
            <a:ext cx="118872" cy="118872"/>
          </a:xfrm>
          <a:prstGeom prst="ellipse">
            <a:avLst/>
          </a:prstGeom>
          <a:solidFill>
            <a:srgbClr val="F3F6F9"/>
          </a:solidFill>
          <a:ln w="9525">
            <a:solidFill>
              <a:srgbClr val="DCE4EC"/>
            </a:solidFill>
            <a:prstDash val="solid"/>
          </a:ln>
        </p:spPr>
      </p:sp>
      <p:sp>
        <p:nvSpPr>
          <p:cNvPr id="21" name="Shape 18"/>
          <p:cNvSpPr/>
          <p:nvPr/>
        </p:nvSpPr>
        <p:spPr>
          <a:xfrm>
            <a:off x="9146743" y="585216"/>
            <a:ext cx="118872" cy="118872"/>
          </a:xfrm>
          <a:prstGeom prst="ellipse">
            <a:avLst/>
          </a:prstGeom>
          <a:solidFill>
            <a:srgbClr val="F3F6F9"/>
          </a:solidFill>
          <a:ln w="9525">
            <a:solidFill>
              <a:srgbClr val="DCE4EC"/>
            </a:solidFill>
            <a:prstDash val="solid"/>
          </a:ln>
        </p:spPr>
      </p:sp>
      <p:sp>
        <p:nvSpPr>
          <p:cNvPr id="22" name="Shape 19"/>
          <p:cNvSpPr/>
          <p:nvPr/>
        </p:nvSpPr>
        <p:spPr>
          <a:xfrm>
            <a:off x="9329623" y="585216"/>
            <a:ext cx="118872" cy="118872"/>
          </a:xfrm>
          <a:prstGeom prst="ellipse">
            <a:avLst/>
          </a:prstGeom>
          <a:solidFill>
            <a:srgbClr val="F3F6F9"/>
          </a:solidFill>
          <a:ln w="9525">
            <a:solidFill>
              <a:srgbClr val="DCE4EC"/>
            </a:solidFill>
            <a:prstDash val="solid"/>
          </a:ln>
        </p:spPr>
      </p:sp>
      <p:sp>
        <p:nvSpPr>
          <p:cNvPr id="23" name="Shape 20"/>
          <p:cNvSpPr/>
          <p:nvPr/>
        </p:nvSpPr>
        <p:spPr>
          <a:xfrm>
            <a:off x="9512503" y="585216"/>
            <a:ext cx="118872" cy="118872"/>
          </a:xfrm>
          <a:prstGeom prst="ellipse">
            <a:avLst/>
          </a:prstGeom>
          <a:solidFill>
            <a:srgbClr val="F3F6F9"/>
          </a:solidFill>
          <a:ln w="9525">
            <a:solidFill>
              <a:srgbClr val="DCE4EC"/>
            </a:solidFill>
            <a:prstDash val="solid"/>
          </a:ln>
        </p:spPr>
      </p:sp>
      <p:sp>
        <p:nvSpPr>
          <p:cNvPr id="24" name="Shape 21"/>
          <p:cNvSpPr/>
          <p:nvPr/>
        </p:nvSpPr>
        <p:spPr>
          <a:xfrm>
            <a:off x="9695383" y="585216"/>
            <a:ext cx="118872" cy="118872"/>
          </a:xfrm>
          <a:prstGeom prst="ellipse">
            <a:avLst/>
          </a:prstGeom>
          <a:solidFill>
            <a:srgbClr val="F3F6F9"/>
          </a:solidFill>
          <a:ln w="9525">
            <a:solidFill>
              <a:srgbClr val="DCE4EC"/>
            </a:solidFill>
            <a:prstDash val="solid"/>
          </a:ln>
        </p:spPr>
      </p:sp>
      <p:sp>
        <p:nvSpPr>
          <p:cNvPr id="25" name="Shape 22"/>
          <p:cNvSpPr/>
          <p:nvPr/>
        </p:nvSpPr>
        <p:spPr>
          <a:xfrm>
            <a:off x="9878263" y="585216"/>
            <a:ext cx="118872" cy="118872"/>
          </a:xfrm>
          <a:prstGeom prst="ellipse">
            <a:avLst/>
          </a:prstGeom>
          <a:solidFill>
            <a:srgbClr val="F3F6F9"/>
          </a:solidFill>
          <a:ln w="9525">
            <a:solidFill>
              <a:srgbClr val="DCE4EC"/>
            </a:solidFill>
            <a:prstDash val="solid"/>
          </a:ln>
        </p:spPr>
      </p:sp>
      <p:sp>
        <p:nvSpPr>
          <p:cNvPr id="26" name="Shape 23"/>
          <p:cNvSpPr/>
          <p:nvPr/>
        </p:nvSpPr>
        <p:spPr>
          <a:xfrm>
            <a:off x="10061143" y="585216"/>
            <a:ext cx="118872" cy="118872"/>
          </a:xfrm>
          <a:prstGeom prst="ellipse">
            <a:avLst/>
          </a:prstGeom>
          <a:solidFill>
            <a:srgbClr val="F3F6F9"/>
          </a:solidFill>
          <a:ln w="9525">
            <a:solidFill>
              <a:srgbClr val="DCE4EC"/>
            </a:solidFill>
            <a:prstDash val="solid"/>
          </a:ln>
        </p:spPr>
      </p:sp>
      <p:sp>
        <p:nvSpPr>
          <p:cNvPr id="27" name="Shape 24"/>
          <p:cNvSpPr/>
          <p:nvPr/>
        </p:nvSpPr>
        <p:spPr>
          <a:xfrm>
            <a:off x="10244023" y="585216"/>
            <a:ext cx="118872" cy="118872"/>
          </a:xfrm>
          <a:prstGeom prst="ellipse">
            <a:avLst/>
          </a:prstGeom>
          <a:solidFill>
            <a:srgbClr val="F3F6F9"/>
          </a:solidFill>
          <a:ln w="9525">
            <a:solidFill>
              <a:srgbClr val="DCE4EC"/>
            </a:solidFill>
            <a:prstDash val="solid"/>
          </a:ln>
        </p:spPr>
      </p:sp>
      <p:sp>
        <p:nvSpPr>
          <p:cNvPr id="28" name="Shape 25"/>
          <p:cNvSpPr/>
          <p:nvPr/>
        </p:nvSpPr>
        <p:spPr>
          <a:xfrm>
            <a:off x="10426903" y="585216"/>
            <a:ext cx="118872" cy="118872"/>
          </a:xfrm>
          <a:prstGeom prst="ellipse">
            <a:avLst/>
          </a:prstGeom>
          <a:solidFill>
            <a:srgbClr val="F3F6F9"/>
          </a:solidFill>
          <a:ln w="9525">
            <a:solidFill>
              <a:srgbClr val="DCE4EC"/>
            </a:solidFill>
            <a:prstDash val="solid"/>
          </a:ln>
        </p:spPr>
      </p:sp>
      <p:sp>
        <p:nvSpPr>
          <p:cNvPr id="29" name="Shape 26"/>
          <p:cNvSpPr/>
          <p:nvPr/>
        </p:nvSpPr>
        <p:spPr>
          <a:xfrm>
            <a:off x="10609783" y="585216"/>
            <a:ext cx="118872" cy="118872"/>
          </a:xfrm>
          <a:prstGeom prst="ellipse">
            <a:avLst/>
          </a:prstGeom>
          <a:solidFill>
            <a:srgbClr val="F3F6F9"/>
          </a:solidFill>
          <a:ln w="9525">
            <a:solidFill>
              <a:srgbClr val="DCE4EC"/>
            </a:solidFill>
            <a:prstDash val="solid"/>
          </a:ln>
        </p:spPr>
      </p:sp>
      <p:sp>
        <p:nvSpPr>
          <p:cNvPr id="30" name="Shape 27"/>
          <p:cNvSpPr/>
          <p:nvPr/>
        </p:nvSpPr>
        <p:spPr>
          <a:xfrm>
            <a:off x="10792663" y="585216"/>
            <a:ext cx="118872" cy="118872"/>
          </a:xfrm>
          <a:prstGeom prst="ellipse">
            <a:avLst/>
          </a:prstGeom>
          <a:solidFill>
            <a:srgbClr val="F3F6F9"/>
          </a:solidFill>
          <a:ln w="9525">
            <a:solidFill>
              <a:srgbClr val="DCE4EC"/>
            </a:solidFill>
            <a:prstDash val="solid"/>
          </a:ln>
        </p:spPr>
      </p:sp>
      <p:sp>
        <p:nvSpPr>
          <p:cNvPr id="31" name="Shape 28"/>
          <p:cNvSpPr/>
          <p:nvPr/>
        </p:nvSpPr>
        <p:spPr>
          <a:xfrm>
            <a:off x="10975543" y="585216"/>
            <a:ext cx="118872" cy="118872"/>
          </a:xfrm>
          <a:prstGeom prst="ellipse">
            <a:avLst/>
          </a:prstGeom>
          <a:solidFill>
            <a:srgbClr val="F3F6F9"/>
          </a:solidFill>
          <a:ln w="9525">
            <a:solidFill>
              <a:srgbClr val="DCE4EC"/>
            </a:solidFill>
            <a:prstDash val="solid"/>
          </a:ln>
        </p:spPr>
      </p:sp>
      <p:sp>
        <p:nvSpPr>
          <p:cNvPr id="32" name="Shape 29"/>
          <p:cNvSpPr/>
          <p:nvPr/>
        </p:nvSpPr>
        <p:spPr>
          <a:xfrm>
            <a:off x="11158423" y="585216"/>
            <a:ext cx="118872" cy="118872"/>
          </a:xfrm>
          <a:prstGeom prst="ellipse">
            <a:avLst/>
          </a:prstGeom>
          <a:solidFill>
            <a:srgbClr val="F3F6F9"/>
          </a:solidFill>
          <a:ln w="9525">
            <a:solidFill>
              <a:srgbClr val="DCE4EC"/>
            </a:solidFill>
            <a:prstDash val="solid"/>
          </a:ln>
        </p:spPr>
      </p:sp>
      <p:sp>
        <p:nvSpPr>
          <p:cNvPr id="33" name="Shape 30"/>
          <p:cNvSpPr/>
          <p:nvPr/>
        </p:nvSpPr>
        <p:spPr>
          <a:xfrm>
            <a:off x="11341303" y="585216"/>
            <a:ext cx="118872" cy="118872"/>
          </a:xfrm>
          <a:prstGeom prst="ellipse">
            <a:avLst/>
          </a:prstGeom>
          <a:solidFill>
            <a:srgbClr val="F3F6F9"/>
          </a:solidFill>
          <a:ln w="9525">
            <a:solidFill>
              <a:srgbClr val="DCE4EC"/>
            </a:solidFill>
            <a:prstDash val="solid"/>
          </a:ln>
        </p:spPr>
      </p:sp>
      <p:sp>
        <p:nvSpPr>
          <p:cNvPr id="34" name="Shape 31"/>
          <p:cNvSpPr/>
          <p:nvPr/>
        </p:nvSpPr>
        <p:spPr>
          <a:xfrm>
            <a:off x="11524183" y="585216"/>
            <a:ext cx="118872" cy="118872"/>
          </a:xfrm>
          <a:prstGeom prst="ellipse">
            <a:avLst/>
          </a:prstGeom>
          <a:solidFill>
            <a:srgbClr val="F3F6F9"/>
          </a:solidFill>
          <a:ln w="9525">
            <a:solidFill>
              <a:srgbClr val="DCE4EC"/>
            </a:solidFill>
            <a:prstDash val="solid"/>
          </a:ln>
        </p:spPr>
      </p:sp>
      <p:sp>
        <p:nvSpPr>
          <p:cNvPr id="35" name="Text 32"/>
          <p:cNvSpPr txBox="1"/>
          <p:nvPr/>
        </p:nvSpPr>
        <p:spPr>
          <a:xfrm>
            <a:off x="8780983" y="768096"/>
            <a:ext cx="2862072" cy="201168"/>
          </a:xfrm>
          <a:prstGeom prst="rect">
            <a:avLst/>
          </a:prstGeom>
          <a:noFill/>
          <a:ln/>
        </p:spPr>
        <p:txBody>
          <a:bodyPr wrap="square" lIns="0" tIns="0" rIns="0" bIns="0" rtlCol="0" anchor="ctr"/>
          <a:lstStyle/>
          <a:p>
            <a:pPr algn="r" indent="0" marL="0">
              <a:buNone/>
            </a:pPr>
            <a:r>
              <a:rPr lang="en-US" sz="950" dirty="0">
                <a:solidFill>
                  <a:srgbClr val="5E6D7D"/>
                </a:solidFill>
                <a:latin typeface="Calibri" pitchFamily="34" charset="0"/>
                <a:ea typeface="Calibri" pitchFamily="34" charset="-122"/>
                <a:cs typeface="Calibri" pitchFamily="34" charset="-120"/>
              </a:rPr>
              <a:t>Screen 1 of 16</a:t>
            </a:r>
            <a:endParaRPr lang="en-US" sz="950" dirty="0"/>
          </a:p>
        </p:txBody>
      </p:sp>
      <p:sp>
        <p:nvSpPr>
          <p:cNvPr id="36" name="Text 33"/>
          <p:cNvSpPr txBox="1"/>
          <p:nvPr/>
        </p:nvSpPr>
        <p:spPr>
          <a:xfrm>
            <a:off x="4434840" y="1170432"/>
            <a:ext cx="7208215" cy="237744"/>
          </a:xfrm>
          <a:prstGeom prst="rect">
            <a:avLst/>
          </a:prstGeom>
          <a:noFill/>
          <a:ln/>
        </p:spPr>
        <p:txBody>
          <a:bodyPr wrap="square" lIns="0" tIns="0" rIns="0" bIns="0" rtlCol="0" anchor="ctr"/>
          <a:lstStyle/>
          <a:p>
            <a:pPr indent="0" marL="0">
              <a:buNone/>
            </a:pPr>
            <a:r>
              <a:rPr lang="en-US" sz="1100" b="1" spc="200" kern="0" dirty="0">
                <a:solidFill>
                  <a:srgbClr val="E85D04"/>
                </a:solidFill>
                <a:latin typeface="Calibri" pitchFamily="34" charset="0"/>
                <a:ea typeface="Calibri" pitchFamily="34" charset="-122"/>
                <a:cs typeface="Calibri" pitchFamily="34" charset="-120"/>
              </a:rPr>
              <a:t>SIGN IN</a:t>
            </a:r>
            <a:endParaRPr lang="en-US" sz="1100" dirty="0"/>
          </a:p>
        </p:txBody>
      </p:sp>
      <p:sp>
        <p:nvSpPr>
          <p:cNvPr id="37" name="Text 34"/>
          <p:cNvSpPr txBox="1"/>
          <p:nvPr/>
        </p:nvSpPr>
        <p:spPr>
          <a:xfrm>
            <a:off x="4434840" y="1463040"/>
            <a:ext cx="7208215" cy="457200"/>
          </a:xfrm>
          <a:prstGeom prst="rect">
            <a:avLst/>
          </a:prstGeom>
          <a:noFill/>
          <a:ln/>
        </p:spPr>
        <p:txBody>
          <a:bodyPr wrap="square" lIns="0" tIns="0" rIns="0" bIns="0" rtlCol="0" anchor="t"/>
          <a:lstStyle/>
          <a:p>
            <a:pPr indent="0" marL="0">
              <a:buNone/>
            </a:pPr>
            <a:r>
              <a:rPr lang="en-US" sz="3000" b="1" dirty="0">
                <a:solidFill>
                  <a:srgbClr val="16202B"/>
                </a:solidFill>
                <a:latin typeface="Calibri" pitchFamily="34" charset="0"/>
                <a:ea typeface="Calibri" pitchFamily="34" charset="-122"/>
                <a:cs typeface="Calibri" pitchFamily="34" charset="-120"/>
              </a:rPr>
              <a:t>Sign in with a P. No.</a:t>
            </a:r>
            <a:endParaRPr lang="en-US" sz="3000" dirty="0"/>
          </a:p>
        </p:txBody>
      </p:sp>
      <p:sp>
        <p:nvSpPr>
          <p:cNvPr id="38" name="Text 35"/>
          <p:cNvSpPr txBox="1"/>
          <p:nvPr/>
        </p:nvSpPr>
        <p:spPr>
          <a:xfrm>
            <a:off x="4434840" y="2048256"/>
            <a:ext cx="7208215" cy="475488"/>
          </a:xfrm>
          <a:prstGeom prst="rect">
            <a:avLst/>
          </a:prstGeom>
          <a:noFill/>
          <a:ln/>
        </p:spPr>
        <p:txBody>
          <a:bodyPr wrap="square" lIns="0" tIns="0" rIns="0" bIns="0" rtlCol="0" anchor="t"/>
          <a:lstStyle/>
          <a:p>
            <a:pPr indent="0" marL="0">
              <a:buNone/>
            </a:pPr>
            <a:r>
              <a:rPr lang="en-US" sz="1500" dirty="0">
                <a:solidFill>
                  <a:srgbClr val="34465A"/>
                </a:solidFill>
                <a:latin typeface="Calibri" pitchFamily="34" charset="0"/>
                <a:ea typeface="Calibri" pitchFamily="34" charset="-122"/>
                <a:cs typeface="Calibri" pitchFamily="34" charset="-120"/>
              </a:rPr>
              <a:t>A. Raghavan opens Plant Ride and signs in with a personnel number and password. One app serves riders, drivers and the desk; the login decides which screens open.</a:t>
            </a:r>
            <a:endParaRPr lang="en-US" sz="1500" dirty="0"/>
          </a:p>
        </p:txBody>
      </p:sp>
      <p:sp>
        <p:nvSpPr>
          <p:cNvPr id="39" name="Shape 36"/>
          <p:cNvSpPr/>
          <p:nvPr/>
        </p:nvSpPr>
        <p:spPr>
          <a:xfrm>
            <a:off x="4434840" y="2798064"/>
            <a:ext cx="7208215" cy="649224"/>
          </a:xfrm>
          <a:prstGeom prst="roundRect">
            <a:avLst>
              <a:gd name="adj" fmla="val 11268"/>
            </a:avLst>
          </a:prstGeom>
          <a:solidFill>
            <a:srgbClr val="F3F6F9"/>
          </a:solidFill>
          <a:ln w="6350">
            <a:solidFill>
              <a:srgbClr val="F3F6F9"/>
            </a:solidFill>
            <a:prstDash val="solid"/>
          </a:ln>
        </p:spPr>
      </p:sp>
      <p:sp>
        <p:nvSpPr>
          <p:cNvPr id="40" name="Shape 37"/>
          <p:cNvSpPr/>
          <p:nvPr/>
        </p:nvSpPr>
        <p:spPr>
          <a:xfrm>
            <a:off x="4599432" y="2916936"/>
            <a:ext cx="292608" cy="292608"/>
          </a:xfrm>
          <a:prstGeom prst="ellipse">
            <a:avLst/>
          </a:prstGeom>
          <a:solidFill>
            <a:srgbClr val="E85D04"/>
          </a:solidFill>
          <a:ln w="15875">
            <a:solidFill>
              <a:srgbClr val="FFFFFF"/>
            </a:solidFill>
            <a:prstDash val="solid"/>
          </a:ln>
        </p:spPr>
      </p:sp>
      <p:sp>
        <p:nvSpPr>
          <p:cNvPr id="41" name="Text 38"/>
          <p:cNvSpPr txBox="1"/>
          <p:nvPr/>
        </p:nvSpPr>
        <p:spPr>
          <a:xfrm>
            <a:off x="4599432" y="2916936"/>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42" name="Text 39"/>
          <p:cNvSpPr txBox="1"/>
          <p:nvPr/>
        </p:nvSpPr>
        <p:spPr>
          <a:xfrm>
            <a:off x="5029200" y="2907792"/>
            <a:ext cx="6430975" cy="274320"/>
          </a:xfrm>
          <a:prstGeom prst="rect">
            <a:avLst/>
          </a:prstGeom>
          <a:noFill/>
          <a:ln/>
        </p:spPr>
        <p:txBody>
          <a:bodyPr wrap="square" lIns="0" tIns="0" rIns="0" bIns="0" rtlCol="0" anchor="ctr"/>
          <a:lstStyle/>
          <a:p>
            <a:pPr indent="0" marL="0">
              <a:buNone/>
            </a:pPr>
            <a:r>
              <a:rPr lang="en-US" sz="1400" b="1" dirty="0">
                <a:solidFill>
                  <a:srgbClr val="16202B"/>
                </a:solidFill>
                <a:latin typeface="Calibri" pitchFamily="34" charset="0"/>
                <a:ea typeface="Calibri" pitchFamily="34" charset="-122"/>
                <a:cs typeface="Calibri" pitchFamily="34" charset="-120"/>
              </a:rPr>
              <a:t>P. No., driver ID or username</a:t>
            </a:r>
            <a:endParaRPr lang="en-US" sz="1400" dirty="0"/>
          </a:p>
        </p:txBody>
      </p:sp>
      <p:sp>
        <p:nvSpPr>
          <p:cNvPr id="43" name="Text 40"/>
          <p:cNvSpPr txBox="1"/>
          <p:nvPr/>
        </p:nvSpPr>
        <p:spPr>
          <a:xfrm>
            <a:off x="5029200" y="3182112"/>
            <a:ext cx="6430975" cy="192024"/>
          </a:xfrm>
          <a:prstGeom prst="rect">
            <a:avLst/>
          </a:prstGeom>
          <a:noFill/>
          <a:ln/>
        </p:spPr>
        <p:txBody>
          <a:bodyPr wrap="square" lIns="0" tIns="0" rIns="0" bIns="0" rtlCol="0" anchor="t"/>
          <a:lstStyle/>
          <a:p>
            <a:pPr indent="0" marL="0">
              <a:buNone/>
            </a:pPr>
            <a:r>
              <a:rPr lang="en-US" sz="1200" dirty="0">
                <a:solidFill>
                  <a:srgbClr val="34465A"/>
                </a:solidFill>
                <a:latin typeface="Calibri" pitchFamily="34" charset="0"/>
                <a:ea typeface="Calibri" pitchFamily="34" charset="-122"/>
                <a:cs typeface="Calibri" pitchFamily="34" charset="-120"/>
              </a:rPr>
              <a:t>LHS-40218, the rider’s personnel number.</a:t>
            </a:r>
            <a:endParaRPr lang="en-US" sz="1200" dirty="0"/>
          </a:p>
        </p:txBody>
      </p:sp>
      <p:sp>
        <p:nvSpPr>
          <p:cNvPr id="44" name="Shape 41"/>
          <p:cNvSpPr/>
          <p:nvPr/>
        </p:nvSpPr>
        <p:spPr>
          <a:xfrm>
            <a:off x="4434840" y="3557016"/>
            <a:ext cx="7208215" cy="649224"/>
          </a:xfrm>
          <a:prstGeom prst="roundRect">
            <a:avLst>
              <a:gd name="adj" fmla="val 11268"/>
            </a:avLst>
          </a:prstGeom>
          <a:solidFill>
            <a:srgbClr val="F3F6F9"/>
          </a:solidFill>
          <a:ln w="6350">
            <a:solidFill>
              <a:srgbClr val="F3F6F9"/>
            </a:solidFill>
            <a:prstDash val="solid"/>
          </a:ln>
        </p:spPr>
      </p:sp>
      <p:sp>
        <p:nvSpPr>
          <p:cNvPr id="45" name="Shape 42"/>
          <p:cNvSpPr/>
          <p:nvPr/>
        </p:nvSpPr>
        <p:spPr>
          <a:xfrm>
            <a:off x="4599432" y="3675888"/>
            <a:ext cx="292608" cy="292608"/>
          </a:xfrm>
          <a:prstGeom prst="ellipse">
            <a:avLst/>
          </a:prstGeom>
          <a:solidFill>
            <a:srgbClr val="E85D04"/>
          </a:solidFill>
          <a:ln w="15875">
            <a:solidFill>
              <a:srgbClr val="FFFFFF"/>
            </a:solidFill>
            <a:prstDash val="solid"/>
          </a:ln>
        </p:spPr>
      </p:sp>
      <p:sp>
        <p:nvSpPr>
          <p:cNvPr id="46" name="Text 43"/>
          <p:cNvSpPr txBox="1"/>
          <p:nvPr/>
        </p:nvSpPr>
        <p:spPr>
          <a:xfrm>
            <a:off x="4599432" y="3675888"/>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47" name="Text 44"/>
          <p:cNvSpPr txBox="1"/>
          <p:nvPr/>
        </p:nvSpPr>
        <p:spPr>
          <a:xfrm>
            <a:off x="5029200" y="3666744"/>
            <a:ext cx="6430975" cy="274320"/>
          </a:xfrm>
          <a:prstGeom prst="rect">
            <a:avLst/>
          </a:prstGeom>
          <a:noFill/>
          <a:ln/>
        </p:spPr>
        <p:txBody>
          <a:bodyPr wrap="square" lIns="0" tIns="0" rIns="0" bIns="0" rtlCol="0" anchor="ctr"/>
          <a:lstStyle/>
          <a:p>
            <a:pPr indent="0" marL="0">
              <a:buNone/>
            </a:pPr>
            <a:r>
              <a:rPr lang="en-US" sz="1400" b="1" dirty="0">
                <a:solidFill>
                  <a:srgbClr val="16202B"/>
                </a:solidFill>
                <a:latin typeface="Calibri" pitchFamily="34" charset="0"/>
                <a:ea typeface="Calibri" pitchFamily="34" charset="-122"/>
                <a:cs typeface="Calibri" pitchFamily="34" charset="-120"/>
              </a:rPr>
              <a:t>Sign in</a:t>
            </a:r>
            <a:endParaRPr lang="en-US" sz="1400" dirty="0"/>
          </a:p>
        </p:txBody>
      </p:sp>
      <p:sp>
        <p:nvSpPr>
          <p:cNvPr id="48" name="Text 45"/>
          <p:cNvSpPr txBox="1"/>
          <p:nvPr/>
        </p:nvSpPr>
        <p:spPr>
          <a:xfrm>
            <a:off x="5029200" y="3941064"/>
            <a:ext cx="6430975" cy="192024"/>
          </a:xfrm>
          <a:prstGeom prst="rect">
            <a:avLst/>
          </a:prstGeom>
          <a:noFill/>
          <a:ln/>
        </p:spPr>
        <p:txBody>
          <a:bodyPr wrap="square" lIns="0" tIns="0" rIns="0" bIns="0" rtlCol="0" anchor="t"/>
          <a:lstStyle/>
          <a:p>
            <a:pPr indent="0" marL="0">
              <a:buNone/>
            </a:pPr>
            <a:r>
              <a:rPr lang="en-US" sz="1200" dirty="0">
                <a:solidFill>
                  <a:srgbClr val="34465A"/>
                </a:solidFill>
                <a:latin typeface="Calibri" pitchFamily="34" charset="0"/>
                <a:ea typeface="Calibri" pitchFamily="34" charset="-122"/>
                <a:cs typeface="Calibri" pitchFamily="34" charset="-120"/>
              </a:rPr>
              <a:t>The session lasts one shift (12 hours).</a:t>
            </a:r>
            <a:endParaRPr lang="en-US" sz="1200" dirty="0"/>
          </a:p>
        </p:txBody>
      </p:sp>
      <p:sp>
        <p:nvSpPr>
          <p:cNvPr id="49" name="Shape 46"/>
          <p:cNvSpPr/>
          <p:nvPr/>
        </p:nvSpPr>
        <p:spPr>
          <a:xfrm>
            <a:off x="4434840" y="4315968"/>
            <a:ext cx="7208215" cy="649224"/>
          </a:xfrm>
          <a:prstGeom prst="roundRect">
            <a:avLst>
              <a:gd name="adj" fmla="val 11268"/>
            </a:avLst>
          </a:prstGeom>
          <a:solidFill>
            <a:srgbClr val="F3F6F9"/>
          </a:solidFill>
          <a:ln w="6350">
            <a:solidFill>
              <a:srgbClr val="F3F6F9"/>
            </a:solidFill>
            <a:prstDash val="solid"/>
          </a:ln>
        </p:spPr>
      </p:sp>
      <p:sp>
        <p:nvSpPr>
          <p:cNvPr id="50" name="Shape 47"/>
          <p:cNvSpPr/>
          <p:nvPr/>
        </p:nvSpPr>
        <p:spPr>
          <a:xfrm>
            <a:off x="4599432" y="4434840"/>
            <a:ext cx="292608" cy="292608"/>
          </a:xfrm>
          <a:prstGeom prst="ellipse">
            <a:avLst/>
          </a:prstGeom>
          <a:solidFill>
            <a:srgbClr val="E85D04"/>
          </a:solidFill>
          <a:ln w="15875">
            <a:solidFill>
              <a:srgbClr val="FFFFFF"/>
            </a:solidFill>
            <a:prstDash val="solid"/>
          </a:ln>
        </p:spPr>
      </p:sp>
      <p:sp>
        <p:nvSpPr>
          <p:cNvPr id="51" name="Text 48"/>
          <p:cNvSpPr txBox="1"/>
          <p:nvPr/>
        </p:nvSpPr>
        <p:spPr>
          <a:xfrm>
            <a:off x="4599432" y="443484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52" name="Text 49"/>
          <p:cNvSpPr txBox="1"/>
          <p:nvPr/>
        </p:nvSpPr>
        <p:spPr>
          <a:xfrm>
            <a:off x="5029200" y="4425696"/>
            <a:ext cx="6430975" cy="274320"/>
          </a:xfrm>
          <a:prstGeom prst="rect">
            <a:avLst/>
          </a:prstGeom>
          <a:noFill/>
          <a:ln/>
        </p:spPr>
        <p:txBody>
          <a:bodyPr wrap="square" lIns="0" tIns="0" rIns="0" bIns="0" rtlCol="0" anchor="ctr"/>
          <a:lstStyle/>
          <a:p>
            <a:pPr indent="0" marL="0">
              <a:buNone/>
            </a:pPr>
            <a:r>
              <a:rPr lang="en-US" sz="1400" b="1" dirty="0">
                <a:solidFill>
                  <a:srgbClr val="16202B"/>
                </a:solidFill>
                <a:latin typeface="Calibri" pitchFamily="34" charset="0"/>
                <a:ea typeface="Calibri" pitchFamily="34" charset="-122"/>
                <a:cs typeface="Calibri" pitchFamily="34" charset="-120"/>
              </a:rPr>
              <a:t>Demo accounts</a:t>
            </a:r>
            <a:endParaRPr lang="en-US" sz="1400" dirty="0"/>
          </a:p>
        </p:txBody>
      </p:sp>
      <p:sp>
        <p:nvSpPr>
          <p:cNvPr id="53" name="Text 50"/>
          <p:cNvSpPr txBox="1"/>
          <p:nvPr/>
        </p:nvSpPr>
        <p:spPr>
          <a:xfrm>
            <a:off x="5029200" y="4700016"/>
            <a:ext cx="6430975" cy="192024"/>
          </a:xfrm>
          <a:prstGeom prst="rect">
            <a:avLst/>
          </a:prstGeom>
          <a:noFill/>
          <a:ln/>
        </p:spPr>
        <p:txBody>
          <a:bodyPr wrap="square" lIns="0" tIns="0" rIns="0" bIns="0" rtlCol="0" anchor="t"/>
          <a:lstStyle/>
          <a:p>
            <a:pPr indent="0" marL="0">
              <a:buNone/>
            </a:pPr>
            <a:r>
              <a:rPr lang="en-US" sz="1200" dirty="0">
                <a:solidFill>
                  <a:srgbClr val="34465A"/>
                </a:solidFill>
                <a:latin typeface="Calibri" pitchFamily="34" charset="0"/>
                <a:ea typeface="Calibri" pitchFamily="34" charset="-122"/>
                <a:cs typeface="Calibri" pitchFamily="34" charset="-120"/>
              </a:rPr>
              <a:t>One-tap logins for the walkthrough; hidden in a pilot build.</a:t>
            </a:r>
            <a:endParaRPr lang="en-US" sz="1200" dirty="0"/>
          </a:p>
        </p:txBody>
      </p:sp>
      <p:sp>
        <p:nvSpPr>
          <p:cNvPr id="54" name="Text 51"/>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900" dirty="0">
                <a:solidFill>
                  <a:srgbClr val="5E6D7D"/>
                </a:solidFill>
                <a:latin typeface="Calibri" pitchFamily="34" charset="0"/>
                <a:ea typeface="Calibri" pitchFamily="34" charset="-122"/>
                <a:cs typeface="Calibri" pitchFamily="34" charset="-120"/>
              </a:rPr>
              <a:t>Plant Ride · Rider → Driver journey · recorded on the MVP with demo data</a:t>
            </a:r>
            <a:endParaRPr lang="en-US" sz="900" dirty="0"/>
          </a:p>
        </p:txBody>
      </p:sp>
      <p:sp>
        <p:nvSpPr>
          <p:cNvPr id="55" name="Text 52"/>
          <p:cNvSpPr txBox="1"/>
          <p:nvPr/>
        </p:nvSpPr>
        <p:spPr>
          <a:xfrm>
            <a:off x="11185855" y="6473952"/>
            <a:ext cx="457200" cy="228600"/>
          </a:xfrm>
          <a:prstGeom prst="rect">
            <a:avLst/>
          </a:prstGeom>
          <a:noFill/>
          <a:ln/>
        </p:spPr>
        <p:txBody>
          <a:bodyPr wrap="square" lIns="0" tIns="0" rIns="0" bIns="0" rtlCol="0" anchor="ctr"/>
          <a:lstStyle/>
          <a:p>
            <a:pPr algn="r" indent="0" marL="0">
              <a:buNone/>
            </a:pPr>
            <a:r>
              <a:rPr lang="en-US" sz="900" dirty="0">
                <a:solidFill>
                  <a:srgbClr val="5E6D7D"/>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50976" y="402336"/>
            <a:ext cx="2813925" cy="5961888"/>
          </a:xfrm>
          <a:prstGeom prst="roundRect">
            <a:avLst>
              <a:gd name="adj" fmla="val 5849"/>
            </a:avLst>
          </a:prstGeom>
          <a:solidFill>
            <a:srgbClr val="16202B"/>
          </a:solidFill>
          <a:ln w="9525">
            <a:solidFill>
              <a:srgbClr val="16202B"/>
            </a:solidFill>
            <a:prstDash val="solid"/>
          </a:ln>
          <a:effectLst>
            <a:outerShdw sx="100000" sy="100000" kx="0" ky="0" algn="bl" rotWithShape="0" blurRad="127000" dist="38100" dir="5400000">
              <a:srgbClr val="000000">
                <a:alpha val="20000"/>
              </a:srgbClr>
            </a:outerShdw>
          </a:effectLst>
        </p:spPr>
      </p:sp>
      <p:pic>
        <p:nvPicPr>
          <p:cNvPr id="3" name="Image 0" descr="Screenshot: r02-home">    </p:cNvPr>
          <p:cNvPicPr>
            <a:picLocks noChangeAspect="1"/>
          </p:cNvPicPr>
          <p:nvPr/>
        </p:nvPicPr>
        <p:blipFill>
          <a:blip r:embed="rId1"/>
          <a:stretch>
            <a:fillRect/>
          </a:stretch>
        </p:blipFill>
        <p:spPr>
          <a:xfrm>
            <a:off x="1005840" y="457200"/>
            <a:ext cx="2704197" cy="5852160"/>
          </a:xfrm>
          <a:prstGeom prst="rect">
            <a:avLst/>
          </a:prstGeom>
        </p:spPr>
      </p:pic>
      <p:sp>
        <p:nvSpPr>
          <p:cNvPr id="4" name="Shape 1"/>
          <p:cNvSpPr/>
          <p:nvPr/>
        </p:nvSpPr>
        <p:spPr>
          <a:xfrm>
            <a:off x="822960" y="1289261"/>
            <a:ext cx="238351" cy="914"/>
          </a:xfrm>
          <a:prstGeom prst="line">
            <a:avLst/>
          </a:prstGeom>
          <a:noFill/>
          <a:ln w="15875">
            <a:solidFill>
              <a:srgbClr val="E85D04"/>
            </a:solidFill>
            <a:prstDash val="solid"/>
          </a:ln>
        </p:spPr>
      </p:sp>
      <p:sp>
        <p:nvSpPr>
          <p:cNvPr id="5" name="Shape 2"/>
          <p:cNvSpPr/>
          <p:nvPr/>
        </p:nvSpPr>
        <p:spPr>
          <a:xfrm>
            <a:off x="1020163" y="1248113"/>
            <a:ext cx="82296" cy="82296"/>
          </a:xfrm>
          <a:prstGeom prst="ellipse">
            <a:avLst/>
          </a:prstGeom>
          <a:solidFill>
            <a:srgbClr val="E85D04"/>
          </a:solidFill>
          <a:ln w="9525">
            <a:solidFill>
              <a:srgbClr val="FFFFFF"/>
            </a:solidFill>
            <a:prstDash val="solid"/>
          </a:ln>
        </p:spPr>
      </p:sp>
      <p:sp>
        <p:nvSpPr>
          <p:cNvPr id="6" name="Shape 3"/>
          <p:cNvSpPr/>
          <p:nvPr/>
        </p:nvSpPr>
        <p:spPr>
          <a:xfrm>
            <a:off x="548640" y="1152101"/>
            <a:ext cx="274320" cy="274320"/>
          </a:xfrm>
          <a:prstGeom prst="ellipse">
            <a:avLst/>
          </a:prstGeom>
          <a:solidFill>
            <a:srgbClr val="E85D04"/>
          </a:solidFill>
          <a:ln w="15875">
            <a:solidFill>
              <a:srgbClr val="FFFFFF"/>
            </a:solidFill>
            <a:prstDash val="solid"/>
          </a:ln>
        </p:spPr>
      </p:sp>
      <p:sp>
        <p:nvSpPr>
          <p:cNvPr id="7" name="Text 4"/>
          <p:cNvSpPr txBox="1"/>
          <p:nvPr/>
        </p:nvSpPr>
        <p:spPr>
          <a:xfrm>
            <a:off x="548640" y="1152101"/>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8" name="Shape 5"/>
          <p:cNvSpPr/>
          <p:nvPr/>
        </p:nvSpPr>
        <p:spPr>
          <a:xfrm>
            <a:off x="822960" y="1760762"/>
            <a:ext cx="238351" cy="914"/>
          </a:xfrm>
          <a:prstGeom prst="line">
            <a:avLst/>
          </a:prstGeom>
          <a:noFill/>
          <a:ln w="15875">
            <a:solidFill>
              <a:srgbClr val="E85D04"/>
            </a:solidFill>
            <a:prstDash val="solid"/>
          </a:ln>
        </p:spPr>
      </p:sp>
      <p:sp>
        <p:nvSpPr>
          <p:cNvPr id="9" name="Shape 6"/>
          <p:cNvSpPr/>
          <p:nvPr/>
        </p:nvSpPr>
        <p:spPr>
          <a:xfrm>
            <a:off x="1020163" y="1719614"/>
            <a:ext cx="82296" cy="82296"/>
          </a:xfrm>
          <a:prstGeom prst="ellipse">
            <a:avLst/>
          </a:prstGeom>
          <a:solidFill>
            <a:srgbClr val="E85D04"/>
          </a:solidFill>
          <a:ln w="9525">
            <a:solidFill>
              <a:srgbClr val="FFFFFF"/>
            </a:solidFill>
            <a:prstDash val="solid"/>
          </a:ln>
        </p:spPr>
      </p:sp>
      <p:sp>
        <p:nvSpPr>
          <p:cNvPr id="10" name="Shape 7"/>
          <p:cNvSpPr/>
          <p:nvPr/>
        </p:nvSpPr>
        <p:spPr>
          <a:xfrm>
            <a:off x="548640" y="1623602"/>
            <a:ext cx="274320" cy="274320"/>
          </a:xfrm>
          <a:prstGeom prst="ellipse">
            <a:avLst/>
          </a:prstGeom>
          <a:solidFill>
            <a:srgbClr val="E85D04"/>
          </a:solidFill>
          <a:ln w="15875">
            <a:solidFill>
              <a:srgbClr val="FFFFFF"/>
            </a:solidFill>
            <a:prstDash val="solid"/>
          </a:ln>
        </p:spPr>
      </p:sp>
      <p:sp>
        <p:nvSpPr>
          <p:cNvPr id="11" name="Text 8"/>
          <p:cNvSpPr txBox="1"/>
          <p:nvPr/>
        </p:nvSpPr>
        <p:spPr>
          <a:xfrm>
            <a:off x="548640" y="162360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2" name="Shape 9"/>
          <p:cNvSpPr/>
          <p:nvPr/>
        </p:nvSpPr>
        <p:spPr>
          <a:xfrm>
            <a:off x="822960" y="4444157"/>
            <a:ext cx="356226" cy="914"/>
          </a:xfrm>
          <a:prstGeom prst="line">
            <a:avLst/>
          </a:prstGeom>
          <a:noFill/>
          <a:ln w="15875">
            <a:solidFill>
              <a:srgbClr val="E85D04"/>
            </a:solidFill>
            <a:prstDash val="solid"/>
          </a:ln>
        </p:spPr>
      </p:sp>
      <p:sp>
        <p:nvSpPr>
          <p:cNvPr id="13" name="Shape 10"/>
          <p:cNvSpPr/>
          <p:nvPr/>
        </p:nvSpPr>
        <p:spPr>
          <a:xfrm>
            <a:off x="1138038" y="4403009"/>
            <a:ext cx="82296" cy="82296"/>
          </a:xfrm>
          <a:prstGeom prst="ellipse">
            <a:avLst/>
          </a:prstGeom>
          <a:solidFill>
            <a:srgbClr val="E85D04"/>
          </a:solidFill>
          <a:ln w="9525">
            <a:solidFill>
              <a:srgbClr val="FFFFFF"/>
            </a:solidFill>
            <a:prstDash val="solid"/>
          </a:ln>
        </p:spPr>
      </p:sp>
      <p:sp>
        <p:nvSpPr>
          <p:cNvPr id="14" name="Shape 11"/>
          <p:cNvSpPr/>
          <p:nvPr/>
        </p:nvSpPr>
        <p:spPr>
          <a:xfrm>
            <a:off x="548640" y="4306997"/>
            <a:ext cx="274320" cy="274320"/>
          </a:xfrm>
          <a:prstGeom prst="ellipse">
            <a:avLst/>
          </a:prstGeom>
          <a:solidFill>
            <a:srgbClr val="E85D04"/>
          </a:solidFill>
          <a:ln w="15875">
            <a:solidFill>
              <a:srgbClr val="FFFFFF"/>
            </a:solidFill>
            <a:prstDash val="solid"/>
          </a:ln>
        </p:spPr>
      </p:sp>
      <p:sp>
        <p:nvSpPr>
          <p:cNvPr id="15" name="Text 12"/>
          <p:cNvSpPr txBox="1"/>
          <p:nvPr/>
        </p:nvSpPr>
        <p:spPr>
          <a:xfrm>
            <a:off x="548640" y="4306997"/>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6" name="Shape 13"/>
          <p:cNvSpPr/>
          <p:nvPr/>
        </p:nvSpPr>
        <p:spPr>
          <a:xfrm>
            <a:off x="4434840" y="457200"/>
            <a:ext cx="384048" cy="384048"/>
          </a:xfrm>
          <a:prstGeom prst="ellipse">
            <a:avLst/>
          </a:prstGeom>
          <a:solidFill>
            <a:srgbClr val="E85D04"/>
          </a:solidFill>
          <a:ln w="6350">
            <a:solidFill>
              <a:srgbClr val="E85D04"/>
            </a:solidFill>
            <a:prstDash val="solid"/>
          </a:ln>
        </p:spPr>
      </p:sp>
      <p:sp>
        <p:nvSpPr>
          <p:cNvPr id="17" name="Text 14"/>
          <p:cNvSpPr txBox="1"/>
          <p:nvPr/>
        </p:nvSpPr>
        <p:spPr>
          <a:xfrm>
            <a:off x="4434840" y="457200"/>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AR</a:t>
            </a:r>
            <a:endParaRPr lang="en-US" sz="1100" dirty="0"/>
          </a:p>
        </p:txBody>
      </p:sp>
      <p:sp>
        <p:nvSpPr>
          <p:cNvPr id="18" name="Text 15"/>
          <p:cNvSpPr txBox="1"/>
          <p:nvPr/>
        </p:nvSpPr>
        <p:spPr>
          <a:xfrm>
            <a:off x="4937760" y="457200"/>
            <a:ext cx="3291840" cy="384048"/>
          </a:xfrm>
          <a:prstGeom prst="rect">
            <a:avLst/>
          </a:prstGeom>
          <a:noFill/>
          <a:ln/>
        </p:spPr>
        <p:txBody>
          <a:bodyPr wrap="square" lIns="0" tIns="0" rIns="0" bIns="0" rtlCol="0" anchor="ctr"/>
          <a:lstStyle/>
          <a:p>
            <a:pPr indent="0" marL="0">
              <a:buNone/>
            </a:pPr>
            <a:r>
              <a:rPr lang="en-US" sz="1300" b="1" dirty="0">
                <a:solidFill>
                  <a:srgbClr val="E85D04"/>
                </a:solidFill>
                <a:latin typeface="Calibri" pitchFamily="34" charset="0"/>
                <a:ea typeface="Calibri" pitchFamily="34" charset="-122"/>
                <a:cs typeface="Calibri" pitchFamily="34" charset="-120"/>
              </a:rPr>
              <a:t>Rider  </a:t>
            </a:r>
            <a:pPr indent="0" marL="0">
              <a:buNone/>
            </a:pPr>
            <a:r>
              <a:rPr lang="en-US" sz="1300" b="1" dirty="0">
                <a:solidFill>
                  <a:srgbClr val="16202B"/>
                </a:solidFill>
                <a:latin typeface="Calibri" pitchFamily="34" charset="0"/>
                <a:ea typeface="Calibri" pitchFamily="34" charset="-122"/>
                <a:cs typeface="Calibri" pitchFamily="34" charset="-120"/>
              </a:rPr>
              <a:t>A. Raghavan</a:t>
            </a:r>
            <a:endParaRPr lang="en-US" sz="1300" dirty="0"/>
          </a:p>
        </p:txBody>
      </p:sp>
      <p:sp>
        <p:nvSpPr>
          <p:cNvPr id="19" name="Shape 16"/>
          <p:cNvSpPr/>
          <p:nvPr/>
        </p:nvSpPr>
        <p:spPr>
          <a:xfrm>
            <a:off x="8780983" y="585216"/>
            <a:ext cx="118872" cy="118872"/>
          </a:xfrm>
          <a:prstGeom prst="ellipse">
            <a:avLst/>
          </a:prstGeom>
          <a:solidFill>
            <a:srgbClr val="FFEDE0"/>
          </a:solidFill>
          <a:ln w="9525">
            <a:solidFill>
              <a:srgbClr val="E85D04"/>
            </a:solidFill>
            <a:prstDash val="solid"/>
          </a:ln>
        </p:spPr>
      </p:sp>
      <p:sp>
        <p:nvSpPr>
          <p:cNvPr id="20" name="Shape 17"/>
          <p:cNvSpPr/>
          <p:nvPr/>
        </p:nvSpPr>
        <p:spPr>
          <a:xfrm>
            <a:off x="8936431" y="557784"/>
            <a:ext cx="173736" cy="173736"/>
          </a:xfrm>
          <a:prstGeom prst="ellipse">
            <a:avLst/>
          </a:prstGeom>
          <a:solidFill>
            <a:srgbClr val="E85D04"/>
          </a:solidFill>
          <a:ln w="9525">
            <a:solidFill>
              <a:srgbClr val="E85D04"/>
            </a:solidFill>
            <a:prstDash val="solid"/>
          </a:ln>
        </p:spPr>
      </p:sp>
      <p:sp>
        <p:nvSpPr>
          <p:cNvPr id="21" name="Shape 18"/>
          <p:cNvSpPr/>
          <p:nvPr/>
        </p:nvSpPr>
        <p:spPr>
          <a:xfrm>
            <a:off x="9146743" y="585216"/>
            <a:ext cx="118872" cy="118872"/>
          </a:xfrm>
          <a:prstGeom prst="ellipse">
            <a:avLst/>
          </a:prstGeom>
          <a:solidFill>
            <a:srgbClr val="F3F6F9"/>
          </a:solidFill>
          <a:ln w="9525">
            <a:solidFill>
              <a:srgbClr val="DCE4EC"/>
            </a:solidFill>
            <a:prstDash val="solid"/>
          </a:ln>
        </p:spPr>
      </p:sp>
      <p:sp>
        <p:nvSpPr>
          <p:cNvPr id="22" name="Shape 19"/>
          <p:cNvSpPr/>
          <p:nvPr/>
        </p:nvSpPr>
        <p:spPr>
          <a:xfrm>
            <a:off x="9329623" y="585216"/>
            <a:ext cx="118872" cy="118872"/>
          </a:xfrm>
          <a:prstGeom prst="ellipse">
            <a:avLst/>
          </a:prstGeom>
          <a:solidFill>
            <a:srgbClr val="F3F6F9"/>
          </a:solidFill>
          <a:ln w="9525">
            <a:solidFill>
              <a:srgbClr val="DCE4EC"/>
            </a:solidFill>
            <a:prstDash val="solid"/>
          </a:ln>
        </p:spPr>
      </p:sp>
      <p:sp>
        <p:nvSpPr>
          <p:cNvPr id="23" name="Shape 20"/>
          <p:cNvSpPr/>
          <p:nvPr/>
        </p:nvSpPr>
        <p:spPr>
          <a:xfrm>
            <a:off x="9512503" y="585216"/>
            <a:ext cx="118872" cy="118872"/>
          </a:xfrm>
          <a:prstGeom prst="ellipse">
            <a:avLst/>
          </a:prstGeom>
          <a:solidFill>
            <a:srgbClr val="F3F6F9"/>
          </a:solidFill>
          <a:ln w="9525">
            <a:solidFill>
              <a:srgbClr val="DCE4EC"/>
            </a:solidFill>
            <a:prstDash val="solid"/>
          </a:ln>
        </p:spPr>
      </p:sp>
      <p:sp>
        <p:nvSpPr>
          <p:cNvPr id="24" name="Shape 21"/>
          <p:cNvSpPr/>
          <p:nvPr/>
        </p:nvSpPr>
        <p:spPr>
          <a:xfrm>
            <a:off x="9695383" y="585216"/>
            <a:ext cx="118872" cy="118872"/>
          </a:xfrm>
          <a:prstGeom prst="ellipse">
            <a:avLst/>
          </a:prstGeom>
          <a:solidFill>
            <a:srgbClr val="F3F6F9"/>
          </a:solidFill>
          <a:ln w="9525">
            <a:solidFill>
              <a:srgbClr val="DCE4EC"/>
            </a:solidFill>
            <a:prstDash val="solid"/>
          </a:ln>
        </p:spPr>
      </p:sp>
      <p:sp>
        <p:nvSpPr>
          <p:cNvPr id="25" name="Shape 22"/>
          <p:cNvSpPr/>
          <p:nvPr/>
        </p:nvSpPr>
        <p:spPr>
          <a:xfrm>
            <a:off x="9878263" y="585216"/>
            <a:ext cx="118872" cy="118872"/>
          </a:xfrm>
          <a:prstGeom prst="ellipse">
            <a:avLst/>
          </a:prstGeom>
          <a:solidFill>
            <a:srgbClr val="F3F6F9"/>
          </a:solidFill>
          <a:ln w="9525">
            <a:solidFill>
              <a:srgbClr val="DCE4EC"/>
            </a:solidFill>
            <a:prstDash val="solid"/>
          </a:ln>
        </p:spPr>
      </p:sp>
      <p:sp>
        <p:nvSpPr>
          <p:cNvPr id="26" name="Shape 23"/>
          <p:cNvSpPr/>
          <p:nvPr/>
        </p:nvSpPr>
        <p:spPr>
          <a:xfrm>
            <a:off x="10061143" y="585216"/>
            <a:ext cx="118872" cy="118872"/>
          </a:xfrm>
          <a:prstGeom prst="ellipse">
            <a:avLst/>
          </a:prstGeom>
          <a:solidFill>
            <a:srgbClr val="F3F6F9"/>
          </a:solidFill>
          <a:ln w="9525">
            <a:solidFill>
              <a:srgbClr val="DCE4EC"/>
            </a:solidFill>
            <a:prstDash val="solid"/>
          </a:ln>
        </p:spPr>
      </p:sp>
      <p:sp>
        <p:nvSpPr>
          <p:cNvPr id="27" name="Shape 24"/>
          <p:cNvSpPr/>
          <p:nvPr/>
        </p:nvSpPr>
        <p:spPr>
          <a:xfrm>
            <a:off x="10244023" y="585216"/>
            <a:ext cx="118872" cy="118872"/>
          </a:xfrm>
          <a:prstGeom prst="ellipse">
            <a:avLst/>
          </a:prstGeom>
          <a:solidFill>
            <a:srgbClr val="F3F6F9"/>
          </a:solidFill>
          <a:ln w="9525">
            <a:solidFill>
              <a:srgbClr val="DCE4EC"/>
            </a:solidFill>
            <a:prstDash val="solid"/>
          </a:ln>
        </p:spPr>
      </p:sp>
      <p:sp>
        <p:nvSpPr>
          <p:cNvPr id="28" name="Shape 25"/>
          <p:cNvSpPr/>
          <p:nvPr/>
        </p:nvSpPr>
        <p:spPr>
          <a:xfrm>
            <a:off x="10426903" y="585216"/>
            <a:ext cx="118872" cy="118872"/>
          </a:xfrm>
          <a:prstGeom prst="ellipse">
            <a:avLst/>
          </a:prstGeom>
          <a:solidFill>
            <a:srgbClr val="F3F6F9"/>
          </a:solidFill>
          <a:ln w="9525">
            <a:solidFill>
              <a:srgbClr val="DCE4EC"/>
            </a:solidFill>
            <a:prstDash val="solid"/>
          </a:ln>
        </p:spPr>
      </p:sp>
      <p:sp>
        <p:nvSpPr>
          <p:cNvPr id="29" name="Shape 26"/>
          <p:cNvSpPr/>
          <p:nvPr/>
        </p:nvSpPr>
        <p:spPr>
          <a:xfrm>
            <a:off x="10609783" y="585216"/>
            <a:ext cx="118872" cy="118872"/>
          </a:xfrm>
          <a:prstGeom prst="ellipse">
            <a:avLst/>
          </a:prstGeom>
          <a:solidFill>
            <a:srgbClr val="F3F6F9"/>
          </a:solidFill>
          <a:ln w="9525">
            <a:solidFill>
              <a:srgbClr val="DCE4EC"/>
            </a:solidFill>
            <a:prstDash val="solid"/>
          </a:ln>
        </p:spPr>
      </p:sp>
      <p:sp>
        <p:nvSpPr>
          <p:cNvPr id="30" name="Shape 27"/>
          <p:cNvSpPr/>
          <p:nvPr/>
        </p:nvSpPr>
        <p:spPr>
          <a:xfrm>
            <a:off x="10792663" y="585216"/>
            <a:ext cx="118872" cy="118872"/>
          </a:xfrm>
          <a:prstGeom prst="ellipse">
            <a:avLst/>
          </a:prstGeom>
          <a:solidFill>
            <a:srgbClr val="F3F6F9"/>
          </a:solidFill>
          <a:ln w="9525">
            <a:solidFill>
              <a:srgbClr val="DCE4EC"/>
            </a:solidFill>
            <a:prstDash val="solid"/>
          </a:ln>
        </p:spPr>
      </p:sp>
      <p:sp>
        <p:nvSpPr>
          <p:cNvPr id="31" name="Shape 28"/>
          <p:cNvSpPr/>
          <p:nvPr/>
        </p:nvSpPr>
        <p:spPr>
          <a:xfrm>
            <a:off x="10975543" y="585216"/>
            <a:ext cx="118872" cy="118872"/>
          </a:xfrm>
          <a:prstGeom prst="ellipse">
            <a:avLst/>
          </a:prstGeom>
          <a:solidFill>
            <a:srgbClr val="F3F6F9"/>
          </a:solidFill>
          <a:ln w="9525">
            <a:solidFill>
              <a:srgbClr val="DCE4EC"/>
            </a:solidFill>
            <a:prstDash val="solid"/>
          </a:ln>
        </p:spPr>
      </p:sp>
      <p:sp>
        <p:nvSpPr>
          <p:cNvPr id="32" name="Shape 29"/>
          <p:cNvSpPr/>
          <p:nvPr/>
        </p:nvSpPr>
        <p:spPr>
          <a:xfrm>
            <a:off x="11158423" y="585216"/>
            <a:ext cx="118872" cy="118872"/>
          </a:xfrm>
          <a:prstGeom prst="ellipse">
            <a:avLst/>
          </a:prstGeom>
          <a:solidFill>
            <a:srgbClr val="F3F6F9"/>
          </a:solidFill>
          <a:ln w="9525">
            <a:solidFill>
              <a:srgbClr val="DCE4EC"/>
            </a:solidFill>
            <a:prstDash val="solid"/>
          </a:ln>
        </p:spPr>
      </p:sp>
      <p:sp>
        <p:nvSpPr>
          <p:cNvPr id="33" name="Shape 30"/>
          <p:cNvSpPr/>
          <p:nvPr/>
        </p:nvSpPr>
        <p:spPr>
          <a:xfrm>
            <a:off x="11341303" y="585216"/>
            <a:ext cx="118872" cy="118872"/>
          </a:xfrm>
          <a:prstGeom prst="ellipse">
            <a:avLst/>
          </a:prstGeom>
          <a:solidFill>
            <a:srgbClr val="F3F6F9"/>
          </a:solidFill>
          <a:ln w="9525">
            <a:solidFill>
              <a:srgbClr val="DCE4EC"/>
            </a:solidFill>
            <a:prstDash val="solid"/>
          </a:ln>
        </p:spPr>
      </p:sp>
      <p:sp>
        <p:nvSpPr>
          <p:cNvPr id="34" name="Shape 31"/>
          <p:cNvSpPr/>
          <p:nvPr/>
        </p:nvSpPr>
        <p:spPr>
          <a:xfrm>
            <a:off x="11524183" y="585216"/>
            <a:ext cx="118872" cy="118872"/>
          </a:xfrm>
          <a:prstGeom prst="ellipse">
            <a:avLst/>
          </a:prstGeom>
          <a:solidFill>
            <a:srgbClr val="F3F6F9"/>
          </a:solidFill>
          <a:ln w="9525">
            <a:solidFill>
              <a:srgbClr val="DCE4EC"/>
            </a:solidFill>
            <a:prstDash val="solid"/>
          </a:ln>
        </p:spPr>
      </p:sp>
      <p:sp>
        <p:nvSpPr>
          <p:cNvPr id="35" name="Text 32"/>
          <p:cNvSpPr txBox="1"/>
          <p:nvPr/>
        </p:nvSpPr>
        <p:spPr>
          <a:xfrm>
            <a:off x="8780983" y="768096"/>
            <a:ext cx="2862072" cy="201168"/>
          </a:xfrm>
          <a:prstGeom prst="rect">
            <a:avLst/>
          </a:prstGeom>
          <a:noFill/>
          <a:ln/>
        </p:spPr>
        <p:txBody>
          <a:bodyPr wrap="square" lIns="0" tIns="0" rIns="0" bIns="0" rtlCol="0" anchor="ctr"/>
          <a:lstStyle/>
          <a:p>
            <a:pPr algn="r" indent="0" marL="0">
              <a:buNone/>
            </a:pPr>
            <a:r>
              <a:rPr lang="en-US" sz="950" dirty="0">
                <a:solidFill>
                  <a:srgbClr val="5E6D7D"/>
                </a:solidFill>
                <a:latin typeface="Calibri" pitchFamily="34" charset="0"/>
                <a:ea typeface="Calibri" pitchFamily="34" charset="-122"/>
                <a:cs typeface="Calibri" pitchFamily="34" charset="-120"/>
              </a:rPr>
              <a:t>Screen 2 of 16</a:t>
            </a:r>
            <a:endParaRPr lang="en-US" sz="950" dirty="0"/>
          </a:p>
        </p:txBody>
      </p:sp>
      <p:sp>
        <p:nvSpPr>
          <p:cNvPr id="36" name="Text 33"/>
          <p:cNvSpPr txBox="1"/>
          <p:nvPr/>
        </p:nvSpPr>
        <p:spPr>
          <a:xfrm>
            <a:off x="4434840" y="1170432"/>
            <a:ext cx="7208215" cy="237744"/>
          </a:xfrm>
          <a:prstGeom prst="rect">
            <a:avLst/>
          </a:prstGeom>
          <a:noFill/>
          <a:ln/>
        </p:spPr>
        <p:txBody>
          <a:bodyPr wrap="square" lIns="0" tIns="0" rIns="0" bIns="0" rtlCol="0" anchor="ctr"/>
          <a:lstStyle/>
          <a:p>
            <a:pPr indent="0" marL="0">
              <a:buNone/>
            </a:pPr>
            <a:r>
              <a:rPr lang="en-US" sz="1100" b="1" spc="200" kern="0" dirty="0">
                <a:solidFill>
                  <a:srgbClr val="E85D04"/>
                </a:solidFill>
                <a:latin typeface="Calibri" pitchFamily="34" charset="0"/>
                <a:ea typeface="Calibri" pitchFamily="34" charset="-122"/>
                <a:cs typeface="Calibri" pitchFamily="34" charset="-120"/>
              </a:rPr>
              <a:t>HOME</a:t>
            </a:r>
            <a:endParaRPr lang="en-US" sz="1100" dirty="0"/>
          </a:p>
        </p:txBody>
      </p:sp>
      <p:sp>
        <p:nvSpPr>
          <p:cNvPr id="37" name="Text 34"/>
          <p:cNvSpPr txBox="1"/>
          <p:nvPr/>
        </p:nvSpPr>
        <p:spPr>
          <a:xfrm>
            <a:off x="4434840" y="1463040"/>
            <a:ext cx="7208215" cy="457200"/>
          </a:xfrm>
          <a:prstGeom prst="rect">
            <a:avLst/>
          </a:prstGeom>
          <a:noFill/>
          <a:ln/>
        </p:spPr>
        <p:txBody>
          <a:bodyPr wrap="square" lIns="0" tIns="0" rIns="0" bIns="0" rtlCol="0" anchor="t"/>
          <a:lstStyle/>
          <a:p>
            <a:pPr indent="0" marL="0">
              <a:buNone/>
            </a:pPr>
            <a:r>
              <a:rPr lang="en-US" sz="3000" b="1" dirty="0">
                <a:solidFill>
                  <a:srgbClr val="16202B"/>
                </a:solidFill>
                <a:latin typeface="Calibri" pitchFamily="34" charset="0"/>
                <a:ea typeface="Calibri" pitchFamily="34" charset="-122"/>
                <a:cs typeface="Calibri" pitchFamily="34" charset="-120"/>
              </a:rPr>
              <a:t>“Where to?” starts every booking</a:t>
            </a:r>
            <a:endParaRPr lang="en-US" sz="3000" dirty="0"/>
          </a:p>
        </p:txBody>
      </p:sp>
      <p:sp>
        <p:nvSpPr>
          <p:cNvPr id="38" name="Text 35"/>
          <p:cNvSpPr txBox="1"/>
          <p:nvPr/>
        </p:nvSpPr>
        <p:spPr>
          <a:xfrm>
            <a:off x="4434840" y="2048256"/>
            <a:ext cx="7208215" cy="475488"/>
          </a:xfrm>
          <a:prstGeom prst="rect">
            <a:avLst/>
          </a:prstGeom>
          <a:noFill/>
          <a:ln/>
        </p:spPr>
        <p:txBody>
          <a:bodyPr wrap="square" lIns="0" tIns="0" rIns="0" bIns="0" rtlCol="0" anchor="t"/>
          <a:lstStyle/>
          <a:p>
            <a:pPr indent="0" marL="0">
              <a:buNone/>
            </a:pPr>
            <a:r>
              <a:rPr lang="en-US" sz="1500" dirty="0">
                <a:solidFill>
                  <a:srgbClr val="34465A"/>
                </a:solidFill>
                <a:latin typeface="Calibri" pitchFamily="34" charset="0"/>
                <a:ea typeface="Calibri" pitchFamily="34" charset="-122"/>
                <a:cs typeface="Calibri" pitchFamily="34" charset="-120"/>
              </a:rPr>
              <a:t>The home screen greets the rider by name, offers the places they go most, and shows the cost centre their rides are charged to.</a:t>
            </a:r>
            <a:endParaRPr lang="en-US" sz="1500" dirty="0"/>
          </a:p>
        </p:txBody>
      </p:sp>
      <p:sp>
        <p:nvSpPr>
          <p:cNvPr id="39" name="Shape 36"/>
          <p:cNvSpPr/>
          <p:nvPr/>
        </p:nvSpPr>
        <p:spPr>
          <a:xfrm>
            <a:off x="4434840" y="2798064"/>
            <a:ext cx="7208215" cy="649224"/>
          </a:xfrm>
          <a:prstGeom prst="roundRect">
            <a:avLst>
              <a:gd name="adj" fmla="val 11268"/>
            </a:avLst>
          </a:prstGeom>
          <a:solidFill>
            <a:srgbClr val="F3F6F9"/>
          </a:solidFill>
          <a:ln w="6350">
            <a:solidFill>
              <a:srgbClr val="F3F6F9"/>
            </a:solidFill>
            <a:prstDash val="solid"/>
          </a:ln>
        </p:spPr>
      </p:sp>
      <p:sp>
        <p:nvSpPr>
          <p:cNvPr id="40" name="Shape 37"/>
          <p:cNvSpPr/>
          <p:nvPr/>
        </p:nvSpPr>
        <p:spPr>
          <a:xfrm>
            <a:off x="4599432" y="2916936"/>
            <a:ext cx="292608" cy="292608"/>
          </a:xfrm>
          <a:prstGeom prst="ellipse">
            <a:avLst/>
          </a:prstGeom>
          <a:solidFill>
            <a:srgbClr val="E85D04"/>
          </a:solidFill>
          <a:ln w="15875">
            <a:solidFill>
              <a:srgbClr val="FFFFFF"/>
            </a:solidFill>
            <a:prstDash val="solid"/>
          </a:ln>
        </p:spPr>
      </p:sp>
      <p:sp>
        <p:nvSpPr>
          <p:cNvPr id="41" name="Text 38"/>
          <p:cNvSpPr txBox="1"/>
          <p:nvPr/>
        </p:nvSpPr>
        <p:spPr>
          <a:xfrm>
            <a:off x="4599432" y="2916936"/>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42" name="Text 39"/>
          <p:cNvSpPr txBox="1"/>
          <p:nvPr/>
        </p:nvSpPr>
        <p:spPr>
          <a:xfrm>
            <a:off x="5029200" y="2907792"/>
            <a:ext cx="6430975" cy="274320"/>
          </a:xfrm>
          <a:prstGeom prst="rect">
            <a:avLst/>
          </a:prstGeom>
          <a:noFill/>
          <a:ln/>
        </p:spPr>
        <p:txBody>
          <a:bodyPr wrap="square" lIns="0" tIns="0" rIns="0" bIns="0" rtlCol="0" anchor="ctr"/>
          <a:lstStyle/>
          <a:p>
            <a:pPr indent="0" marL="0">
              <a:buNone/>
            </a:pPr>
            <a:r>
              <a:rPr lang="en-US" sz="1400" b="1" dirty="0">
                <a:solidFill>
                  <a:srgbClr val="16202B"/>
                </a:solidFill>
                <a:latin typeface="Calibri" pitchFamily="34" charset="0"/>
                <a:ea typeface="Calibri" pitchFamily="34" charset="-122"/>
                <a:cs typeface="Calibri" pitchFamily="34" charset="-120"/>
              </a:rPr>
              <a:t>Where to?</a:t>
            </a:r>
            <a:endParaRPr lang="en-US" sz="1400" dirty="0"/>
          </a:p>
        </p:txBody>
      </p:sp>
      <p:sp>
        <p:nvSpPr>
          <p:cNvPr id="43" name="Text 40"/>
          <p:cNvSpPr txBox="1"/>
          <p:nvPr/>
        </p:nvSpPr>
        <p:spPr>
          <a:xfrm>
            <a:off x="5029200" y="3182112"/>
            <a:ext cx="6430975" cy="192024"/>
          </a:xfrm>
          <a:prstGeom prst="rect">
            <a:avLst/>
          </a:prstGeom>
          <a:noFill/>
          <a:ln/>
        </p:spPr>
        <p:txBody>
          <a:bodyPr wrap="square" lIns="0" tIns="0" rIns="0" bIns="0" rtlCol="0" anchor="t"/>
          <a:lstStyle/>
          <a:p>
            <a:pPr indent="0" marL="0">
              <a:buNone/>
            </a:pPr>
            <a:r>
              <a:rPr lang="en-US" sz="1200" dirty="0">
                <a:solidFill>
                  <a:srgbClr val="34465A"/>
                </a:solidFill>
                <a:latin typeface="Calibri" pitchFamily="34" charset="0"/>
                <a:ea typeface="Calibri" pitchFamily="34" charset="-122"/>
                <a:cs typeface="Calibri" pitchFamily="34" charset="-120"/>
              </a:rPr>
              <a:t>Opens the booking form.</a:t>
            </a:r>
            <a:endParaRPr lang="en-US" sz="1200" dirty="0"/>
          </a:p>
        </p:txBody>
      </p:sp>
      <p:sp>
        <p:nvSpPr>
          <p:cNvPr id="44" name="Shape 41"/>
          <p:cNvSpPr/>
          <p:nvPr/>
        </p:nvSpPr>
        <p:spPr>
          <a:xfrm>
            <a:off x="4434840" y="3557016"/>
            <a:ext cx="7208215" cy="649224"/>
          </a:xfrm>
          <a:prstGeom prst="roundRect">
            <a:avLst>
              <a:gd name="adj" fmla="val 11268"/>
            </a:avLst>
          </a:prstGeom>
          <a:solidFill>
            <a:srgbClr val="F3F6F9"/>
          </a:solidFill>
          <a:ln w="6350">
            <a:solidFill>
              <a:srgbClr val="F3F6F9"/>
            </a:solidFill>
            <a:prstDash val="solid"/>
          </a:ln>
        </p:spPr>
      </p:sp>
      <p:sp>
        <p:nvSpPr>
          <p:cNvPr id="45" name="Shape 42"/>
          <p:cNvSpPr/>
          <p:nvPr/>
        </p:nvSpPr>
        <p:spPr>
          <a:xfrm>
            <a:off x="4599432" y="3675888"/>
            <a:ext cx="292608" cy="292608"/>
          </a:xfrm>
          <a:prstGeom prst="ellipse">
            <a:avLst/>
          </a:prstGeom>
          <a:solidFill>
            <a:srgbClr val="E85D04"/>
          </a:solidFill>
          <a:ln w="15875">
            <a:solidFill>
              <a:srgbClr val="FFFFFF"/>
            </a:solidFill>
            <a:prstDash val="solid"/>
          </a:ln>
        </p:spPr>
      </p:sp>
      <p:sp>
        <p:nvSpPr>
          <p:cNvPr id="46" name="Text 43"/>
          <p:cNvSpPr txBox="1"/>
          <p:nvPr/>
        </p:nvSpPr>
        <p:spPr>
          <a:xfrm>
            <a:off x="4599432" y="3675888"/>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47" name="Text 44"/>
          <p:cNvSpPr txBox="1"/>
          <p:nvPr/>
        </p:nvSpPr>
        <p:spPr>
          <a:xfrm>
            <a:off x="5029200" y="3666744"/>
            <a:ext cx="6430975" cy="274320"/>
          </a:xfrm>
          <a:prstGeom prst="rect">
            <a:avLst/>
          </a:prstGeom>
          <a:noFill/>
          <a:ln/>
        </p:spPr>
        <p:txBody>
          <a:bodyPr wrap="square" lIns="0" tIns="0" rIns="0" bIns="0" rtlCol="0" anchor="ctr"/>
          <a:lstStyle/>
          <a:p>
            <a:pPr indent="0" marL="0">
              <a:buNone/>
            </a:pPr>
            <a:r>
              <a:rPr lang="en-US" sz="1400" b="1" dirty="0">
                <a:solidFill>
                  <a:srgbClr val="16202B"/>
                </a:solidFill>
                <a:latin typeface="Calibri" pitchFamily="34" charset="0"/>
                <a:ea typeface="Calibri" pitchFamily="34" charset="-122"/>
                <a:cs typeface="Calibri" pitchFamily="34" charset="-120"/>
              </a:rPr>
              <a:t>Saved places</a:t>
            </a:r>
            <a:endParaRPr lang="en-US" sz="1400" dirty="0"/>
          </a:p>
        </p:txBody>
      </p:sp>
      <p:sp>
        <p:nvSpPr>
          <p:cNvPr id="48" name="Text 45"/>
          <p:cNvSpPr txBox="1"/>
          <p:nvPr/>
        </p:nvSpPr>
        <p:spPr>
          <a:xfrm>
            <a:off x="5029200" y="3941064"/>
            <a:ext cx="6430975" cy="192024"/>
          </a:xfrm>
          <a:prstGeom prst="rect">
            <a:avLst/>
          </a:prstGeom>
          <a:noFill/>
          <a:ln/>
        </p:spPr>
        <p:txBody>
          <a:bodyPr wrap="square" lIns="0" tIns="0" rIns="0" bIns="0" rtlCol="0" anchor="t"/>
          <a:lstStyle/>
          <a:p>
            <a:pPr indent="0" marL="0">
              <a:buNone/>
            </a:pPr>
            <a:r>
              <a:rPr lang="en-US" sz="1200" dirty="0">
                <a:solidFill>
                  <a:srgbClr val="34465A"/>
                </a:solidFill>
                <a:latin typeface="Calibri" pitchFamily="34" charset="0"/>
                <a:ea typeface="Calibri" pitchFamily="34" charset="-122"/>
                <a:cs typeface="Calibri" pitchFamily="34" charset="-120"/>
              </a:rPr>
              <a:t>Blast Furnace, Stores, Gate 2, with trips there this month.</a:t>
            </a:r>
            <a:endParaRPr lang="en-US" sz="1200" dirty="0"/>
          </a:p>
        </p:txBody>
      </p:sp>
      <p:sp>
        <p:nvSpPr>
          <p:cNvPr id="49" name="Shape 46"/>
          <p:cNvSpPr/>
          <p:nvPr/>
        </p:nvSpPr>
        <p:spPr>
          <a:xfrm>
            <a:off x="4434840" y="4315968"/>
            <a:ext cx="7208215" cy="649224"/>
          </a:xfrm>
          <a:prstGeom prst="roundRect">
            <a:avLst>
              <a:gd name="adj" fmla="val 11268"/>
            </a:avLst>
          </a:prstGeom>
          <a:solidFill>
            <a:srgbClr val="F3F6F9"/>
          </a:solidFill>
          <a:ln w="6350">
            <a:solidFill>
              <a:srgbClr val="F3F6F9"/>
            </a:solidFill>
            <a:prstDash val="solid"/>
          </a:ln>
        </p:spPr>
      </p:sp>
      <p:sp>
        <p:nvSpPr>
          <p:cNvPr id="50" name="Shape 47"/>
          <p:cNvSpPr/>
          <p:nvPr/>
        </p:nvSpPr>
        <p:spPr>
          <a:xfrm>
            <a:off x="4599432" y="4434840"/>
            <a:ext cx="292608" cy="292608"/>
          </a:xfrm>
          <a:prstGeom prst="ellipse">
            <a:avLst/>
          </a:prstGeom>
          <a:solidFill>
            <a:srgbClr val="E85D04"/>
          </a:solidFill>
          <a:ln w="15875">
            <a:solidFill>
              <a:srgbClr val="FFFFFF"/>
            </a:solidFill>
            <a:prstDash val="solid"/>
          </a:ln>
        </p:spPr>
      </p:sp>
      <p:sp>
        <p:nvSpPr>
          <p:cNvPr id="51" name="Text 48"/>
          <p:cNvSpPr txBox="1"/>
          <p:nvPr/>
        </p:nvSpPr>
        <p:spPr>
          <a:xfrm>
            <a:off x="4599432" y="443484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52" name="Text 49"/>
          <p:cNvSpPr txBox="1"/>
          <p:nvPr/>
        </p:nvSpPr>
        <p:spPr>
          <a:xfrm>
            <a:off x="5029200" y="4425696"/>
            <a:ext cx="6430975" cy="274320"/>
          </a:xfrm>
          <a:prstGeom prst="rect">
            <a:avLst/>
          </a:prstGeom>
          <a:noFill/>
          <a:ln/>
        </p:spPr>
        <p:txBody>
          <a:bodyPr wrap="square" lIns="0" tIns="0" rIns="0" bIns="0" rtlCol="0" anchor="ctr"/>
          <a:lstStyle/>
          <a:p>
            <a:pPr indent="0" marL="0">
              <a:buNone/>
            </a:pPr>
            <a:r>
              <a:rPr lang="en-US" sz="1400" b="1" dirty="0">
                <a:solidFill>
                  <a:srgbClr val="16202B"/>
                </a:solidFill>
                <a:latin typeface="Calibri" pitchFamily="34" charset="0"/>
                <a:ea typeface="Calibri" pitchFamily="34" charset="-122"/>
                <a:cs typeface="Calibri" pitchFamily="34" charset="-120"/>
              </a:rPr>
              <a:t>CC-4471 · Operations</a:t>
            </a:r>
            <a:endParaRPr lang="en-US" sz="1400" dirty="0"/>
          </a:p>
        </p:txBody>
      </p:sp>
      <p:sp>
        <p:nvSpPr>
          <p:cNvPr id="53" name="Text 50"/>
          <p:cNvSpPr txBox="1"/>
          <p:nvPr/>
        </p:nvSpPr>
        <p:spPr>
          <a:xfrm>
            <a:off x="5029200" y="4700016"/>
            <a:ext cx="6430975" cy="192024"/>
          </a:xfrm>
          <a:prstGeom prst="rect">
            <a:avLst/>
          </a:prstGeom>
          <a:noFill/>
          <a:ln/>
        </p:spPr>
        <p:txBody>
          <a:bodyPr wrap="square" lIns="0" tIns="0" rIns="0" bIns="0" rtlCol="0" anchor="t"/>
          <a:lstStyle/>
          <a:p>
            <a:pPr indent="0" marL="0">
              <a:buNone/>
            </a:pPr>
            <a:r>
              <a:rPr lang="en-US" sz="1200" dirty="0">
                <a:solidFill>
                  <a:srgbClr val="34465A"/>
                </a:solidFill>
                <a:latin typeface="Calibri" pitchFamily="34" charset="0"/>
                <a:ea typeface="Calibri" pitchFamily="34" charset="-122"/>
                <a:cs typeface="Calibri" pitchFamily="34" charset="-120"/>
              </a:rPr>
              <a:t>Every ride is charged here, on measured GPS distance.</a:t>
            </a:r>
            <a:endParaRPr lang="en-US" sz="1200" dirty="0"/>
          </a:p>
        </p:txBody>
      </p:sp>
      <p:sp>
        <p:nvSpPr>
          <p:cNvPr id="54" name="Text 51"/>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900" dirty="0">
                <a:solidFill>
                  <a:srgbClr val="5E6D7D"/>
                </a:solidFill>
                <a:latin typeface="Calibri" pitchFamily="34" charset="0"/>
                <a:ea typeface="Calibri" pitchFamily="34" charset="-122"/>
                <a:cs typeface="Calibri" pitchFamily="34" charset="-120"/>
              </a:rPr>
              <a:t>Plant Ride · Rider → Driver journey · recorded on the MVP with demo data</a:t>
            </a:r>
            <a:endParaRPr lang="en-US" sz="900" dirty="0"/>
          </a:p>
        </p:txBody>
      </p:sp>
      <p:sp>
        <p:nvSpPr>
          <p:cNvPr id="55" name="Text 52"/>
          <p:cNvSpPr txBox="1"/>
          <p:nvPr/>
        </p:nvSpPr>
        <p:spPr>
          <a:xfrm>
            <a:off x="11185855" y="6473952"/>
            <a:ext cx="457200" cy="228600"/>
          </a:xfrm>
          <a:prstGeom prst="rect">
            <a:avLst/>
          </a:prstGeom>
          <a:noFill/>
          <a:ln/>
        </p:spPr>
        <p:txBody>
          <a:bodyPr wrap="square" lIns="0" tIns="0" rIns="0" bIns="0" rtlCol="0" anchor="ctr"/>
          <a:lstStyle/>
          <a:p>
            <a:pPr algn="r" indent="0" marL="0">
              <a:buNone/>
            </a:pPr>
            <a:r>
              <a:rPr lang="en-US" sz="900" dirty="0">
                <a:solidFill>
                  <a:srgbClr val="5E6D7D"/>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50976" y="402336"/>
            <a:ext cx="2813925" cy="5961888"/>
          </a:xfrm>
          <a:prstGeom prst="roundRect">
            <a:avLst>
              <a:gd name="adj" fmla="val 5849"/>
            </a:avLst>
          </a:prstGeom>
          <a:solidFill>
            <a:srgbClr val="16202B"/>
          </a:solidFill>
          <a:ln w="9525">
            <a:solidFill>
              <a:srgbClr val="16202B"/>
            </a:solidFill>
            <a:prstDash val="solid"/>
          </a:ln>
          <a:effectLst>
            <a:outerShdw sx="100000" sy="100000" kx="0" ky="0" algn="bl" rotWithShape="0" blurRad="127000" dist="38100" dir="5400000">
              <a:srgbClr val="000000">
                <a:alpha val="20000"/>
              </a:srgbClr>
            </a:outerShdw>
          </a:effectLst>
        </p:spPr>
      </p:sp>
      <p:pic>
        <p:nvPicPr>
          <p:cNvPr id="3" name="Image 0" descr="Screenshot: r03-pickup">    </p:cNvPr>
          <p:cNvPicPr>
            <a:picLocks noChangeAspect="1"/>
          </p:cNvPicPr>
          <p:nvPr/>
        </p:nvPicPr>
        <p:blipFill>
          <a:blip r:embed="rId1"/>
          <a:stretch>
            <a:fillRect/>
          </a:stretch>
        </p:blipFill>
        <p:spPr>
          <a:xfrm>
            <a:off x="1005840" y="457200"/>
            <a:ext cx="2704197" cy="5852160"/>
          </a:xfrm>
          <a:prstGeom prst="rect">
            <a:avLst/>
          </a:prstGeom>
        </p:spPr>
      </p:pic>
      <p:sp>
        <p:nvSpPr>
          <p:cNvPr id="4" name="Shape 1"/>
          <p:cNvSpPr/>
          <p:nvPr/>
        </p:nvSpPr>
        <p:spPr>
          <a:xfrm>
            <a:off x="822960" y="984172"/>
            <a:ext cx="453300" cy="914"/>
          </a:xfrm>
          <a:prstGeom prst="line">
            <a:avLst/>
          </a:prstGeom>
          <a:noFill/>
          <a:ln w="15875">
            <a:solidFill>
              <a:srgbClr val="E85D04"/>
            </a:solidFill>
            <a:prstDash val="solid"/>
          </a:ln>
        </p:spPr>
      </p:sp>
      <p:sp>
        <p:nvSpPr>
          <p:cNvPr id="5" name="Shape 2"/>
          <p:cNvSpPr/>
          <p:nvPr/>
        </p:nvSpPr>
        <p:spPr>
          <a:xfrm>
            <a:off x="1235112" y="943024"/>
            <a:ext cx="82296" cy="82296"/>
          </a:xfrm>
          <a:prstGeom prst="ellipse">
            <a:avLst/>
          </a:prstGeom>
          <a:solidFill>
            <a:srgbClr val="E85D04"/>
          </a:solidFill>
          <a:ln w="9525">
            <a:solidFill>
              <a:srgbClr val="FFFFFF"/>
            </a:solidFill>
            <a:prstDash val="solid"/>
          </a:ln>
        </p:spPr>
      </p:sp>
      <p:sp>
        <p:nvSpPr>
          <p:cNvPr id="6" name="Shape 3"/>
          <p:cNvSpPr/>
          <p:nvPr/>
        </p:nvSpPr>
        <p:spPr>
          <a:xfrm>
            <a:off x="548640" y="847012"/>
            <a:ext cx="274320" cy="274320"/>
          </a:xfrm>
          <a:prstGeom prst="ellipse">
            <a:avLst/>
          </a:prstGeom>
          <a:solidFill>
            <a:srgbClr val="E85D04"/>
          </a:solidFill>
          <a:ln w="15875">
            <a:solidFill>
              <a:srgbClr val="FFFFFF"/>
            </a:solidFill>
            <a:prstDash val="solid"/>
          </a:ln>
        </p:spPr>
      </p:sp>
      <p:sp>
        <p:nvSpPr>
          <p:cNvPr id="7" name="Text 4"/>
          <p:cNvSpPr txBox="1"/>
          <p:nvPr/>
        </p:nvSpPr>
        <p:spPr>
          <a:xfrm>
            <a:off x="548640" y="84701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8" name="Shape 5"/>
          <p:cNvSpPr/>
          <p:nvPr/>
        </p:nvSpPr>
        <p:spPr>
          <a:xfrm>
            <a:off x="822960" y="1421004"/>
            <a:ext cx="578109" cy="914"/>
          </a:xfrm>
          <a:prstGeom prst="line">
            <a:avLst/>
          </a:prstGeom>
          <a:noFill/>
          <a:ln w="15875">
            <a:solidFill>
              <a:srgbClr val="E85D04"/>
            </a:solidFill>
            <a:prstDash val="solid"/>
          </a:ln>
        </p:spPr>
      </p:sp>
      <p:sp>
        <p:nvSpPr>
          <p:cNvPr id="9" name="Shape 6"/>
          <p:cNvSpPr/>
          <p:nvPr/>
        </p:nvSpPr>
        <p:spPr>
          <a:xfrm>
            <a:off x="1359921" y="1379856"/>
            <a:ext cx="82296" cy="82296"/>
          </a:xfrm>
          <a:prstGeom prst="ellipse">
            <a:avLst/>
          </a:prstGeom>
          <a:solidFill>
            <a:srgbClr val="E85D04"/>
          </a:solidFill>
          <a:ln w="9525">
            <a:solidFill>
              <a:srgbClr val="FFFFFF"/>
            </a:solidFill>
            <a:prstDash val="solid"/>
          </a:ln>
        </p:spPr>
      </p:sp>
      <p:sp>
        <p:nvSpPr>
          <p:cNvPr id="10" name="Shape 7"/>
          <p:cNvSpPr/>
          <p:nvPr/>
        </p:nvSpPr>
        <p:spPr>
          <a:xfrm>
            <a:off x="548640" y="1283844"/>
            <a:ext cx="274320" cy="274320"/>
          </a:xfrm>
          <a:prstGeom prst="ellipse">
            <a:avLst/>
          </a:prstGeom>
          <a:solidFill>
            <a:srgbClr val="E85D04"/>
          </a:solidFill>
          <a:ln w="15875">
            <a:solidFill>
              <a:srgbClr val="FFFFFF"/>
            </a:solidFill>
            <a:prstDash val="solid"/>
          </a:ln>
        </p:spPr>
      </p:sp>
      <p:sp>
        <p:nvSpPr>
          <p:cNvPr id="11" name="Text 8"/>
          <p:cNvSpPr txBox="1"/>
          <p:nvPr/>
        </p:nvSpPr>
        <p:spPr>
          <a:xfrm>
            <a:off x="548640" y="1283844"/>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2" name="Shape 9"/>
          <p:cNvSpPr/>
          <p:nvPr/>
        </p:nvSpPr>
        <p:spPr>
          <a:xfrm flipV="1">
            <a:off x="822960" y="1573548"/>
            <a:ext cx="578109" cy="194928"/>
          </a:xfrm>
          <a:prstGeom prst="line">
            <a:avLst/>
          </a:prstGeom>
          <a:noFill/>
          <a:ln w="15875">
            <a:solidFill>
              <a:srgbClr val="E85D04"/>
            </a:solidFill>
            <a:prstDash val="solid"/>
          </a:ln>
        </p:spPr>
      </p:sp>
      <p:sp>
        <p:nvSpPr>
          <p:cNvPr id="13" name="Shape 10"/>
          <p:cNvSpPr/>
          <p:nvPr/>
        </p:nvSpPr>
        <p:spPr>
          <a:xfrm>
            <a:off x="1359921" y="1532400"/>
            <a:ext cx="82296" cy="82296"/>
          </a:xfrm>
          <a:prstGeom prst="ellipse">
            <a:avLst/>
          </a:prstGeom>
          <a:solidFill>
            <a:srgbClr val="E85D04"/>
          </a:solidFill>
          <a:ln w="9525">
            <a:solidFill>
              <a:srgbClr val="FFFFFF"/>
            </a:solidFill>
            <a:prstDash val="solid"/>
          </a:ln>
        </p:spPr>
      </p:sp>
      <p:sp>
        <p:nvSpPr>
          <p:cNvPr id="14" name="Shape 11"/>
          <p:cNvSpPr/>
          <p:nvPr/>
        </p:nvSpPr>
        <p:spPr>
          <a:xfrm>
            <a:off x="548640" y="1631316"/>
            <a:ext cx="274320" cy="274320"/>
          </a:xfrm>
          <a:prstGeom prst="ellipse">
            <a:avLst/>
          </a:prstGeom>
          <a:solidFill>
            <a:srgbClr val="E85D04"/>
          </a:solidFill>
          <a:ln w="15875">
            <a:solidFill>
              <a:srgbClr val="FFFFFF"/>
            </a:solidFill>
            <a:prstDash val="solid"/>
          </a:ln>
        </p:spPr>
      </p:sp>
      <p:sp>
        <p:nvSpPr>
          <p:cNvPr id="15" name="Text 12"/>
          <p:cNvSpPr txBox="1"/>
          <p:nvPr/>
        </p:nvSpPr>
        <p:spPr>
          <a:xfrm>
            <a:off x="548640" y="163131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6" name="Shape 13"/>
          <p:cNvSpPr/>
          <p:nvPr/>
        </p:nvSpPr>
        <p:spPr>
          <a:xfrm>
            <a:off x="4434840" y="457200"/>
            <a:ext cx="384048" cy="384048"/>
          </a:xfrm>
          <a:prstGeom prst="ellipse">
            <a:avLst/>
          </a:prstGeom>
          <a:solidFill>
            <a:srgbClr val="E85D04"/>
          </a:solidFill>
          <a:ln w="6350">
            <a:solidFill>
              <a:srgbClr val="E85D04"/>
            </a:solidFill>
            <a:prstDash val="solid"/>
          </a:ln>
        </p:spPr>
      </p:sp>
      <p:sp>
        <p:nvSpPr>
          <p:cNvPr id="17" name="Text 14"/>
          <p:cNvSpPr txBox="1"/>
          <p:nvPr/>
        </p:nvSpPr>
        <p:spPr>
          <a:xfrm>
            <a:off x="4434840" y="457200"/>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AR</a:t>
            </a:r>
            <a:endParaRPr lang="en-US" sz="1100" dirty="0"/>
          </a:p>
        </p:txBody>
      </p:sp>
      <p:sp>
        <p:nvSpPr>
          <p:cNvPr id="18" name="Text 15"/>
          <p:cNvSpPr txBox="1"/>
          <p:nvPr/>
        </p:nvSpPr>
        <p:spPr>
          <a:xfrm>
            <a:off x="4937760" y="457200"/>
            <a:ext cx="3291840" cy="384048"/>
          </a:xfrm>
          <a:prstGeom prst="rect">
            <a:avLst/>
          </a:prstGeom>
          <a:noFill/>
          <a:ln/>
        </p:spPr>
        <p:txBody>
          <a:bodyPr wrap="square" lIns="0" tIns="0" rIns="0" bIns="0" rtlCol="0" anchor="ctr"/>
          <a:lstStyle/>
          <a:p>
            <a:pPr indent="0" marL="0">
              <a:buNone/>
            </a:pPr>
            <a:r>
              <a:rPr lang="en-US" sz="1300" b="1" dirty="0">
                <a:solidFill>
                  <a:srgbClr val="E85D04"/>
                </a:solidFill>
                <a:latin typeface="Calibri" pitchFamily="34" charset="0"/>
                <a:ea typeface="Calibri" pitchFamily="34" charset="-122"/>
                <a:cs typeface="Calibri" pitchFamily="34" charset="-120"/>
              </a:rPr>
              <a:t>Rider  </a:t>
            </a:r>
            <a:pPr indent="0" marL="0">
              <a:buNone/>
            </a:pPr>
            <a:r>
              <a:rPr lang="en-US" sz="1300" b="1" dirty="0">
                <a:solidFill>
                  <a:srgbClr val="16202B"/>
                </a:solidFill>
                <a:latin typeface="Calibri" pitchFamily="34" charset="0"/>
                <a:ea typeface="Calibri" pitchFamily="34" charset="-122"/>
                <a:cs typeface="Calibri" pitchFamily="34" charset="-120"/>
              </a:rPr>
              <a:t>A. Raghavan</a:t>
            </a:r>
            <a:endParaRPr lang="en-US" sz="1300" dirty="0"/>
          </a:p>
        </p:txBody>
      </p:sp>
      <p:sp>
        <p:nvSpPr>
          <p:cNvPr id="19" name="Shape 16"/>
          <p:cNvSpPr/>
          <p:nvPr/>
        </p:nvSpPr>
        <p:spPr>
          <a:xfrm>
            <a:off x="8780983" y="585216"/>
            <a:ext cx="118872" cy="118872"/>
          </a:xfrm>
          <a:prstGeom prst="ellipse">
            <a:avLst/>
          </a:prstGeom>
          <a:solidFill>
            <a:srgbClr val="FFEDE0"/>
          </a:solidFill>
          <a:ln w="9525">
            <a:solidFill>
              <a:srgbClr val="E85D04"/>
            </a:solidFill>
            <a:prstDash val="solid"/>
          </a:ln>
        </p:spPr>
      </p:sp>
      <p:sp>
        <p:nvSpPr>
          <p:cNvPr id="20" name="Shape 17"/>
          <p:cNvSpPr/>
          <p:nvPr/>
        </p:nvSpPr>
        <p:spPr>
          <a:xfrm>
            <a:off x="8963863" y="585216"/>
            <a:ext cx="118872" cy="118872"/>
          </a:xfrm>
          <a:prstGeom prst="ellipse">
            <a:avLst/>
          </a:prstGeom>
          <a:solidFill>
            <a:srgbClr val="FFEDE0"/>
          </a:solidFill>
          <a:ln w="9525">
            <a:solidFill>
              <a:srgbClr val="E85D04"/>
            </a:solidFill>
            <a:prstDash val="solid"/>
          </a:ln>
        </p:spPr>
      </p:sp>
      <p:sp>
        <p:nvSpPr>
          <p:cNvPr id="21" name="Shape 18"/>
          <p:cNvSpPr/>
          <p:nvPr/>
        </p:nvSpPr>
        <p:spPr>
          <a:xfrm>
            <a:off x="9119311" y="557784"/>
            <a:ext cx="173736" cy="173736"/>
          </a:xfrm>
          <a:prstGeom prst="ellipse">
            <a:avLst/>
          </a:prstGeom>
          <a:solidFill>
            <a:srgbClr val="E85D04"/>
          </a:solidFill>
          <a:ln w="9525">
            <a:solidFill>
              <a:srgbClr val="E85D04"/>
            </a:solidFill>
            <a:prstDash val="solid"/>
          </a:ln>
        </p:spPr>
      </p:sp>
      <p:sp>
        <p:nvSpPr>
          <p:cNvPr id="22" name="Shape 19"/>
          <p:cNvSpPr/>
          <p:nvPr/>
        </p:nvSpPr>
        <p:spPr>
          <a:xfrm>
            <a:off x="9329623" y="585216"/>
            <a:ext cx="118872" cy="118872"/>
          </a:xfrm>
          <a:prstGeom prst="ellipse">
            <a:avLst/>
          </a:prstGeom>
          <a:solidFill>
            <a:srgbClr val="F3F6F9"/>
          </a:solidFill>
          <a:ln w="9525">
            <a:solidFill>
              <a:srgbClr val="DCE4EC"/>
            </a:solidFill>
            <a:prstDash val="solid"/>
          </a:ln>
        </p:spPr>
      </p:sp>
      <p:sp>
        <p:nvSpPr>
          <p:cNvPr id="23" name="Shape 20"/>
          <p:cNvSpPr/>
          <p:nvPr/>
        </p:nvSpPr>
        <p:spPr>
          <a:xfrm>
            <a:off x="9512503" y="585216"/>
            <a:ext cx="118872" cy="118872"/>
          </a:xfrm>
          <a:prstGeom prst="ellipse">
            <a:avLst/>
          </a:prstGeom>
          <a:solidFill>
            <a:srgbClr val="F3F6F9"/>
          </a:solidFill>
          <a:ln w="9525">
            <a:solidFill>
              <a:srgbClr val="DCE4EC"/>
            </a:solidFill>
            <a:prstDash val="solid"/>
          </a:ln>
        </p:spPr>
      </p:sp>
      <p:sp>
        <p:nvSpPr>
          <p:cNvPr id="24" name="Shape 21"/>
          <p:cNvSpPr/>
          <p:nvPr/>
        </p:nvSpPr>
        <p:spPr>
          <a:xfrm>
            <a:off x="9695383" y="585216"/>
            <a:ext cx="118872" cy="118872"/>
          </a:xfrm>
          <a:prstGeom prst="ellipse">
            <a:avLst/>
          </a:prstGeom>
          <a:solidFill>
            <a:srgbClr val="F3F6F9"/>
          </a:solidFill>
          <a:ln w="9525">
            <a:solidFill>
              <a:srgbClr val="DCE4EC"/>
            </a:solidFill>
            <a:prstDash val="solid"/>
          </a:ln>
        </p:spPr>
      </p:sp>
      <p:sp>
        <p:nvSpPr>
          <p:cNvPr id="25" name="Shape 22"/>
          <p:cNvSpPr/>
          <p:nvPr/>
        </p:nvSpPr>
        <p:spPr>
          <a:xfrm>
            <a:off x="9878263" y="585216"/>
            <a:ext cx="118872" cy="118872"/>
          </a:xfrm>
          <a:prstGeom prst="ellipse">
            <a:avLst/>
          </a:prstGeom>
          <a:solidFill>
            <a:srgbClr val="F3F6F9"/>
          </a:solidFill>
          <a:ln w="9525">
            <a:solidFill>
              <a:srgbClr val="DCE4EC"/>
            </a:solidFill>
            <a:prstDash val="solid"/>
          </a:ln>
        </p:spPr>
      </p:sp>
      <p:sp>
        <p:nvSpPr>
          <p:cNvPr id="26" name="Shape 23"/>
          <p:cNvSpPr/>
          <p:nvPr/>
        </p:nvSpPr>
        <p:spPr>
          <a:xfrm>
            <a:off x="10061143" y="585216"/>
            <a:ext cx="118872" cy="118872"/>
          </a:xfrm>
          <a:prstGeom prst="ellipse">
            <a:avLst/>
          </a:prstGeom>
          <a:solidFill>
            <a:srgbClr val="F3F6F9"/>
          </a:solidFill>
          <a:ln w="9525">
            <a:solidFill>
              <a:srgbClr val="DCE4EC"/>
            </a:solidFill>
            <a:prstDash val="solid"/>
          </a:ln>
        </p:spPr>
      </p:sp>
      <p:sp>
        <p:nvSpPr>
          <p:cNvPr id="27" name="Shape 24"/>
          <p:cNvSpPr/>
          <p:nvPr/>
        </p:nvSpPr>
        <p:spPr>
          <a:xfrm>
            <a:off x="10244023" y="585216"/>
            <a:ext cx="118872" cy="118872"/>
          </a:xfrm>
          <a:prstGeom prst="ellipse">
            <a:avLst/>
          </a:prstGeom>
          <a:solidFill>
            <a:srgbClr val="F3F6F9"/>
          </a:solidFill>
          <a:ln w="9525">
            <a:solidFill>
              <a:srgbClr val="DCE4EC"/>
            </a:solidFill>
            <a:prstDash val="solid"/>
          </a:ln>
        </p:spPr>
      </p:sp>
      <p:sp>
        <p:nvSpPr>
          <p:cNvPr id="28" name="Shape 25"/>
          <p:cNvSpPr/>
          <p:nvPr/>
        </p:nvSpPr>
        <p:spPr>
          <a:xfrm>
            <a:off x="10426903" y="585216"/>
            <a:ext cx="118872" cy="118872"/>
          </a:xfrm>
          <a:prstGeom prst="ellipse">
            <a:avLst/>
          </a:prstGeom>
          <a:solidFill>
            <a:srgbClr val="F3F6F9"/>
          </a:solidFill>
          <a:ln w="9525">
            <a:solidFill>
              <a:srgbClr val="DCE4EC"/>
            </a:solidFill>
            <a:prstDash val="solid"/>
          </a:ln>
        </p:spPr>
      </p:sp>
      <p:sp>
        <p:nvSpPr>
          <p:cNvPr id="29" name="Shape 26"/>
          <p:cNvSpPr/>
          <p:nvPr/>
        </p:nvSpPr>
        <p:spPr>
          <a:xfrm>
            <a:off x="10609783" y="585216"/>
            <a:ext cx="118872" cy="118872"/>
          </a:xfrm>
          <a:prstGeom prst="ellipse">
            <a:avLst/>
          </a:prstGeom>
          <a:solidFill>
            <a:srgbClr val="F3F6F9"/>
          </a:solidFill>
          <a:ln w="9525">
            <a:solidFill>
              <a:srgbClr val="DCE4EC"/>
            </a:solidFill>
            <a:prstDash val="solid"/>
          </a:ln>
        </p:spPr>
      </p:sp>
      <p:sp>
        <p:nvSpPr>
          <p:cNvPr id="30" name="Shape 27"/>
          <p:cNvSpPr/>
          <p:nvPr/>
        </p:nvSpPr>
        <p:spPr>
          <a:xfrm>
            <a:off x="10792663" y="585216"/>
            <a:ext cx="118872" cy="118872"/>
          </a:xfrm>
          <a:prstGeom prst="ellipse">
            <a:avLst/>
          </a:prstGeom>
          <a:solidFill>
            <a:srgbClr val="F3F6F9"/>
          </a:solidFill>
          <a:ln w="9525">
            <a:solidFill>
              <a:srgbClr val="DCE4EC"/>
            </a:solidFill>
            <a:prstDash val="solid"/>
          </a:ln>
        </p:spPr>
      </p:sp>
      <p:sp>
        <p:nvSpPr>
          <p:cNvPr id="31" name="Shape 28"/>
          <p:cNvSpPr/>
          <p:nvPr/>
        </p:nvSpPr>
        <p:spPr>
          <a:xfrm>
            <a:off x="10975543" y="585216"/>
            <a:ext cx="118872" cy="118872"/>
          </a:xfrm>
          <a:prstGeom prst="ellipse">
            <a:avLst/>
          </a:prstGeom>
          <a:solidFill>
            <a:srgbClr val="F3F6F9"/>
          </a:solidFill>
          <a:ln w="9525">
            <a:solidFill>
              <a:srgbClr val="DCE4EC"/>
            </a:solidFill>
            <a:prstDash val="solid"/>
          </a:ln>
        </p:spPr>
      </p:sp>
      <p:sp>
        <p:nvSpPr>
          <p:cNvPr id="32" name="Shape 29"/>
          <p:cNvSpPr/>
          <p:nvPr/>
        </p:nvSpPr>
        <p:spPr>
          <a:xfrm>
            <a:off x="11158423" y="585216"/>
            <a:ext cx="118872" cy="118872"/>
          </a:xfrm>
          <a:prstGeom prst="ellipse">
            <a:avLst/>
          </a:prstGeom>
          <a:solidFill>
            <a:srgbClr val="F3F6F9"/>
          </a:solidFill>
          <a:ln w="9525">
            <a:solidFill>
              <a:srgbClr val="DCE4EC"/>
            </a:solidFill>
            <a:prstDash val="solid"/>
          </a:ln>
        </p:spPr>
      </p:sp>
      <p:sp>
        <p:nvSpPr>
          <p:cNvPr id="33" name="Shape 30"/>
          <p:cNvSpPr/>
          <p:nvPr/>
        </p:nvSpPr>
        <p:spPr>
          <a:xfrm>
            <a:off x="11341303" y="585216"/>
            <a:ext cx="118872" cy="118872"/>
          </a:xfrm>
          <a:prstGeom prst="ellipse">
            <a:avLst/>
          </a:prstGeom>
          <a:solidFill>
            <a:srgbClr val="F3F6F9"/>
          </a:solidFill>
          <a:ln w="9525">
            <a:solidFill>
              <a:srgbClr val="DCE4EC"/>
            </a:solidFill>
            <a:prstDash val="solid"/>
          </a:ln>
        </p:spPr>
      </p:sp>
      <p:sp>
        <p:nvSpPr>
          <p:cNvPr id="34" name="Shape 31"/>
          <p:cNvSpPr/>
          <p:nvPr/>
        </p:nvSpPr>
        <p:spPr>
          <a:xfrm>
            <a:off x="11524183" y="585216"/>
            <a:ext cx="118872" cy="118872"/>
          </a:xfrm>
          <a:prstGeom prst="ellipse">
            <a:avLst/>
          </a:prstGeom>
          <a:solidFill>
            <a:srgbClr val="F3F6F9"/>
          </a:solidFill>
          <a:ln w="9525">
            <a:solidFill>
              <a:srgbClr val="DCE4EC"/>
            </a:solidFill>
            <a:prstDash val="solid"/>
          </a:ln>
        </p:spPr>
      </p:sp>
      <p:sp>
        <p:nvSpPr>
          <p:cNvPr id="35" name="Text 32"/>
          <p:cNvSpPr txBox="1"/>
          <p:nvPr/>
        </p:nvSpPr>
        <p:spPr>
          <a:xfrm>
            <a:off x="8780983" y="768096"/>
            <a:ext cx="2862072" cy="201168"/>
          </a:xfrm>
          <a:prstGeom prst="rect">
            <a:avLst/>
          </a:prstGeom>
          <a:noFill/>
          <a:ln/>
        </p:spPr>
        <p:txBody>
          <a:bodyPr wrap="square" lIns="0" tIns="0" rIns="0" bIns="0" rtlCol="0" anchor="ctr"/>
          <a:lstStyle/>
          <a:p>
            <a:pPr algn="r" indent="0" marL="0">
              <a:buNone/>
            </a:pPr>
            <a:r>
              <a:rPr lang="en-US" sz="950" dirty="0">
                <a:solidFill>
                  <a:srgbClr val="5E6D7D"/>
                </a:solidFill>
                <a:latin typeface="Calibri" pitchFamily="34" charset="0"/>
                <a:ea typeface="Calibri" pitchFamily="34" charset="-122"/>
                <a:cs typeface="Calibri" pitchFamily="34" charset="-120"/>
              </a:rPr>
              <a:t>Screen 3 of 16</a:t>
            </a:r>
            <a:endParaRPr lang="en-US" sz="950" dirty="0"/>
          </a:p>
        </p:txBody>
      </p:sp>
      <p:sp>
        <p:nvSpPr>
          <p:cNvPr id="36" name="Text 33"/>
          <p:cNvSpPr txBox="1"/>
          <p:nvPr/>
        </p:nvSpPr>
        <p:spPr>
          <a:xfrm>
            <a:off x="4434840" y="1170432"/>
            <a:ext cx="7208215" cy="237744"/>
          </a:xfrm>
          <a:prstGeom prst="rect">
            <a:avLst/>
          </a:prstGeom>
          <a:noFill/>
          <a:ln/>
        </p:spPr>
        <p:txBody>
          <a:bodyPr wrap="square" lIns="0" tIns="0" rIns="0" bIns="0" rtlCol="0" anchor="ctr"/>
          <a:lstStyle/>
          <a:p>
            <a:pPr indent="0" marL="0">
              <a:buNone/>
            </a:pPr>
            <a:r>
              <a:rPr lang="en-US" sz="1100" b="1" spc="200" kern="0" dirty="0">
                <a:solidFill>
                  <a:srgbClr val="E85D04"/>
                </a:solidFill>
                <a:latin typeface="Calibri" pitchFamily="34" charset="0"/>
                <a:ea typeface="Calibri" pitchFamily="34" charset="-122"/>
                <a:cs typeface="Calibri" pitchFamily="34" charset="-120"/>
              </a:rPr>
              <a:t>PICKUP POINT</a:t>
            </a:r>
            <a:endParaRPr lang="en-US" sz="1100" dirty="0"/>
          </a:p>
        </p:txBody>
      </p:sp>
      <p:sp>
        <p:nvSpPr>
          <p:cNvPr id="37" name="Text 34"/>
          <p:cNvSpPr txBox="1"/>
          <p:nvPr/>
        </p:nvSpPr>
        <p:spPr>
          <a:xfrm>
            <a:off x="4434840" y="1463040"/>
            <a:ext cx="7208215" cy="457200"/>
          </a:xfrm>
          <a:prstGeom prst="rect">
            <a:avLst/>
          </a:prstGeom>
          <a:noFill/>
          <a:ln/>
        </p:spPr>
        <p:txBody>
          <a:bodyPr wrap="square" lIns="0" tIns="0" rIns="0" bIns="0" rtlCol="0" anchor="t"/>
          <a:lstStyle/>
          <a:p>
            <a:pPr indent="0" marL="0">
              <a:buNone/>
            </a:pPr>
            <a:r>
              <a:rPr lang="en-US" sz="3000" b="1" dirty="0">
                <a:solidFill>
                  <a:srgbClr val="16202B"/>
                </a:solidFill>
                <a:latin typeface="Calibri" pitchFamily="34" charset="0"/>
                <a:ea typeface="Calibri" pitchFamily="34" charset="-122"/>
                <a:cs typeface="Calibri" pitchFamily="34" charset="-120"/>
              </a:rPr>
              <a:t>Pick where to be picked up</a:t>
            </a:r>
            <a:endParaRPr lang="en-US" sz="3000" dirty="0"/>
          </a:p>
        </p:txBody>
      </p:sp>
      <p:sp>
        <p:nvSpPr>
          <p:cNvPr id="38" name="Text 35"/>
          <p:cNvSpPr txBox="1"/>
          <p:nvPr/>
        </p:nvSpPr>
        <p:spPr>
          <a:xfrm>
            <a:off x="4434840" y="2048256"/>
            <a:ext cx="7208215" cy="475488"/>
          </a:xfrm>
          <a:prstGeom prst="rect">
            <a:avLst/>
          </a:prstGeom>
          <a:noFill/>
          <a:ln/>
        </p:spPr>
        <p:txBody>
          <a:bodyPr wrap="square" lIns="0" tIns="0" rIns="0" bIns="0" rtlCol="0" anchor="t"/>
          <a:lstStyle/>
          <a:p>
            <a:pPr indent="0" marL="0">
              <a:buNone/>
            </a:pPr>
            <a:r>
              <a:rPr lang="en-US" sz="1500" dirty="0">
                <a:solidFill>
                  <a:srgbClr val="34465A"/>
                </a:solidFill>
                <a:latin typeface="Calibri" pitchFamily="34" charset="0"/>
                <a:ea typeface="Calibri" pitchFamily="34" charset="-122"/>
                <a:cs typeface="Calibri" pitchFamily="34" charset="-120"/>
              </a:rPr>
              <a:t>A. Raghavan types “Gate” and chooses Gate 2. Each pickup point tells riders exactly where to wait.</a:t>
            </a:r>
            <a:endParaRPr lang="en-US" sz="1500" dirty="0"/>
          </a:p>
        </p:txBody>
      </p:sp>
      <p:sp>
        <p:nvSpPr>
          <p:cNvPr id="39" name="Shape 36"/>
          <p:cNvSpPr/>
          <p:nvPr/>
        </p:nvSpPr>
        <p:spPr>
          <a:xfrm>
            <a:off x="4434840" y="2798064"/>
            <a:ext cx="7208215" cy="649224"/>
          </a:xfrm>
          <a:prstGeom prst="roundRect">
            <a:avLst>
              <a:gd name="adj" fmla="val 11268"/>
            </a:avLst>
          </a:prstGeom>
          <a:solidFill>
            <a:srgbClr val="F3F6F9"/>
          </a:solidFill>
          <a:ln w="6350">
            <a:solidFill>
              <a:srgbClr val="F3F6F9"/>
            </a:solidFill>
            <a:prstDash val="solid"/>
          </a:ln>
        </p:spPr>
      </p:sp>
      <p:sp>
        <p:nvSpPr>
          <p:cNvPr id="40" name="Shape 37"/>
          <p:cNvSpPr/>
          <p:nvPr/>
        </p:nvSpPr>
        <p:spPr>
          <a:xfrm>
            <a:off x="4599432" y="2916936"/>
            <a:ext cx="292608" cy="292608"/>
          </a:xfrm>
          <a:prstGeom prst="ellipse">
            <a:avLst/>
          </a:prstGeom>
          <a:solidFill>
            <a:srgbClr val="E85D04"/>
          </a:solidFill>
          <a:ln w="15875">
            <a:solidFill>
              <a:srgbClr val="FFFFFF"/>
            </a:solidFill>
            <a:prstDash val="solid"/>
          </a:ln>
        </p:spPr>
      </p:sp>
      <p:sp>
        <p:nvSpPr>
          <p:cNvPr id="41" name="Text 38"/>
          <p:cNvSpPr txBox="1"/>
          <p:nvPr/>
        </p:nvSpPr>
        <p:spPr>
          <a:xfrm>
            <a:off x="4599432" y="2916936"/>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42" name="Text 39"/>
          <p:cNvSpPr txBox="1"/>
          <p:nvPr/>
        </p:nvSpPr>
        <p:spPr>
          <a:xfrm>
            <a:off x="5029200" y="2907792"/>
            <a:ext cx="6430975" cy="274320"/>
          </a:xfrm>
          <a:prstGeom prst="rect">
            <a:avLst/>
          </a:prstGeom>
          <a:noFill/>
          <a:ln/>
        </p:spPr>
        <p:txBody>
          <a:bodyPr wrap="square" lIns="0" tIns="0" rIns="0" bIns="0" rtlCol="0" anchor="ctr"/>
          <a:lstStyle/>
          <a:p>
            <a:pPr indent="0" marL="0">
              <a:buNone/>
            </a:pPr>
            <a:r>
              <a:rPr lang="en-US" sz="1400" b="1" dirty="0">
                <a:solidFill>
                  <a:srgbClr val="16202B"/>
                </a:solidFill>
                <a:latin typeface="Calibri" pitchFamily="34" charset="0"/>
                <a:ea typeface="Calibri" pitchFamily="34" charset="-122"/>
                <a:cs typeface="Calibri" pitchFamily="34" charset="-120"/>
              </a:rPr>
              <a:t>Search</a:t>
            </a:r>
            <a:endParaRPr lang="en-US" sz="1400" dirty="0"/>
          </a:p>
        </p:txBody>
      </p:sp>
      <p:sp>
        <p:nvSpPr>
          <p:cNvPr id="43" name="Text 40"/>
          <p:cNvSpPr txBox="1"/>
          <p:nvPr/>
        </p:nvSpPr>
        <p:spPr>
          <a:xfrm>
            <a:off x="5029200" y="3182112"/>
            <a:ext cx="6430975" cy="192024"/>
          </a:xfrm>
          <a:prstGeom prst="rect">
            <a:avLst/>
          </a:prstGeom>
          <a:noFill/>
          <a:ln/>
        </p:spPr>
        <p:txBody>
          <a:bodyPr wrap="square" lIns="0" tIns="0" rIns="0" bIns="0" rtlCol="0" anchor="t"/>
          <a:lstStyle/>
          <a:p>
            <a:pPr indent="0" marL="0">
              <a:buNone/>
            </a:pPr>
            <a:r>
              <a:rPr lang="en-US" sz="1200" dirty="0">
                <a:solidFill>
                  <a:srgbClr val="34465A"/>
                </a:solidFill>
                <a:latin typeface="Calibri" pitchFamily="34" charset="0"/>
                <a:ea typeface="Calibri" pitchFamily="34" charset="-122"/>
                <a:cs typeface="Calibri" pitchFamily="34" charset="-120"/>
              </a:rPr>
              <a:t>Pickup points filter while typing.</a:t>
            </a:r>
            <a:endParaRPr lang="en-US" sz="1200" dirty="0"/>
          </a:p>
        </p:txBody>
      </p:sp>
      <p:sp>
        <p:nvSpPr>
          <p:cNvPr id="44" name="Shape 41"/>
          <p:cNvSpPr/>
          <p:nvPr/>
        </p:nvSpPr>
        <p:spPr>
          <a:xfrm>
            <a:off x="4434840" y="3557016"/>
            <a:ext cx="7208215" cy="649224"/>
          </a:xfrm>
          <a:prstGeom prst="roundRect">
            <a:avLst>
              <a:gd name="adj" fmla="val 11268"/>
            </a:avLst>
          </a:prstGeom>
          <a:solidFill>
            <a:srgbClr val="F3F6F9"/>
          </a:solidFill>
          <a:ln w="6350">
            <a:solidFill>
              <a:srgbClr val="F3F6F9"/>
            </a:solidFill>
            <a:prstDash val="solid"/>
          </a:ln>
        </p:spPr>
      </p:sp>
      <p:sp>
        <p:nvSpPr>
          <p:cNvPr id="45" name="Shape 42"/>
          <p:cNvSpPr/>
          <p:nvPr/>
        </p:nvSpPr>
        <p:spPr>
          <a:xfrm>
            <a:off x="4599432" y="3675888"/>
            <a:ext cx="292608" cy="292608"/>
          </a:xfrm>
          <a:prstGeom prst="ellipse">
            <a:avLst/>
          </a:prstGeom>
          <a:solidFill>
            <a:srgbClr val="E85D04"/>
          </a:solidFill>
          <a:ln w="15875">
            <a:solidFill>
              <a:srgbClr val="FFFFFF"/>
            </a:solidFill>
            <a:prstDash val="solid"/>
          </a:ln>
        </p:spPr>
      </p:sp>
      <p:sp>
        <p:nvSpPr>
          <p:cNvPr id="46" name="Text 43"/>
          <p:cNvSpPr txBox="1"/>
          <p:nvPr/>
        </p:nvSpPr>
        <p:spPr>
          <a:xfrm>
            <a:off x="4599432" y="3675888"/>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47" name="Text 44"/>
          <p:cNvSpPr txBox="1"/>
          <p:nvPr/>
        </p:nvSpPr>
        <p:spPr>
          <a:xfrm>
            <a:off x="5029200" y="3666744"/>
            <a:ext cx="6430975" cy="274320"/>
          </a:xfrm>
          <a:prstGeom prst="rect">
            <a:avLst/>
          </a:prstGeom>
          <a:noFill/>
          <a:ln/>
        </p:spPr>
        <p:txBody>
          <a:bodyPr wrap="square" lIns="0" tIns="0" rIns="0" bIns="0" rtlCol="0" anchor="ctr"/>
          <a:lstStyle/>
          <a:p>
            <a:pPr indent="0" marL="0">
              <a:buNone/>
            </a:pPr>
            <a:r>
              <a:rPr lang="en-US" sz="1400" b="1" dirty="0">
                <a:solidFill>
                  <a:srgbClr val="16202B"/>
                </a:solidFill>
                <a:latin typeface="Calibri" pitchFamily="34" charset="0"/>
                <a:ea typeface="Calibri" pitchFamily="34" charset="-122"/>
                <a:cs typeface="Calibri" pitchFamily="34" charset="-120"/>
              </a:rPr>
              <a:t>Gate 2 · Zone 1</a:t>
            </a:r>
            <a:endParaRPr lang="en-US" sz="1400" dirty="0"/>
          </a:p>
        </p:txBody>
      </p:sp>
      <p:sp>
        <p:nvSpPr>
          <p:cNvPr id="48" name="Text 45"/>
          <p:cNvSpPr txBox="1"/>
          <p:nvPr/>
        </p:nvSpPr>
        <p:spPr>
          <a:xfrm>
            <a:off x="5029200" y="3941064"/>
            <a:ext cx="6430975" cy="192024"/>
          </a:xfrm>
          <a:prstGeom prst="rect">
            <a:avLst/>
          </a:prstGeom>
          <a:noFill/>
          <a:ln/>
        </p:spPr>
        <p:txBody>
          <a:bodyPr wrap="square" lIns="0" tIns="0" rIns="0" bIns="0" rtlCol="0" anchor="t"/>
          <a:lstStyle/>
          <a:p>
            <a:pPr indent="0" marL="0">
              <a:buNone/>
            </a:pPr>
            <a:r>
              <a:rPr lang="en-US" sz="1200" dirty="0">
                <a:solidFill>
                  <a:srgbClr val="34465A"/>
                </a:solidFill>
                <a:latin typeface="Calibri" pitchFamily="34" charset="0"/>
                <a:ea typeface="Calibri" pitchFamily="34" charset="-122"/>
                <a:cs typeface="Calibri" pitchFamily="34" charset="-120"/>
              </a:rPr>
              <a:t>Pickup points and zones are set up by the admin.</a:t>
            </a:r>
            <a:endParaRPr lang="en-US" sz="1200" dirty="0"/>
          </a:p>
        </p:txBody>
      </p:sp>
      <p:sp>
        <p:nvSpPr>
          <p:cNvPr id="49" name="Shape 46"/>
          <p:cNvSpPr/>
          <p:nvPr/>
        </p:nvSpPr>
        <p:spPr>
          <a:xfrm>
            <a:off x="4434840" y="4315968"/>
            <a:ext cx="7208215" cy="649224"/>
          </a:xfrm>
          <a:prstGeom prst="roundRect">
            <a:avLst>
              <a:gd name="adj" fmla="val 11268"/>
            </a:avLst>
          </a:prstGeom>
          <a:solidFill>
            <a:srgbClr val="F3F6F9"/>
          </a:solidFill>
          <a:ln w="6350">
            <a:solidFill>
              <a:srgbClr val="F3F6F9"/>
            </a:solidFill>
            <a:prstDash val="solid"/>
          </a:ln>
        </p:spPr>
      </p:sp>
      <p:sp>
        <p:nvSpPr>
          <p:cNvPr id="50" name="Shape 47"/>
          <p:cNvSpPr/>
          <p:nvPr/>
        </p:nvSpPr>
        <p:spPr>
          <a:xfrm>
            <a:off x="4599432" y="4434840"/>
            <a:ext cx="292608" cy="292608"/>
          </a:xfrm>
          <a:prstGeom prst="ellipse">
            <a:avLst/>
          </a:prstGeom>
          <a:solidFill>
            <a:srgbClr val="E85D04"/>
          </a:solidFill>
          <a:ln w="15875">
            <a:solidFill>
              <a:srgbClr val="FFFFFF"/>
            </a:solidFill>
            <a:prstDash val="solid"/>
          </a:ln>
        </p:spPr>
      </p:sp>
      <p:sp>
        <p:nvSpPr>
          <p:cNvPr id="51" name="Text 48"/>
          <p:cNvSpPr txBox="1"/>
          <p:nvPr/>
        </p:nvSpPr>
        <p:spPr>
          <a:xfrm>
            <a:off x="4599432" y="443484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52" name="Text 49"/>
          <p:cNvSpPr txBox="1"/>
          <p:nvPr/>
        </p:nvSpPr>
        <p:spPr>
          <a:xfrm>
            <a:off x="5029200" y="4425696"/>
            <a:ext cx="6430975" cy="274320"/>
          </a:xfrm>
          <a:prstGeom prst="rect">
            <a:avLst/>
          </a:prstGeom>
          <a:noFill/>
          <a:ln/>
        </p:spPr>
        <p:txBody>
          <a:bodyPr wrap="square" lIns="0" tIns="0" rIns="0" bIns="0" rtlCol="0" anchor="ctr"/>
          <a:lstStyle/>
          <a:p>
            <a:pPr indent="0" marL="0">
              <a:buNone/>
            </a:pPr>
            <a:r>
              <a:rPr lang="en-US" sz="1400" b="1" dirty="0">
                <a:solidFill>
                  <a:srgbClr val="16202B"/>
                </a:solidFill>
                <a:latin typeface="Calibri" pitchFamily="34" charset="0"/>
                <a:ea typeface="Calibri" pitchFamily="34" charset="-122"/>
                <a:cs typeface="Calibri" pitchFamily="34" charset="-120"/>
              </a:rPr>
              <a:t>Security cabin, visitor lane</a:t>
            </a:r>
            <a:endParaRPr lang="en-US" sz="1400" dirty="0"/>
          </a:p>
        </p:txBody>
      </p:sp>
      <p:sp>
        <p:nvSpPr>
          <p:cNvPr id="53" name="Text 50"/>
          <p:cNvSpPr txBox="1"/>
          <p:nvPr/>
        </p:nvSpPr>
        <p:spPr>
          <a:xfrm>
            <a:off x="5029200" y="4700016"/>
            <a:ext cx="6430975" cy="192024"/>
          </a:xfrm>
          <a:prstGeom prst="rect">
            <a:avLst/>
          </a:prstGeom>
          <a:noFill/>
          <a:ln/>
        </p:spPr>
        <p:txBody>
          <a:bodyPr wrap="square" lIns="0" tIns="0" rIns="0" bIns="0" rtlCol="0" anchor="t"/>
          <a:lstStyle/>
          <a:p>
            <a:pPr indent="0" marL="0">
              <a:buNone/>
            </a:pPr>
            <a:r>
              <a:rPr lang="en-US" sz="1200" dirty="0">
                <a:solidFill>
                  <a:srgbClr val="34465A"/>
                </a:solidFill>
                <a:latin typeface="Calibri" pitchFamily="34" charset="0"/>
                <a:ea typeface="Calibri" pitchFamily="34" charset="-122"/>
                <a:cs typeface="Calibri" pitchFamily="34" charset="-120"/>
              </a:rPr>
              <a:t>The landmark where riders wait, so the driver knows where to stop.</a:t>
            </a:r>
            <a:endParaRPr lang="en-US" sz="1200" dirty="0"/>
          </a:p>
        </p:txBody>
      </p:sp>
      <p:sp>
        <p:nvSpPr>
          <p:cNvPr id="54" name="Text 51"/>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900" dirty="0">
                <a:solidFill>
                  <a:srgbClr val="5E6D7D"/>
                </a:solidFill>
                <a:latin typeface="Calibri" pitchFamily="34" charset="0"/>
                <a:ea typeface="Calibri" pitchFamily="34" charset="-122"/>
                <a:cs typeface="Calibri" pitchFamily="34" charset="-120"/>
              </a:rPr>
              <a:t>Plant Ride · Rider → Driver journey · recorded on the MVP with demo data</a:t>
            </a:r>
            <a:endParaRPr lang="en-US" sz="900" dirty="0"/>
          </a:p>
        </p:txBody>
      </p:sp>
      <p:sp>
        <p:nvSpPr>
          <p:cNvPr id="55" name="Text 52"/>
          <p:cNvSpPr txBox="1"/>
          <p:nvPr/>
        </p:nvSpPr>
        <p:spPr>
          <a:xfrm>
            <a:off x="11185855" y="6473952"/>
            <a:ext cx="457200" cy="228600"/>
          </a:xfrm>
          <a:prstGeom prst="rect">
            <a:avLst/>
          </a:prstGeom>
          <a:noFill/>
          <a:ln/>
        </p:spPr>
        <p:txBody>
          <a:bodyPr wrap="square" lIns="0" tIns="0" rIns="0" bIns="0" rtlCol="0" anchor="ctr"/>
          <a:lstStyle/>
          <a:p>
            <a:pPr algn="r" indent="0" marL="0">
              <a:buNone/>
            </a:pPr>
            <a:r>
              <a:rPr lang="en-US" sz="900" dirty="0">
                <a:solidFill>
                  <a:srgbClr val="5E6D7D"/>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50976" y="402336"/>
            <a:ext cx="2813925" cy="5961888"/>
          </a:xfrm>
          <a:prstGeom prst="roundRect">
            <a:avLst>
              <a:gd name="adj" fmla="val 5849"/>
            </a:avLst>
          </a:prstGeom>
          <a:solidFill>
            <a:srgbClr val="16202B"/>
          </a:solidFill>
          <a:ln w="9525">
            <a:solidFill>
              <a:srgbClr val="16202B"/>
            </a:solidFill>
            <a:prstDash val="solid"/>
          </a:ln>
          <a:effectLst>
            <a:outerShdw sx="100000" sy="100000" kx="0" ky="0" algn="bl" rotWithShape="0" blurRad="127000" dist="38100" dir="5400000">
              <a:srgbClr val="000000">
                <a:alpha val="20000"/>
              </a:srgbClr>
            </a:outerShdw>
          </a:effectLst>
        </p:spPr>
      </p:sp>
      <p:pic>
        <p:nvPicPr>
          <p:cNvPr id="3" name="Image 0" descr="Screenshot: r04-trip">    </p:cNvPr>
          <p:cNvPicPr>
            <a:picLocks noChangeAspect="1"/>
          </p:cNvPicPr>
          <p:nvPr/>
        </p:nvPicPr>
        <p:blipFill>
          <a:blip r:embed="rId1"/>
          <a:stretch>
            <a:fillRect/>
          </a:stretch>
        </p:blipFill>
        <p:spPr>
          <a:xfrm>
            <a:off x="1005840" y="457200"/>
            <a:ext cx="2704197" cy="5852160"/>
          </a:xfrm>
          <a:prstGeom prst="rect">
            <a:avLst/>
          </a:prstGeom>
        </p:spPr>
      </p:pic>
      <p:sp>
        <p:nvSpPr>
          <p:cNvPr id="4" name="Shape 1"/>
          <p:cNvSpPr/>
          <p:nvPr/>
        </p:nvSpPr>
        <p:spPr>
          <a:xfrm>
            <a:off x="822960" y="1968777"/>
            <a:ext cx="356226" cy="914"/>
          </a:xfrm>
          <a:prstGeom prst="line">
            <a:avLst/>
          </a:prstGeom>
          <a:noFill/>
          <a:ln w="15875">
            <a:solidFill>
              <a:srgbClr val="E85D04"/>
            </a:solidFill>
            <a:prstDash val="solid"/>
          </a:ln>
        </p:spPr>
      </p:sp>
      <p:sp>
        <p:nvSpPr>
          <p:cNvPr id="5" name="Shape 2"/>
          <p:cNvSpPr/>
          <p:nvPr/>
        </p:nvSpPr>
        <p:spPr>
          <a:xfrm>
            <a:off x="1138038" y="1927629"/>
            <a:ext cx="82296" cy="82296"/>
          </a:xfrm>
          <a:prstGeom prst="ellipse">
            <a:avLst/>
          </a:prstGeom>
          <a:solidFill>
            <a:srgbClr val="E85D04"/>
          </a:solidFill>
          <a:ln w="9525">
            <a:solidFill>
              <a:srgbClr val="FFFFFF"/>
            </a:solidFill>
            <a:prstDash val="solid"/>
          </a:ln>
        </p:spPr>
      </p:sp>
      <p:sp>
        <p:nvSpPr>
          <p:cNvPr id="6" name="Shape 3"/>
          <p:cNvSpPr/>
          <p:nvPr/>
        </p:nvSpPr>
        <p:spPr>
          <a:xfrm>
            <a:off x="548640" y="1831617"/>
            <a:ext cx="274320" cy="274320"/>
          </a:xfrm>
          <a:prstGeom prst="ellipse">
            <a:avLst/>
          </a:prstGeom>
          <a:solidFill>
            <a:srgbClr val="E85D04"/>
          </a:solidFill>
          <a:ln w="15875">
            <a:solidFill>
              <a:srgbClr val="FFFFFF"/>
            </a:solidFill>
            <a:prstDash val="solid"/>
          </a:ln>
        </p:spPr>
      </p:sp>
      <p:sp>
        <p:nvSpPr>
          <p:cNvPr id="7" name="Text 4"/>
          <p:cNvSpPr txBox="1"/>
          <p:nvPr/>
        </p:nvSpPr>
        <p:spPr>
          <a:xfrm>
            <a:off x="548640" y="1831617"/>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8" name="Shape 5"/>
          <p:cNvSpPr/>
          <p:nvPr/>
        </p:nvSpPr>
        <p:spPr>
          <a:xfrm>
            <a:off x="822960" y="2890977"/>
            <a:ext cx="494903" cy="914"/>
          </a:xfrm>
          <a:prstGeom prst="line">
            <a:avLst/>
          </a:prstGeom>
          <a:noFill/>
          <a:ln w="15875">
            <a:solidFill>
              <a:srgbClr val="E85D04"/>
            </a:solidFill>
            <a:prstDash val="solid"/>
          </a:ln>
        </p:spPr>
      </p:sp>
      <p:sp>
        <p:nvSpPr>
          <p:cNvPr id="9" name="Shape 6"/>
          <p:cNvSpPr/>
          <p:nvPr/>
        </p:nvSpPr>
        <p:spPr>
          <a:xfrm>
            <a:off x="1276715" y="2849829"/>
            <a:ext cx="82296" cy="82296"/>
          </a:xfrm>
          <a:prstGeom prst="ellipse">
            <a:avLst/>
          </a:prstGeom>
          <a:solidFill>
            <a:srgbClr val="E85D04"/>
          </a:solidFill>
          <a:ln w="9525">
            <a:solidFill>
              <a:srgbClr val="FFFFFF"/>
            </a:solidFill>
            <a:prstDash val="solid"/>
          </a:ln>
        </p:spPr>
      </p:sp>
      <p:sp>
        <p:nvSpPr>
          <p:cNvPr id="10" name="Shape 7"/>
          <p:cNvSpPr/>
          <p:nvPr/>
        </p:nvSpPr>
        <p:spPr>
          <a:xfrm>
            <a:off x="548640" y="2753817"/>
            <a:ext cx="274320" cy="274320"/>
          </a:xfrm>
          <a:prstGeom prst="ellipse">
            <a:avLst/>
          </a:prstGeom>
          <a:solidFill>
            <a:srgbClr val="E85D04"/>
          </a:solidFill>
          <a:ln w="15875">
            <a:solidFill>
              <a:srgbClr val="FFFFFF"/>
            </a:solidFill>
            <a:prstDash val="solid"/>
          </a:ln>
        </p:spPr>
      </p:sp>
      <p:sp>
        <p:nvSpPr>
          <p:cNvPr id="11" name="Text 8"/>
          <p:cNvSpPr txBox="1"/>
          <p:nvPr/>
        </p:nvSpPr>
        <p:spPr>
          <a:xfrm>
            <a:off x="548640" y="2753817"/>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2" name="Shape 9"/>
          <p:cNvSpPr/>
          <p:nvPr/>
        </p:nvSpPr>
        <p:spPr>
          <a:xfrm>
            <a:off x="822960" y="3951855"/>
            <a:ext cx="356226" cy="914"/>
          </a:xfrm>
          <a:prstGeom prst="line">
            <a:avLst/>
          </a:prstGeom>
          <a:noFill/>
          <a:ln w="15875">
            <a:solidFill>
              <a:srgbClr val="E85D04"/>
            </a:solidFill>
            <a:prstDash val="solid"/>
          </a:ln>
        </p:spPr>
      </p:sp>
      <p:sp>
        <p:nvSpPr>
          <p:cNvPr id="13" name="Shape 10"/>
          <p:cNvSpPr/>
          <p:nvPr/>
        </p:nvSpPr>
        <p:spPr>
          <a:xfrm>
            <a:off x="1138038" y="3910707"/>
            <a:ext cx="82296" cy="82296"/>
          </a:xfrm>
          <a:prstGeom prst="ellipse">
            <a:avLst/>
          </a:prstGeom>
          <a:solidFill>
            <a:srgbClr val="E85D04"/>
          </a:solidFill>
          <a:ln w="9525">
            <a:solidFill>
              <a:srgbClr val="FFFFFF"/>
            </a:solidFill>
            <a:prstDash val="solid"/>
          </a:ln>
        </p:spPr>
      </p:sp>
      <p:sp>
        <p:nvSpPr>
          <p:cNvPr id="14" name="Shape 11"/>
          <p:cNvSpPr/>
          <p:nvPr/>
        </p:nvSpPr>
        <p:spPr>
          <a:xfrm>
            <a:off x="548640" y="3814695"/>
            <a:ext cx="274320" cy="274320"/>
          </a:xfrm>
          <a:prstGeom prst="ellipse">
            <a:avLst/>
          </a:prstGeom>
          <a:solidFill>
            <a:srgbClr val="E85D04"/>
          </a:solidFill>
          <a:ln w="15875">
            <a:solidFill>
              <a:srgbClr val="FFFFFF"/>
            </a:solidFill>
            <a:prstDash val="solid"/>
          </a:ln>
        </p:spPr>
      </p:sp>
      <p:sp>
        <p:nvSpPr>
          <p:cNvPr id="15" name="Text 12"/>
          <p:cNvSpPr txBox="1"/>
          <p:nvPr/>
        </p:nvSpPr>
        <p:spPr>
          <a:xfrm>
            <a:off x="548640" y="381469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6" name="Shape 13"/>
          <p:cNvSpPr/>
          <p:nvPr/>
        </p:nvSpPr>
        <p:spPr>
          <a:xfrm>
            <a:off x="4434840" y="457200"/>
            <a:ext cx="384048" cy="384048"/>
          </a:xfrm>
          <a:prstGeom prst="ellipse">
            <a:avLst/>
          </a:prstGeom>
          <a:solidFill>
            <a:srgbClr val="E85D04"/>
          </a:solidFill>
          <a:ln w="6350">
            <a:solidFill>
              <a:srgbClr val="E85D04"/>
            </a:solidFill>
            <a:prstDash val="solid"/>
          </a:ln>
        </p:spPr>
      </p:sp>
      <p:sp>
        <p:nvSpPr>
          <p:cNvPr id="17" name="Text 14"/>
          <p:cNvSpPr txBox="1"/>
          <p:nvPr/>
        </p:nvSpPr>
        <p:spPr>
          <a:xfrm>
            <a:off x="4434840" y="457200"/>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AR</a:t>
            </a:r>
            <a:endParaRPr lang="en-US" sz="1100" dirty="0"/>
          </a:p>
        </p:txBody>
      </p:sp>
      <p:sp>
        <p:nvSpPr>
          <p:cNvPr id="18" name="Text 15"/>
          <p:cNvSpPr txBox="1"/>
          <p:nvPr/>
        </p:nvSpPr>
        <p:spPr>
          <a:xfrm>
            <a:off x="4937760" y="457200"/>
            <a:ext cx="3291840" cy="384048"/>
          </a:xfrm>
          <a:prstGeom prst="rect">
            <a:avLst/>
          </a:prstGeom>
          <a:noFill/>
          <a:ln/>
        </p:spPr>
        <p:txBody>
          <a:bodyPr wrap="square" lIns="0" tIns="0" rIns="0" bIns="0" rtlCol="0" anchor="ctr"/>
          <a:lstStyle/>
          <a:p>
            <a:pPr indent="0" marL="0">
              <a:buNone/>
            </a:pPr>
            <a:r>
              <a:rPr lang="en-US" sz="1300" b="1" dirty="0">
                <a:solidFill>
                  <a:srgbClr val="E85D04"/>
                </a:solidFill>
                <a:latin typeface="Calibri" pitchFamily="34" charset="0"/>
                <a:ea typeface="Calibri" pitchFamily="34" charset="-122"/>
                <a:cs typeface="Calibri" pitchFamily="34" charset="-120"/>
              </a:rPr>
              <a:t>Rider  </a:t>
            </a:r>
            <a:pPr indent="0" marL="0">
              <a:buNone/>
            </a:pPr>
            <a:r>
              <a:rPr lang="en-US" sz="1300" b="1" dirty="0">
                <a:solidFill>
                  <a:srgbClr val="16202B"/>
                </a:solidFill>
                <a:latin typeface="Calibri" pitchFamily="34" charset="0"/>
                <a:ea typeface="Calibri" pitchFamily="34" charset="-122"/>
                <a:cs typeface="Calibri" pitchFamily="34" charset="-120"/>
              </a:rPr>
              <a:t>A. Raghavan</a:t>
            </a:r>
            <a:endParaRPr lang="en-US" sz="1300" dirty="0"/>
          </a:p>
        </p:txBody>
      </p:sp>
      <p:sp>
        <p:nvSpPr>
          <p:cNvPr id="19" name="Shape 16"/>
          <p:cNvSpPr/>
          <p:nvPr/>
        </p:nvSpPr>
        <p:spPr>
          <a:xfrm>
            <a:off x="8780983" y="585216"/>
            <a:ext cx="118872" cy="118872"/>
          </a:xfrm>
          <a:prstGeom prst="ellipse">
            <a:avLst/>
          </a:prstGeom>
          <a:solidFill>
            <a:srgbClr val="FFEDE0"/>
          </a:solidFill>
          <a:ln w="9525">
            <a:solidFill>
              <a:srgbClr val="E85D04"/>
            </a:solidFill>
            <a:prstDash val="solid"/>
          </a:ln>
        </p:spPr>
      </p:sp>
      <p:sp>
        <p:nvSpPr>
          <p:cNvPr id="20" name="Shape 17"/>
          <p:cNvSpPr/>
          <p:nvPr/>
        </p:nvSpPr>
        <p:spPr>
          <a:xfrm>
            <a:off x="8963863" y="585216"/>
            <a:ext cx="118872" cy="118872"/>
          </a:xfrm>
          <a:prstGeom prst="ellipse">
            <a:avLst/>
          </a:prstGeom>
          <a:solidFill>
            <a:srgbClr val="FFEDE0"/>
          </a:solidFill>
          <a:ln w="9525">
            <a:solidFill>
              <a:srgbClr val="E85D04"/>
            </a:solidFill>
            <a:prstDash val="solid"/>
          </a:ln>
        </p:spPr>
      </p:sp>
      <p:sp>
        <p:nvSpPr>
          <p:cNvPr id="21" name="Shape 18"/>
          <p:cNvSpPr/>
          <p:nvPr/>
        </p:nvSpPr>
        <p:spPr>
          <a:xfrm>
            <a:off x="9146743" y="585216"/>
            <a:ext cx="118872" cy="118872"/>
          </a:xfrm>
          <a:prstGeom prst="ellipse">
            <a:avLst/>
          </a:prstGeom>
          <a:solidFill>
            <a:srgbClr val="FFEDE0"/>
          </a:solidFill>
          <a:ln w="9525">
            <a:solidFill>
              <a:srgbClr val="E85D04"/>
            </a:solidFill>
            <a:prstDash val="solid"/>
          </a:ln>
        </p:spPr>
      </p:sp>
      <p:sp>
        <p:nvSpPr>
          <p:cNvPr id="22" name="Shape 19"/>
          <p:cNvSpPr/>
          <p:nvPr/>
        </p:nvSpPr>
        <p:spPr>
          <a:xfrm>
            <a:off x="9302191" y="557784"/>
            <a:ext cx="173736" cy="173736"/>
          </a:xfrm>
          <a:prstGeom prst="ellipse">
            <a:avLst/>
          </a:prstGeom>
          <a:solidFill>
            <a:srgbClr val="E85D04"/>
          </a:solidFill>
          <a:ln w="9525">
            <a:solidFill>
              <a:srgbClr val="E85D04"/>
            </a:solidFill>
            <a:prstDash val="solid"/>
          </a:ln>
        </p:spPr>
      </p:sp>
      <p:sp>
        <p:nvSpPr>
          <p:cNvPr id="23" name="Shape 20"/>
          <p:cNvSpPr/>
          <p:nvPr/>
        </p:nvSpPr>
        <p:spPr>
          <a:xfrm>
            <a:off x="9512503" y="585216"/>
            <a:ext cx="118872" cy="118872"/>
          </a:xfrm>
          <a:prstGeom prst="ellipse">
            <a:avLst/>
          </a:prstGeom>
          <a:solidFill>
            <a:srgbClr val="F3F6F9"/>
          </a:solidFill>
          <a:ln w="9525">
            <a:solidFill>
              <a:srgbClr val="DCE4EC"/>
            </a:solidFill>
            <a:prstDash val="solid"/>
          </a:ln>
        </p:spPr>
      </p:sp>
      <p:sp>
        <p:nvSpPr>
          <p:cNvPr id="24" name="Shape 21"/>
          <p:cNvSpPr/>
          <p:nvPr/>
        </p:nvSpPr>
        <p:spPr>
          <a:xfrm>
            <a:off x="9695383" y="585216"/>
            <a:ext cx="118872" cy="118872"/>
          </a:xfrm>
          <a:prstGeom prst="ellipse">
            <a:avLst/>
          </a:prstGeom>
          <a:solidFill>
            <a:srgbClr val="F3F6F9"/>
          </a:solidFill>
          <a:ln w="9525">
            <a:solidFill>
              <a:srgbClr val="DCE4EC"/>
            </a:solidFill>
            <a:prstDash val="solid"/>
          </a:ln>
        </p:spPr>
      </p:sp>
      <p:sp>
        <p:nvSpPr>
          <p:cNvPr id="25" name="Shape 22"/>
          <p:cNvSpPr/>
          <p:nvPr/>
        </p:nvSpPr>
        <p:spPr>
          <a:xfrm>
            <a:off x="9878263" y="585216"/>
            <a:ext cx="118872" cy="118872"/>
          </a:xfrm>
          <a:prstGeom prst="ellipse">
            <a:avLst/>
          </a:prstGeom>
          <a:solidFill>
            <a:srgbClr val="F3F6F9"/>
          </a:solidFill>
          <a:ln w="9525">
            <a:solidFill>
              <a:srgbClr val="DCE4EC"/>
            </a:solidFill>
            <a:prstDash val="solid"/>
          </a:ln>
        </p:spPr>
      </p:sp>
      <p:sp>
        <p:nvSpPr>
          <p:cNvPr id="26" name="Shape 23"/>
          <p:cNvSpPr/>
          <p:nvPr/>
        </p:nvSpPr>
        <p:spPr>
          <a:xfrm>
            <a:off x="10061143" y="585216"/>
            <a:ext cx="118872" cy="118872"/>
          </a:xfrm>
          <a:prstGeom prst="ellipse">
            <a:avLst/>
          </a:prstGeom>
          <a:solidFill>
            <a:srgbClr val="F3F6F9"/>
          </a:solidFill>
          <a:ln w="9525">
            <a:solidFill>
              <a:srgbClr val="DCE4EC"/>
            </a:solidFill>
            <a:prstDash val="solid"/>
          </a:ln>
        </p:spPr>
      </p:sp>
      <p:sp>
        <p:nvSpPr>
          <p:cNvPr id="27" name="Shape 24"/>
          <p:cNvSpPr/>
          <p:nvPr/>
        </p:nvSpPr>
        <p:spPr>
          <a:xfrm>
            <a:off x="10244023" y="585216"/>
            <a:ext cx="118872" cy="118872"/>
          </a:xfrm>
          <a:prstGeom prst="ellipse">
            <a:avLst/>
          </a:prstGeom>
          <a:solidFill>
            <a:srgbClr val="F3F6F9"/>
          </a:solidFill>
          <a:ln w="9525">
            <a:solidFill>
              <a:srgbClr val="DCE4EC"/>
            </a:solidFill>
            <a:prstDash val="solid"/>
          </a:ln>
        </p:spPr>
      </p:sp>
      <p:sp>
        <p:nvSpPr>
          <p:cNvPr id="28" name="Shape 25"/>
          <p:cNvSpPr/>
          <p:nvPr/>
        </p:nvSpPr>
        <p:spPr>
          <a:xfrm>
            <a:off x="10426903" y="585216"/>
            <a:ext cx="118872" cy="118872"/>
          </a:xfrm>
          <a:prstGeom prst="ellipse">
            <a:avLst/>
          </a:prstGeom>
          <a:solidFill>
            <a:srgbClr val="F3F6F9"/>
          </a:solidFill>
          <a:ln w="9525">
            <a:solidFill>
              <a:srgbClr val="DCE4EC"/>
            </a:solidFill>
            <a:prstDash val="solid"/>
          </a:ln>
        </p:spPr>
      </p:sp>
      <p:sp>
        <p:nvSpPr>
          <p:cNvPr id="29" name="Shape 26"/>
          <p:cNvSpPr/>
          <p:nvPr/>
        </p:nvSpPr>
        <p:spPr>
          <a:xfrm>
            <a:off x="10609783" y="585216"/>
            <a:ext cx="118872" cy="118872"/>
          </a:xfrm>
          <a:prstGeom prst="ellipse">
            <a:avLst/>
          </a:prstGeom>
          <a:solidFill>
            <a:srgbClr val="F3F6F9"/>
          </a:solidFill>
          <a:ln w="9525">
            <a:solidFill>
              <a:srgbClr val="DCE4EC"/>
            </a:solidFill>
            <a:prstDash val="solid"/>
          </a:ln>
        </p:spPr>
      </p:sp>
      <p:sp>
        <p:nvSpPr>
          <p:cNvPr id="30" name="Shape 27"/>
          <p:cNvSpPr/>
          <p:nvPr/>
        </p:nvSpPr>
        <p:spPr>
          <a:xfrm>
            <a:off x="10792663" y="585216"/>
            <a:ext cx="118872" cy="118872"/>
          </a:xfrm>
          <a:prstGeom prst="ellipse">
            <a:avLst/>
          </a:prstGeom>
          <a:solidFill>
            <a:srgbClr val="F3F6F9"/>
          </a:solidFill>
          <a:ln w="9525">
            <a:solidFill>
              <a:srgbClr val="DCE4EC"/>
            </a:solidFill>
            <a:prstDash val="solid"/>
          </a:ln>
        </p:spPr>
      </p:sp>
      <p:sp>
        <p:nvSpPr>
          <p:cNvPr id="31" name="Shape 28"/>
          <p:cNvSpPr/>
          <p:nvPr/>
        </p:nvSpPr>
        <p:spPr>
          <a:xfrm>
            <a:off x="10975543" y="585216"/>
            <a:ext cx="118872" cy="118872"/>
          </a:xfrm>
          <a:prstGeom prst="ellipse">
            <a:avLst/>
          </a:prstGeom>
          <a:solidFill>
            <a:srgbClr val="F3F6F9"/>
          </a:solidFill>
          <a:ln w="9525">
            <a:solidFill>
              <a:srgbClr val="DCE4EC"/>
            </a:solidFill>
            <a:prstDash val="solid"/>
          </a:ln>
        </p:spPr>
      </p:sp>
      <p:sp>
        <p:nvSpPr>
          <p:cNvPr id="32" name="Shape 29"/>
          <p:cNvSpPr/>
          <p:nvPr/>
        </p:nvSpPr>
        <p:spPr>
          <a:xfrm>
            <a:off x="11158423" y="585216"/>
            <a:ext cx="118872" cy="118872"/>
          </a:xfrm>
          <a:prstGeom prst="ellipse">
            <a:avLst/>
          </a:prstGeom>
          <a:solidFill>
            <a:srgbClr val="F3F6F9"/>
          </a:solidFill>
          <a:ln w="9525">
            <a:solidFill>
              <a:srgbClr val="DCE4EC"/>
            </a:solidFill>
            <a:prstDash val="solid"/>
          </a:ln>
        </p:spPr>
      </p:sp>
      <p:sp>
        <p:nvSpPr>
          <p:cNvPr id="33" name="Shape 30"/>
          <p:cNvSpPr/>
          <p:nvPr/>
        </p:nvSpPr>
        <p:spPr>
          <a:xfrm>
            <a:off x="11341303" y="585216"/>
            <a:ext cx="118872" cy="118872"/>
          </a:xfrm>
          <a:prstGeom prst="ellipse">
            <a:avLst/>
          </a:prstGeom>
          <a:solidFill>
            <a:srgbClr val="F3F6F9"/>
          </a:solidFill>
          <a:ln w="9525">
            <a:solidFill>
              <a:srgbClr val="DCE4EC"/>
            </a:solidFill>
            <a:prstDash val="solid"/>
          </a:ln>
        </p:spPr>
      </p:sp>
      <p:sp>
        <p:nvSpPr>
          <p:cNvPr id="34" name="Shape 31"/>
          <p:cNvSpPr/>
          <p:nvPr/>
        </p:nvSpPr>
        <p:spPr>
          <a:xfrm>
            <a:off x="11524183" y="585216"/>
            <a:ext cx="118872" cy="118872"/>
          </a:xfrm>
          <a:prstGeom prst="ellipse">
            <a:avLst/>
          </a:prstGeom>
          <a:solidFill>
            <a:srgbClr val="F3F6F9"/>
          </a:solidFill>
          <a:ln w="9525">
            <a:solidFill>
              <a:srgbClr val="DCE4EC"/>
            </a:solidFill>
            <a:prstDash val="solid"/>
          </a:ln>
        </p:spPr>
      </p:sp>
      <p:sp>
        <p:nvSpPr>
          <p:cNvPr id="35" name="Text 32"/>
          <p:cNvSpPr txBox="1"/>
          <p:nvPr/>
        </p:nvSpPr>
        <p:spPr>
          <a:xfrm>
            <a:off x="8780983" y="768096"/>
            <a:ext cx="2862072" cy="201168"/>
          </a:xfrm>
          <a:prstGeom prst="rect">
            <a:avLst/>
          </a:prstGeom>
          <a:noFill/>
          <a:ln/>
        </p:spPr>
        <p:txBody>
          <a:bodyPr wrap="square" lIns="0" tIns="0" rIns="0" bIns="0" rtlCol="0" anchor="ctr"/>
          <a:lstStyle/>
          <a:p>
            <a:pPr algn="r" indent="0" marL="0">
              <a:buNone/>
            </a:pPr>
            <a:r>
              <a:rPr lang="en-US" sz="950" dirty="0">
                <a:solidFill>
                  <a:srgbClr val="5E6D7D"/>
                </a:solidFill>
                <a:latin typeface="Calibri" pitchFamily="34" charset="0"/>
                <a:ea typeface="Calibri" pitchFamily="34" charset="-122"/>
                <a:cs typeface="Calibri" pitchFamily="34" charset="-120"/>
              </a:rPr>
              <a:t>Screen 4 of 16</a:t>
            </a:r>
            <a:endParaRPr lang="en-US" sz="950" dirty="0"/>
          </a:p>
        </p:txBody>
      </p:sp>
      <p:sp>
        <p:nvSpPr>
          <p:cNvPr id="36" name="Text 33"/>
          <p:cNvSpPr txBox="1"/>
          <p:nvPr/>
        </p:nvSpPr>
        <p:spPr>
          <a:xfrm>
            <a:off x="4434840" y="1170432"/>
            <a:ext cx="7208215" cy="237744"/>
          </a:xfrm>
          <a:prstGeom prst="rect">
            <a:avLst/>
          </a:prstGeom>
          <a:noFill/>
          <a:ln/>
        </p:spPr>
        <p:txBody>
          <a:bodyPr wrap="square" lIns="0" tIns="0" rIns="0" bIns="0" rtlCol="0" anchor="ctr"/>
          <a:lstStyle/>
          <a:p>
            <a:pPr indent="0" marL="0">
              <a:buNone/>
            </a:pPr>
            <a:r>
              <a:rPr lang="en-US" sz="1100" b="1" spc="200" kern="0" dirty="0">
                <a:solidFill>
                  <a:srgbClr val="E85D04"/>
                </a:solidFill>
                <a:latin typeface="Calibri" pitchFamily="34" charset="0"/>
                <a:ea typeface="Calibri" pitchFamily="34" charset="-122"/>
                <a:cs typeface="Calibri" pitchFamily="34" charset="-120"/>
              </a:rPr>
              <a:t>TRIP DETAILS</a:t>
            </a:r>
            <a:endParaRPr lang="en-US" sz="1100" dirty="0"/>
          </a:p>
        </p:txBody>
      </p:sp>
      <p:sp>
        <p:nvSpPr>
          <p:cNvPr id="37" name="Text 34"/>
          <p:cNvSpPr txBox="1"/>
          <p:nvPr/>
        </p:nvSpPr>
        <p:spPr>
          <a:xfrm>
            <a:off x="4434840" y="1463040"/>
            <a:ext cx="7208215" cy="457200"/>
          </a:xfrm>
          <a:prstGeom prst="rect">
            <a:avLst/>
          </a:prstGeom>
          <a:noFill/>
          <a:ln/>
        </p:spPr>
        <p:txBody>
          <a:bodyPr wrap="square" lIns="0" tIns="0" rIns="0" bIns="0" rtlCol="0" anchor="t"/>
          <a:lstStyle/>
          <a:p>
            <a:pPr indent="0" marL="0">
              <a:buNone/>
            </a:pPr>
            <a:r>
              <a:rPr lang="en-US" sz="3000" b="1" dirty="0">
                <a:solidFill>
                  <a:srgbClr val="16202B"/>
                </a:solidFill>
                <a:latin typeface="Calibri" pitchFamily="34" charset="0"/>
                <a:ea typeface="Calibri" pitchFamily="34" charset="-122"/>
                <a:cs typeface="Calibri" pitchFamily="34" charset="-120"/>
              </a:rPr>
              <a:t>Gate 2 to Blast Furnace, now, one seat</a:t>
            </a:r>
            <a:endParaRPr lang="en-US" sz="3000" dirty="0"/>
          </a:p>
        </p:txBody>
      </p:sp>
      <p:sp>
        <p:nvSpPr>
          <p:cNvPr id="38" name="Text 35"/>
          <p:cNvSpPr txBox="1"/>
          <p:nvPr/>
        </p:nvSpPr>
        <p:spPr>
          <a:xfrm>
            <a:off x="4434840" y="2048256"/>
            <a:ext cx="7208215" cy="475488"/>
          </a:xfrm>
          <a:prstGeom prst="rect">
            <a:avLst/>
          </a:prstGeom>
          <a:noFill/>
          <a:ln/>
        </p:spPr>
        <p:txBody>
          <a:bodyPr wrap="square" lIns="0" tIns="0" rIns="0" bIns="0" rtlCol="0" anchor="t"/>
          <a:lstStyle/>
          <a:p>
            <a:pPr indent="0" marL="0">
              <a:buNone/>
            </a:pPr>
            <a:r>
              <a:rPr lang="en-US" sz="1500" dirty="0">
                <a:solidFill>
                  <a:srgbClr val="34465A"/>
                </a:solidFill>
                <a:latin typeface="Calibri" pitchFamily="34" charset="0"/>
                <a:ea typeface="Calibri" pitchFamily="34" charset="-122"/>
                <a:cs typeface="Calibri" pitchFamily="34" charset="-120"/>
              </a:rPr>
              <a:t>Only stops reachable on a route are offered as drops. The route and ride time show under the destination.</a:t>
            </a:r>
            <a:endParaRPr lang="en-US" sz="1500" dirty="0"/>
          </a:p>
        </p:txBody>
      </p:sp>
      <p:sp>
        <p:nvSpPr>
          <p:cNvPr id="39" name="Shape 36"/>
          <p:cNvSpPr/>
          <p:nvPr/>
        </p:nvSpPr>
        <p:spPr>
          <a:xfrm>
            <a:off x="4434840" y="2798064"/>
            <a:ext cx="7208215" cy="649224"/>
          </a:xfrm>
          <a:prstGeom prst="roundRect">
            <a:avLst>
              <a:gd name="adj" fmla="val 11268"/>
            </a:avLst>
          </a:prstGeom>
          <a:solidFill>
            <a:srgbClr val="F3F6F9"/>
          </a:solidFill>
          <a:ln w="6350">
            <a:solidFill>
              <a:srgbClr val="F3F6F9"/>
            </a:solidFill>
            <a:prstDash val="solid"/>
          </a:ln>
        </p:spPr>
      </p:sp>
      <p:sp>
        <p:nvSpPr>
          <p:cNvPr id="40" name="Shape 37"/>
          <p:cNvSpPr/>
          <p:nvPr/>
        </p:nvSpPr>
        <p:spPr>
          <a:xfrm>
            <a:off x="4599432" y="2916936"/>
            <a:ext cx="292608" cy="292608"/>
          </a:xfrm>
          <a:prstGeom prst="ellipse">
            <a:avLst/>
          </a:prstGeom>
          <a:solidFill>
            <a:srgbClr val="E85D04"/>
          </a:solidFill>
          <a:ln w="15875">
            <a:solidFill>
              <a:srgbClr val="FFFFFF"/>
            </a:solidFill>
            <a:prstDash val="solid"/>
          </a:ln>
        </p:spPr>
      </p:sp>
      <p:sp>
        <p:nvSpPr>
          <p:cNvPr id="41" name="Text 38"/>
          <p:cNvSpPr txBox="1"/>
          <p:nvPr/>
        </p:nvSpPr>
        <p:spPr>
          <a:xfrm>
            <a:off x="4599432" y="2916936"/>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42" name="Text 39"/>
          <p:cNvSpPr txBox="1"/>
          <p:nvPr/>
        </p:nvSpPr>
        <p:spPr>
          <a:xfrm>
            <a:off x="5029200" y="2907792"/>
            <a:ext cx="6430975" cy="274320"/>
          </a:xfrm>
          <a:prstGeom prst="rect">
            <a:avLst/>
          </a:prstGeom>
          <a:noFill/>
          <a:ln/>
        </p:spPr>
        <p:txBody>
          <a:bodyPr wrap="square" lIns="0" tIns="0" rIns="0" bIns="0" rtlCol="0" anchor="ctr"/>
          <a:lstStyle/>
          <a:p>
            <a:pPr indent="0" marL="0">
              <a:buNone/>
            </a:pPr>
            <a:r>
              <a:rPr lang="en-US" sz="1400" b="1" dirty="0">
                <a:solidFill>
                  <a:srgbClr val="16202B"/>
                </a:solidFill>
                <a:latin typeface="Calibri" pitchFamily="34" charset="0"/>
                <a:ea typeface="Calibri" pitchFamily="34" charset="-122"/>
                <a:cs typeface="Calibri" pitchFamily="34" charset="-120"/>
              </a:rPr>
              <a:t>Blast Furnace · Route 1 · 15 min</a:t>
            </a:r>
            <a:endParaRPr lang="en-US" sz="1400" dirty="0"/>
          </a:p>
        </p:txBody>
      </p:sp>
      <p:sp>
        <p:nvSpPr>
          <p:cNvPr id="43" name="Text 40"/>
          <p:cNvSpPr txBox="1"/>
          <p:nvPr/>
        </p:nvSpPr>
        <p:spPr>
          <a:xfrm>
            <a:off x="5029200" y="3182112"/>
            <a:ext cx="6430975" cy="192024"/>
          </a:xfrm>
          <a:prstGeom prst="rect">
            <a:avLst/>
          </a:prstGeom>
          <a:noFill/>
          <a:ln/>
        </p:spPr>
        <p:txBody>
          <a:bodyPr wrap="square" lIns="0" tIns="0" rIns="0" bIns="0" rtlCol="0" anchor="t"/>
          <a:lstStyle/>
          <a:p>
            <a:pPr indent="0" marL="0">
              <a:buNone/>
            </a:pPr>
            <a:r>
              <a:rPr lang="en-US" sz="1200" dirty="0">
                <a:solidFill>
                  <a:srgbClr val="34465A"/>
                </a:solidFill>
                <a:latin typeface="Calibri" pitchFamily="34" charset="0"/>
                <a:ea typeface="Calibri" pitchFamily="34" charset="-122"/>
                <a:cs typeface="Calibri" pitchFamily="34" charset="-120"/>
              </a:rPr>
              <a:t>The route that serves this pair of stops, and the ride time.</a:t>
            </a:r>
            <a:endParaRPr lang="en-US" sz="1200" dirty="0"/>
          </a:p>
        </p:txBody>
      </p:sp>
      <p:sp>
        <p:nvSpPr>
          <p:cNvPr id="44" name="Shape 41"/>
          <p:cNvSpPr/>
          <p:nvPr/>
        </p:nvSpPr>
        <p:spPr>
          <a:xfrm>
            <a:off x="4434840" y="3557016"/>
            <a:ext cx="7208215" cy="649224"/>
          </a:xfrm>
          <a:prstGeom prst="roundRect">
            <a:avLst>
              <a:gd name="adj" fmla="val 11268"/>
            </a:avLst>
          </a:prstGeom>
          <a:solidFill>
            <a:srgbClr val="F3F6F9"/>
          </a:solidFill>
          <a:ln w="6350">
            <a:solidFill>
              <a:srgbClr val="F3F6F9"/>
            </a:solidFill>
            <a:prstDash val="solid"/>
          </a:ln>
        </p:spPr>
      </p:sp>
      <p:sp>
        <p:nvSpPr>
          <p:cNvPr id="45" name="Shape 42"/>
          <p:cNvSpPr/>
          <p:nvPr/>
        </p:nvSpPr>
        <p:spPr>
          <a:xfrm>
            <a:off x="4599432" y="3675888"/>
            <a:ext cx="292608" cy="292608"/>
          </a:xfrm>
          <a:prstGeom prst="ellipse">
            <a:avLst/>
          </a:prstGeom>
          <a:solidFill>
            <a:srgbClr val="E85D04"/>
          </a:solidFill>
          <a:ln w="15875">
            <a:solidFill>
              <a:srgbClr val="FFFFFF"/>
            </a:solidFill>
            <a:prstDash val="solid"/>
          </a:ln>
        </p:spPr>
      </p:sp>
      <p:sp>
        <p:nvSpPr>
          <p:cNvPr id="46" name="Text 43"/>
          <p:cNvSpPr txBox="1"/>
          <p:nvPr/>
        </p:nvSpPr>
        <p:spPr>
          <a:xfrm>
            <a:off x="4599432" y="3675888"/>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47" name="Text 44"/>
          <p:cNvSpPr txBox="1"/>
          <p:nvPr/>
        </p:nvSpPr>
        <p:spPr>
          <a:xfrm>
            <a:off x="5029200" y="3666744"/>
            <a:ext cx="6430975" cy="274320"/>
          </a:xfrm>
          <a:prstGeom prst="rect">
            <a:avLst/>
          </a:prstGeom>
          <a:noFill/>
          <a:ln/>
        </p:spPr>
        <p:txBody>
          <a:bodyPr wrap="square" lIns="0" tIns="0" rIns="0" bIns="0" rtlCol="0" anchor="ctr"/>
          <a:lstStyle/>
          <a:p>
            <a:pPr indent="0" marL="0">
              <a:buNone/>
            </a:pPr>
            <a:r>
              <a:rPr lang="en-US" sz="1400" b="1" dirty="0">
                <a:solidFill>
                  <a:srgbClr val="16202B"/>
                </a:solidFill>
                <a:latin typeface="Calibri" pitchFamily="34" charset="0"/>
                <a:ea typeface="Calibri" pitchFamily="34" charset="-122"/>
                <a:cs typeface="Calibri" pitchFamily="34" charset="-120"/>
              </a:rPr>
              <a:t>Now</a:t>
            </a:r>
            <a:endParaRPr lang="en-US" sz="1400" dirty="0"/>
          </a:p>
        </p:txBody>
      </p:sp>
      <p:sp>
        <p:nvSpPr>
          <p:cNvPr id="48" name="Text 45"/>
          <p:cNvSpPr txBox="1"/>
          <p:nvPr/>
        </p:nvSpPr>
        <p:spPr>
          <a:xfrm>
            <a:off x="5029200" y="3941064"/>
            <a:ext cx="6430975" cy="192024"/>
          </a:xfrm>
          <a:prstGeom prst="rect">
            <a:avLst/>
          </a:prstGeom>
          <a:noFill/>
          <a:ln/>
        </p:spPr>
        <p:txBody>
          <a:bodyPr wrap="square" lIns="0" tIns="0" rIns="0" bIns="0" rtlCol="0" anchor="t"/>
          <a:lstStyle/>
          <a:p>
            <a:pPr indent="0" marL="0">
              <a:buNone/>
            </a:pPr>
            <a:r>
              <a:rPr lang="en-US" sz="1200" dirty="0">
                <a:solidFill>
                  <a:srgbClr val="34465A"/>
                </a:solidFill>
                <a:latin typeface="Calibri" pitchFamily="34" charset="0"/>
                <a:ea typeface="Calibri" pitchFamily="34" charset="-122"/>
                <a:cs typeface="Calibri" pitchFamily="34" charset="-120"/>
              </a:rPr>
              <a:t>Or in 30 min, in an hour, or at a shift time tomorrow.</a:t>
            </a:r>
            <a:endParaRPr lang="en-US" sz="1200" dirty="0"/>
          </a:p>
        </p:txBody>
      </p:sp>
      <p:sp>
        <p:nvSpPr>
          <p:cNvPr id="49" name="Shape 46"/>
          <p:cNvSpPr/>
          <p:nvPr/>
        </p:nvSpPr>
        <p:spPr>
          <a:xfrm>
            <a:off x="4434840" y="4315968"/>
            <a:ext cx="7208215" cy="649224"/>
          </a:xfrm>
          <a:prstGeom prst="roundRect">
            <a:avLst>
              <a:gd name="adj" fmla="val 11268"/>
            </a:avLst>
          </a:prstGeom>
          <a:solidFill>
            <a:srgbClr val="F3F6F9"/>
          </a:solidFill>
          <a:ln w="6350">
            <a:solidFill>
              <a:srgbClr val="F3F6F9"/>
            </a:solidFill>
            <a:prstDash val="solid"/>
          </a:ln>
        </p:spPr>
      </p:sp>
      <p:sp>
        <p:nvSpPr>
          <p:cNvPr id="50" name="Shape 47"/>
          <p:cNvSpPr/>
          <p:nvPr/>
        </p:nvSpPr>
        <p:spPr>
          <a:xfrm>
            <a:off x="4599432" y="4434840"/>
            <a:ext cx="292608" cy="292608"/>
          </a:xfrm>
          <a:prstGeom prst="ellipse">
            <a:avLst/>
          </a:prstGeom>
          <a:solidFill>
            <a:srgbClr val="E85D04"/>
          </a:solidFill>
          <a:ln w="15875">
            <a:solidFill>
              <a:srgbClr val="FFFFFF"/>
            </a:solidFill>
            <a:prstDash val="solid"/>
          </a:ln>
        </p:spPr>
      </p:sp>
      <p:sp>
        <p:nvSpPr>
          <p:cNvPr id="51" name="Text 48"/>
          <p:cNvSpPr txBox="1"/>
          <p:nvPr/>
        </p:nvSpPr>
        <p:spPr>
          <a:xfrm>
            <a:off x="4599432" y="443484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52" name="Text 49"/>
          <p:cNvSpPr txBox="1"/>
          <p:nvPr/>
        </p:nvSpPr>
        <p:spPr>
          <a:xfrm>
            <a:off x="5029200" y="4425696"/>
            <a:ext cx="6430975" cy="274320"/>
          </a:xfrm>
          <a:prstGeom prst="rect">
            <a:avLst/>
          </a:prstGeom>
          <a:noFill/>
          <a:ln/>
        </p:spPr>
        <p:txBody>
          <a:bodyPr wrap="square" lIns="0" tIns="0" rIns="0" bIns="0" rtlCol="0" anchor="ctr"/>
          <a:lstStyle/>
          <a:p>
            <a:pPr indent="0" marL="0">
              <a:buNone/>
            </a:pPr>
            <a:r>
              <a:rPr lang="en-US" sz="1400" b="1" dirty="0">
                <a:solidFill>
                  <a:srgbClr val="16202B"/>
                </a:solidFill>
                <a:latin typeface="Calibri" pitchFamily="34" charset="0"/>
                <a:ea typeface="Calibri" pitchFamily="34" charset="-122"/>
                <a:cs typeface="Calibri" pitchFamily="34" charset="-120"/>
              </a:rPr>
              <a:t>Riders travelling: 1</a:t>
            </a:r>
            <a:endParaRPr lang="en-US" sz="1400" dirty="0"/>
          </a:p>
        </p:txBody>
      </p:sp>
      <p:sp>
        <p:nvSpPr>
          <p:cNvPr id="53" name="Text 50"/>
          <p:cNvSpPr txBox="1"/>
          <p:nvPr/>
        </p:nvSpPr>
        <p:spPr>
          <a:xfrm>
            <a:off x="5029200" y="4700016"/>
            <a:ext cx="6430975" cy="192024"/>
          </a:xfrm>
          <a:prstGeom prst="rect">
            <a:avLst/>
          </a:prstGeom>
          <a:noFill/>
          <a:ln/>
        </p:spPr>
        <p:txBody>
          <a:bodyPr wrap="square" lIns="0" tIns="0" rIns="0" bIns="0" rtlCol="0" anchor="t"/>
          <a:lstStyle/>
          <a:p>
            <a:pPr indent="0" marL="0">
              <a:buNone/>
            </a:pPr>
            <a:r>
              <a:rPr lang="en-US" sz="1200" dirty="0">
                <a:solidFill>
                  <a:srgbClr val="34465A"/>
                </a:solidFill>
                <a:latin typeface="Calibri" pitchFamily="34" charset="0"/>
                <a:ea typeface="Calibri" pitchFamily="34" charset="-122"/>
                <a:cs typeface="Calibri" pitchFamily="34" charset="-120"/>
              </a:rPr>
              <a:t>Pick-up runs carry 3 riders max; bigger groups need an exclusive cab.</a:t>
            </a:r>
            <a:endParaRPr lang="en-US" sz="1200" dirty="0"/>
          </a:p>
        </p:txBody>
      </p:sp>
      <p:sp>
        <p:nvSpPr>
          <p:cNvPr id="54" name="Shape 51"/>
          <p:cNvSpPr/>
          <p:nvPr/>
        </p:nvSpPr>
        <p:spPr>
          <a:xfrm>
            <a:off x="4434840" y="5166360"/>
            <a:ext cx="7208215" cy="576072"/>
          </a:xfrm>
          <a:prstGeom prst="roundRect">
            <a:avLst>
              <a:gd name="adj" fmla="val 12698"/>
            </a:avLst>
          </a:prstGeom>
          <a:solidFill>
            <a:srgbClr val="FFEDE0"/>
          </a:solidFill>
          <a:ln w="6350">
            <a:solidFill>
              <a:srgbClr val="FFEDE0"/>
            </a:solidFill>
            <a:prstDash val="solid"/>
          </a:ln>
        </p:spPr>
      </p:sp>
      <p:sp>
        <p:nvSpPr>
          <p:cNvPr id="55" name="Text 52"/>
          <p:cNvSpPr txBox="1"/>
          <p:nvPr/>
        </p:nvSpPr>
        <p:spPr>
          <a:xfrm>
            <a:off x="4617720" y="5257800"/>
            <a:ext cx="6842455" cy="201168"/>
          </a:xfrm>
          <a:prstGeom prst="rect">
            <a:avLst/>
          </a:prstGeom>
          <a:noFill/>
          <a:ln/>
        </p:spPr>
        <p:txBody>
          <a:bodyPr wrap="square" lIns="0" tIns="0" rIns="0" bIns="0" rtlCol="0" anchor="ctr"/>
          <a:lstStyle/>
          <a:p>
            <a:pPr indent="0" marL="0">
              <a:buNone/>
            </a:pPr>
            <a:r>
              <a:rPr lang="en-US" sz="950" b="1" spc="150" kern="0" dirty="0">
                <a:solidFill>
                  <a:srgbClr val="B84A03"/>
                </a:solidFill>
                <a:latin typeface="Calibri" pitchFamily="34" charset="0"/>
                <a:ea typeface="Calibri" pitchFamily="34" charset="-122"/>
                <a:cs typeface="Calibri" pitchFamily="34" charset="-120"/>
              </a:rPr>
              <a:t>BEHIND THE SCENES</a:t>
            </a:r>
            <a:endParaRPr lang="en-US" sz="950" dirty="0"/>
          </a:p>
        </p:txBody>
      </p:sp>
      <p:sp>
        <p:nvSpPr>
          <p:cNvPr id="56" name="Text 53"/>
          <p:cNvSpPr txBox="1"/>
          <p:nvPr/>
        </p:nvSpPr>
        <p:spPr>
          <a:xfrm>
            <a:off x="4617720" y="5468112"/>
            <a:ext cx="6842455" cy="192024"/>
          </a:xfrm>
          <a:prstGeom prst="rect">
            <a:avLst/>
          </a:prstGeom>
          <a:noFill/>
          <a:ln/>
        </p:spPr>
        <p:txBody>
          <a:bodyPr wrap="square" lIns="0" tIns="0" rIns="0" bIns="0" rtlCol="0" anchor="t"/>
          <a:lstStyle/>
          <a:p>
            <a:pPr indent="0" marL="0">
              <a:buNone/>
            </a:pPr>
            <a:r>
              <a:rPr lang="en-US" sz="1200" dirty="0">
                <a:solidFill>
                  <a:srgbClr val="16202B"/>
                </a:solidFill>
                <a:latin typeface="Calibri" pitchFamily="34" charset="0"/>
                <a:ea typeface="Calibri" pitchFamily="34" charset="-122"/>
                <a:cs typeface="Calibri" pitchFamily="34" charset="-120"/>
              </a:rPr>
              <a:t>Name and phone come from HR and stay editable. A guest can be booked on the same cost centre.</a:t>
            </a:r>
            <a:endParaRPr lang="en-US" sz="1200" dirty="0"/>
          </a:p>
        </p:txBody>
      </p:sp>
      <p:sp>
        <p:nvSpPr>
          <p:cNvPr id="57" name="Text 54"/>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900" dirty="0">
                <a:solidFill>
                  <a:srgbClr val="5E6D7D"/>
                </a:solidFill>
                <a:latin typeface="Calibri" pitchFamily="34" charset="0"/>
                <a:ea typeface="Calibri" pitchFamily="34" charset="-122"/>
                <a:cs typeface="Calibri" pitchFamily="34" charset="-120"/>
              </a:rPr>
              <a:t>Plant Ride · Rider → Driver journey · recorded on the MVP with demo data</a:t>
            </a:r>
            <a:endParaRPr lang="en-US" sz="900" dirty="0"/>
          </a:p>
        </p:txBody>
      </p:sp>
      <p:sp>
        <p:nvSpPr>
          <p:cNvPr id="58" name="Text 55"/>
          <p:cNvSpPr txBox="1"/>
          <p:nvPr/>
        </p:nvSpPr>
        <p:spPr>
          <a:xfrm>
            <a:off x="11185855" y="6473952"/>
            <a:ext cx="457200" cy="228600"/>
          </a:xfrm>
          <a:prstGeom prst="rect">
            <a:avLst/>
          </a:prstGeom>
          <a:noFill/>
          <a:ln/>
        </p:spPr>
        <p:txBody>
          <a:bodyPr wrap="square" lIns="0" tIns="0" rIns="0" bIns="0" rtlCol="0" anchor="ctr"/>
          <a:lstStyle/>
          <a:p>
            <a:pPr algn="r" indent="0" marL="0">
              <a:buNone/>
            </a:pPr>
            <a:r>
              <a:rPr lang="en-US" sz="900" dirty="0">
                <a:solidFill>
                  <a:srgbClr val="5E6D7D"/>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50976" y="402336"/>
            <a:ext cx="2813925" cy="5961888"/>
          </a:xfrm>
          <a:prstGeom prst="roundRect">
            <a:avLst>
              <a:gd name="adj" fmla="val 5849"/>
            </a:avLst>
          </a:prstGeom>
          <a:solidFill>
            <a:srgbClr val="16202B"/>
          </a:solidFill>
          <a:ln w="9525">
            <a:solidFill>
              <a:srgbClr val="16202B"/>
            </a:solidFill>
            <a:prstDash val="solid"/>
          </a:ln>
          <a:effectLst>
            <a:outerShdw sx="100000" sy="100000" kx="0" ky="0" algn="bl" rotWithShape="0" blurRad="127000" dist="38100" dir="5400000">
              <a:srgbClr val="000000">
                <a:alpha val="20000"/>
              </a:srgbClr>
            </a:outerShdw>
          </a:effectLst>
        </p:spPr>
      </p:sp>
      <p:pic>
        <p:nvPicPr>
          <p:cNvPr id="3" name="Image 0" descr="Screenshot: r05-options">    </p:cNvPr>
          <p:cNvPicPr>
            <a:picLocks noChangeAspect="1"/>
          </p:cNvPicPr>
          <p:nvPr/>
        </p:nvPicPr>
        <p:blipFill>
          <a:blip r:embed="rId1"/>
          <a:stretch>
            <a:fillRect/>
          </a:stretch>
        </p:blipFill>
        <p:spPr>
          <a:xfrm>
            <a:off x="1005840" y="457200"/>
            <a:ext cx="2704197" cy="5852160"/>
          </a:xfrm>
          <a:prstGeom prst="rect">
            <a:avLst/>
          </a:prstGeom>
        </p:spPr>
      </p:pic>
      <p:sp>
        <p:nvSpPr>
          <p:cNvPr id="4" name="Shape 1"/>
          <p:cNvSpPr/>
          <p:nvPr/>
        </p:nvSpPr>
        <p:spPr>
          <a:xfrm>
            <a:off x="822960" y="2620558"/>
            <a:ext cx="779190" cy="914"/>
          </a:xfrm>
          <a:prstGeom prst="line">
            <a:avLst/>
          </a:prstGeom>
          <a:noFill/>
          <a:ln w="15875">
            <a:solidFill>
              <a:srgbClr val="E85D04"/>
            </a:solidFill>
            <a:prstDash val="solid"/>
          </a:ln>
        </p:spPr>
      </p:sp>
      <p:sp>
        <p:nvSpPr>
          <p:cNvPr id="5" name="Shape 2"/>
          <p:cNvSpPr/>
          <p:nvPr/>
        </p:nvSpPr>
        <p:spPr>
          <a:xfrm>
            <a:off x="1561002" y="2579410"/>
            <a:ext cx="82296" cy="82296"/>
          </a:xfrm>
          <a:prstGeom prst="ellipse">
            <a:avLst/>
          </a:prstGeom>
          <a:solidFill>
            <a:srgbClr val="E85D04"/>
          </a:solidFill>
          <a:ln w="9525">
            <a:solidFill>
              <a:srgbClr val="FFFFFF"/>
            </a:solidFill>
            <a:prstDash val="solid"/>
          </a:ln>
        </p:spPr>
      </p:sp>
      <p:sp>
        <p:nvSpPr>
          <p:cNvPr id="6" name="Shape 3"/>
          <p:cNvSpPr/>
          <p:nvPr/>
        </p:nvSpPr>
        <p:spPr>
          <a:xfrm>
            <a:off x="548640" y="2483398"/>
            <a:ext cx="274320" cy="274320"/>
          </a:xfrm>
          <a:prstGeom prst="ellipse">
            <a:avLst/>
          </a:prstGeom>
          <a:solidFill>
            <a:srgbClr val="E85D04"/>
          </a:solidFill>
          <a:ln w="15875">
            <a:solidFill>
              <a:srgbClr val="FFFFFF"/>
            </a:solidFill>
            <a:prstDash val="solid"/>
          </a:ln>
        </p:spPr>
      </p:sp>
      <p:sp>
        <p:nvSpPr>
          <p:cNvPr id="7" name="Text 4"/>
          <p:cNvSpPr txBox="1"/>
          <p:nvPr/>
        </p:nvSpPr>
        <p:spPr>
          <a:xfrm>
            <a:off x="548640" y="248339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8" name="Shape 5"/>
          <p:cNvSpPr/>
          <p:nvPr/>
        </p:nvSpPr>
        <p:spPr>
          <a:xfrm>
            <a:off x="822960" y="3601696"/>
            <a:ext cx="779190" cy="914"/>
          </a:xfrm>
          <a:prstGeom prst="line">
            <a:avLst/>
          </a:prstGeom>
          <a:noFill/>
          <a:ln w="15875">
            <a:solidFill>
              <a:srgbClr val="E85D04"/>
            </a:solidFill>
            <a:prstDash val="solid"/>
          </a:ln>
        </p:spPr>
      </p:sp>
      <p:sp>
        <p:nvSpPr>
          <p:cNvPr id="9" name="Shape 6"/>
          <p:cNvSpPr/>
          <p:nvPr/>
        </p:nvSpPr>
        <p:spPr>
          <a:xfrm>
            <a:off x="1561002" y="3560548"/>
            <a:ext cx="82296" cy="82296"/>
          </a:xfrm>
          <a:prstGeom prst="ellipse">
            <a:avLst/>
          </a:prstGeom>
          <a:solidFill>
            <a:srgbClr val="E85D04"/>
          </a:solidFill>
          <a:ln w="9525">
            <a:solidFill>
              <a:srgbClr val="FFFFFF"/>
            </a:solidFill>
            <a:prstDash val="solid"/>
          </a:ln>
        </p:spPr>
      </p:sp>
      <p:sp>
        <p:nvSpPr>
          <p:cNvPr id="10" name="Shape 7"/>
          <p:cNvSpPr/>
          <p:nvPr/>
        </p:nvSpPr>
        <p:spPr>
          <a:xfrm>
            <a:off x="548640" y="3464536"/>
            <a:ext cx="274320" cy="274320"/>
          </a:xfrm>
          <a:prstGeom prst="ellipse">
            <a:avLst/>
          </a:prstGeom>
          <a:solidFill>
            <a:srgbClr val="E85D04"/>
          </a:solidFill>
          <a:ln w="15875">
            <a:solidFill>
              <a:srgbClr val="FFFFFF"/>
            </a:solidFill>
            <a:prstDash val="solid"/>
          </a:ln>
        </p:spPr>
      </p:sp>
      <p:sp>
        <p:nvSpPr>
          <p:cNvPr id="11" name="Text 8"/>
          <p:cNvSpPr txBox="1"/>
          <p:nvPr/>
        </p:nvSpPr>
        <p:spPr>
          <a:xfrm>
            <a:off x="548640" y="346453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2" name="Shape 9"/>
          <p:cNvSpPr/>
          <p:nvPr/>
        </p:nvSpPr>
        <p:spPr>
          <a:xfrm>
            <a:off x="822960" y="4333216"/>
            <a:ext cx="779190" cy="914"/>
          </a:xfrm>
          <a:prstGeom prst="line">
            <a:avLst/>
          </a:prstGeom>
          <a:noFill/>
          <a:ln w="15875">
            <a:solidFill>
              <a:srgbClr val="E85D04"/>
            </a:solidFill>
            <a:prstDash val="solid"/>
          </a:ln>
        </p:spPr>
      </p:sp>
      <p:sp>
        <p:nvSpPr>
          <p:cNvPr id="13" name="Shape 10"/>
          <p:cNvSpPr/>
          <p:nvPr/>
        </p:nvSpPr>
        <p:spPr>
          <a:xfrm>
            <a:off x="1561002" y="4292068"/>
            <a:ext cx="82296" cy="82296"/>
          </a:xfrm>
          <a:prstGeom prst="ellipse">
            <a:avLst/>
          </a:prstGeom>
          <a:solidFill>
            <a:srgbClr val="E85D04"/>
          </a:solidFill>
          <a:ln w="9525">
            <a:solidFill>
              <a:srgbClr val="FFFFFF"/>
            </a:solidFill>
            <a:prstDash val="solid"/>
          </a:ln>
        </p:spPr>
      </p:sp>
      <p:sp>
        <p:nvSpPr>
          <p:cNvPr id="14" name="Shape 11"/>
          <p:cNvSpPr/>
          <p:nvPr/>
        </p:nvSpPr>
        <p:spPr>
          <a:xfrm>
            <a:off x="548640" y="4196056"/>
            <a:ext cx="274320" cy="274320"/>
          </a:xfrm>
          <a:prstGeom prst="ellipse">
            <a:avLst/>
          </a:prstGeom>
          <a:solidFill>
            <a:srgbClr val="E85D04"/>
          </a:solidFill>
          <a:ln w="15875">
            <a:solidFill>
              <a:srgbClr val="FFFFFF"/>
            </a:solidFill>
            <a:prstDash val="solid"/>
          </a:ln>
        </p:spPr>
      </p:sp>
      <p:sp>
        <p:nvSpPr>
          <p:cNvPr id="15" name="Text 12"/>
          <p:cNvSpPr txBox="1"/>
          <p:nvPr/>
        </p:nvSpPr>
        <p:spPr>
          <a:xfrm>
            <a:off x="548640" y="419605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6" name="Shape 13"/>
          <p:cNvSpPr/>
          <p:nvPr/>
        </p:nvSpPr>
        <p:spPr>
          <a:xfrm>
            <a:off x="4434840" y="457200"/>
            <a:ext cx="384048" cy="384048"/>
          </a:xfrm>
          <a:prstGeom prst="ellipse">
            <a:avLst/>
          </a:prstGeom>
          <a:solidFill>
            <a:srgbClr val="E85D04"/>
          </a:solidFill>
          <a:ln w="6350">
            <a:solidFill>
              <a:srgbClr val="E85D04"/>
            </a:solidFill>
            <a:prstDash val="solid"/>
          </a:ln>
        </p:spPr>
      </p:sp>
      <p:sp>
        <p:nvSpPr>
          <p:cNvPr id="17" name="Text 14"/>
          <p:cNvSpPr txBox="1"/>
          <p:nvPr/>
        </p:nvSpPr>
        <p:spPr>
          <a:xfrm>
            <a:off x="4434840" y="457200"/>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AR</a:t>
            </a:r>
            <a:endParaRPr lang="en-US" sz="1100" dirty="0"/>
          </a:p>
        </p:txBody>
      </p:sp>
      <p:sp>
        <p:nvSpPr>
          <p:cNvPr id="18" name="Text 15"/>
          <p:cNvSpPr txBox="1"/>
          <p:nvPr/>
        </p:nvSpPr>
        <p:spPr>
          <a:xfrm>
            <a:off x="4937760" y="457200"/>
            <a:ext cx="3291840" cy="384048"/>
          </a:xfrm>
          <a:prstGeom prst="rect">
            <a:avLst/>
          </a:prstGeom>
          <a:noFill/>
          <a:ln/>
        </p:spPr>
        <p:txBody>
          <a:bodyPr wrap="square" lIns="0" tIns="0" rIns="0" bIns="0" rtlCol="0" anchor="ctr"/>
          <a:lstStyle/>
          <a:p>
            <a:pPr indent="0" marL="0">
              <a:buNone/>
            </a:pPr>
            <a:r>
              <a:rPr lang="en-US" sz="1300" b="1" dirty="0">
                <a:solidFill>
                  <a:srgbClr val="E85D04"/>
                </a:solidFill>
                <a:latin typeface="Calibri" pitchFamily="34" charset="0"/>
                <a:ea typeface="Calibri" pitchFamily="34" charset="-122"/>
                <a:cs typeface="Calibri" pitchFamily="34" charset="-120"/>
              </a:rPr>
              <a:t>Rider  </a:t>
            </a:r>
            <a:pPr indent="0" marL="0">
              <a:buNone/>
            </a:pPr>
            <a:r>
              <a:rPr lang="en-US" sz="1300" b="1" dirty="0">
                <a:solidFill>
                  <a:srgbClr val="16202B"/>
                </a:solidFill>
                <a:latin typeface="Calibri" pitchFamily="34" charset="0"/>
                <a:ea typeface="Calibri" pitchFamily="34" charset="-122"/>
                <a:cs typeface="Calibri" pitchFamily="34" charset="-120"/>
              </a:rPr>
              <a:t>A. Raghavan</a:t>
            </a:r>
            <a:endParaRPr lang="en-US" sz="1300" dirty="0"/>
          </a:p>
        </p:txBody>
      </p:sp>
      <p:sp>
        <p:nvSpPr>
          <p:cNvPr id="19" name="Shape 16"/>
          <p:cNvSpPr/>
          <p:nvPr/>
        </p:nvSpPr>
        <p:spPr>
          <a:xfrm>
            <a:off x="8780983" y="585216"/>
            <a:ext cx="118872" cy="118872"/>
          </a:xfrm>
          <a:prstGeom prst="ellipse">
            <a:avLst/>
          </a:prstGeom>
          <a:solidFill>
            <a:srgbClr val="FFEDE0"/>
          </a:solidFill>
          <a:ln w="9525">
            <a:solidFill>
              <a:srgbClr val="E85D04"/>
            </a:solidFill>
            <a:prstDash val="solid"/>
          </a:ln>
        </p:spPr>
      </p:sp>
      <p:sp>
        <p:nvSpPr>
          <p:cNvPr id="20" name="Shape 17"/>
          <p:cNvSpPr/>
          <p:nvPr/>
        </p:nvSpPr>
        <p:spPr>
          <a:xfrm>
            <a:off x="8963863" y="585216"/>
            <a:ext cx="118872" cy="118872"/>
          </a:xfrm>
          <a:prstGeom prst="ellipse">
            <a:avLst/>
          </a:prstGeom>
          <a:solidFill>
            <a:srgbClr val="FFEDE0"/>
          </a:solidFill>
          <a:ln w="9525">
            <a:solidFill>
              <a:srgbClr val="E85D04"/>
            </a:solidFill>
            <a:prstDash val="solid"/>
          </a:ln>
        </p:spPr>
      </p:sp>
      <p:sp>
        <p:nvSpPr>
          <p:cNvPr id="21" name="Shape 18"/>
          <p:cNvSpPr/>
          <p:nvPr/>
        </p:nvSpPr>
        <p:spPr>
          <a:xfrm>
            <a:off x="9146743" y="585216"/>
            <a:ext cx="118872" cy="118872"/>
          </a:xfrm>
          <a:prstGeom prst="ellipse">
            <a:avLst/>
          </a:prstGeom>
          <a:solidFill>
            <a:srgbClr val="FFEDE0"/>
          </a:solidFill>
          <a:ln w="9525">
            <a:solidFill>
              <a:srgbClr val="E85D04"/>
            </a:solidFill>
            <a:prstDash val="solid"/>
          </a:ln>
        </p:spPr>
      </p:sp>
      <p:sp>
        <p:nvSpPr>
          <p:cNvPr id="22" name="Shape 19"/>
          <p:cNvSpPr/>
          <p:nvPr/>
        </p:nvSpPr>
        <p:spPr>
          <a:xfrm>
            <a:off x="9329623" y="585216"/>
            <a:ext cx="118872" cy="118872"/>
          </a:xfrm>
          <a:prstGeom prst="ellipse">
            <a:avLst/>
          </a:prstGeom>
          <a:solidFill>
            <a:srgbClr val="FFEDE0"/>
          </a:solidFill>
          <a:ln w="9525">
            <a:solidFill>
              <a:srgbClr val="E85D04"/>
            </a:solidFill>
            <a:prstDash val="solid"/>
          </a:ln>
        </p:spPr>
      </p:sp>
      <p:sp>
        <p:nvSpPr>
          <p:cNvPr id="23" name="Shape 20"/>
          <p:cNvSpPr/>
          <p:nvPr/>
        </p:nvSpPr>
        <p:spPr>
          <a:xfrm>
            <a:off x="9485071" y="557784"/>
            <a:ext cx="173736" cy="173736"/>
          </a:xfrm>
          <a:prstGeom prst="ellipse">
            <a:avLst/>
          </a:prstGeom>
          <a:solidFill>
            <a:srgbClr val="E85D04"/>
          </a:solidFill>
          <a:ln w="9525">
            <a:solidFill>
              <a:srgbClr val="E85D04"/>
            </a:solidFill>
            <a:prstDash val="solid"/>
          </a:ln>
        </p:spPr>
      </p:sp>
      <p:sp>
        <p:nvSpPr>
          <p:cNvPr id="24" name="Shape 21"/>
          <p:cNvSpPr/>
          <p:nvPr/>
        </p:nvSpPr>
        <p:spPr>
          <a:xfrm>
            <a:off x="9695383" y="585216"/>
            <a:ext cx="118872" cy="118872"/>
          </a:xfrm>
          <a:prstGeom prst="ellipse">
            <a:avLst/>
          </a:prstGeom>
          <a:solidFill>
            <a:srgbClr val="F3F6F9"/>
          </a:solidFill>
          <a:ln w="9525">
            <a:solidFill>
              <a:srgbClr val="DCE4EC"/>
            </a:solidFill>
            <a:prstDash val="solid"/>
          </a:ln>
        </p:spPr>
      </p:sp>
      <p:sp>
        <p:nvSpPr>
          <p:cNvPr id="25" name="Shape 22"/>
          <p:cNvSpPr/>
          <p:nvPr/>
        </p:nvSpPr>
        <p:spPr>
          <a:xfrm>
            <a:off x="9878263" y="585216"/>
            <a:ext cx="118872" cy="118872"/>
          </a:xfrm>
          <a:prstGeom prst="ellipse">
            <a:avLst/>
          </a:prstGeom>
          <a:solidFill>
            <a:srgbClr val="F3F6F9"/>
          </a:solidFill>
          <a:ln w="9525">
            <a:solidFill>
              <a:srgbClr val="DCE4EC"/>
            </a:solidFill>
            <a:prstDash val="solid"/>
          </a:ln>
        </p:spPr>
      </p:sp>
      <p:sp>
        <p:nvSpPr>
          <p:cNvPr id="26" name="Shape 23"/>
          <p:cNvSpPr/>
          <p:nvPr/>
        </p:nvSpPr>
        <p:spPr>
          <a:xfrm>
            <a:off x="10061143" y="585216"/>
            <a:ext cx="118872" cy="118872"/>
          </a:xfrm>
          <a:prstGeom prst="ellipse">
            <a:avLst/>
          </a:prstGeom>
          <a:solidFill>
            <a:srgbClr val="F3F6F9"/>
          </a:solidFill>
          <a:ln w="9525">
            <a:solidFill>
              <a:srgbClr val="DCE4EC"/>
            </a:solidFill>
            <a:prstDash val="solid"/>
          </a:ln>
        </p:spPr>
      </p:sp>
      <p:sp>
        <p:nvSpPr>
          <p:cNvPr id="27" name="Shape 24"/>
          <p:cNvSpPr/>
          <p:nvPr/>
        </p:nvSpPr>
        <p:spPr>
          <a:xfrm>
            <a:off x="10244023" y="585216"/>
            <a:ext cx="118872" cy="118872"/>
          </a:xfrm>
          <a:prstGeom prst="ellipse">
            <a:avLst/>
          </a:prstGeom>
          <a:solidFill>
            <a:srgbClr val="F3F6F9"/>
          </a:solidFill>
          <a:ln w="9525">
            <a:solidFill>
              <a:srgbClr val="DCE4EC"/>
            </a:solidFill>
            <a:prstDash val="solid"/>
          </a:ln>
        </p:spPr>
      </p:sp>
      <p:sp>
        <p:nvSpPr>
          <p:cNvPr id="28" name="Shape 25"/>
          <p:cNvSpPr/>
          <p:nvPr/>
        </p:nvSpPr>
        <p:spPr>
          <a:xfrm>
            <a:off x="10426903" y="585216"/>
            <a:ext cx="118872" cy="118872"/>
          </a:xfrm>
          <a:prstGeom prst="ellipse">
            <a:avLst/>
          </a:prstGeom>
          <a:solidFill>
            <a:srgbClr val="F3F6F9"/>
          </a:solidFill>
          <a:ln w="9525">
            <a:solidFill>
              <a:srgbClr val="DCE4EC"/>
            </a:solidFill>
            <a:prstDash val="solid"/>
          </a:ln>
        </p:spPr>
      </p:sp>
      <p:sp>
        <p:nvSpPr>
          <p:cNvPr id="29" name="Shape 26"/>
          <p:cNvSpPr/>
          <p:nvPr/>
        </p:nvSpPr>
        <p:spPr>
          <a:xfrm>
            <a:off x="10609783" y="585216"/>
            <a:ext cx="118872" cy="118872"/>
          </a:xfrm>
          <a:prstGeom prst="ellipse">
            <a:avLst/>
          </a:prstGeom>
          <a:solidFill>
            <a:srgbClr val="F3F6F9"/>
          </a:solidFill>
          <a:ln w="9525">
            <a:solidFill>
              <a:srgbClr val="DCE4EC"/>
            </a:solidFill>
            <a:prstDash val="solid"/>
          </a:ln>
        </p:spPr>
      </p:sp>
      <p:sp>
        <p:nvSpPr>
          <p:cNvPr id="30" name="Shape 27"/>
          <p:cNvSpPr/>
          <p:nvPr/>
        </p:nvSpPr>
        <p:spPr>
          <a:xfrm>
            <a:off x="10792663" y="585216"/>
            <a:ext cx="118872" cy="118872"/>
          </a:xfrm>
          <a:prstGeom prst="ellipse">
            <a:avLst/>
          </a:prstGeom>
          <a:solidFill>
            <a:srgbClr val="F3F6F9"/>
          </a:solidFill>
          <a:ln w="9525">
            <a:solidFill>
              <a:srgbClr val="DCE4EC"/>
            </a:solidFill>
            <a:prstDash val="solid"/>
          </a:ln>
        </p:spPr>
      </p:sp>
      <p:sp>
        <p:nvSpPr>
          <p:cNvPr id="31" name="Shape 28"/>
          <p:cNvSpPr/>
          <p:nvPr/>
        </p:nvSpPr>
        <p:spPr>
          <a:xfrm>
            <a:off x="10975543" y="585216"/>
            <a:ext cx="118872" cy="118872"/>
          </a:xfrm>
          <a:prstGeom prst="ellipse">
            <a:avLst/>
          </a:prstGeom>
          <a:solidFill>
            <a:srgbClr val="F3F6F9"/>
          </a:solidFill>
          <a:ln w="9525">
            <a:solidFill>
              <a:srgbClr val="DCE4EC"/>
            </a:solidFill>
            <a:prstDash val="solid"/>
          </a:ln>
        </p:spPr>
      </p:sp>
      <p:sp>
        <p:nvSpPr>
          <p:cNvPr id="32" name="Shape 29"/>
          <p:cNvSpPr/>
          <p:nvPr/>
        </p:nvSpPr>
        <p:spPr>
          <a:xfrm>
            <a:off x="11158423" y="585216"/>
            <a:ext cx="118872" cy="118872"/>
          </a:xfrm>
          <a:prstGeom prst="ellipse">
            <a:avLst/>
          </a:prstGeom>
          <a:solidFill>
            <a:srgbClr val="F3F6F9"/>
          </a:solidFill>
          <a:ln w="9525">
            <a:solidFill>
              <a:srgbClr val="DCE4EC"/>
            </a:solidFill>
            <a:prstDash val="solid"/>
          </a:ln>
        </p:spPr>
      </p:sp>
      <p:sp>
        <p:nvSpPr>
          <p:cNvPr id="33" name="Shape 30"/>
          <p:cNvSpPr/>
          <p:nvPr/>
        </p:nvSpPr>
        <p:spPr>
          <a:xfrm>
            <a:off x="11341303" y="585216"/>
            <a:ext cx="118872" cy="118872"/>
          </a:xfrm>
          <a:prstGeom prst="ellipse">
            <a:avLst/>
          </a:prstGeom>
          <a:solidFill>
            <a:srgbClr val="F3F6F9"/>
          </a:solidFill>
          <a:ln w="9525">
            <a:solidFill>
              <a:srgbClr val="DCE4EC"/>
            </a:solidFill>
            <a:prstDash val="solid"/>
          </a:ln>
        </p:spPr>
      </p:sp>
      <p:sp>
        <p:nvSpPr>
          <p:cNvPr id="34" name="Shape 31"/>
          <p:cNvSpPr/>
          <p:nvPr/>
        </p:nvSpPr>
        <p:spPr>
          <a:xfrm>
            <a:off x="11524183" y="585216"/>
            <a:ext cx="118872" cy="118872"/>
          </a:xfrm>
          <a:prstGeom prst="ellipse">
            <a:avLst/>
          </a:prstGeom>
          <a:solidFill>
            <a:srgbClr val="F3F6F9"/>
          </a:solidFill>
          <a:ln w="9525">
            <a:solidFill>
              <a:srgbClr val="DCE4EC"/>
            </a:solidFill>
            <a:prstDash val="solid"/>
          </a:ln>
        </p:spPr>
      </p:sp>
      <p:sp>
        <p:nvSpPr>
          <p:cNvPr id="35" name="Text 32"/>
          <p:cNvSpPr txBox="1"/>
          <p:nvPr/>
        </p:nvSpPr>
        <p:spPr>
          <a:xfrm>
            <a:off x="8780983" y="768096"/>
            <a:ext cx="2862072" cy="201168"/>
          </a:xfrm>
          <a:prstGeom prst="rect">
            <a:avLst/>
          </a:prstGeom>
          <a:noFill/>
          <a:ln/>
        </p:spPr>
        <p:txBody>
          <a:bodyPr wrap="square" lIns="0" tIns="0" rIns="0" bIns="0" rtlCol="0" anchor="ctr"/>
          <a:lstStyle/>
          <a:p>
            <a:pPr algn="r" indent="0" marL="0">
              <a:buNone/>
            </a:pPr>
            <a:r>
              <a:rPr lang="en-US" sz="950" dirty="0">
                <a:solidFill>
                  <a:srgbClr val="5E6D7D"/>
                </a:solidFill>
                <a:latin typeface="Calibri" pitchFamily="34" charset="0"/>
                <a:ea typeface="Calibri" pitchFamily="34" charset="-122"/>
                <a:cs typeface="Calibri" pitchFamily="34" charset="-120"/>
              </a:rPr>
              <a:t>Screen 5 of 16</a:t>
            </a:r>
            <a:endParaRPr lang="en-US" sz="950" dirty="0"/>
          </a:p>
        </p:txBody>
      </p:sp>
      <p:sp>
        <p:nvSpPr>
          <p:cNvPr id="36" name="Text 33"/>
          <p:cNvSpPr txBox="1"/>
          <p:nvPr/>
        </p:nvSpPr>
        <p:spPr>
          <a:xfrm>
            <a:off x="4434840" y="1170432"/>
            <a:ext cx="7208215" cy="237744"/>
          </a:xfrm>
          <a:prstGeom prst="rect">
            <a:avLst/>
          </a:prstGeom>
          <a:noFill/>
          <a:ln/>
        </p:spPr>
        <p:txBody>
          <a:bodyPr wrap="square" lIns="0" tIns="0" rIns="0" bIns="0" rtlCol="0" anchor="ctr"/>
          <a:lstStyle/>
          <a:p>
            <a:pPr indent="0" marL="0">
              <a:buNone/>
            </a:pPr>
            <a:r>
              <a:rPr lang="en-US" sz="1100" b="1" spc="200" kern="0" dirty="0">
                <a:solidFill>
                  <a:srgbClr val="E85D04"/>
                </a:solidFill>
                <a:latin typeface="Calibri" pitchFamily="34" charset="0"/>
                <a:ea typeface="Calibri" pitchFamily="34" charset="-122"/>
                <a:cs typeface="Calibri" pitchFamily="34" charset="-120"/>
              </a:rPr>
              <a:t>RIDE OPTIONS</a:t>
            </a:r>
            <a:endParaRPr lang="en-US" sz="1100" dirty="0"/>
          </a:p>
        </p:txBody>
      </p:sp>
      <p:sp>
        <p:nvSpPr>
          <p:cNvPr id="37" name="Text 34"/>
          <p:cNvSpPr txBox="1"/>
          <p:nvPr/>
        </p:nvSpPr>
        <p:spPr>
          <a:xfrm>
            <a:off x="4434840" y="1463040"/>
            <a:ext cx="7208215" cy="457200"/>
          </a:xfrm>
          <a:prstGeom prst="rect">
            <a:avLst/>
          </a:prstGeom>
          <a:noFill/>
          <a:ln/>
        </p:spPr>
        <p:txBody>
          <a:bodyPr wrap="square" lIns="0" tIns="0" rIns="0" bIns="0" rtlCol="0" anchor="t"/>
          <a:lstStyle/>
          <a:p>
            <a:pPr indent="0" marL="0">
              <a:buNone/>
            </a:pPr>
            <a:r>
              <a:rPr lang="en-US" sz="3000" b="1" dirty="0">
                <a:solidFill>
                  <a:srgbClr val="16202B"/>
                </a:solidFill>
                <a:latin typeface="Calibri" pitchFamily="34" charset="0"/>
                <a:ea typeface="Calibri" pitchFamily="34" charset="-122"/>
                <a:cs typeface="Calibri" pitchFamily="34" charset="-120"/>
              </a:rPr>
              <a:t>Three ways to go, checked live</a:t>
            </a:r>
            <a:endParaRPr lang="en-US" sz="3000" dirty="0"/>
          </a:p>
        </p:txBody>
      </p:sp>
      <p:sp>
        <p:nvSpPr>
          <p:cNvPr id="38" name="Text 35"/>
          <p:cNvSpPr txBox="1"/>
          <p:nvPr/>
        </p:nvSpPr>
        <p:spPr>
          <a:xfrm>
            <a:off x="4434840" y="2048256"/>
            <a:ext cx="7208215" cy="475488"/>
          </a:xfrm>
          <a:prstGeom prst="rect">
            <a:avLst/>
          </a:prstGeom>
          <a:noFill/>
          <a:ln/>
        </p:spPr>
        <p:txBody>
          <a:bodyPr wrap="square" lIns="0" tIns="0" rIns="0" bIns="0" rtlCol="0" anchor="t"/>
          <a:lstStyle/>
          <a:p>
            <a:pPr indent="0" marL="0">
              <a:buNone/>
            </a:pPr>
            <a:r>
              <a:rPr lang="en-US" sz="1500" dirty="0">
                <a:solidFill>
                  <a:srgbClr val="34465A"/>
                </a:solidFill>
                <a:latin typeface="Calibri" pitchFamily="34" charset="0"/>
                <a:ea typeface="Calibri" pitchFamily="34" charset="-122"/>
                <a:cs typeface="Calibri" pitchFamily="34" charset="-120"/>
              </a:rPr>
              <a:t>The app checks every cab on duty against the route and the 3-rider cap, and shows what can take the rider now.</a:t>
            </a:r>
            <a:endParaRPr lang="en-US" sz="1500" dirty="0"/>
          </a:p>
        </p:txBody>
      </p:sp>
      <p:sp>
        <p:nvSpPr>
          <p:cNvPr id="39" name="Shape 36"/>
          <p:cNvSpPr/>
          <p:nvPr/>
        </p:nvSpPr>
        <p:spPr>
          <a:xfrm>
            <a:off x="4434840" y="2798064"/>
            <a:ext cx="7208215" cy="649224"/>
          </a:xfrm>
          <a:prstGeom prst="roundRect">
            <a:avLst>
              <a:gd name="adj" fmla="val 11268"/>
            </a:avLst>
          </a:prstGeom>
          <a:solidFill>
            <a:srgbClr val="F3F6F9"/>
          </a:solidFill>
          <a:ln w="6350">
            <a:solidFill>
              <a:srgbClr val="F3F6F9"/>
            </a:solidFill>
            <a:prstDash val="solid"/>
          </a:ln>
        </p:spPr>
      </p:sp>
      <p:sp>
        <p:nvSpPr>
          <p:cNvPr id="40" name="Shape 37"/>
          <p:cNvSpPr/>
          <p:nvPr/>
        </p:nvSpPr>
        <p:spPr>
          <a:xfrm>
            <a:off x="4599432" y="2916936"/>
            <a:ext cx="292608" cy="292608"/>
          </a:xfrm>
          <a:prstGeom prst="ellipse">
            <a:avLst/>
          </a:prstGeom>
          <a:solidFill>
            <a:srgbClr val="E85D04"/>
          </a:solidFill>
          <a:ln w="15875">
            <a:solidFill>
              <a:srgbClr val="FFFFFF"/>
            </a:solidFill>
            <a:prstDash val="solid"/>
          </a:ln>
        </p:spPr>
      </p:sp>
      <p:sp>
        <p:nvSpPr>
          <p:cNvPr id="41" name="Text 38"/>
          <p:cNvSpPr txBox="1"/>
          <p:nvPr/>
        </p:nvSpPr>
        <p:spPr>
          <a:xfrm>
            <a:off x="4599432" y="2916936"/>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42" name="Text 39"/>
          <p:cNvSpPr txBox="1"/>
          <p:nvPr/>
        </p:nvSpPr>
        <p:spPr>
          <a:xfrm>
            <a:off x="5029200" y="2907792"/>
            <a:ext cx="6430975" cy="274320"/>
          </a:xfrm>
          <a:prstGeom prst="rect">
            <a:avLst/>
          </a:prstGeom>
          <a:noFill/>
          <a:ln/>
        </p:spPr>
        <p:txBody>
          <a:bodyPr wrap="square" lIns="0" tIns="0" rIns="0" bIns="0" rtlCol="0" anchor="ctr"/>
          <a:lstStyle/>
          <a:p>
            <a:pPr indent="0" marL="0">
              <a:buNone/>
            </a:pPr>
            <a:r>
              <a:rPr lang="en-US" sz="1400" b="1" dirty="0">
                <a:solidFill>
                  <a:srgbClr val="16202B"/>
                </a:solidFill>
                <a:latin typeface="Calibri" pitchFamily="34" charset="0"/>
                <a:ea typeface="Calibri" pitchFamily="34" charset="-122"/>
                <a:cs typeface="Calibri" pitchFamily="34" charset="-120"/>
              </a:rPr>
              <a:t>Shuttle S-03</a:t>
            </a:r>
            <a:endParaRPr lang="en-US" sz="1400" dirty="0"/>
          </a:p>
        </p:txBody>
      </p:sp>
      <p:sp>
        <p:nvSpPr>
          <p:cNvPr id="43" name="Text 40"/>
          <p:cNvSpPr txBox="1"/>
          <p:nvPr/>
        </p:nvSpPr>
        <p:spPr>
          <a:xfrm>
            <a:off x="5029200" y="3182112"/>
            <a:ext cx="6430975" cy="192024"/>
          </a:xfrm>
          <a:prstGeom prst="rect">
            <a:avLst/>
          </a:prstGeom>
          <a:noFill/>
          <a:ln/>
        </p:spPr>
        <p:txBody>
          <a:bodyPr wrap="square" lIns="0" tIns="0" rIns="0" bIns="0" rtlCol="0" anchor="t"/>
          <a:lstStyle/>
          <a:p>
            <a:pPr indent="0" marL="0">
              <a:buNone/>
            </a:pPr>
            <a:r>
              <a:rPr lang="en-US" sz="1200" dirty="0">
                <a:solidFill>
                  <a:srgbClr val="34465A"/>
                </a:solidFill>
                <a:latin typeface="Calibri" pitchFamily="34" charset="0"/>
                <a:ea typeface="Calibri" pitchFamily="34" charset="-122"/>
                <a:cs typeface="Calibri" pitchFamily="34" charset="-120"/>
              </a:rPr>
              <a:t>Walk-up loop every 20 minutes; shown for information, no booking.</a:t>
            </a:r>
            <a:endParaRPr lang="en-US" sz="1200" dirty="0"/>
          </a:p>
        </p:txBody>
      </p:sp>
      <p:sp>
        <p:nvSpPr>
          <p:cNvPr id="44" name="Shape 41"/>
          <p:cNvSpPr/>
          <p:nvPr/>
        </p:nvSpPr>
        <p:spPr>
          <a:xfrm>
            <a:off x="4434840" y="3557016"/>
            <a:ext cx="7208215" cy="649224"/>
          </a:xfrm>
          <a:prstGeom prst="roundRect">
            <a:avLst>
              <a:gd name="adj" fmla="val 11268"/>
            </a:avLst>
          </a:prstGeom>
          <a:solidFill>
            <a:srgbClr val="F3F6F9"/>
          </a:solidFill>
          <a:ln w="6350">
            <a:solidFill>
              <a:srgbClr val="F3F6F9"/>
            </a:solidFill>
            <a:prstDash val="solid"/>
          </a:ln>
        </p:spPr>
      </p:sp>
      <p:sp>
        <p:nvSpPr>
          <p:cNvPr id="45" name="Shape 42"/>
          <p:cNvSpPr/>
          <p:nvPr/>
        </p:nvSpPr>
        <p:spPr>
          <a:xfrm>
            <a:off x="4599432" y="3675888"/>
            <a:ext cx="292608" cy="292608"/>
          </a:xfrm>
          <a:prstGeom prst="ellipse">
            <a:avLst/>
          </a:prstGeom>
          <a:solidFill>
            <a:srgbClr val="E85D04"/>
          </a:solidFill>
          <a:ln w="15875">
            <a:solidFill>
              <a:srgbClr val="FFFFFF"/>
            </a:solidFill>
            <a:prstDash val="solid"/>
          </a:ln>
        </p:spPr>
      </p:sp>
      <p:sp>
        <p:nvSpPr>
          <p:cNvPr id="46" name="Text 43"/>
          <p:cNvSpPr txBox="1"/>
          <p:nvPr/>
        </p:nvSpPr>
        <p:spPr>
          <a:xfrm>
            <a:off x="4599432" y="3675888"/>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47" name="Text 44"/>
          <p:cNvSpPr txBox="1"/>
          <p:nvPr/>
        </p:nvSpPr>
        <p:spPr>
          <a:xfrm>
            <a:off x="5029200" y="3666744"/>
            <a:ext cx="6430975" cy="274320"/>
          </a:xfrm>
          <a:prstGeom prst="rect">
            <a:avLst/>
          </a:prstGeom>
          <a:noFill/>
          <a:ln/>
        </p:spPr>
        <p:txBody>
          <a:bodyPr wrap="square" lIns="0" tIns="0" rIns="0" bIns="0" rtlCol="0" anchor="ctr"/>
          <a:lstStyle/>
          <a:p>
            <a:pPr indent="0" marL="0">
              <a:buNone/>
            </a:pPr>
            <a:r>
              <a:rPr lang="en-US" sz="1400" b="1" dirty="0">
                <a:solidFill>
                  <a:srgbClr val="16202B"/>
                </a:solidFill>
                <a:latin typeface="Calibri" pitchFamily="34" charset="0"/>
                <a:ea typeface="Calibri" pitchFamily="34" charset="-122"/>
                <a:cs typeface="Calibri" pitchFamily="34" charset="-120"/>
              </a:rPr>
              <a:t>Shared cab C-12 · 4 min away</a:t>
            </a:r>
            <a:endParaRPr lang="en-US" sz="1400" dirty="0"/>
          </a:p>
        </p:txBody>
      </p:sp>
      <p:sp>
        <p:nvSpPr>
          <p:cNvPr id="48" name="Text 45"/>
          <p:cNvSpPr txBox="1"/>
          <p:nvPr/>
        </p:nvSpPr>
        <p:spPr>
          <a:xfrm>
            <a:off x="5029200" y="3941064"/>
            <a:ext cx="6430975" cy="192024"/>
          </a:xfrm>
          <a:prstGeom prst="rect">
            <a:avLst/>
          </a:prstGeom>
          <a:noFill/>
          <a:ln/>
        </p:spPr>
        <p:txBody>
          <a:bodyPr wrap="square" lIns="0" tIns="0" rIns="0" bIns="0" rtlCol="0" anchor="t"/>
          <a:lstStyle/>
          <a:p>
            <a:pPr indent="0" marL="0">
              <a:buNone/>
            </a:pPr>
            <a:r>
              <a:rPr lang="en-US" sz="1200" dirty="0">
                <a:solidFill>
                  <a:srgbClr val="34465A"/>
                </a:solidFill>
                <a:latin typeface="Calibri" pitchFamily="34" charset="0"/>
                <a:ea typeface="Calibri" pitchFamily="34" charset="-122"/>
                <a:cs typeface="Calibri" pitchFamily="34" charset="-120"/>
              </a:rPr>
              <a:t>2 of 3 seats taken: two colleagues are already waiting.</a:t>
            </a:r>
            <a:endParaRPr lang="en-US" sz="1200" dirty="0"/>
          </a:p>
        </p:txBody>
      </p:sp>
      <p:sp>
        <p:nvSpPr>
          <p:cNvPr id="49" name="Shape 46"/>
          <p:cNvSpPr/>
          <p:nvPr/>
        </p:nvSpPr>
        <p:spPr>
          <a:xfrm>
            <a:off x="4434840" y="4315968"/>
            <a:ext cx="7208215" cy="649224"/>
          </a:xfrm>
          <a:prstGeom prst="roundRect">
            <a:avLst>
              <a:gd name="adj" fmla="val 11268"/>
            </a:avLst>
          </a:prstGeom>
          <a:solidFill>
            <a:srgbClr val="F3F6F9"/>
          </a:solidFill>
          <a:ln w="6350">
            <a:solidFill>
              <a:srgbClr val="F3F6F9"/>
            </a:solidFill>
            <a:prstDash val="solid"/>
          </a:ln>
        </p:spPr>
      </p:sp>
      <p:sp>
        <p:nvSpPr>
          <p:cNvPr id="50" name="Shape 47"/>
          <p:cNvSpPr/>
          <p:nvPr/>
        </p:nvSpPr>
        <p:spPr>
          <a:xfrm>
            <a:off x="4599432" y="4434840"/>
            <a:ext cx="292608" cy="292608"/>
          </a:xfrm>
          <a:prstGeom prst="ellipse">
            <a:avLst/>
          </a:prstGeom>
          <a:solidFill>
            <a:srgbClr val="E85D04"/>
          </a:solidFill>
          <a:ln w="15875">
            <a:solidFill>
              <a:srgbClr val="FFFFFF"/>
            </a:solidFill>
            <a:prstDash val="solid"/>
          </a:ln>
        </p:spPr>
      </p:sp>
      <p:sp>
        <p:nvSpPr>
          <p:cNvPr id="51" name="Text 48"/>
          <p:cNvSpPr txBox="1"/>
          <p:nvPr/>
        </p:nvSpPr>
        <p:spPr>
          <a:xfrm>
            <a:off x="4599432" y="443484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52" name="Text 49"/>
          <p:cNvSpPr txBox="1"/>
          <p:nvPr/>
        </p:nvSpPr>
        <p:spPr>
          <a:xfrm>
            <a:off x="5029200" y="4425696"/>
            <a:ext cx="6430975" cy="274320"/>
          </a:xfrm>
          <a:prstGeom prst="rect">
            <a:avLst/>
          </a:prstGeom>
          <a:noFill/>
          <a:ln/>
        </p:spPr>
        <p:txBody>
          <a:bodyPr wrap="square" lIns="0" tIns="0" rIns="0" bIns="0" rtlCol="0" anchor="ctr"/>
          <a:lstStyle/>
          <a:p>
            <a:pPr indent="0" marL="0">
              <a:buNone/>
            </a:pPr>
            <a:r>
              <a:rPr lang="en-US" sz="1400" b="1" dirty="0">
                <a:solidFill>
                  <a:srgbClr val="16202B"/>
                </a:solidFill>
                <a:latin typeface="Calibri" pitchFamily="34" charset="0"/>
                <a:ea typeface="Calibri" pitchFamily="34" charset="-122"/>
                <a:cs typeface="Calibri" pitchFamily="34" charset="-120"/>
              </a:rPr>
              <a:t>Exclusive cab</a:t>
            </a:r>
            <a:endParaRPr lang="en-US" sz="1400" dirty="0"/>
          </a:p>
        </p:txBody>
      </p:sp>
      <p:sp>
        <p:nvSpPr>
          <p:cNvPr id="53" name="Text 50"/>
          <p:cNvSpPr txBox="1"/>
          <p:nvPr/>
        </p:nvSpPr>
        <p:spPr>
          <a:xfrm>
            <a:off x="5029200" y="4700016"/>
            <a:ext cx="6430975" cy="192024"/>
          </a:xfrm>
          <a:prstGeom prst="rect">
            <a:avLst/>
          </a:prstGeom>
          <a:noFill/>
          <a:ln/>
        </p:spPr>
        <p:txBody>
          <a:bodyPr wrap="square" lIns="0" tIns="0" rIns="0" bIns="0" rtlCol="0" anchor="t"/>
          <a:lstStyle/>
          <a:p>
            <a:pPr indent="0" marL="0">
              <a:buNone/>
            </a:pPr>
            <a:r>
              <a:rPr lang="en-US" sz="1200" dirty="0">
                <a:solidFill>
                  <a:srgbClr val="34465A"/>
                </a:solidFill>
                <a:latin typeface="Calibri" pitchFamily="34" charset="0"/>
                <a:ea typeface="Calibri" pitchFamily="34" charset="-122"/>
                <a:cs typeface="Calibri" pitchFamily="34" charset="-120"/>
              </a:rPr>
              <a:t>A cab of one’s own, released by the HOD or the transport desk.</a:t>
            </a:r>
            <a:endParaRPr lang="en-US" sz="1200" dirty="0"/>
          </a:p>
        </p:txBody>
      </p:sp>
      <p:sp>
        <p:nvSpPr>
          <p:cNvPr id="54" name="Shape 51"/>
          <p:cNvSpPr/>
          <p:nvPr/>
        </p:nvSpPr>
        <p:spPr>
          <a:xfrm>
            <a:off x="4434840" y="5166360"/>
            <a:ext cx="7208215" cy="576072"/>
          </a:xfrm>
          <a:prstGeom prst="roundRect">
            <a:avLst>
              <a:gd name="adj" fmla="val 12698"/>
            </a:avLst>
          </a:prstGeom>
          <a:solidFill>
            <a:srgbClr val="FFEDE0"/>
          </a:solidFill>
          <a:ln w="6350">
            <a:solidFill>
              <a:srgbClr val="FFEDE0"/>
            </a:solidFill>
            <a:prstDash val="solid"/>
          </a:ln>
        </p:spPr>
      </p:sp>
      <p:sp>
        <p:nvSpPr>
          <p:cNvPr id="55" name="Text 52"/>
          <p:cNvSpPr txBox="1"/>
          <p:nvPr/>
        </p:nvSpPr>
        <p:spPr>
          <a:xfrm>
            <a:off x="4617720" y="5257800"/>
            <a:ext cx="6842455" cy="201168"/>
          </a:xfrm>
          <a:prstGeom prst="rect">
            <a:avLst/>
          </a:prstGeom>
          <a:noFill/>
          <a:ln/>
        </p:spPr>
        <p:txBody>
          <a:bodyPr wrap="square" lIns="0" tIns="0" rIns="0" bIns="0" rtlCol="0" anchor="ctr"/>
          <a:lstStyle/>
          <a:p>
            <a:pPr indent="0" marL="0">
              <a:buNone/>
            </a:pPr>
            <a:r>
              <a:rPr lang="en-US" sz="950" b="1" spc="150" kern="0" dirty="0">
                <a:solidFill>
                  <a:srgbClr val="B84A03"/>
                </a:solidFill>
                <a:latin typeface="Calibri" pitchFamily="34" charset="0"/>
                <a:ea typeface="Calibri" pitchFamily="34" charset="-122"/>
                <a:cs typeface="Calibri" pitchFamily="34" charset="-120"/>
              </a:rPr>
              <a:t>BEHIND THE SCENES</a:t>
            </a:r>
            <a:endParaRPr lang="en-US" sz="950" dirty="0"/>
          </a:p>
        </p:txBody>
      </p:sp>
      <p:sp>
        <p:nvSpPr>
          <p:cNvPr id="56" name="Text 53"/>
          <p:cNvSpPr txBox="1"/>
          <p:nvPr/>
        </p:nvSpPr>
        <p:spPr>
          <a:xfrm>
            <a:off x="4617720" y="5468112"/>
            <a:ext cx="6842455" cy="192024"/>
          </a:xfrm>
          <a:prstGeom prst="rect">
            <a:avLst/>
          </a:prstGeom>
          <a:noFill/>
          <a:ln/>
        </p:spPr>
        <p:txBody>
          <a:bodyPr wrap="square" lIns="0" tIns="0" rIns="0" bIns="0" rtlCol="0" anchor="t"/>
          <a:lstStyle/>
          <a:p>
            <a:pPr indent="0" marL="0">
              <a:buNone/>
            </a:pPr>
            <a:r>
              <a:rPr lang="en-US" sz="1200" dirty="0">
                <a:solidFill>
                  <a:srgbClr val="16202B"/>
                </a:solidFill>
                <a:latin typeface="Calibri" pitchFamily="34" charset="0"/>
                <a:ea typeface="Calibri" pitchFamily="34" charset="-122"/>
                <a:cs typeface="Calibri" pitchFamily="34" charset="-120"/>
              </a:rPr>
              <a:t>Searched just now: 6 vehicles on duty were checked. A. Raghavan taps Confirm ride.</a:t>
            </a:r>
            <a:endParaRPr lang="en-US" sz="1200" dirty="0"/>
          </a:p>
        </p:txBody>
      </p:sp>
      <p:sp>
        <p:nvSpPr>
          <p:cNvPr id="57" name="Text 54"/>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900" dirty="0">
                <a:solidFill>
                  <a:srgbClr val="5E6D7D"/>
                </a:solidFill>
                <a:latin typeface="Calibri" pitchFamily="34" charset="0"/>
                <a:ea typeface="Calibri" pitchFamily="34" charset="-122"/>
                <a:cs typeface="Calibri" pitchFamily="34" charset="-120"/>
              </a:rPr>
              <a:t>Plant Ride · Rider → Driver journey · recorded on the MVP with demo data</a:t>
            </a:r>
            <a:endParaRPr lang="en-US" sz="900" dirty="0"/>
          </a:p>
        </p:txBody>
      </p:sp>
      <p:sp>
        <p:nvSpPr>
          <p:cNvPr id="58" name="Text 55"/>
          <p:cNvSpPr txBox="1"/>
          <p:nvPr/>
        </p:nvSpPr>
        <p:spPr>
          <a:xfrm>
            <a:off x="11185855" y="6473952"/>
            <a:ext cx="457200" cy="228600"/>
          </a:xfrm>
          <a:prstGeom prst="rect">
            <a:avLst/>
          </a:prstGeom>
          <a:noFill/>
          <a:ln/>
        </p:spPr>
        <p:txBody>
          <a:bodyPr wrap="square" lIns="0" tIns="0" rIns="0" bIns="0" rtlCol="0" anchor="ctr"/>
          <a:lstStyle/>
          <a:p>
            <a:pPr algn="r" indent="0" marL="0">
              <a:buNone/>
            </a:pPr>
            <a:r>
              <a:rPr lang="en-US" sz="900" dirty="0">
                <a:solidFill>
                  <a:srgbClr val="5E6D7D"/>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50976" y="402336"/>
            <a:ext cx="2813925" cy="5961888"/>
          </a:xfrm>
          <a:prstGeom prst="roundRect">
            <a:avLst>
              <a:gd name="adj" fmla="val 5849"/>
            </a:avLst>
          </a:prstGeom>
          <a:solidFill>
            <a:srgbClr val="16202B"/>
          </a:solidFill>
          <a:ln w="9525">
            <a:solidFill>
              <a:srgbClr val="16202B"/>
            </a:solidFill>
            <a:prstDash val="solid"/>
          </a:ln>
          <a:effectLst>
            <a:outerShdw sx="100000" sy="100000" kx="0" ky="0" algn="bl" rotWithShape="0" blurRad="127000" dist="38100" dir="5400000">
              <a:srgbClr val="000000">
                <a:alpha val="20000"/>
              </a:srgbClr>
            </a:outerShdw>
          </a:effectLst>
        </p:spPr>
      </p:sp>
      <p:pic>
        <p:nvPicPr>
          <p:cNvPr id="3" name="Image 0" descr="Screenshot: r06-booked">    </p:cNvPr>
          <p:cNvPicPr>
            <a:picLocks noChangeAspect="1"/>
          </p:cNvPicPr>
          <p:nvPr/>
        </p:nvPicPr>
        <p:blipFill>
          <a:blip r:embed="rId1"/>
          <a:stretch>
            <a:fillRect/>
          </a:stretch>
        </p:blipFill>
        <p:spPr>
          <a:xfrm>
            <a:off x="1005840" y="457200"/>
            <a:ext cx="2704197" cy="5852160"/>
          </a:xfrm>
          <a:prstGeom prst="rect">
            <a:avLst/>
          </a:prstGeom>
        </p:spPr>
      </p:pic>
      <p:sp>
        <p:nvSpPr>
          <p:cNvPr id="4" name="Shape 1"/>
          <p:cNvSpPr/>
          <p:nvPr/>
        </p:nvSpPr>
        <p:spPr>
          <a:xfrm>
            <a:off x="822960" y="1316996"/>
            <a:ext cx="238351" cy="914"/>
          </a:xfrm>
          <a:prstGeom prst="line">
            <a:avLst/>
          </a:prstGeom>
          <a:noFill/>
          <a:ln w="15875">
            <a:solidFill>
              <a:srgbClr val="E85D04"/>
            </a:solidFill>
            <a:prstDash val="solid"/>
          </a:ln>
        </p:spPr>
      </p:sp>
      <p:sp>
        <p:nvSpPr>
          <p:cNvPr id="5" name="Shape 2"/>
          <p:cNvSpPr/>
          <p:nvPr/>
        </p:nvSpPr>
        <p:spPr>
          <a:xfrm>
            <a:off x="1020163" y="1275848"/>
            <a:ext cx="82296" cy="82296"/>
          </a:xfrm>
          <a:prstGeom prst="ellipse">
            <a:avLst/>
          </a:prstGeom>
          <a:solidFill>
            <a:srgbClr val="E85D04"/>
          </a:solidFill>
          <a:ln w="9525">
            <a:solidFill>
              <a:srgbClr val="FFFFFF"/>
            </a:solidFill>
            <a:prstDash val="solid"/>
          </a:ln>
        </p:spPr>
      </p:sp>
      <p:sp>
        <p:nvSpPr>
          <p:cNvPr id="6" name="Shape 3"/>
          <p:cNvSpPr/>
          <p:nvPr/>
        </p:nvSpPr>
        <p:spPr>
          <a:xfrm>
            <a:off x="548640" y="1179836"/>
            <a:ext cx="274320" cy="274320"/>
          </a:xfrm>
          <a:prstGeom prst="ellipse">
            <a:avLst/>
          </a:prstGeom>
          <a:solidFill>
            <a:srgbClr val="E85D04"/>
          </a:solidFill>
          <a:ln w="15875">
            <a:solidFill>
              <a:srgbClr val="FFFFFF"/>
            </a:solidFill>
            <a:prstDash val="solid"/>
          </a:ln>
        </p:spPr>
      </p:sp>
      <p:sp>
        <p:nvSpPr>
          <p:cNvPr id="7" name="Text 4"/>
          <p:cNvSpPr txBox="1"/>
          <p:nvPr/>
        </p:nvSpPr>
        <p:spPr>
          <a:xfrm>
            <a:off x="548640" y="117983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8" name="Shape 5"/>
          <p:cNvSpPr/>
          <p:nvPr/>
        </p:nvSpPr>
        <p:spPr>
          <a:xfrm>
            <a:off x="822960" y="1878637"/>
            <a:ext cx="356226" cy="914"/>
          </a:xfrm>
          <a:prstGeom prst="line">
            <a:avLst/>
          </a:prstGeom>
          <a:noFill/>
          <a:ln w="15875">
            <a:solidFill>
              <a:srgbClr val="E85D04"/>
            </a:solidFill>
            <a:prstDash val="solid"/>
          </a:ln>
        </p:spPr>
      </p:sp>
      <p:sp>
        <p:nvSpPr>
          <p:cNvPr id="9" name="Shape 6"/>
          <p:cNvSpPr/>
          <p:nvPr/>
        </p:nvSpPr>
        <p:spPr>
          <a:xfrm>
            <a:off x="1138038" y="1837489"/>
            <a:ext cx="82296" cy="82296"/>
          </a:xfrm>
          <a:prstGeom prst="ellipse">
            <a:avLst/>
          </a:prstGeom>
          <a:solidFill>
            <a:srgbClr val="E85D04"/>
          </a:solidFill>
          <a:ln w="9525">
            <a:solidFill>
              <a:srgbClr val="FFFFFF"/>
            </a:solidFill>
            <a:prstDash val="solid"/>
          </a:ln>
        </p:spPr>
      </p:sp>
      <p:sp>
        <p:nvSpPr>
          <p:cNvPr id="10" name="Shape 7"/>
          <p:cNvSpPr/>
          <p:nvPr/>
        </p:nvSpPr>
        <p:spPr>
          <a:xfrm>
            <a:off x="548640" y="1741477"/>
            <a:ext cx="274320" cy="274320"/>
          </a:xfrm>
          <a:prstGeom prst="ellipse">
            <a:avLst/>
          </a:prstGeom>
          <a:solidFill>
            <a:srgbClr val="E85D04"/>
          </a:solidFill>
          <a:ln w="15875">
            <a:solidFill>
              <a:srgbClr val="FFFFFF"/>
            </a:solidFill>
            <a:prstDash val="solid"/>
          </a:ln>
        </p:spPr>
      </p:sp>
      <p:sp>
        <p:nvSpPr>
          <p:cNvPr id="11" name="Text 8"/>
          <p:cNvSpPr txBox="1"/>
          <p:nvPr/>
        </p:nvSpPr>
        <p:spPr>
          <a:xfrm>
            <a:off x="548640" y="1741477"/>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2" name="Shape 9"/>
          <p:cNvSpPr/>
          <p:nvPr/>
        </p:nvSpPr>
        <p:spPr>
          <a:xfrm>
            <a:off x="822960" y="2807771"/>
            <a:ext cx="377569" cy="914"/>
          </a:xfrm>
          <a:prstGeom prst="line">
            <a:avLst/>
          </a:prstGeom>
          <a:noFill/>
          <a:ln w="15875">
            <a:solidFill>
              <a:srgbClr val="E85D04"/>
            </a:solidFill>
            <a:prstDash val="solid"/>
          </a:ln>
        </p:spPr>
      </p:sp>
      <p:sp>
        <p:nvSpPr>
          <p:cNvPr id="13" name="Shape 10"/>
          <p:cNvSpPr/>
          <p:nvPr/>
        </p:nvSpPr>
        <p:spPr>
          <a:xfrm>
            <a:off x="1159381" y="2766623"/>
            <a:ext cx="82296" cy="82296"/>
          </a:xfrm>
          <a:prstGeom prst="ellipse">
            <a:avLst/>
          </a:prstGeom>
          <a:solidFill>
            <a:srgbClr val="E85D04"/>
          </a:solidFill>
          <a:ln w="9525">
            <a:solidFill>
              <a:srgbClr val="FFFFFF"/>
            </a:solidFill>
            <a:prstDash val="solid"/>
          </a:ln>
        </p:spPr>
      </p:sp>
      <p:sp>
        <p:nvSpPr>
          <p:cNvPr id="14" name="Shape 11"/>
          <p:cNvSpPr/>
          <p:nvPr/>
        </p:nvSpPr>
        <p:spPr>
          <a:xfrm>
            <a:off x="548640" y="2670611"/>
            <a:ext cx="274320" cy="274320"/>
          </a:xfrm>
          <a:prstGeom prst="ellipse">
            <a:avLst/>
          </a:prstGeom>
          <a:solidFill>
            <a:srgbClr val="E85D04"/>
          </a:solidFill>
          <a:ln w="15875">
            <a:solidFill>
              <a:srgbClr val="FFFFFF"/>
            </a:solidFill>
            <a:prstDash val="solid"/>
          </a:ln>
        </p:spPr>
      </p:sp>
      <p:sp>
        <p:nvSpPr>
          <p:cNvPr id="15" name="Text 12"/>
          <p:cNvSpPr txBox="1"/>
          <p:nvPr/>
        </p:nvSpPr>
        <p:spPr>
          <a:xfrm>
            <a:off x="548640" y="2670611"/>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6" name="Shape 13"/>
          <p:cNvSpPr/>
          <p:nvPr/>
        </p:nvSpPr>
        <p:spPr>
          <a:xfrm>
            <a:off x="4434840" y="457200"/>
            <a:ext cx="384048" cy="384048"/>
          </a:xfrm>
          <a:prstGeom prst="ellipse">
            <a:avLst/>
          </a:prstGeom>
          <a:solidFill>
            <a:srgbClr val="E85D04"/>
          </a:solidFill>
          <a:ln w="6350">
            <a:solidFill>
              <a:srgbClr val="E85D04"/>
            </a:solidFill>
            <a:prstDash val="solid"/>
          </a:ln>
        </p:spPr>
      </p:sp>
      <p:sp>
        <p:nvSpPr>
          <p:cNvPr id="17" name="Text 14"/>
          <p:cNvSpPr txBox="1"/>
          <p:nvPr/>
        </p:nvSpPr>
        <p:spPr>
          <a:xfrm>
            <a:off x="4434840" y="457200"/>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AR</a:t>
            </a:r>
            <a:endParaRPr lang="en-US" sz="1100" dirty="0"/>
          </a:p>
        </p:txBody>
      </p:sp>
      <p:sp>
        <p:nvSpPr>
          <p:cNvPr id="18" name="Text 15"/>
          <p:cNvSpPr txBox="1"/>
          <p:nvPr/>
        </p:nvSpPr>
        <p:spPr>
          <a:xfrm>
            <a:off x="4937760" y="457200"/>
            <a:ext cx="3291840" cy="384048"/>
          </a:xfrm>
          <a:prstGeom prst="rect">
            <a:avLst/>
          </a:prstGeom>
          <a:noFill/>
          <a:ln/>
        </p:spPr>
        <p:txBody>
          <a:bodyPr wrap="square" lIns="0" tIns="0" rIns="0" bIns="0" rtlCol="0" anchor="ctr"/>
          <a:lstStyle/>
          <a:p>
            <a:pPr indent="0" marL="0">
              <a:buNone/>
            </a:pPr>
            <a:r>
              <a:rPr lang="en-US" sz="1300" b="1" dirty="0">
                <a:solidFill>
                  <a:srgbClr val="E85D04"/>
                </a:solidFill>
                <a:latin typeface="Calibri" pitchFamily="34" charset="0"/>
                <a:ea typeface="Calibri" pitchFamily="34" charset="-122"/>
                <a:cs typeface="Calibri" pitchFamily="34" charset="-120"/>
              </a:rPr>
              <a:t>Rider  </a:t>
            </a:r>
            <a:pPr indent="0" marL="0">
              <a:buNone/>
            </a:pPr>
            <a:r>
              <a:rPr lang="en-US" sz="1300" b="1" dirty="0">
                <a:solidFill>
                  <a:srgbClr val="16202B"/>
                </a:solidFill>
                <a:latin typeface="Calibri" pitchFamily="34" charset="0"/>
                <a:ea typeface="Calibri" pitchFamily="34" charset="-122"/>
                <a:cs typeface="Calibri" pitchFamily="34" charset="-120"/>
              </a:rPr>
              <a:t>A. Raghavan</a:t>
            </a:r>
            <a:endParaRPr lang="en-US" sz="1300" dirty="0"/>
          </a:p>
        </p:txBody>
      </p:sp>
      <p:sp>
        <p:nvSpPr>
          <p:cNvPr id="19" name="Shape 16"/>
          <p:cNvSpPr/>
          <p:nvPr/>
        </p:nvSpPr>
        <p:spPr>
          <a:xfrm>
            <a:off x="8780983" y="585216"/>
            <a:ext cx="118872" cy="118872"/>
          </a:xfrm>
          <a:prstGeom prst="ellipse">
            <a:avLst/>
          </a:prstGeom>
          <a:solidFill>
            <a:srgbClr val="FFEDE0"/>
          </a:solidFill>
          <a:ln w="9525">
            <a:solidFill>
              <a:srgbClr val="E85D04"/>
            </a:solidFill>
            <a:prstDash val="solid"/>
          </a:ln>
        </p:spPr>
      </p:sp>
      <p:sp>
        <p:nvSpPr>
          <p:cNvPr id="20" name="Shape 17"/>
          <p:cNvSpPr/>
          <p:nvPr/>
        </p:nvSpPr>
        <p:spPr>
          <a:xfrm>
            <a:off x="8963863" y="585216"/>
            <a:ext cx="118872" cy="118872"/>
          </a:xfrm>
          <a:prstGeom prst="ellipse">
            <a:avLst/>
          </a:prstGeom>
          <a:solidFill>
            <a:srgbClr val="FFEDE0"/>
          </a:solidFill>
          <a:ln w="9525">
            <a:solidFill>
              <a:srgbClr val="E85D04"/>
            </a:solidFill>
            <a:prstDash val="solid"/>
          </a:ln>
        </p:spPr>
      </p:sp>
      <p:sp>
        <p:nvSpPr>
          <p:cNvPr id="21" name="Shape 18"/>
          <p:cNvSpPr/>
          <p:nvPr/>
        </p:nvSpPr>
        <p:spPr>
          <a:xfrm>
            <a:off x="9146743" y="585216"/>
            <a:ext cx="118872" cy="118872"/>
          </a:xfrm>
          <a:prstGeom prst="ellipse">
            <a:avLst/>
          </a:prstGeom>
          <a:solidFill>
            <a:srgbClr val="FFEDE0"/>
          </a:solidFill>
          <a:ln w="9525">
            <a:solidFill>
              <a:srgbClr val="E85D04"/>
            </a:solidFill>
            <a:prstDash val="solid"/>
          </a:ln>
        </p:spPr>
      </p:sp>
      <p:sp>
        <p:nvSpPr>
          <p:cNvPr id="22" name="Shape 19"/>
          <p:cNvSpPr/>
          <p:nvPr/>
        </p:nvSpPr>
        <p:spPr>
          <a:xfrm>
            <a:off x="9329623" y="585216"/>
            <a:ext cx="118872" cy="118872"/>
          </a:xfrm>
          <a:prstGeom prst="ellipse">
            <a:avLst/>
          </a:prstGeom>
          <a:solidFill>
            <a:srgbClr val="FFEDE0"/>
          </a:solidFill>
          <a:ln w="9525">
            <a:solidFill>
              <a:srgbClr val="E85D04"/>
            </a:solidFill>
            <a:prstDash val="solid"/>
          </a:ln>
        </p:spPr>
      </p:sp>
      <p:sp>
        <p:nvSpPr>
          <p:cNvPr id="23" name="Shape 20"/>
          <p:cNvSpPr/>
          <p:nvPr/>
        </p:nvSpPr>
        <p:spPr>
          <a:xfrm>
            <a:off x="9512503" y="585216"/>
            <a:ext cx="118872" cy="118872"/>
          </a:xfrm>
          <a:prstGeom prst="ellipse">
            <a:avLst/>
          </a:prstGeom>
          <a:solidFill>
            <a:srgbClr val="FFEDE0"/>
          </a:solidFill>
          <a:ln w="9525">
            <a:solidFill>
              <a:srgbClr val="E85D04"/>
            </a:solidFill>
            <a:prstDash val="solid"/>
          </a:ln>
        </p:spPr>
      </p:sp>
      <p:sp>
        <p:nvSpPr>
          <p:cNvPr id="24" name="Shape 21"/>
          <p:cNvSpPr/>
          <p:nvPr/>
        </p:nvSpPr>
        <p:spPr>
          <a:xfrm>
            <a:off x="9667951" y="557784"/>
            <a:ext cx="173736" cy="173736"/>
          </a:xfrm>
          <a:prstGeom prst="ellipse">
            <a:avLst/>
          </a:prstGeom>
          <a:solidFill>
            <a:srgbClr val="E85D04"/>
          </a:solidFill>
          <a:ln w="9525">
            <a:solidFill>
              <a:srgbClr val="E85D04"/>
            </a:solidFill>
            <a:prstDash val="solid"/>
          </a:ln>
        </p:spPr>
      </p:sp>
      <p:sp>
        <p:nvSpPr>
          <p:cNvPr id="25" name="Shape 22"/>
          <p:cNvSpPr/>
          <p:nvPr/>
        </p:nvSpPr>
        <p:spPr>
          <a:xfrm>
            <a:off x="9878263" y="585216"/>
            <a:ext cx="118872" cy="118872"/>
          </a:xfrm>
          <a:prstGeom prst="ellipse">
            <a:avLst/>
          </a:prstGeom>
          <a:solidFill>
            <a:srgbClr val="F3F6F9"/>
          </a:solidFill>
          <a:ln w="9525">
            <a:solidFill>
              <a:srgbClr val="DCE4EC"/>
            </a:solidFill>
            <a:prstDash val="solid"/>
          </a:ln>
        </p:spPr>
      </p:sp>
      <p:sp>
        <p:nvSpPr>
          <p:cNvPr id="26" name="Shape 23"/>
          <p:cNvSpPr/>
          <p:nvPr/>
        </p:nvSpPr>
        <p:spPr>
          <a:xfrm>
            <a:off x="10061143" y="585216"/>
            <a:ext cx="118872" cy="118872"/>
          </a:xfrm>
          <a:prstGeom prst="ellipse">
            <a:avLst/>
          </a:prstGeom>
          <a:solidFill>
            <a:srgbClr val="F3F6F9"/>
          </a:solidFill>
          <a:ln w="9525">
            <a:solidFill>
              <a:srgbClr val="DCE4EC"/>
            </a:solidFill>
            <a:prstDash val="solid"/>
          </a:ln>
        </p:spPr>
      </p:sp>
      <p:sp>
        <p:nvSpPr>
          <p:cNvPr id="27" name="Shape 24"/>
          <p:cNvSpPr/>
          <p:nvPr/>
        </p:nvSpPr>
        <p:spPr>
          <a:xfrm>
            <a:off x="10244023" y="585216"/>
            <a:ext cx="118872" cy="118872"/>
          </a:xfrm>
          <a:prstGeom prst="ellipse">
            <a:avLst/>
          </a:prstGeom>
          <a:solidFill>
            <a:srgbClr val="F3F6F9"/>
          </a:solidFill>
          <a:ln w="9525">
            <a:solidFill>
              <a:srgbClr val="DCE4EC"/>
            </a:solidFill>
            <a:prstDash val="solid"/>
          </a:ln>
        </p:spPr>
      </p:sp>
      <p:sp>
        <p:nvSpPr>
          <p:cNvPr id="28" name="Shape 25"/>
          <p:cNvSpPr/>
          <p:nvPr/>
        </p:nvSpPr>
        <p:spPr>
          <a:xfrm>
            <a:off x="10426903" y="585216"/>
            <a:ext cx="118872" cy="118872"/>
          </a:xfrm>
          <a:prstGeom prst="ellipse">
            <a:avLst/>
          </a:prstGeom>
          <a:solidFill>
            <a:srgbClr val="F3F6F9"/>
          </a:solidFill>
          <a:ln w="9525">
            <a:solidFill>
              <a:srgbClr val="DCE4EC"/>
            </a:solidFill>
            <a:prstDash val="solid"/>
          </a:ln>
        </p:spPr>
      </p:sp>
      <p:sp>
        <p:nvSpPr>
          <p:cNvPr id="29" name="Shape 26"/>
          <p:cNvSpPr/>
          <p:nvPr/>
        </p:nvSpPr>
        <p:spPr>
          <a:xfrm>
            <a:off x="10609783" y="585216"/>
            <a:ext cx="118872" cy="118872"/>
          </a:xfrm>
          <a:prstGeom prst="ellipse">
            <a:avLst/>
          </a:prstGeom>
          <a:solidFill>
            <a:srgbClr val="F3F6F9"/>
          </a:solidFill>
          <a:ln w="9525">
            <a:solidFill>
              <a:srgbClr val="DCE4EC"/>
            </a:solidFill>
            <a:prstDash val="solid"/>
          </a:ln>
        </p:spPr>
      </p:sp>
      <p:sp>
        <p:nvSpPr>
          <p:cNvPr id="30" name="Shape 27"/>
          <p:cNvSpPr/>
          <p:nvPr/>
        </p:nvSpPr>
        <p:spPr>
          <a:xfrm>
            <a:off x="10792663" y="585216"/>
            <a:ext cx="118872" cy="118872"/>
          </a:xfrm>
          <a:prstGeom prst="ellipse">
            <a:avLst/>
          </a:prstGeom>
          <a:solidFill>
            <a:srgbClr val="F3F6F9"/>
          </a:solidFill>
          <a:ln w="9525">
            <a:solidFill>
              <a:srgbClr val="DCE4EC"/>
            </a:solidFill>
            <a:prstDash val="solid"/>
          </a:ln>
        </p:spPr>
      </p:sp>
      <p:sp>
        <p:nvSpPr>
          <p:cNvPr id="31" name="Shape 28"/>
          <p:cNvSpPr/>
          <p:nvPr/>
        </p:nvSpPr>
        <p:spPr>
          <a:xfrm>
            <a:off x="10975543" y="585216"/>
            <a:ext cx="118872" cy="118872"/>
          </a:xfrm>
          <a:prstGeom prst="ellipse">
            <a:avLst/>
          </a:prstGeom>
          <a:solidFill>
            <a:srgbClr val="F3F6F9"/>
          </a:solidFill>
          <a:ln w="9525">
            <a:solidFill>
              <a:srgbClr val="DCE4EC"/>
            </a:solidFill>
            <a:prstDash val="solid"/>
          </a:ln>
        </p:spPr>
      </p:sp>
      <p:sp>
        <p:nvSpPr>
          <p:cNvPr id="32" name="Shape 29"/>
          <p:cNvSpPr/>
          <p:nvPr/>
        </p:nvSpPr>
        <p:spPr>
          <a:xfrm>
            <a:off x="11158423" y="585216"/>
            <a:ext cx="118872" cy="118872"/>
          </a:xfrm>
          <a:prstGeom prst="ellipse">
            <a:avLst/>
          </a:prstGeom>
          <a:solidFill>
            <a:srgbClr val="F3F6F9"/>
          </a:solidFill>
          <a:ln w="9525">
            <a:solidFill>
              <a:srgbClr val="DCE4EC"/>
            </a:solidFill>
            <a:prstDash val="solid"/>
          </a:ln>
        </p:spPr>
      </p:sp>
      <p:sp>
        <p:nvSpPr>
          <p:cNvPr id="33" name="Shape 30"/>
          <p:cNvSpPr/>
          <p:nvPr/>
        </p:nvSpPr>
        <p:spPr>
          <a:xfrm>
            <a:off x="11341303" y="585216"/>
            <a:ext cx="118872" cy="118872"/>
          </a:xfrm>
          <a:prstGeom prst="ellipse">
            <a:avLst/>
          </a:prstGeom>
          <a:solidFill>
            <a:srgbClr val="F3F6F9"/>
          </a:solidFill>
          <a:ln w="9525">
            <a:solidFill>
              <a:srgbClr val="DCE4EC"/>
            </a:solidFill>
            <a:prstDash val="solid"/>
          </a:ln>
        </p:spPr>
      </p:sp>
      <p:sp>
        <p:nvSpPr>
          <p:cNvPr id="34" name="Shape 31"/>
          <p:cNvSpPr/>
          <p:nvPr/>
        </p:nvSpPr>
        <p:spPr>
          <a:xfrm>
            <a:off x="11524183" y="585216"/>
            <a:ext cx="118872" cy="118872"/>
          </a:xfrm>
          <a:prstGeom prst="ellipse">
            <a:avLst/>
          </a:prstGeom>
          <a:solidFill>
            <a:srgbClr val="F3F6F9"/>
          </a:solidFill>
          <a:ln w="9525">
            <a:solidFill>
              <a:srgbClr val="DCE4EC"/>
            </a:solidFill>
            <a:prstDash val="solid"/>
          </a:ln>
        </p:spPr>
      </p:sp>
      <p:sp>
        <p:nvSpPr>
          <p:cNvPr id="35" name="Text 32"/>
          <p:cNvSpPr txBox="1"/>
          <p:nvPr/>
        </p:nvSpPr>
        <p:spPr>
          <a:xfrm>
            <a:off x="8780983" y="768096"/>
            <a:ext cx="2862072" cy="201168"/>
          </a:xfrm>
          <a:prstGeom prst="rect">
            <a:avLst/>
          </a:prstGeom>
          <a:noFill/>
          <a:ln/>
        </p:spPr>
        <p:txBody>
          <a:bodyPr wrap="square" lIns="0" tIns="0" rIns="0" bIns="0" rtlCol="0" anchor="ctr"/>
          <a:lstStyle/>
          <a:p>
            <a:pPr algn="r" indent="0" marL="0">
              <a:buNone/>
            </a:pPr>
            <a:r>
              <a:rPr lang="en-US" sz="950" dirty="0">
                <a:solidFill>
                  <a:srgbClr val="5E6D7D"/>
                </a:solidFill>
                <a:latin typeface="Calibri" pitchFamily="34" charset="0"/>
                <a:ea typeface="Calibri" pitchFamily="34" charset="-122"/>
                <a:cs typeface="Calibri" pitchFamily="34" charset="-120"/>
              </a:rPr>
              <a:t>Screen 6 of 16</a:t>
            </a:r>
            <a:endParaRPr lang="en-US" sz="950" dirty="0"/>
          </a:p>
        </p:txBody>
      </p:sp>
      <p:sp>
        <p:nvSpPr>
          <p:cNvPr id="36" name="Text 33"/>
          <p:cNvSpPr txBox="1"/>
          <p:nvPr/>
        </p:nvSpPr>
        <p:spPr>
          <a:xfrm>
            <a:off x="4434840" y="1170432"/>
            <a:ext cx="7208215" cy="237744"/>
          </a:xfrm>
          <a:prstGeom prst="rect">
            <a:avLst/>
          </a:prstGeom>
          <a:noFill/>
          <a:ln/>
        </p:spPr>
        <p:txBody>
          <a:bodyPr wrap="square" lIns="0" tIns="0" rIns="0" bIns="0" rtlCol="0" anchor="ctr"/>
          <a:lstStyle/>
          <a:p>
            <a:pPr indent="0" marL="0">
              <a:buNone/>
            </a:pPr>
            <a:r>
              <a:rPr lang="en-US" sz="1100" b="1" spc="200" kern="0" dirty="0">
                <a:solidFill>
                  <a:srgbClr val="E85D04"/>
                </a:solidFill>
                <a:latin typeface="Calibri" pitchFamily="34" charset="0"/>
                <a:ea typeface="Calibri" pitchFamily="34" charset="-122"/>
                <a:cs typeface="Calibri" pitchFamily="34" charset="-120"/>
              </a:rPr>
              <a:t>BOOKED</a:t>
            </a:r>
            <a:endParaRPr lang="en-US" sz="1100" dirty="0"/>
          </a:p>
        </p:txBody>
      </p:sp>
      <p:sp>
        <p:nvSpPr>
          <p:cNvPr id="37" name="Text 34"/>
          <p:cNvSpPr txBox="1"/>
          <p:nvPr/>
        </p:nvSpPr>
        <p:spPr>
          <a:xfrm>
            <a:off x="4434840" y="1463040"/>
            <a:ext cx="7208215" cy="457200"/>
          </a:xfrm>
          <a:prstGeom prst="rect">
            <a:avLst/>
          </a:prstGeom>
          <a:noFill/>
          <a:ln/>
        </p:spPr>
        <p:txBody>
          <a:bodyPr wrap="square" lIns="0" tIns="0" rIns="0" bIns="0" rtlCol="0" anchor="t"/>
          <a:lstStyle/>
          <a:p>
            <a:pPr indent="0" marL="0">
              <a:buNone/>
            </a:pPr>
            <a:r>
              <a:rPr lang="en-US" sz="3000" b="1" dirty="0">
                <a:solidFill>
                  <a:srgbClr val="16202B"/>
                </a:solidFill>
                <a:latin typeface="Calibri" pitchFamily="34" charset="0"/>
                <a:ea typeface="Calibri" pitchFamily="34" charset="-122"/>
                <a:cs typeface="Calibri" pitchFamily="34" charset="-120"/>
              </a:rPr>
              <a:t>Matched to C-12 at once</a:t>
            </a:r>
            <a:endParaRPr lang="en-US" sz="3000" dirty="0"/>
          </a:p>
        </p:txBody>
      </p:sp>
      <p:sp>
        <p:nvSpPr>
          <p:cNvPr id="38" name="Text 35"/>
          <p:cNvSpPr txBox="1"/>
          <p:nvPr/>
        </p:nvSpPr>
        <p:spPr>
          <a:xfrm>
            <a:off x="4434840" y="2048256"/>
            <a:ext cx="7208215" cy="475488"/>
          </a:xfrm>
          <a:prstGeom prst="rect">
            <a:avLst/>
          </a:prstGeom>
          <a:noFill/>
          <a:ln/>
        </p:spPr>
        <p:txBody>
          <a:bodyPr wrap="square" lIns="0" tIns="0" rIns="0" bIns="0" rtlCol="0" anchor="t"/>
          <a:lstStyle/>
          <a:p>
            <a:pPr indent="0" marL="0">
              <a:buNone/>
            </a:pPr>
            <a:r>
              <a:rPr lang="en-US" sz="1500" dirty="0">
                <a:solidFill>
                  <a:srgbClr val="34465A"/>
                </a:solidFill>
                <a:latin typeface="Calibri" pitchFamily="34" charset="0"/>
                <a:ea typeface="Calibri" pitchFamily="34" charset="-122"/>
                <a:cs typeface="Calibri" pitchFamily="34" charset="-120"/>
              </a:rPr>
              <a:t>The engine pools A. Raghavan onto C-12 with M. Iyer and S. Banerjee. No call to the transport desk.</a:t>
            </a:r>
            <a:endParaRPr lang="en-US" sz="1500" dirty="0"/>
          </a:p>
        </p:txBody>
      </p:sp>
      <p:sp>
        <p:nvSpPr>
          <p:cNvPr id="39" name="Shape 36"/>
          <p:cNvSpPr/>
          <p:nvPr/>
        </p:nvSpPr>
        <p:spPr>
          <a:xfrm>
            <a:off x="4434840" y="2798064"/>
            <a:ext cx="7208215" cy="649224"/>
          </a:xfrm>
          <a:prstGeom prst="roundRect">
            <a:avLst>
              <a:gd name="adj" fmla="val 11268"/>
            </a:avLst>
          </a:prstGeom>
          <a:solidFill>
            <a:srgbClr val="F3F6F9"/>
          </a:solidFill>
          <a:ln w="6350">
            <a:solidFill>
              <a:srgbClr val="F3F6F9"/>
            </a:solidFill>
            <a:prstDash val="solid"/>
          </a:ln>
        </p:spPr>
      </p:sp>
      <p:sp>
        <p:nvSpPr>
          <p:cNvPr id="40" name="Shape 37"/>
          <p:cNvSpPr/>
          <p:nvPr/>
        </p:nvSpPr>
        <p:spPr>
          <a:xfrm>
            <a:off x="4599432" y="2916936"/>
            <a:ext cx="292608" cy="292608"/>
          </a:xfrm>
          <a:prstGeom prst="ellipse">
            <a:avLst/>
          </a:prstGeom>
          <a:solidFill>
            <a:srgbClr val="E85D04"/>
          </a:solidFill>
          <a:ln w="15875">
            <a:solidFill>
              <a:srgbClr val="FFFFFF"/>
            </a:solidFill>
            <a:prstDash val="solid"/>
          </a:ln>
        </p:spPr>
      </p:sp>
      <p:sp>
        <p:nvSpPr>
          <p:cNvPr id="41" name="Text 38"/>
          <p:cNvSpPr txBox="1"/>
          <p:nvPr/>
        </p:nvSpPr>
        <p:spPr>
          <a:xfrm>
            <a:off x="4599432" y="2916936"/>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42" name="Text 39"/>
          <p:cNvSpPr txBox="1"/>
          <p:nvPr/>
        </p:nvSpPr>
        <p:spPr>
          <a:xfrm>
            <a:off x="5029200" y="2907792"/>
            <a:ext cx="6430975" cy="274320"/>
          </a:xfrm>
          <a:prstGeom prst="rect">
            <a:avLst/>
          </a:prstGeom>
          <a:noFill/>
          <a:ln/>
        </p:spPr>
        <p:txBody>
          <a:bodyPr wrap="square" lIns="0" tIns="0" rIns="0" bIns="0" rtlCol="0" anchor="ctr"/>
          <a:lstStyle/>
          <a:p>
            <a:pPr indent="0" marL="0">
              <a:buNone/>
            </a:pPr>
            <a:r>
              <a:rPr lang="en-US" sz="1400" b="1" dirty="0">
                <a:solidFill>
                  <a:srgbClr val="16202B"/>
                </a:solidFill>
                <a:latin typeface="Calibri" pitchFamily="34" charset="0"/>
                <a:ea typeface="Calibri" pitchFamily="34" charset="-122"/>
                <a:cs typeface="Calibri" pitchFamily="34" charset="-120"/>
              </a:rPr>
              <a:t>Cab on the way</a:t>
            </a:r>
            <a:endParaRPr lang="en-US" sz="1400" dirty="0"/>
          </a:p>
        </p:txBody>
      </p:sp>
      <p:sp>
        <p:nvSpPr>
          <p:cNvPr id="43" name="Text 40"/>
          <p:cNvSpPr txBox="1"/>
          <p:nvPr/>
        </p:nvSpPr>
        <p:spPr>
          <a:xfrm>
            <a:off x="5029200" y="3182112"/>
            <a:ext cx="6430975" cy="192024"/>
          </a:xfrm>
          <a:prstGeom prst="rect">
            <a:avLst/>
          </a:prstGeom>
          <a:noFill/>
          <a:ln/>
        </p:spPr>
        <p:txBody>
          <a:bodyPr wrap="square" lIns="0" tIns="0" rIns="0" bIns="0" rtlCol="0" anchor="t"/>
          <a:lstStyle/>
          <a:p>
            <a:pPr indent="0" marL="0">
              <a:buNone/>
            </a:pPr>
            <a:r>
              <a:rPr lang="en-US" sz="1200" dirty="0">
                <a:solidFill>
                  <a:srgbClr val="34465A"/>
                </a:solidFill>
                <a:latin typeface="Calibri" pitchFamily="34" charset="0"/>
                <a:ea typeface="Calibri" pitchFamily="34" charset="-122"/>
                <a:cs typeface="Calibri" pitchFamily="34" charset="-120"/>
              </a:rPr>
              <a:t>The booking status in plain words, with the route.</a:t>
            </a:r>
            <a:endParaRPr lang="en-US" sz="1200" dirty="0"/>
          </a:p>
        </p:txBody>
      </p:sp>
      <p:sp>
        <p:nvSpPr>
          <p:cNvPr id="44" name="Shape 41"/>
          <p:cNvSpPr/>
          <p:nvPr/>
        </p:nvSpPr>
        <p:spPr>
          <a:xfrm>
            <a:off x="4434840" y="3557016"/>
            <a:ext cx="7208215" cy="649224"/>
          </a:xfrm>
          <a:prstGeom prst="roundRect">
            <a:avLst>
              <a:gd name="adj" fmla="val 11268"/>
            </a:avLst>
          </a:prstGeom>
          <a:solidFill>
            <a:srgbClr val="F3F6F9"/>
          </a:solidFill>
          <a:ln w="6350">
            <a:solidFill>
              <a:srgbClr val="F3F6F9"/>
            </a:solidFill>
            <a:prstDash val="solid"/>
          </a:ln>
        </p:spPr>
      </p:sp>
      <p:sp>
        <p:nvSpPr>
          <p:cNvPr id="45" name="Shape 42"/>
          <p:cNvSpPr/>
          <p:nvPr/>
        </p:nvSpPr>
        <p:spPr>
          <a:xfrm>
            <a:off x="4599432" y="3675888"/>
            <a:ext cx="292608" cy="292608"/>
          </a:xfrm>
          <a:prstGeom prst="ellipse">
            <a:avLst/>
          </a:prstGeom>
          <a:solidFill>
            <a:srgbClr val="E85D04"/>
          </a:solidFill>
          <a:ln w="15875">
            <a:solidFill>
              <a:srgbClr val="FFFFFF"/>
            </a:solidFill>
            <a:prstDash val="solid"/>
          </a:ln>
        </p:spPr>
      </p:sp>
      <p:sp>
        <p:nvSpPr>
          <p:cNvPr id="46" name="Text 43"/>
          <p:cNvSpPr txBox="1"/>
          <p:nvPr/>
        </p:nvSpPr>
        <p:spPr>
          <a:xfrm>
            <a:off x="4599432" y="3675888"/>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47" name="Text 44"/>
          <p:cNvSpPr txBox="1"/>
          <p:nvPr/>
        </p:nvSpPr>
        <p:spPr>
          <a:xfrm>
            <a:off x="5029200" y="3666744"/>
            <a:ext cx="6430975" cy="274320"/>
          </a:xfrm>
          <a:prstGeom prst="rect">
            <a:avLst/>
          </a:prstGeom>
          <a:noFill/>
          <a:ln/>
        </p:spPr>
        <p:txBody>
          <a:bodyPr wrap="square" lIns="0" tIns="0" rIns="0" bIns="0" rtlCol="0" anchor="ctr"/>
          <a:lstStyle/>
          <a:p>
            <a:pPr indent="0" marL="0">
              <a:buNone/>
            </a:pPr>
            <a:r>
              <a:rPr lang="en-US" sz="1400" b="1" dirty="0">
                <a:solidFill>
                  <a:srgbClr val="16202B"/>
                </a:solidFill>
                <a:latin typeface="Calibri" pitchFamily="34" charset="0"/>
                <a:ea typeface="Calibri" pitchFamily="34" charset="-122"/>
                <a:cs typeface="Calibri" pitchFamily="34" charset="-120"/>
              </a:rPr>
              <a:t>Arriving at Gate 2 in 4 min</a:t>
            </a:r>
            <a:endParaRPr lang="en-US" sz="1400" dirty="0"/>
          </a:p>
        </p:txBody>
      </p:sp>
      <p:sp>
        <p:nvSpPr>
          <p:cNvPr id="48" name="Text 45"/>
          <p:cNvSpPr txBox="1"/>
          <p:nvPr/>
        </p:nvSpPr>
        <p:spPr>
          <a:xfrm>
            <a:off x="5029200" y="3941064"/>
            <a:ext cx="6430975" cy="192024"/>
          </a:xfrm>
          <a:prstGeom prst="rect">
            <a:avLst/>
          </a:prstGeom>
          <a:noFill/>
          <a:ln/>
        </p:spPr>
        <p:txBody>
          <a:bodyPr wrap="square" lIns="0" tIns="0" rIns="0" bIns="0" rtlCol="0" anchor="t"/>
          <a:lstStyle/>
          <a:p>
            <a:pPr indent="0" marL="0">
              <a:buNone/>
            </a:pPr>
            <a:r>
              <a:rPr lang="en-US" sz="1200" dirty="0">
                <a:solidFill>
                  <a:srgbClr val="34465A"/>
                </a:solidFill>
                <a:latin typeface="Calibri" pitchFamily="34" charset="0"/>
                <a:ea typeface="Calibri" pitchFamily="34" charset="-122"/>
                <a:cs typeface="Calibri" pitchFamily="34" charset="-120"/>
              </a:rPr>
              <a:t>Worked out from where the cab really is: “Live GPS · near Admin Block”.</a:t>
            </a:r>
            <a:endParaRPr lang="en-US" sz="1200" dirty="0"/>
          </a:p>
        </p:txBody>
      </p:sp>
      <p:sp>
        <p:nvSpPr>
          <p:cNvPr id="49" name="Shape 46"/>
          <p:cNvSpPr/>
          <p:nvPr/>
        </p:nvSpPr>
        <p:spPr>
          <a:xfrm>
            <a:off x="4434840" y="4315968"/>
            <a:ext cx="7208215" cy="649224"/>
          </a:xfrm>
          <a:prstGeom prst="roundRect">
            <a:avLst>
              <a:gd name="adj" fmla="val 11268"/>
            </a:avLst>
          </a:prstGeom>
          <a:solidFill>
            <a:srgbClr val="F3F6F9"/>
          </a:solidFill>
          <a:ln w="6350">
            <a:solidFill>
              <a:srgbClr val="F3F6F9"/>
            </a:solidFill>
            <a:prstDash val="solid"/>
          </a:ln>
        </p:spPr>
      </p:sp>
      <p:sp>
        <p:nvSpPr>
          <p:cNvPr id="50" name="Shape 47"/>
          <p:cNvSpPr/>
          <p:nvPr/>
        </p:nvSpPr>
        <p:spPr>
          <a:xfrm>
            <a:off x="4599432" y="4434840"/>
            <a:ext cx="292608" cy="292608"/>
          </a:xfrm>
          <a:prstGeom prst="ellipse">
            <a:avLst/>
          </a:prstGeom>
          <a:solidFill>
            <a:srgbClr val="E85D04"/>
          </a:solidFill>
          <a:ln w="15875">
            <a:solidFill>
              <a:srgbClr val="FFFFFF"/>
            </a:solidFill>
            <a:prstDash val="solid"/>
          </a:ln>
        </p:spPr>
      </p:sp>
      <p:sp>
        <p:nvSpPr>
          <p:cNvPr id="51" name="Text 48"/>
          <p:cNvSpPr txBox="1"/>
          <p:nvPr/>
        </p:nvSpPr>
        <p:spPr>
          <a:xfrm>
            <a:off x="4599432" y="443484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52" name="Text 49"/>
          <p:cNvSpPr txBox="1"/>
          <p:nvPr/>
        </p:nvSpPr>
        <p:spPr>
          <a:xfrm>
            <a:off x="5029200" y="4425696"/>
            <a:ext cx="6430975" cy="274320"/>
          </a:xfrm>
          <a:prstGeom prst="rect">
            <a:avLst/>
          </a:prstGeom>
          <a:noFill/>
          <a:ln/>
        </p:spPr>
        <p:txBody>
          <a:bodyPr wrap="square" lIns="0" tIns="0" rIns="0" bIns="0" rtlCol="0" anchor="ctr"/>
          <a:lstStyle/>
          <a:p>
            <a:pPr indent="0" marL="0">
              <a:buNone/>
            </a:pPr>
            <a:r>
              <a:rPr lang="en-US" sz="1400" b="1" dirty="0">
                <a:solidFill>
                  <a:srgbClr val="16202B"/>
                </a:solidFill>
                <a:latin typeface="Calibri" pitchFamily="34" charset="0"/>
                <a:ea typeface="Calibri" pitchFamily="34" charset="-122"/>
                <a:cs typeface="Calibri" pitchFamily="34" charset="-120"/>
              </a:rPr>
              <a:t>Progress</a:t>
            </a:r>
            <a:endParaRPr lang="en-US" sz="1400" dirty="0"/>
          </a:p>
        </p:txBody>
      </p:sp>
      <p:sp>
        <p:nvSpPr>
          <p:cNvPr id="53" name="Text 50"/>
          <p:cNvSpPr txBox="1"/>
          <p:nvPr/>
        </p:nvSpPr>
        <p:spPr>
          <a:xfrm>
            <a:off x="5029200" y="4700016"/>
            <a:ext cx="6430975" cy="192024"/>
          </a:xfrm>
          <a:prstGeom prst="rect">
            <a:avLst/>
          </a:prstGeom>
          <a:noFill/>
          <a:ln/>
        </p:spPr>
        <p:txBody>
          <a:bodyPr wrap="square" lIns="0" tIns="0" rIns="0" bIns="0" rtlCol="0" anchor="t"/>
          <a:lstStyle/>
          <a:p>
            <a:pPr indent="0" marL="0">
              <a:buNone/>
            </a:pPr>
            <a:r>
              <a:rPr lang="en-US" sz="1200" dirty="0">
                <a:solidFill>
                  <a:srgbClr val="34465A"/>
                </a:solidFill>
                <a:latin typeface="Calibri" pitchFamily="34" charset="0"/>
                <a:ea typeface="Calibri" pitchFamily="34" charset="-122"/>
                <a:cs typeface="Calibri" pitchFamily="34" charset="-120"/>
              </a:rPr>
              <a:t>Booked, driver assigned, on the way, at your stop, on trip.</a:t>
            </a:r>
            <a:endParaRPr lang="en-US" sz="1200" dirty="0"/>
          </a:p>
        </p:txBody>
      </p:sp>
      <p:sp>
        <p:nvSpPr>
          <p:cNvPr id="54" name="Shape 51"/>
          <p:cNvSpPr/>
          <p:nvPr/>
        </p:nvSpPr>
        <p:spPr>
          <a:xfrm>
            <a:off x="4434840" y="5166360"/>
            <a:ext cx="7208215" cy="768096"/>
          </a:xfrm>
          <a:prstGeom prst="roundRect">
            <a:avLst>
              <a:gd name="adj" fmla="val 9524"/>
            </a:avLst>
          </a:prstGeom>
          <a:solidFill>
            <a:srgbClr val="FFEDE0"/>
          </a:solidFill>
          <a:ln w="6350">
            <a:solidFill>
              <a:srgbClr val="FFEDE0"/>
            </a:solidFill>
            <a:prstDash val="solid"/>
          </a:ln>
        </p:spPr>
      </p:sp>
      <p:sp>
        <p:nvSpPr>
          <p:cNvPr id="55" name="Text 52"/>
          <p:cNvSpPr txBox="1"/>
          <p:nvPr/>
        </p:nvSpPr>
        <p:spPr>
          <a:xfrm>
            <a:off x="4617720" y="5257800"/>
            <a:ext cx="6842455" cy="201168"/>
          </a:xfrm>
          <a:prstGeom prst="rect">
            <a:avLst/>
          </a:prstGeom>
          <a:noFill/>
          <a:ln/>
        </p:spPr>
        <p:txBody>
          <a:bodyPr wrap="square" lIns="0" tIns="0" rIns="0" bIns="0" rtlCol="0" anchor="ctr"/>
          <a:lstStyle/>
          <a:p>
            <a:pPr indent="0" marL="0">
              <a:buNone/>
            </a:pPr>
            <a:r>
              <a:rPr lang="en-US" sz="950" b="1" spc="150" kern="0" dirty="0">
                <a:solidFill>
                  <a:srgbClr val="B84A03"/>
                </a:solidFill>
                <a:latin typeface="Calibri" pitchFamily="34" charset="0"/>
                <a:ea typeface="Calibri" pitchFamily="34" charset="-122"/>
                <a:cs typeface="Calibri" pitchFamily="34" charset="-120"/>
              </a:rPr>
              <a:t>BEHIND THE SCENES</a:t>
            </a:r>
            <a:endParaRPr lang="en-US" sz="950" dirty="0"/>
          </a:p>
        </p:txBody>
      </p:sp>
      <p:sp>
        <p:nvSpPr>
          <p:cNvPr id="56" name="Text 53"/>
          <p:cNvSpPr txBox="1"/>
          <p:nvPr/>
        </p:nvSpPr>
        <p:spPr>
          <a:xfrm>
            <a:off x="4617720" y="5468112"/>
            <a:ext cx="6842455" cy="384048"/>
          </a:xfrm>
          <a:prstGeom prst="rect">
            <a:avLst/>
          </a:prstGeom>
          <a:noFill/>
          <a:ln/>
        </p:spPr>
        <p:txBody>
          <a:bodyPr wrap="square" lIns="0" tIns="0" rIns="0" bIns="0" rtlCol="0" anchor="t"/>
          <a:lstStyle/>
          <a:p>
            <a:pPr indent="0" marL="0">
              <a:buNone/>
            </a:pPr>
            <a:r>
              <a:rPr lang="en-US" sz="1200" dirty="0">
                <a:solidFill>
                  <a:srgbClr val="16202B"/>
                </a:solidFill>
                <a:latin typeface="Calibri" pitchFamily="34" charset="0"/>
                <a:ea typeface="Calibri" pitchFamily="34" charset="-122"/>
                <a:cs typeface="Calibri" pitchFamily="34" charset="-120"/>
              </a:rPr>
              <a:t>Matching checks the route, the 3-rider cap, the detour limit, duty hours and documents, then picks the best cab.</a:t>
            </a:r>
            <a:endParaRPr lang="en-US" sz="1200" dirty="0"/>
          </a:p>
        </p:txBody>
      </p:sp>
      <p:sp>
        <p:nvSpPr>
          <p:cNvPr id="57" name="Text 54"/>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900" dirty="0">
                <a:solidFill>
                  <a:srgbClr val="5E6D7D"/>
                </a:solidFill>
                <a:latin typeface="Calibri" pitchFamily="34" charset="0"/>
                <a:ea typeface="Calibri" pitchFamily="34" charset="-122"/>
                <a:cs typeface="Calibri" pitchFamily="34" charset="-120"/>
              </a:rPr>
              <a:t>Plant Ride · Rider → Driver journey · recorded on the MVP with demo data</a:t>
            </a:r>
            <a:endParaRPr lang="en-US" sz="900" dirty="0"/>
          </a:p>
        </p:txBody>
      </p:sp>
      <p:sp>
        <p:nvSpPr>
          <p:cNvPr id="58" name="Text 55"/>
          <p:cNvSpPr txBox="1"/>
          <p:nvPr/>
        </p:nvSpPr>
        <p:spPr>
          <a:xfrm>
            <a:off x="11185855" y="6473952"/>
            <a:ext cx="457200" cy="228600"/>
          </a:xfrm>
          <a:prstGeom prst="rect">
            <a:avLst/>
          </a:prstGeom>
          <a:noFill/>
          <a:ln/>
        </p:spPr>
        <p:txBody>
          <a:bodyPr wrap="square" lIns="0" tIns="0" rIns="0" bIns="0" rtlCol="0" anchor="ctr"/>
          <a:lstStyle/>
          <a:p>
            <a:pPr algn="r" indent="0" marL="0">
              <a:buNone/>
            </a:pPr>
            <a:r>
              <a:rPr lang="en-US" sz="900" dirty="0">
                <a:solidFill>
                  <a:srgbClr val="5E6D7D"/>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50976" y="402336"/>
            <a:ext cx="2813925" cy="5961888"/>
          </a:xfrm>
          <a:prstGeom prst="roundRect">
            <a:avLst>
              <a:gd name="adj" fmla="val 5849"/>
            </a:avLst>
          </a:prstGeom>
          <a:solidFill>
            <a:srgbClr val="16202B"/>
          </a:solidFill>
          <a:ln w="9525">
            <a:solidFill>
              <a:srgbClr val="16202B"/>
            </a:solidFill>
            <a:prstDash val="solid"/>
          </a:ln>
          <a:effectLst>
            <a:outerShdw sx="100000" sy="100000" kx="0" ky="0" algn="bl" rotWithShape="0" blurRad="127000" dist="38100" dir="5400000">
              <a:srgbClr val="000000">
                <a:alpha val="20000"/>
              </a:srgbClr>
            </a:outerShdw>
          </a:effectLst>
        </p:spPr>
      </p:sp>
      <p:pic>
        <p:nvPicPr>
          <p:cNvPr id="3" name="Image 0" descr="Screenshot: r07-cab-on-map">    </p:cNvPr>
          <p:cNvPicPr>
            <a:picLocks noChangeAspect="1"/>
          </p:cNvPicPr>
          <p:nvPr/>
        </p:nvPicPr>
        <p:blipFill>
          <a:blip r:embed="rId1"/>
          <a:stretch>
            <a:fillRect/>
          </a:stretch>
        </p:blipFill>
        <p:spPr>
          <a:xfrm>
            <a:off x="1005840" y="457200"/>
            <a:ext cx="2704197" cy="5852160"/>
          </a:xfrm>
          <a:prstGeom prst="rect">
            <a:avLst/>
          </a:prstGeom>
        </p:spPr>
      </p:pic>
      <p:sp>
        <p:nvSpPr>
          <p:cNvPr id="4" name="Shape 1"/>
          <p:cNvSpPr/>
          <p:nvPr/>
        </p:nvSpPr>
        <p:spPr>
          <a:xfrm>
            <a:off x="3467353" y="1039642"/>
            <a:ext cx="425564" cy="914"/>
          </a:xfrm>
          <a:prstGeom prst="line">
            <a:avLst/>
          </a:prstGeom>
          <a:noFill/>
          <a:ln w="15875">
            <a:solidFill>
              <a:srgbClr val="E85D04"/>
            </a:solidFill>
            <a:prstDash val="solid"/>
          </a:ln>
        </p:spPr>
      </p:sp>
      <p:sp>
        <p:nvSpPr>
          <p:cNvPr id="5" name="Shape 2"/>
          <p:cNvSpPr/>
          <p:nvPr/>
        </p:nvSpPr>
        <p:spPr>
          <a:xfrm>
            <a:off x="3426205" y="998494"/>
            <a:ext cx="82296" cy="82296"/>
          </a:xfrm>
          <a:prstGeom prst="ellipse">
            <a:avLst/>
          </a:prstGeom>
          <a:solidFill>
            <a:srgbClr val="E85D04"/>
          </a:solidFill>
          <a:ln w="9525">
            <a:solidFill>
              <a:srgbClr val="FFFFFF"/>
            </a:solidFill>
            <a:prstDash val="solid"/>
          </a:ln>
        </p:spPr>
      </p:sp>
      <p:sp>
        <p:nvSpPr>
          <p:cNvPr id="6" name="Shape 3"/>
          <p:cNvSpPr/>
          <p:nvPr/>
        </p:nvSpPr>
        <p:spPr>
          <a:xfrm>
            <a:off x="3892917" y="902482"/>
            <a:ext cx="274320" cy="274320"/>
          </a:xfrm>
          <a:prstGeom prst="ellipse">
            <a:avLst/>
          </a:prstGeom>
          <a:solidFill>
            <a:srgbClr val="E85D04"/>
          </a:solidFill>
          <a:ln w="15875">
            <a:solidFill>
              <a:srgbClr val="FFFFFF"/>
            </a:solidFill>
            <a:prstDash val="solid"/>
          </a:ln>
        </p:spPr>
      </p:sp>
      <p:sp>
        <p:nvSpPr>
          <p:cNvPr id="7" name="Text 4"/>
          <p:cNvSpPr txBox="1"/>
          <p:nvPr/>
        </p:nvSpPr>
        <p:spPr>
          <a:xfrm>
            <a:off x="3892917" y="90248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8" name="Shape 5"/>
          <p:cNvSpPr/>
          <p:nvPr/>
        </p:nvSpPr>
        <p:spPr>
          <a:xfrm>
            <a:off x="822960" y="1247658"/>
            <a:ext cx="356226" cy="914"/>
          </a:xfrm>
          <a:prstGeom prst="line">
            <a:avLst/>
          </a:prstGeom>
          <a:noFill/>
          <a:ln w="15875">
            <a:solidFill>
              <a:srgbClr val="E85D04"/>
            </a:solidFill>
            <a:prstDash val="solid"/>
          </a:ln>
        </p:spPr>
      </p:sp>
      <p:sp>
        <p:nvSpPr>
          <p:cNvPr id="9" name="Shape 6"/>
          <p:cNvSpPr/>
          <p:nvPr/>
        </p:nvSpPr>
        <p:spPr>
          <a:xfrm>
            <a:off x="1138038" y="1206510"/>
            <a:ext cx="82296" cy="82296"/>
          </a:xfrm>
          <a:prstGeom prst="ellipse">
            <a:avLst/>
          </a:prstGeom>
          <a:solidFill>
            <a:srgbClr val="E85D04"/>
          </a:solidFill>
          <a:ln w="9525">
            <a:solidFill>
              <a:srgbClr val="FFFFFF"/>
            </a:solidFill>
            <a:prstDash val="solid"/>
          </a:ln>
        </p:spPr>
      </p:sp>
      <p:sp>
        <p:nvSpPr>
          <p:cNvPr id="10" name="Shape 7"/>
          <p:cNvSpPr/>
          <p:nvPr/>
        </p:nvSpPr>
        <p:spPr>
          <a:xfrm>
            <a:off x="548640" y="1110498"/>
            <a:ext cx="274320" cy="274320"/>
          </a:xfrm>
          <a:prstGeom prst="ellipse">
            <a:avLst/>
          </a:prstGeom>
          <a:solidFill>
            <a:srgbClr val="E85D04"/>
          </a:solidFill>
          <a:ln w="15875">
            <a:solidFill>
              <a:srgbClr val="FFFFFF"/>
            </a:solidFill>
            <a:prstDash val="solid"/>
          </a:ln>
        </p:spPr>
      </p:sp>
      <p:sp>
        <p:nvSpPr>
          <p:cNvPr id="11" name="Text 8"/>
          <p:cNvSpPr txBox="1"/>
          <p:nvPr/>
        </p:nvSpPr>
        <p:spPr>
          <a:xfrm>
            <a:off x="548640" y="111049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2" name="Shape 9"/>
          <p:cNvSpPr/>
          <p:nvPr/>
        </p:nvSpPr>
        <p:spPr>
          <a:xfrm>
            <a:off x="822960" y="2398675"/>
            <a:ext cx="356226" cy="914"/>
          </a:xfrm>
          <a:prstGeom prst="line">
            <a:avLst/>
          </a:prstGeom>
          <a:noFill/>
          <a:ln w="15875">
            <a:solidFill>
              <a:srgbClr val="E85D04"/>
            </a:solidFill>
            <a:prstDash val="solid"/>
          </a:ln>
        </p:spPr>
      </p:sp>
      <p:sp>
        <p:nvSpPr>
          <p:cNvPr id="13" name="Shape 10"/>
          <p:cNvSpPr/>
          <p:nvPr/>
        </p:nvSpPr>
        <p:spPr>
          <a:xfrm>
            <a:off x="1138038" y="2357527"/>
            <a:ext cx="82296" cy="82296"/>
          </a:xfrm>
          <a:prstGeom prst="ellipse">
            <a:avLst/>
          </a:prstGeom>
          <a:solidFill>
            <a:srgbClr val="E85D04"/>
          </a:solidFill>
          <a:ln w="9525">
            <a:solidFill>
              <a:srgbClr val="FFFFFF"/>
            </a:solidFill>
            <a:prstDash val="solid"/>
          </a:ln>
        </p:spPr>
      </p:sp>
      <p:sp>
        <p:nvSpPr>
          <p:cNvPr id="14" name="Shape 11"/>
          <p:cNvSpPr/>
          <p:nvPr/>
        </p:nvSpPr>
        <p:spPr>
          <a:xfrm>
            <a:off x="548640" y="2261515"/>
            <a:ext cx="274320" cy="274320"/>
          </a:xfrm>
          <a:prstGeom prst="ellipse">
            <a:avLst/>
          </a:prstGeom>
          <a:solidFill>
            <a:srgbClr val="E85D04"/>
          </a:solidFill>
          <a:ln w="15875">
            <a:solidFill>
              <a:srgbClr val="FFFFFF"/>
            </a:solidFill>
            <a:prstDash val="solid"/>
          </a:ln>
        </p:spPr>
      </p:sp>
      <p:sp>
        <p:nvSpPr>
          <p:cNvPr id="15" name="Text 12"/>
          <p:cNvSpPr txBox="1"/>
          <p:nvPr/>
        </p:nvSpPr>
        <p:spPr>
          <a:xfrm>
            <a:off x="548640" y="226151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6" name="Shape 13"/>
          <p:cNvSpPr/>
          <p:nvPr/>
        </p:nvSpPr>
        <p:spPr>
          <a:xfrm>
            <a:off x="4434840" y="457200"/>
            <a:ext cx="384048" cy="384048"/>
          </a:xfrm>
          <a:prstGeom prst="ellipse">
            <a:avLst/>
          </a:prstGeom>
          <a:solidFill>
            <a:srgbClr val="E85D04"/>
          </a:solidFill>
          <a:ln w="6350">
            <a:solidFill>
              <a:srgbClr val="E85D04"/>
            </a:solidFill>
            <a:prstDash val="solid"/>
          </a:ln>
        </p:spPr>
      </p:sp>
      <p:sp>
        <p:nvSpPr>
          <p:cNvPr id="17" name="Text 14"/>
          <p:cNvSpPr txBox="1"/>
          <p:nvPr/>
        </p:nvSpPr>
        <p:spPr>
          <a:xfrm>
            <a:off x="4434840" y="457200"/>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AR</a:t>
            </a:r>
            <a:endParaRPr lang="en-US" sz="1100" dirty="0"/>
          </a:p>
        </p:txBody>
      </p:sp>
      <p:sp>
        <p:nvSpPr>
          <p:cNvPr id="18" name="Text 15"/>
          <p:cNvSpPr txBox="1"/>
          <p:nvPr/>
        </p:nvSpPr>
        <p:spPr>
          <a:xfrm>
            <a:off x="4937760" y="457200"/>
            <a:ext cx="3291840" cy="384048"/>
          </a:xfrm>
          <a:prstGeom prst="rect">
            <a:avLst/>
          </a:prstGeom>
          <a:noFill/>
          <a:ln/>
        </p:spPr>
        <p:txBody>
          <a:bodyPr wrap="square" lIns="0" tIns="0" rIns="0" bIns="0" rtlCol="0" anchor="ctr"/>
          <a:lstStyle/>
          <a:p>
            <a:pPr indent="0" marL="0">
              <a:buNone/>
            </a:pPr>
            <a:r>
              <a:rPr lang="en-US" sz="1300" b="1" dirty="0">
                <a:solidFill>
                  <a:srgbClr val="E85D04"/>
                </a:solidFill>
                <a:latin typeface="Calibri" pitchFamily="34" charset="0"/>
                <a:ea typeface="Calibri" pitchFamily="34" charset="-122"/>
                <a:cs typeface="Calibri" pitchFamily="34" charset="-120"/>
              </a:rPr>
              <a:t>Rider  </a:t>
            </a:r>
            <a:pPr indent="0" marL="0">
              <a:buNone/>
            </a:pPr>
            <a:r>
              <a:rPr lang="en-US" sz="1300" b="1" dirty="0">
                <a:solidFill>
                  <a:srgbClr val="16202B"/>
                </a:solidFill>
                <a:latin typeface="Calibri" pitchFamily="34" charset="0"/>
                <a:ea typeface="Calibri" pitchFamily="34" charset="-122"/>
                <a:cs typeface="Calibri" pitchFamily="34" charset="-120"/>
              </a:rPr>
              <a:t>A. Raghavan</a:t>
            </a:r>
            <a:endParaRPr lang="en-US" sz="1300" dirty="0"/>
          </a:p>
        </p:txBody>
      </p:sp>
      <p:sp>
        <p:nvSpPr>
          <p:cNvPr id="19" name="Shape 16"/>
          <p:cNvSpPr/>
          <p:nvPr/>
        </p:nvSpPr>
        <p:spPr>
          <a:xfrm>
            <a:off x="8780983" y="585216"/>
            <a:ext cx="118872" cy="118872"/>
          </a:xfrm>
          <a:prstGeom prst="ellipse">
            <a:avLst/>
          </a:prstGeom>
          <a:solidFill>
            <a:srgbClr val="FFEDE0"/>
          </a:solidFill>
          <a:ln w="9525">
            <a:solidFill>
              <a:srgbClr val="E85D04"/>
            </a:solidFill>
            <a:prstDash val="solid"/>
          </a:ln>
        </p:spPr>
      </p:sp>
      <p:sp>
        <p:nvSpPr>
          <p:cNvPr id="20" name="Shape 17"/>
          <p:cNvSpPr/>
          <p:nvPr/>
        </p:nvSpPr>
        <p:spPr>
          <a:xfrm>
            <a:off x="8963863" y="585216"/>
            <a:ext cx="118872" cy="118872"/>
          </a:xfrm>
          <a:prstGeom prst="ellipse">
            <a:avLst/>
          </a:prstGeom>
          <a:solidFill>
            <a:srgbClr val="FFEDE0"/>
          </a:solidFill>
          <a:ln w="9525">
            <a:solidFill>
              <a:srgbClr val="E85D04"/>
            </a:solidFill>
            <a:prstDash val="solid"/>
          </a:ln>
        </p:spPr>
      </p:sp>
      <p:sp>
        <p:nvSpPr>
          <p:cNvPr id="21" name="Shape 18"/>
          <p:cNvSpPr/>
          <p:nvPr/>
        </p:nvSpPr>
        <p:spPr>
          <a:xfrm>
            <a:off x="9146743" y="585216"/>
            <a:ext cx="118872" cy="118872"/>
          </a:xfrm>
          <a:prstGeom prst="ellipse">
            <a:avLst/>
          </a:prstGeom>
          <a:solidFill>
            <a:srgbClr val="FFEDE0"/>
          </a:solidFill>
          <a:ln w="9525">
            <a:solidFill>
              <a:srgbClr val="E85D04"/>
            </a:solidFill>
            <a:prstDash val="solid"/>
          </a:ln>
        </p:spPr>
      </p:sp>
      <p:sp>
        <p:nvSpPr>
          <p:cNvPr id="22" name="Shape 19"/>
          <p:cNvSpPr/>
          <p:nvPr/>
        </p:nvSpPr>
        <p:spPr>
          <a:xfrm>
            <a:off x="9329623" y="585216"/>
            <a:ext cx="118872" cy="118872"/>
          </a:xfrm>
          <a:prstGeom prst="ellipse">
            <a:avLst/>
          </a:prstGeom>
          <a:solidFill>
            <a:srgbClr val="FFEDE0"/>
          </a:solidFill>
          <a:ln w="9525">
            <a:solidFill>
              <a:srgbClr val="E85D04"/>
            </a:solidFill>
            <a:prstDash val="solid"/>
          </a:ln>
        </p:spPr>
      </p:sp>
      <p:sp>
        <p:nvSpPr>
          <p:cNvPr id="23" name="Shape 20"/>
          <p:cNvSpPr/>
          <p:nvPr/>
        </p:nvSpPr>
        <p:spPr>
          <a:xfrm>
            <a:off x="9512503" y="585216"/>
            <a:ext cx="118872" cy="118872"/>
          </a:xfrm>
          <a:prstGeom prst="ellipse">
            <a:avLst/>
          </a:prstGeom>
          <a:solidFill>
            <a:srgbClr val="FFEDE0"/>
          </a:solidFill>
          <a:ln w="9525">
            <a:solidFill>
              <a:srgbClr val="E85D04"/>
            </a:solidFill>
            <a:prstDash val="solid"/>
          </a:ln>
        </p:spPr>
      </p:sp>
      <p:sp>
        <p:nvSpPr>
          <p:cNvPr id="24" name="Shape 21"/>
          <p:cNvSpPr/>
          <p:nvPr/>
        </p:nvSpPr>
        <p:spPr>
          <a:xfrm>
            <a:off x="9695383" y="585216"/>
            <a:ext cx="118872" cy="118872"/>
          </a:xfrm>
          <a:prstGeom prst="ellipse">
            <a:avLst/>
          </a:prstGeom>
          <a:solidFill>
            <a:srgbClr val="FFEDE0"/>
          </a:solidFill>
          <a:ln w="9525">
            <a:solidFill>
              <a:srgbClr val="E85D04"/>
            </a:solidFill>
            <a:prstDash val="solid"/>
          </a:ln>
        </p:spPr>
      </p:sp>
      <p:sp>
        <p:nvSpPr>
          <p:cNvPr id="25" name="Shape 22"/>
          <p:cNvSpPr/>
          <p:nvPr/>
        </p:nvSpPr>
        <p:spPr>
          <a:xfrm>
            <a:off x="9850831" y="557784"/>
            <a:ext cx="173736" cy="173736"/>
          </a:xfrm>
          <a:prstGeom prst="ellipse">
            <a:avLst/>
          </a:prstGeom>
          <a:solidFill>
            <a:srgbClr val="E85D04"/>
          </a:solidFill>
          <a:ln w="9525">
            <a:solidFill>
              <a:srgbClr val="E85D04"/>
            </a:solidFill>
            <a:prstDash val="solid"/>
          </a:ln>
        </p:spPr>
      </p:sp>
      <p:sp>
        <p:nvSpPr>
          <p:cNvPr id="26" name="Shape 23"/>
          <p:cNvSpPr/>
          <p:nvPr/>
        </p:nvSpPr>
        <p:spPr>
          <a:xfrm>
            <a:off x="10061143" y="585216"/>
            <a:ext cx="118872" cy="118872"/>
          </a:xfrm>
          <a:prstGeom prst="ellipse">
            <a:avLst/>
          </a:prstGeom>
          <a:solidFill>
            <a:srgbClr val="F3F6F9"/>
          </a:solidFill>
          <a:ln w="9525">
            <a:solidFill>
              <a:srgbClr val="DCE4EC"/>
            </a:solidFill>
            <a:prstDash val="solid"/>
          </a:ln>
        </p:spPr>
      </p:sp>
      <p:sp>
        <p:nvSpPr>
          <p:cNvPr id="27" name="Shape 24"/>
          <p:cNvSpPr/>
          <p:nvPr/>
        </p:nvSpPr>
        <p:spPr>
          <a:xfrm>
            <a:off x="10244023" y="585216"/>
            <a:ext cx="118872" cy="118872"/>
          </a:xfrm>
          <a:prstGeom prst="ellipse">
            <a:avLst/>
          </a:prstGeom>
          <a:solidFill>
            <a:srgbClr val="F3F6F9"/>
          </a:solidFill>
          <a:ln w="9525">
            <a:solidFill>
              <a:srgbClr val="DCE4EC"/>
            </a:solidFill>
            <a:prstDash val="solid"/>
          </a:ln>
        </p:spPr>
      </p:sp>
      <p:sp>
        <p:nvSpPr>
          <p:cNvPr id="28" name="Shape 25"/>
          <p:cNvSpPr/>
          <p:nvPr/>
        </p:nvSpPr>
        <p:spPr>
          <a:xfrm>
            <a:off x="10426903" y="585216"/>
            <a:ext cx="118872" cy="118872"/>
          </a:xfrm>
          <a:prstGeom prst="ellipse">
            <a:avLst/>
          </a:prstGeom>
          <a:solidFill>
            <a:srgbClr val="F3F6F9"/>
          </a:solidFill>
          <a:ln w="9525">
            <a:solidFill>
              <a:srgbClr val="DCE4EC"/>
            </a:solidFill>
            <a:prstDash val="solid"/>
          </a:ln>
        </p:spPr>
      </p:sp>
      <p:sp>
        <p:nvSpPr>
          <p:cNvPr id="29" name="Shape 26"/>
          <p:cNvSpPr/>
          <p:nvPr/>
        </p:nvSpPr>
        <p:spPr>
          <a:xfrm>
            <a:off x="10609783" y="585216"/>
            <a:ext cx="118872" cy="118872"/>
          </a:xfrm>
          <a:prstGeom prst="ellipse">
            <a:avLst/>
          </a:prstGeom>
          <a:solidFill>
            <a:srgbClr val="F3F6F9"/>
          </a:solidFill>
          <a:ln w="9525">
            <a:solidFill>
              <a:srgbClr val="DCE4EC"/>
            </a:solidFill>
            <a:prstDash val="solid"/>
          </a:ln>
        </p:spPr>
      </p:sp>
      <p:sp>
        <p:nvSpPr>
          <p:cNvPr id="30" name="Shape 27"/>
          <p:cNvSpPr/>
          <p:nvPr/>
        </p:nvSpPr>
        <p:spPr>
          <a:xfrm>
            <a:off x="10792663" y="585216"/>
            <a:ext cx="118872" cy="118872"/>
          </a:xfrm>
          <a:prstGeom prst="ellipse">
            <a:avLst/>
          </a:prstGeom>
          <a:solidFill>
            <a:srgbClr val="F3F6F9"/>
          </a:solidFill>
          <a:ln w="9525">
            <a:solidFill>
              <a:srgbClr val="DCE4EC"/>
            </a:solidFill>
            <a:prstDash val="solid"/>
          </a:ln>
        </p:spPr>
      </p:sp>
      <p:sp>
        <p:nvSpPr>
          <p:cNvPr id="31" name="Shape 28"/>
          <p:cNvSpPr/>
          <p:nvPr/>
        </p:nvSpPr>
        <p:spPr>
          <a:xfrm>
            <a:off x="10975543" y="585216"/>
            <a:ext cx="118872" cy="118872"/>
          </a:xfrm>
          <a:prstGeom prst="ellipse">
            <a:avLst/>
          </a:prstGeom>
          <a:solidFill>
            <a:srgbClr val="F3F6F9"/>
          </a:solidFill>
          <a:ln w="9525">
            <a:solidFill>
              <a:srgbClr val="DCE4EC"/>
            </a:solidFill>
            <a:prstDash val="solid"/>
          </a:ln>
        </p:spPr>
      </p:sp>
      <p:sp>
        <p:nvSpPr>
          <p:cNvPr id="32" name="Shape 29"/>
          <p:cNvSpPr/>
          <p:nvPr/>
        </p:nvSpPr>
        <p:spPr>
          <a:xfrm>
            <a:off x="11158423" y="585216"/>
            <a:ext cx="118872" cy="118872"/>
          </a:xfrm>
          <a:prstGeom prst="ellipse">
            <a:avLst/>
          </a:prstGeom>
          <a:solidFill>
            <a:srgbClr val="F3F6F9"/>
          </a:solidFill>
          <a:ln w="9525">
            <a:solidFill>
              <a:srgbClr val="DCE4EC"/>
            </a:solidFill>
            <a:prstDash val="solid"/>
          </a:ln>
        </p:spPr>
      </p:sp>
      <p:sp>
        <p:nvSpPr>
          <p:cNvPr id="33" name="Shape 30"/>
          <p:cNvSpPr/>
          <p:nvPr/>
        </p:nvSpPr>
        <p:spPr>
          <a:xfrm>
            <a:off x="11341303" y="585216"/>
            <a:ext cx="118872" cy="118872"/>
          </a:xfrm>
          <a:prstGeom prst="ellipse">
            <a:avLst/>
          </a:prstGeom>
          <a:solidFill>
            <a:srgbClr val="F3F6F9"/>
          </a:solidFill>
          <a:ln w="9525">
            <a:solidFill>
              <a:srgbClr val="DCE4EC"/>
            </a:solidFill>
            <a:prstDash val="solid"/>
          </a:ln>
        </p:spPr>
      </p:sp>
      <p:sp>
        <p:nvSpPr>
          <p:cNvPr id="34" name="Shape 31"/>
          <p:cNvSpPr/>
          <p:nvPr/>
        </p:nvSpPr>
        <p:spPr>
          <a:xfrm>
            <a:off x="11524183" y="585216"/>
            <a:ext cx="118872" cy="118872"/>
          </a:xfrm>
          <a:prstGeom prst="ellipse">
            <a:avLst/>
          </a:prstGeom>
          <a:solidFill>
            <a:srgbClr val="F3F6F9"/>
          </a:solidFill>
          <a:ln w="9525">
            <a:solidFill>
              <a:srgbClr val="DCE4EC"/>
            </a:solidFill>
            <a:prstDash val="solid"/>
          </a:ln>
        </p:spPr>
      </p:sp>
      <p:sp>
        <p:nvSpPr>
          <p:cNvPr id="35" name="Text 32"/>
          <p:cNvSpPr txBox="1"/>
          <p:nvPr/>
        </p:nvSpPr>
        <p:spPr>
          <a:xfrm>
            <a:off x="8780983" y="768096"/>
            <a:ext cx="2862072" cy="201168"/>
          </a:xfrm>
          <a:prstGeom prst="rect">
            <a:avLst/>
          </a:prstGeom>
          <a:noFill/>
          <a:ln/>
        </p:spPr>
        <p:txBody>
          <a:bodyPr wrap="square" lIns="0" tIns="0" rIns="0" bIns="0" rtlCol="0" anchor="ctr"/>
          <a:lstStyle/>
          <a:p>
            <a:pPr algn="r" indent="0" marL="0">
              <a:buNone/>
            </a:pPr>
            <a:r>
              <a:rPr lang="en-US" sz="950" dirty="0">
                <a:solidFill>
                  <a:srgbClr val="5E6D7D"/>
                </a:solidFill>
                <a:latin typeface="Calibri" pitchFamily="34" charset="0"/>
                <a:ea typeface="Calibri" pitchFamily="34" charset="-122"/>
                <a:cs typeface="Calibri" pitchFamily="34" charset="-120"/>
              </a:rPr>
              <a:t>Screen 7 of 16</a:t>
            </a:r>
            <a:endParaRPr lang="en-US" sz="950" dirty="0"/>
          </a:p>
        </p:txBody>
      </p:sp>
      <p:sp>
        <p:nvSpPr>
          <p:cNvPr id="36" name="Text 33"/>
          <p:cNvSpPr txBox="1"/>
          <p:nvPr/>
        </p:nvSpPr>
        <p:spPr>
          <a:xfrm>
            <a:off x="4434840" y="1170432"/>
            <a:ext cx="7208215" cy="237744"/>
          </a:xfrm>
          <a:prstGeom prst="rect">
            <a:avLst/>
          </a:prstGeom>
          <a:noFill/>
          <a:ln/>
        </p:spPr>
        <p:txBody>
          <a:bodyPr wrap="square" lIns="0" tIns="0" rIns="0" bIns="0" rtlCol="0" anchor="ctr"/>
          <a:lstStyle/>
          <a:p>
            <a:pPr indent="0" marL="0">
              <a:buNone/>
            </a:pPr>
            <a:r>
              <a:rPr lang="en-US" sz="1100" b="1" spc="200" kern="0" dirty="0">
                <a:solidFill>
                  <a:srgbClr val="E85D04"/>
                </a:solidFill>
                <a:latin typeface="Calibri" pitchFamily="34" charset="0"/>
                <a:ea typeface="Calibri" pitchFamily="34" charset="-122"/>
                <a:cs typeface="Calibri" pitchFamily="34" charset="-120"/>
              </a:rPr>
              <a:t>WHERE YOUR CAB IS</a:t>
            </a:r>
            <a:endParaRPr lang="en-US" sz="1100" dirty="0"/>
          </a:p>
        </p:txBody>
      </p:sp>
      <p:sp>
        <p:nvSpPr>
          <p:cNvPr id="37" name="Text 34"/>
          <p:cNvSpPr txBox="1"/>
          <p:nvPr/>
        </p:nvSpPr>
        <p:spPr>
          <a:xfrm>
            <a:off x="4434840" y="1463040"/>
            <a:ext cx="7208215" cy="457200"/>
          </a:xfrm>
          <a:prstGeom prst="rect">
            <a:avLst/>
          </a:prstGeom>
          <a:noFill/>
          <a:ln/>
        </p:spPr>
        <p:txBody>
          <a:bodyPr wrap="square" lIns="0" tIns="0" rIns="0" bIns="0" rtlCol="0" anchor="t"/>
          <a:lstStyle/>
          <a:p>
            <a:pPr indent="0" marL="0">
              <a:buNone/>
            </a:pPr>
            <a:r>
              <a:rPr lang="en-US" sz="3000" b="1" dirty="0">
                <a:solidFill>
                  <a:srgbClr val="16202B"/>
                </a:solidFill>
                <a:latin typeface="Calibri" pitchFamily="34" charset="0"/>
                <a:ea typeface="Calibri" pitchFamily="34" charset="-122"/>
                <a:cs typeface="Calibri" pitchFamily="34" charset="-120"/>
              </a:rPr>
              <a:t>The cab, moving live on the map</a:t>
            </a:r>
            <a:endParaRPr lang="en-US" sz="3000" dirty="0"/>
          </a:p>
        </p:txBody>
      </p:sp>
      <p:sp>
        <p:nvSpPr>
          <p:cNvPr id="38" name="Text 35"/>
          <p:cNvSpPr txBox="1"/>
          <p:nvPr/>
        </p:nvSpPr>
        <p:spPr>
          <a:xfrm>
            <a:off x="4434840" y="2048256"/>
            <a:ext cx="7208215" cy="475488"/>
          </a:xfrm>
          <a:prstGeom prst="rect">
            <a:avLst/>
          </a:prstGeom>
          <a:noFill/>
          <a:ln/>
        </p:spPr>
        <p:txBody>
          <a:bodyPr wrap="square" lIns="0" tIns="0" rIns="0" bIns="0" rtlCol="0" anchor="t"/>
          <a:lstStyle/>
          <a:p>
            <a:pPr indent="0" marL="0">
              <a:buNone/>
            </a:pPr>
            <a:r>
              <a:rPr lang="en-US" sz="1500" dirty="0">
                <a:solidFill>
                  <a:srgbClr val="34465A"/>
                </a:solidFill>
                <a:latin typeface="Calibri" pitchFamily="34" charset="0"/>
                <a:ea typeface="Calibri" pitchFamily="34" charset="-122"/>
                <a:cs typeface="Calibri" pitchFamily="34" charset="-120"/>
              </a:rPr>
              <a:t>The driver’s phone reports C-12’s position every few seconds. The rider sees it on a map of the run, with themselves on it.</a:t>
            </a:r>
            <a:endParaRPr lang="en-US" sz="1500" dirty="0"/>
          </a:p>
        </p:txBody>
      </p:sp>
      <p:sp>
        <p:nvSpPr>
          <p:cNvPr id="39" name="Shape 36"/>
          <p:cNvSpPr/>
          <p:nvPr/>
        </p:nvSpPr>
        <p:spPr>
          <a:xfrm>
            <a:off x="4434840" y="2798064"/>
            <a:ext cx="7208215" cy="841248"/>
          </a:xfrm>
          <a:prstGeom prst="roundRect">
            <a:avLst>
              <a:gd name="adj" fmla="val 8696"/>
            </a:avLst>
          </a:prstGeom>
          <a:solidFill>
            <a:srgbClr val="F3F6F9"/>
          </a:solidFill>
          <a:ln w="6350">
            <a:solidFill>
              <a:srgbClr val="F3F6F9"/>
            </a:solidFill>
            <a:prstDash val="solid"/>
          </a:ln>
        </p:spPr>
      </p:sp>
      <p:sp>
        <p:nvSpPr>
          <p:cNvPr id="40" name="Shape 37"/>
          <p:cNvSpPr/>
          <p:nvPr/>
        </p:nvSpPr>
        <p:spPr>
          <a:xfrm>
            <a:off x="4599432" y="2916936"/>
            <a:ext cx="292608" cy="292608"/>
          </a:xfrm>
          <a:prstGeom prst="ellipse">
            <a:avLst/>
          </a:prstGeom>
          <a:solidFill>
            <a:srgbClr val="E85D04"/>
          </a:solidFill>
          <a:ln w="15875">
            <a:solidFill>
              <a:srgbClr val="FFFFFF"/>
            </a:solidFill>
            <a:prstDash val="solid"/>
          </a:ln>
        </p:spPr>
      </p:sp>
      <p:sp>
        <p:nvSpPr>
          <p:cNvPr id="41" name="Text 38"/>
          <p:cNvSpPr txBox="1"/>
          <p:nvPr/>
        </p:nvSpPr>
        <p:spPr>
          <a:xfrm>
            <a:off x="4599432" y="2916936"/>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42" name="Text 39"/>
          <p:cNvSpPr txBox="1"/>
          <p:nvPr/>
        </p:nvSpPr>
        <p:spPr>
          <a:xfrm>
            <a:off x="5029200" y="2907792"/>
            <a:ext cx="6430975" cy="274320"/>
          </a:xfrm>
          <a:prstGeom prst="rect">
            <a:avLst/>
          </a:prstGeom>
          <a:noFill/>
          <a:ln/>
        </p:spPr>
        <p:txBody>
          <a:bodyPr wrap="square" lIns="0" tIns="0" rIns="0" bIns="0" rtlCol="0" anchor="ctr"/>
          <a:lstStyle/>
          <a:p>
            <a:pPr indent="0" marL="0">
              <a:buNone/>
            </a:pPr>
            <a:r>
              <a:rPr lang="en-US" sz="1400" b="1" dirty="0">
                <a:solidFill>
                  <a:srgbClr val="16202B"/>
                </a:solidFill>
                <a:latin typeface="Calibri" pitchFamily="34" charset="0"/>
                <a:ea typeface="Calibri" pitchFamily="34" charset="-122"/>
                <a:cs typeface="Calibri" pitchFamily="34" charset="-120"/>
              </a:rPr>
              <a:t>Live</a:t>
            </a:r>
            <a:endParaRPr lang="en-US" sz="1400" dirty="0"/>
          </a:p>
        </p:txBody>
      </p:sp>
      <p:sp>
        <p:nvSpPr>
          <p:cNvPr id="43" name="Text 40"/>
          <p:cNvSpPr txBox="1"/>
          <p:nvPr/>
        </p:nvSpPr>
        <p:spPr>
          <a:xfrm>
            <a:off x="5029200" y="3182112"/>
            <a:ext cx="6430975" cy="384048"/>
          </a:xfrm>
          <a:prstGeom prst="rect">
            <a:avLst/>
          </a:prstGeom>
          <a:noFill/>
          <a:ln/>
        </p:spPr>
        <p:txBody>
          <a:bodyPr wrap="square" lIns="0" tIns="0" rIns="0" bIns="0" rtlCol="0" anchor="t"/>
          <a:lstStyle/>
          <a:p>
            <a:pPr indent="0" marL="0">
              <a:buNone/>
            </a:pPr>
            <a:r>
              <a:rPr lang="en-US" sz="1200" dirty="0">
                <a:solidFill>
                  <a:srgbClr val="34465A"/>
                </a:solidFill>
                <a:latin typeface="Calibri" pitchFamily="34" charset="0"/>
                <a:ea typeface="Calibri" pitchFamily="34" charset="-122"/>
                <a:cs typeface="Calibri" pitchFamily="34" charset="-120"/>
              </a:rPr>
              <a:t>The driver’s phone reported in the last 2 minutes; otherwise the last known position shows in grey.</a:t>
            </a:r>
            <a:endParaRPr lang="en-US" sz="1200" dirty="0"/>
          </a:p>
        </p:txBody>
      </p:sp>
      <p:sp>
        <p:nvSpPr>
          <p:cNvPr id="44" name="Shape 41"/>
          <p:cNvSpPr/>
          <p:nvPr/>
        </p:nvSpPr>
        <p:spPr>
          <a:xfrm>
            <a:off x="4434840" y="3749040"/>
            <a:ext cx="7208215" cy="649224"/>
          </a:xfrm>
          <a:prstGeom prst="roundRect">
            <a:avLst>
              <a:gd name="adj" fmla="val 11268"/>
            </a:avLst>
          </a:prstGeom>
          <a:solidFill>
            <a:srgbClr val="F3F6F9"/>
          </a:solidFill>
          <a:ln w="6350">
            <a:solidFill>
              <a:srgbClr val="F3F6F9"/>
            </a:solidFill>
            <a:prstDash val="solid"/>
          </a:ln>
        </p:spPr>
      </p:sp>
      <p:sp>
        <p:nvSpPr>
          <p:cNvPr id="45" name="Shape 42"/>
          <p:cNvSpPr/>
          <p:nvPr/>
        </p:nvSpPr>
        <p:spPr>
          <a:xfrm>
            <a:off x="4599432" y="3867912"/>
            <a:ext cx="292608" cy="292608"/>
          </a:xfrm>
          <a:prstGeom prst="ellipse">
            <a:avLst/>
          </a:prstGeom>
          <a:solidFill>
            <a:srgbClr val="E85D04"/>
          </a:solidFill>
          <a:ln w="15875">
            <a:solidFill>
              <a:srgbClr val="FFFFFF"/>
            </a:solidFill>
            <a:prstDash val="solid"/>
          </a:ln>
        </p:spPr>
      </p:sp>
      <p:sp>
        <p:nvSpPr>
          <p:cNvPr id="46" name="Text 43"/>
          <p:cNvSpPr txBox="1"/>
          <p:nvPr/>
        </p:nvSpPr>
        <p:spPr>
          <a:xfrm>
            <a:off x="4599432" y="3867912"/>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47" name="Text 44"/>
          <p:cNvSpPr txBox="1"/>
          <p:nvPr/>
        </p:nvSpPr>
        <p:spPr>
          <a:xfrm>
            <a:off x="5029200" y="3858768"/>
            <a:ext cx="6430975" cy="274320"/>
          </a:xfrm>
          <a:prstGeom prst="rect">
            <a:avLst/>
          </a:prstGeom>
          <a:noFill/>
          <a:ln/>
        </p:spPr>
        <p:txBody>
          <a:bodyPr wrap="square" lIns="0" tIns="0" rIns="0" bIns="0" rtlCol="0" anchor="ctr"/>
          <a:lstStyle/>
          <a:p>
            <a:pPr indent="0" marL="0">
              <a:buNone/>
            </a:pPr>
            <a:r>
              <a:rPr lang="en-US" sz="1400" b="1" dirty="0">
                <a:solidFill>
                  <a:srgbClr val="16202B"/>
                </a:solidFill>
                <a:latin typeface="Calibri" pitchFamily="34" charset="0"/>
                <a:ea typeface="Calibri" pitchFamily="34" charset="-122"/>
                <a:cs typeface="Calibri" pitchFamily="34" charset="-120"/>
              </a:rPr>
              <a:t>C-12 is 480 m from Gate 2</a:t>
            </a:r>
            <a:endParaRPr lang="en-US" sz="1400" dirty="0"/>
          </a:p>
        </p:txBody>
      </p:sp>
      <p:sp>
        <p:nvSpPr>
          <p:cNvPr id="48" name="Text 45"/>
          <p:cNvSpPr txBox="1"/>
          <p:nvPr/>
        </p:nvSpPr>
        <p:spPr>
          <a:xfrm>
            <a:off x="5029200" y="4133088"/>
            <a:ext cx="6430975" cy="192024"/>
          </a:xfrm>
          <a:prstGeom prst="rect">
            <a:avLst/>
          </a:prstGeom>
          <a:noFill/>
          <a:ln/>
        </p:spPr>
        <p:txBody>
          <a:bodyPr wrap="square" lIns="0" tIns="0" rIns="0" bIns="0" rtlCol="0" anchor="t"/>
          <a:lstStyle/>
          <a:p>
            <a:pPr indent="0" marL="0">
              <a:buNone/>
            </a:pPr>
            <a:r>
              <a:rPr lang="en-US" sz="1200" dirty="0">
                <a:solidFill>
                  <a:srgbClr val="34465A"/>
                </a:solidFill>
                <a:latin typeface="Calibri" pitchFamily="34" charset="0"/>
                <a:ea typeface="Calibri" pitchFamily="34" charset="-122"/>
                <a:cs typeface="Calibri" pitchFamily="34" charset="-120"/>
              </a:rPr>
              <a:t>Straight-line distance to the rider’s pickup point.</a:t>
            </a:r>
            <a:endParaRPr lang="en-US" sz="1200" dirty="0"/>
          </a:p>
        </p:txBody>
      </p:sp>
      <p:sp>
        <p:nvSpPr>
          <p:cNvPr id="49" name="Shape 46"/>
          <p:cNvSpPr/>
          <p:nvPr/>
        </p:nvSpPr>
        <p:spPr>
          <a:xfrm>
            <a:off x="4434840" y="4507992"/>
            <a:ext cx="7208215" cy="649224"/>
          </a:xfrm>
          <a:prstGeom prst="roundRect">
            <a:avLst>
              <a:gd name="adj" fmla="val 11268"/>
            </a:avLst>
          </a:prstGeom>
          <a:solidFill>
            <a:srgbClr val="F3F6F9"/>
          </a:solidFill>
          <a:ln w="6350">
            <a:solidFill>
              <a:srgbClr val="F3F6F9"/>
            </a:solidFill>
            <a:prstDash val="solid"/>
          </a:ln>
        </p:spPr>
      </p:sp>
      <p:sp>
        <p:nvSpPr>
          <p:cNvPr id="50" name="Shape 47"/>
          <p:cNvSpPr/>
          <p:nvPr/>
        </p:nvSpPr>
        <p:spPr>
          <a:xfrm>
            <a:off x="4599432" y="4626864"/>
            <a:ext cx="292608" cy="292608"/>
          </a:xfrm>
          <a:prstGeom prst="ellipse">
            <a:avLst/>
          </a:prstGeom>
          <a:solidFill>
            <a:srgbClr val="E85D04"/>
          </a:solidFill>
          <a:ln w="15875">
            <a:solidFill>
              <a:srgbClr val="FFFFFF"/>
            </a:solidFill>
            <a:prstDash val="solid"/>
          </a:ln>
        </p:spPr>
      </p:sp>
      <p:sp>
        <p:nvSpPr>
          <p:cNvPr id="51" name="Text 48"/>
          <p:cNvSpPr txBox="1"/>
          <p:nvPr/>
        </p:nvSpPr>
        <p:spPr>
          <a:xfrm>
            <a:off x="4599432" y="4626864"/>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52" name="Text 49"/>
          <p:cNvSpPr txBox="1"/>
          <p:nvPr/>
        </p:nvSpPr>
        <p:spPr>
          <a:xfrm>
            <a:off x="5029200" y="4617720"/>
            <a:ext cx="6430975" cy="274320"/>
          </a:xfrm>
          <a:prstGeom prst="rect">
            <a:avLst/>
          </a:prstGeom>
          <a:noFill/>
          <a:ln/>
        </p:spPr>
        <p:txBody>
          <a:bodyPr wrap="square" lIns="0" tIns="0" rIns="0" bIns="0" rtlCol="0" anchor="ctr"/>
          <a:lstStyle/>
          <a:p>
            <a:pPr indent="0" marL="0">
              <a:buNone/>
            </a:pPr>
            <a:r>
              <a:rPr lang="en-US" sz="1400" b="1" dirty="0">
                <a:solidFill>
                  <a:srgbClr val="16202B"/>
                </a:solidFill>
                <a:latin typeface="Calibri" pitchFamily="34" charset="0"/>
                <a:ea typeface="Calibri" pitchFamily="34" charset="-122"/>
                <a:cs typeface="Calibri" pitchFamily="34" charset="-120"/>
              </a:rPr>
              <a:t>Plant map</a:t>
            </a:r>
            <a:endParaRPr lang="en-US" sz="1400" dirty="0"/>
          </a:p>
        </p:txBody>
      </p:sp>
      <p:sp>
        <p:nvSpPr>
          <p:cNvPr id="53" name="Text 50"/>
          <p:cNvSpPr txBox="1"/>
          <p:nvPr/>
        </p:nvSpPr>
        <p:spPr>
          <a:xfrm>
            <a:off x="5029200" y="4892040"/>
            <a:ext cx="6430975" cy="192024"/>
          </a:xfrm>
          <a:prstGeom prst="rect">
            <a:avLst/>
          </a:prstGeom>
          <a:noFill/>
          <a:ln/>
        </p:spPr>
        <p:txBody>
          <a:bodyPr wrap="square" lIns="0" tIns="0" rIns="0" bIns="0" rtlCol="0" anchor="t"/>
          <a:lstStyle/>
          <a:p>
            <a:pPr indent="0" marL="0">
              <a:buNone/>
            </a:pPr>
            <a:r>
              <a:rPr lang="en-US" sz="1200" dirty="0">
                <a:solidFill>
                  <a:srgbClr val="34465A"/>
                </a:solidFill>
                <a:latin typeface="Calibri" pitchFamily="34" charset="0"/>
                <a:ea typeface="Calibri" pitchFamily="34" charset="-122"/>
                <a:cs typeface="Calibri" pitchFamily="34" charset="-120"/>
              </a:rPr>
              <a:t>The cab, the pickup (orange), the drop and “You”, north up, with a scale bar.</a:t>
            </a:r>
            <a:endParaRPr lang="en-US" sz="1200" dirty="0"/>
          </a:p>
        </p:txBody>
      </p:sp>
      <p:sp>
        <p:nvSpPr>
          <p:cNvPr id="54" name="Shape 51"/>
          <p:cNvSpPr/>
          <p:nvPr/>
        </p:nvSpPr>
        <p:spPr>
          <a:xfrm>
            <a:off x="4434840" y="5358384"/>
            <a:ext cx="7208215" cy="576072"/>
          </a:xfrm>
          <a:prstGeom prst="roundRect">
            <a:avLst>
              <a:gd name="adj" fmla="val 12698"/>
            </a:avLst>
          </a:prstGeom>
          <a:solidFill>
            <a:srgbClr val="FFEDE0"/>
          </a:solidFill>
          <a:ln w="6350">
            <a:solidFill>
              <a:srgbClr val="FFEDE0"/>
            </a:solidFill>
            <a:prstDash val="solid"/>
          </a:ln>
        </p:spPr>
      </p:sp>
      <p:sp>
        <p:nvSpPr>
          <p:cNvPr id="55" name="Text 52"/>
          <p:cNvSpPr txBox="1"/>
          <p:nvPr/>
        </p:nvSpPr>
        <p:spPr>
          <a:xfrm>
            <a:off x="4617720" y="5449824"/>
            <a:ext cx="6842455" cy="201168"/>
          </a:xfrm>
          <a:prstGeom prst="rect">
            <a:avLst/>
          </a:prstGeom>
          <a:noFill/>
          <a:ln/>
        </p:spPr>
        <p:txBody>
          <a:bodyPr wrap="square" lIns="0" tIns="0" rIns="0" bIns="0" rtlCol="0" anchor="ctr"/>
          <a:lstStyle/>
          <a:p>
            <a:pPr indent="0" marL="0">
              <a:buNone/>
            </a:pPr>
            <a:r>
              <a:rPr lang="en-US" sz="950" b="1" spc="150" kern="0" dirty="0">
                <a:solidFill>
                  <a:srgbClr val="B84A03"/>
                </a:solidFill>
                <a:latin typeface="Calibri" pitchFamily="34" charset="0"/>
                <a:ea typeface="Calibri" pitchFamily="34" charset="-122"/>
                <a:cs typeface="Calibri" pitchFamily="34" charset="-120"/>
              </a:rPr>
              <a:t>BEHIND THE SCENES</a:t>
            </a:r>
            <a:endParaRPr lang="en-US" sz="950" dirty="0"/>
          </a:p>
        </p:txBody>
      </p:sp>
      <p:sp>
        <p:nvSpPr>
          <p:cNvPr id="56" name="Text 53"/>
          <p:cNvSpPr txBox="1"/>
          <p:nvPr/>
        </p:nvSpPr>
        <p:spPr>
          <a:xfrm>
            <a:off x="4617720" y="5660136"/>
            <a:ext cx="6842455" cy="192024"/>
          </a:xfrm>
          <a:prstGeom prst="rect">
            <a:avLst/>
          </a:prstGeom>
          <a:noFill/>
          <a:ln/>
        </p:spPr>
        <p:txBody>
          <a:bodyPr wrap="square" lIns="0" tIns="0" rIns="0" bIns="0" rtlCol="0" anchor="t"/>
          <a:lstStyle/>
          <a:p>
            <a:pPr indent="0" marL="0">
              <a:buNone/>
            </a:pPr>
            <a:r>
              <a:rPr lang="en-US" sz="1200" dirty="0">
                <a:solidFill>
                  <a:srgbClr val="16202B"/>
                </a:solidFill>
                <a:latin typeface="Calibri" pitchFamily="34" charset="0"/>
                <a:ea typeface="Calibri" pitchFamily="34" charset="-122"/>
                <a:cs typeface="Calibri" pitchFamily="34" charset="-120"/>
              </a:rPr>
              <a:t>Every fix brings speed, the nearest stop and how fresh it is: “Stopped · near Admin Block”.</a:t>
            </a:r>
            <a:endParaRPr lang="en-US" sz="1200" dirty="0"/>
          </a:p>
        </p:txBody>
      </p:sp>
      <p:sp>
        <p:nvSpPr>
          <p:cNvPr id="57" name="Text 54"/>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900" dirty="0">
                <a:solidFill>
                  <a:srgbClr val="5E6D7D"/>
                </a:solidFill>
                <a:latin typeface="Calibri" pitchFamily="34" charset="0"/>
                <a:ea typeface="Calibri" pitchFamily="34" charset="-122"/>
                <a:cs typeface="Calibri" pitchFamily="34" charset="-120"/>
              </a:rPr>
              <a:t>Plant Ride · Rider → Driver journey · recorded on the MVP with demo data</a:t>
            </a:r>
            <a:endParaRPr lang="en-US" sz="900" dirty="0"/>
          </a:p>
        </p:txBody>
      </p:sp>
      <p:sp>
        <p:nvSpPr>
          <p:cNvPr id="58" name="Text 55"/>
          <p:cNvSpPr txBox="1"/>
          <p:nvPr/>
        </p:nvSpPr>
        <p:spPr>
          <a:xfrm>
            <a:off x="11185855" y="6473952"/>
            <a:ext cx="457200" cy="228600"/>
          </a:xfrm>
          <a:prstGeom prst="rect">
            <a:avLst/>
          </a:prstGeom>
          <a:noFill/>
          <a:ln/>
        </p:spPr>
        <p:txBody>
          <a:bodyPr wrap="square" lIns="0" tIns="0" rIns="0" bIns="0" rtlCol="0" anchor="ctr"/>
          <a:lstStyle/>
          <a:p>
            <a:pPr algn="r" indent="0" marL="0">
              <a:buNone/>
            </a:pPr>
            <a:r>
              <a:rPr lang="en-US" sz="900" dirty="0">
                <a:solidFill>
                  <a:srgbClr val="5E6D7D"/>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50976" y="402336"/>
            <a:ext cx="2813925" cy="5961888"/>
          </a:xfrm>
          <a:prstGeom prst="roundRect">
            <a:avLst>
              <a:gd name="adj" fmla="val 5849"/>
            </a:avLst>
          </a:prstGeom>
          <a:solidFill>
            <a:srgbClr val="16202B"/>
          </a:solidFill>
          <a:ln w="9525">
            <a:solidFill>
              <a:srgbClr val="16202B"/>
            </a:solidFill>
            <a:prstDash val="solid"/>
          </a:ln>
          <a:effectLst>
            <a:outerShdw sx="100000" sy="100000" kx="0" ky="0" algn="bl" rotWithShape="0" blurRad="127000" dist="38100" dir="5400000">
              <a:srgbClr val="000000">
                <a:alpha val="20000"/>
              </a:srgbClr>
            </a:outerShdw>
          </a:effectLst>
        </p:spPr>
      </p:sp>
      <p:pic>
        <p:nvPicPr>
          <p:cNvPr id="3" name="Image 0" descr="Screenshot: r08-sharing-driver">    </p:cNvPr>
          <p:cNvPicPr>
            <a:picLocks noChangeAspect="1"/>
          </p:cNvPicPr>
          <p:nvPr/>
        </p:nvPicPr>
        <p:blipFill>
          <a:blip r:embed="rId1"/>
          <a:stretch>
            <a:fillRect/>
          </a:stretch>
        </p:blipFill>
        <p:spPr>
          <a:xfrm>
            <a:off x="1005840" y="457200"/>
            <a:ext cx="2704197" cy="5852160"/>
          </a:xfrm>
          <a:prstGeom prst="rect">
            <a:avLst/>
          </a:prstGeom>
        </p:spPr>
      </p:pic>
      <p:sp>
        <p:nvSpPr>
          <p:cNvPr id="4" name="Shape 1"/>
          <p:cNvSpPr/>
          <p:nvPr/>
        </p:nvSpPr>
        <p:spPr>
          <a:xfrm>
            <a:off x="822960" y="1150584"/>
            <a:ext cx="716786" cy="914"/>
          </a:xfrm>
          <a:prstGeom prst="line">
            <a:avLst/>
          </a:prstGeom>
          <a:noFill/>
          <a:ln w="15875">
            <a:solidFill>
              <a:srgbClr val="E85D04"/>
            </a:solidFill>
            <a:prstDash val="solid"/>
          </a:ln>
        </p:spPr>
      </p:sp>
      <p:sp>
        <p:nvSpPr>
          <p:cNvPr id="5" name="Shape 2"/>
          <p:cNvSpPr/>
          <p:nvPr/>
        </p:nvSpPr>
        <p:spPr>
          <a:xfrm>
            <a:off x="1498598" y="1109436"/>
            <a:ext cx="82296" cy="82296"/>
          </a:xfrm>
          <a:prstGeom prst="ellipse">
            <a:avLst/>
          </a:prstGeom>
          <a:solidFill>
            <a:srgbClr val="E85D04"/>
          </a:solidFill>
          <a:ln w="9525">
            <a:solidFill>
              <a:srgbClr val="FFFFFF"/>
            </a:solidFill>
            <a:prstDash val="solid"/>
          </a:ln>
        </p:spPr>
      </p:sp>
      <p:sp>
        <p:nvSpPr>
          <p:cNvPr id="6" name="Shape 3"/>
          <p:cNvSpPr/>
          <p:nvPr/>
        </p:nvSpPr>
        <p:spPr>
          <a:xfrm>
            <a:off x="548640" y="1013424"/>
            <a:ext cx="274320" cy="274320"/>
          </a:xfrm>
          <a:prstGeom prst="ellipse">
            <a:avLst/>
          </a:prstGeom>
          <a:solidFill>
            <a:srgbClr val="E85D04"/>
          </a:solidFill>
          <a:ln w="15875">
            <a:solidFill>
              <a:srgbClr val="FFFFFF"/>
            </a:solidFill>
            <a:prstDash val="solid"/>
          </a:ln>
        </p:spPr>
      </p:sp>
      <p:sp>
        <p:nvSpPr>
          <p:cNvPr id="7" name="Text 4"/>
          <p:cNvSpPr txBox="1"/>
          <p:nvPr/>
        </p:nvSpPr>
        <p:spPr>
          <a:xfrm>
            <a:off x="548640" y="1013424"/>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8" name="Shape 5"/>
          <p:cNvSpPr/>
          <p:nvPr/>
        </p:nvSpPr>
        <p:spPr>
          <a:xfrm>
            <a:off x="822960" y="1941042"/>
            <a:ext cx="356226" cy="914"/>
          </a:xfrm>
          <a:prstGeom prst="line">
            <a:avLst/>
          </a:prstGeom>
          <a:noFill/>
          <a:ln w="15875">
            <a:solidFill>
              <a:srgbClr val="E85D04"/>
            </a:solidFill>
            <a:prstDash val="solid"/>
          </a:ln>
        </p:spPr>
      </p:sp>
      <p:sp>
        <p:nvSpPr>
          <p:cNvPr id="9" name="Shape 6"/>
          <p:cNvSpPr/>
          <p:nvPr/>
        </p:nvSpPr>
        <p:spPr>
          <a:xfrm>
            <a:off x="1138038" y="1899894"/>
            <a:ext cx="82296" cy="82296"/>
          </a:xfrm>
          <a:prstGeom prst="ellipse">
            <a:avLst/>
          </a:prstGeom>
          <a:solidFill>
            <a:srgbClr val="E85D04"/>
          </a:solidFill>
          <a:ln w="9525">
            <a:solidFill>
              <a:srgbClr val="FFFFFF"/>
            </a:solidFill>
            <a:prstDash val="solid"/>
          </a:ln>
        </p:spPr>
      </p:sp>
      <p:sp>
        <p:nvSpPr>
          <p:cNvPr id="10" name="Shape 7"/>
          <p:cNvSpPr/>
          <p:nvPr/>
        </p:nvSpPr>
        <p:spPr>
          <a:xfrm>
            <a:off x="548640" y="1803882"/>
            <a:ext cx="274320" cy="274320"/>
          </a:xfrm>
          <a:prstGeom prst="ellipse">
            <a:avLst/>
          </a:prstGeom>
          <a:solidFill>
            <a:srgbClr val="E85D04"/>
          </a:solidFill>
          <a:ln w="15875">
            <a:solidFill>
              <a:srgbClr val="FFFFFF"/>
            </a:solidFill>
            <a:prstDash val="solid"/>
          </a:ln>
        </p:spPr>
      </p:sp>
      <p:sp>
        <p:nvSpPr>
          <p:cNvPr id="11" name="Text 8"/>
          <p:cNvSpPr txBox="1"/>
          <p:nvPr/>
        </p:nvSpPr>
        <p:spPr>
          <a:xfrm>
            <a:off x="548640" y="180388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2" name="Shape 9"/>
          <p:cNvSpPr/>
          <p:nvPr/>
        </p:nvSpPr>
        <p:spPr>
          <a:xfrm>
            <a:off x="822960" y="3251537"/>
            <a:ext cx="356226" cy="914"/>
          </a:xfrm>
          <a:prstGeom prst="line">
            <a:avLst/>
          </a:prstGeom>
          <a:noFill/>
          <a:ln w="15875">
            <a:solidFill>
              <a:srgbClr val="E85D04"/>
            </a:solidFill>
            <a:prstDash val="solid"/>
          </a:ln>
        </p:spPr>
      </p:sp>
      <p:sp>
        <p:nvSpPr>
          <p:cNvPr id="13" name="Shape 10"/>
          <p:cNvSpPr/>
          <p:nvPr/>
        </p:nvSpPr>
        <p:spPr>
          <a:xfrm>
            <a:off x="1138038" y="3210389"/>
            <a:ext cx="82296" cy="82296"/>
          </a:xfrm>
          <a:prstGeom prst="ellipse">
            <a:avLst/>
          </a:prstGeom>
          <a:solidFill>
            <a:srgbClr val="E85D04"/>
          </a:solidFill>
          <a:ln w="9525">
            <a:solidFill>
              <a:srgbClr val="FFFFFF"/>
            </a:solidFill>
            <a:prstDash val="solid"/>
          </a:ln>
        </p:spPr>
      </p:sp>
      <p:sp>
        <p:nvSpPr>
          <p:cNvPr id="14" name="Shape 11"/>
          <p:cNvSpPr/>
          <p:nvPr/>
        </p:nvSpPr>
        <p:spPr>
          <a:xfrm>
            <a:off x="548640" y="3114377"/>
            <a:ext cx="274320" cy="274320"/>
          </a:xfrm>
          <a:prstGeom prst="ellipse">
            <a:avLst/>
          </a:prstGeom>
          <a:solidFill>
            <a:srgbClr val="E85D04"/>
          </a:solidFill>
          <a:ln w="15875">
            <a:solidFill>
              <a:srgbClr val="FFFFFF"/>
            </a:solidFill>
            <a:prstDash val="solid"/>
          </a:ln>
        </p:spPr>
      </p:sp>
      <p:sp>
        <p:nvSpPr>
          <p:cNvPr id="15" name="Text 12"/>
          <p:cNvSpPr txBox="1"/>
          <p:nvPr/>
        </p:nvSpPr>
        <p:spPr>
          <a:xfrm>
            <a:off x="548640" y="3114377"/>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6" name="Shape 13"/>
          <p:cNvSpPr/>
          <p:nvPr/>
        </p:nvSpPr>
        <p:spPr>
          <a:xfrm>
            <a:off x="4434840" y="457200"/>
            <a:ext cx="384048" cy="384048"/>
          </a:xfrm>
          <a:prstGeom prst="ellipse">
            <a:avLst/>
          </a:prstGeom>
          <a:solidFill>
            <a:srgbClr val="E85D04"/>
          </a:solidFill>
          <a:ln w="6350">
            <a:solidFill>
              <a:srgbClr val="E85D04"/>
            </a:solidFill>
            <a:prstDash val="solid"/>
          </a:ln>
        </p:spPr>
      </p:sp>
      <p:sp>
        <p:nvSpPr>
          <p:cNvPr id="17" name="Text 14"/>
          <p:cNvSpPr txBox="1"/>
          <p:nvPr/>
        </p:nvSpPr>
        <p:spPr>
          <a:xfrm>
            <a:off x="4434840" y="457200"/>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AR</a:t>
            </a:r>
            <a:endParaRPr lang="en-US" sz="1100" dirty="0"/>
          </a:p>
        </p:txBody>
      </p:sp>
      <p:sp>
        <p:nvSpPr>
          <p:cNvPr id="18" name="Text 15"/>
          <p:cNvSpPr txBox="1"/>
          <p:nvPr/>
        </p:nvSpPr>
        <p:spPr>
          <a:xfrm>
            <a:off x="4937760" y="457200"/>
            <a:ext cx="3291840" cy="384048"/>
          </a:xfrm>
          <a:prstGeom prst="rect">
            <a:avLst/>
          </a:prstGeom>
          <a:noFill/>
          <a:ln/>
        </p:spPr>
        <p:txBody>
          <a:bodyPr wrap="square" lIns="0" tIns="0" rIns="0" bIns="0" rtlCol="0" anchor="ctr"/>
          <a:lstStyle/>
          <a:p>
            <a:pPr indent="0" marL="0">
              <a:buNone/>
            </a:pPr>
            <a:r>
              <a:rPr lang="en-US" sz="1300" b="1" dirty="0">
                <a:solidFill>
                  <a:srgbClr val="E85D04"/>
                </a:solidFill>
                <a:latin typeface="Calibri" pitchFamily="34" charset="0"/>
                <a:ea typeface="Calibri" pitchFamily="34" charset="-122"/>
                <a:cs typeface="Calibri" pitchFamily="34" charset="-120"/>
              </a:rPr>
              <a:t>Rider  </a:t>
            </a:r>
            <a:pPr indent="0" marL="0">
              <a:buNone/>
            </a:pPr>
            <a:r>
              <a:rPr lang="en-US" sz="1300" b="1" dirty="0">
                <a:solidFill>
                  <a:srgbClr val="16202B"/>
                </a:solidFill>
                <a:latin typeface="Calibri" pitchFamily="34" charset="0"/>
                <a:ea typeface="Calibri" pitchFamily="34" charset="-122"/>
                <a:cs typeface="Calibri" pitchFamily="34" charset="-120"/>
              </a:rPr>
              <a:t>A. Raghavan</a:t>
            </a:r>
            <a:endParaRPr lang="en-US" sz="1300" dirty="0"/>
          </a:p>
        </p:txBody>
      </p:sp>
      <p:sp>
        <p:nvSpPr>
          <p:cNvPr id="19" name="Shape 16"/>
          <p:cNvSpPr/>
          <p:nvPr/>
        </p:nvSpPr>
        <p:spPr>
          <a:xfrm>
            <a:off x="8780983" y="585216"/>
            <a:ext cx="118872" cy="118872"/>
          </a:xfrm>
          <a:prstGeom prst="ellipse">
            <a:avLst/>
          </a:prstGeom>
          <a:solidFill>
            <a:srgbClr val="FFEDE0"/>
          </a:solidFill>
          <a:ln w="9525">
            <a:solidFill>
              <a:srgbClr val="E85D04"/>
            </a:solidFill>
            <a:prstDash val="solid"/>
          </a:ln>
        </p:spPr>
      </p:sp>
      <p:sp>
        <p:nvSpPr>
          <p:cNvPr id="20" name="Shape 17"/>
          <p:cNvSpPr/>
          <p:nvPr/>
        </p:nvSpPr>
        <p:spPr>
          <a:xfrm>
            <a:off x="8963863" y="585216"/>
            <a:ext cx="118872" cy="118872"/>
          </a:xfrm>
          <a:prstGeom prst="ellipse">
            <a:avLst/>
          </a:prstGeom>
          <a:solidFill>
            <a:srgbClr val="FFEDE0"/>
          </a:solidFill>
          <a:ln w="9525">
            <a:solidFill>
              <a:srgbClr val="E85D04"/>
            </a:solidFill>
            <a:prstDash val="solid"/>
          </a:ln>
        </p:spPr>
      </p:sp>
      <p:sp>
        <p:nvSpPr>
          <p:cNvPr id="21" name="Shape 18"/>
          <p:cNvSpPr/>
          <p:nvPr/>
        </p:nvSpPr>
        <p:spPr>
          <a:xfrm>
            <a:off x="9146743" y="585216"/>
            <a:ext cx="118872" cy="118872"/>
          </a:xfrm>
          <a:prstGeom prst="ellipse">
            <a:avLst/>
          </a:prstGeom>
          <a:solidFill>
            <a:srgbClr val="FFEDE0"/>
          </a:solidFill>
          <a:ln w="9525">
            <a:solidFill>
              <a:srgbClr val="E85D04"/>
            </a:solidFill>
            <a:prstDash val="solid"/>
          </a:ln>
        </p:spPr>
      </p:sp>
      <p:sp>
        <p:nvSpPr>
          <p:cNvPr id="22" name="Shape 19"/>
          <p:cNvSpPr/>
          <p:nvPr/>
        </p:nvSpPr>
        <p:spPr>
          <a:xfrm>
            <a:off x="9329623" y="585216"/>
            <a:ext cx="118872" cy="118872"/>
          </a:xfrm>
          <a:prstGeom prst="ellipse">
            <a:avLst/>
          </a:prstGeom>
          <a:solidFill>
            <a:srgbClr val="FFEDE0"/>
          </a:solidFill>
          <a:ln w="9525">
            <a:solidFill>
              <a:srgbClr val="E85D04"/>
            </a:solidFill>
            <a:prstDash val="solid"/>
          </a:ln>
        </p:spPr>
      </p:sp>
      <p:sp>
        <p:nvSpPr>
          <p:cNvPr id="23" name="Shape 20"/>
          <p:cNvSpPr/>
          <p:nvPr/>
        </p:nvSpPr>
        <p:spPr>
          <a:xfrm>
            <a:off x="9512503" y="585216"/>
            <a:ext cx="118872" cy="118872"/>
          </a:xfrm>
          <a:prstGeom prst="ellipse">
            <a:avLst/>
          </a:prstGeom>
          <a:solidFill>
            <a:srgbClr val="FFEDE0"/>
          </a:solidFill>
          <a:ln w="9525">
            <a:solidFill>
              <a:srgbClr val="E85D04"/>
            </a:solidFill>
            <a:prstDash val="solid"/>
          </a:ln>
        </p:spPr>
      </p:sp>
      <p:sp>
        <p:nvSpPr>
          <p:cNvPr id="24" name="Shape 21"/>
          <p:cNvSpPr/>
          <p:nvPr/>
        </p:nvSpPr>
        <p:spPr>
          <a:xfrm>
            <a:off x="9695383" y="585216"/>
            <a:ext cx="118872" cy="118872"/>
          </a:xfrm>
          <a:prstGeom prst="ellipse">
            <a:avLst/>
          </a:prstGeom>
          <a:solidFill>
            <a:srgbClr val="FFEDE0"/>
          </a:solidFill>
          <a:ln w="9525">
            <a:solidFill>
              <a:srgbClr val="E85D04"/>
            </a:solidFill>
            <a:prstDash val="solid"/>
          </a:ln>
        </p:spPr>
      </p:sp>
      <p:sp>
        <p:nvSpPr>
          <p:cNvPr id="25" name="Shape 22"/>
          <p:cNvSpPr/>
          <p:nvPr/>
        </p:nvSpPr>
        <p:spPr>
          <a:xfrm>
            <a:off x="9878263" y="585216"/>
            <a:ext cx="118872" cy="118872"/>
          </a:xfrm>
          <a:prstGeom prst="ellipse">
            <a:avLst/>
          </a:prstGeom>
          <a:solidFill>
            <a:srgbClr val="FFEDE0"/>
          </a:solidFill>
          <a:ln w="9525">
            <a:solidFill>
              <a:srgbClr val="E85D04"/>
            </a:solidFill>
            <a:prstDash val="solid"/>
          </a:ln>
        </p:spPr>
      </p:sp>
      <p:sp>
        <p:nvSpPr>
          <p:cNvPr id="26" name="Shape 23"/>
          <p:cNvSpPr/>
          <p:nvPr/>
        </p:nvSpPr>
        <p:spPr>
          <a:xfrm>
            <a:off x="10033711" y="557784"/>
            <a:ext cx="173736" cy="173736"/>
          </a:xfrm>
          <a:prstGeom prst="ellipse">
            <a:avLst/>
          </a:prstGeom>
          <a:solidFill>
            <a:srgbClr val="E85D04"/>
          </a:solidFill>
          <a:ln w="9525">
            <a:solidFill>
              <a:srgbClr val="E85D04"/>
            </a:solidFill>
            <a:prstDash val="solid"/>
          </a:ln>
        </p:spPr>
      </p:sp>
      <p:sp>
        <p:nvSpPr>
          <p:cNvPr id="27" name="Shape 24"/>
          <p:cNvSpPr/>
          <p:nvPr/>
        </p:nvSpPr>
        <p:spPr>
          <a:xfrm>
            <a:off x="10244023" y="585216"/>
            <a:ext cx="118872" cy="118872"/>
          </a:xfrm>
          <a:prstGeom prst="ellipse">
            <a:avLst/>
          </a:prstGeom>
          <a:solidFill>
            <a:srgbClr val="F3F6F9"/>
          </a:solidFill>
          <a:ln w="9525">
            <a:solidFill>
              <a:srgbClr val="DCE4EC"/>
            </a:solidFill>
            <a:prstDash val="solid"/>
          </a:ln>
        </p:spPr>
      </p:sp>
      <p:sp>
        <p:nvSpPr>
          <p:cNvPr id="28" name="Shape 25"/>
          <p:cNvSpPr/>
          <p:nvPr/>
        </p:nvSpPr>
        <p:spPr>
          <a:xfrm>
            <a:off x="10426903" y="585216"/>
            <a:ext cx="118872" cy="118872"/>
          </a:xfrm>
          <a:prstGeom prst="ellipse">
            <a:avLst/>
          </a:prstGeom>
          <a:solidFill>
            <a:srgbClr val="F3F6F9"/>
          </a:solidFill>
          <a:ln w="9525">
            <a:solidFill>
              <a:srgbClr val="DCE4EC"/>
            </a:solidFill>
            <a:prstDash val="solid"/>
          </a:ln>
        </p:spPr>
      </p:sp>
      <p:sp>
        <p:nvSpPr>
          <p:cNvPr id="29" name="Shape 26"/>
          <p:cNvSpPr/>
          <p:nvPr/>
        </p:nvSpPr>
        <p:spPr>
          <a:xfrm>
            <a:off x="10609783" y="585216"/>
            <a:ext cx="118872" cy="118872"/>
          </a:xfrm>
          <a:prstGeom prst="ellipse">
            <a:avLst/>
          </a:prstGeom>
          <a:solidFill>
            <a:srgbClr val="F3F6F9"/>
          </a:solidFill>
          <a:ln w="9525">
            <a:solidFill>
              <a:srgbClr val="DCE4EC"/>
            </a:solidFill>
            <a:prstDash val="solid"/>
          </a:ln>
        </p:spPr>
      </p:sp>
      <p:sp>
        <p:nvSpPr>
          <p:cNvPr id="30" name="Shape 27"/>
          <p:cNvSpPr/>
          <p:nvPr/>
        </p:nvSpPr>
        <p:spPr>
          <a:xfrm>
            <a:off x="10792663" y="585216"/>
            <a:ext cx="118872" cy="118872"/>
          </a:xfrm>
          <a:prstGeom prst="ellipse">
            <a:avLst/>
          </a:prstGeom>
          <a:solidFill>
            <a:srgbClr val="F3F6F9"/>
          </a:solidFill>
          <a:ln w="9525">
            <a:solidFill>
              <a:srgbClr val="DCE4EC"/>
            </a:solidFill>
            <a:prstDash val="solid"/>
          </a:ln>
        </p:spPr>
      </p:sp>
      <p:sp>
        <p:nvSpPr>
          <p:cNvPr id="31" name="Shape 28"/>
          <p:cNvSpPr/>
          <p:nvPr/>
        </p:nvSpPr>
        <p:spPr>
          <a:xfrm>
            <a:off x="10975543" y="585216"/>
            <a:ext cx="118872" cy="118872"/>
          </a:xfrm>
          <a:prstGeom prst="ellipse">
            <a:avLst/>
          </a:prstGeom>
          <a:solidFill>
            <a:srgbClr val="F3F6F9"/>
          </a:solidFill>
          <a:ln w="9525">
            <a:solidFill>
              <a:srgbClr val="DCE4EC"/>
            </a:solidFill>
            <a:prstDash val="solid"/>
          </a:ln>
        </p:spPr>
      </p:sp>
      <p:sp>
        <p:nvSpPr>
          <p:cNvPr id="32" name="Shape 29"/>
          <p:cNvSpPr/>
          <p:nvPr/>
        </p:nvSpPr>
        <p:spPr>
          <a:xfrm>
            <a:off x="11158423" y="585216"/>
            <a:ext cx="118872" cy="118872"/>
          </a:xfrm>
          <a:prstGeom prst="ellipse">
            <a:avLst/>
          </a:prstGeom>
          <a:solidFill>
            <a:srgbClr val="F3F6F9"/>
          </a:solidFill>
          <a:ln w="9525">
            <a:solidFill>
              <a:srgbClr val="DCE4EC"/>
            </a:solidFill>
            <a:prstDash val="solid"/>
          </a:ln>
        </p:spPr>
      </p:sp>
      <p:sp>
        <p:nvSpPr>
          <p:cNvPr id="33" name="Shape 30"/>
          <p:cNvSpPr/>
          <p:nvPr/>
        </p:nvSpPr>
        <p:spPr>
          <a:xfrm>
            <a:off x="11341303" y="585216"/>
            <a:ext cx="118872" cy="118872"/>
          </a:xfrm>
          <a:prstGeom prst="ellipse">
            <a:avLst/>
          </a:prstGeom>
          <a:solidFill>
            <a:srgbClr val="F3F6F9"/>
          </a:solidFill>
          <a:ln w="9525">
            <a:solidFill>
              <a:srgbClr val="DCE4EC"/>
            </a:solidFill>
            <a:prstDash val="solid"/>
          </a:ln>
        </p:spPr>
      </p:sp>
      <p:sp>
        <p:nvSpPr>
          <p:cNvPr id="34" name="Shape 31"/>
          <p:cNvSpPr/>
          <p:nvPr/>
        </p:nvSpPr>
        <p:spPr>
          <a:xfrm>
            <a:off x="11524183" y="585216"/>
            <a:ext cx="118872" cy="118872"/>
          </a:xfrm>
          <a:prstGeom prst="ellipse">
            <a:avLst/>
          </a:prstGeom>
          <a:solidFill>
            <a:srgbClr val="F3F6F9"/>
          </a:solidFill>
          <a:ln w="9525">
            <a:solidFill>
              <a:srgbClr val="DCE4EC"/>
            </a:solidFill>
            <a:prstDash val="solid"/>
          </a:ln>
        </p:spPr>
      </p:sp>
      <p:sp>
        <p:nvSpPr>
          <p:cNvPr id="35" name="Text 32"/>
          <p:cNvSpPr txBox="1"/>
          <p:nvPr/>
        </p:nvSpPr>
        <p:spPr>
          <a:xfrm>
            <a:off x="8780983" y="768096"/>
            <a:ext cx="2862072" cy="201168"/>
          </a:xfrm>
          <a:prstGeom prst="rect">
            <a:avLst/>
          </a:prstGeom>
          <a:noFill/>
          <a:ln/>
        </p:spPr>
        <p:txBody>
          <a:bodyPr wrap="square" lIns="0" tIns="0" rIns="0" bIns="0" rtlCol="0" anchor="ctr"/>
          <a:lstStyle/>
          <a:p>
            <a:pPr algn="r" indent="0" marL="0">
              <a:buNone/>
            </a:pPr>
            <a:r>
              <a:rPr lang="en-US" sz="950" dirty="0">
                <a:solidFill>
                  <a:srgbClr val="5E6D7D"/>
                </a:solidFill>
                <a:latin typeface="Calibri" pitchFamily="34" charset="0"/>
                <a:ea typeface="Calibri" pitchFamily="34" charset="-122"/>
                <a:cs typeface="Calibri" pitchFamily="34" charset="-120"/>
              </a:rPr>
              <a:t>Screen 8 of 16</a:t>
            </a:r>
            <a:endParaRPr lang="en-US" sz="950" dirty="0"/>
          </a:p>
        </p:txBody>
      </p:sp>
      <p:sp>
        <p:nvSpPr>
          <p:cNvPr id="36" name="Text 33"/>
          <p:cNvSpPr txBox="1"/>
          <p:nvPr/>
        </p:nvSpPr>
        <p:spPr>
          <a:xfrm>
            <a:off x="4434840" y="1170432"/>
            <a:ext cx="7208215" cy="237744"/>
          </a:xfrm>
          <a:prstGeom prst="rect">
            <a:avLst/>
          </a:prstGeom>
          <a:noFill/>
          <a:ln/>
        </p:spPr>
        <p:txBody>
          <a:bodyPr wrap="square" lIns="0" tIns="0" rIns="0" bIns="0" rtlCol="0" anchor="ctr"/>
          <a:lstStyle/>
          <a:p>
            <a:pPr indent="0" marL="0">
              <a:buNone/>
            </a:pPr>
            <a:r>
              <a:rPr lang="en-US" sz="1100" b="1" spc="200" kern="0" dirty="0">
                <a:solidFill>
                  <a:srgbClr val="E85D04"/>
                </a:solidFill>
                <a:latin typeface="Calibri" pitchFamily="34" charset="0"/>
                <a:ea typeface="Calibri" pitchFamily="34" charset="-122"/>
                <a:cs typeface="Calibri" pitchFamily="34" charset="-120"/>
              </a:rPr>
              <a:t>SHARE MY LOCATION</a:t>
            </a:r>
            <a:endParaRPr lang="en-US" sz="1100" dirty="0"/>
          </a:p>
        </p:txBody>
      </p:sp>
      <p:sp>
        <p:nvSpPr>
          <p:cNvPr id="37" name="Text 34"/>
          <p:cNvSpPr txBox="1"/>
          <p:nvPr/>
        </p:nvSpPr>
        <p:spPr>
          <a:xfrm>
            <a:off x="4434840" y="1463040"/>
            <a:ext cx="7208215" cy="457200"/>
          </a:xfrm>
          <a:prstGeom prst="rect">
            <a:avLst/>
          </a:prstGeom>
          <a:noFill/>
          <a:ln/>
        </p:spPr>
        <p:txBody>
          <a:bodyPr wrap="square" lIns="0" tIns="0" rIns="0" bIns="0" rtlCol="0" anchor="t"/>
          <a:lstStyle/>
          <a:p>
            <a:pPr indent="0" marL="0">
              <a:buNone/>
            </a:pPr>
            <a:r>
              <a:rPr lang="en-US" sz="3000" b="1" dirty="0">
                <a:solidFill>
                  <a:srgbClr val="16202B"/>
                </a:solidFill>
                <a:latin typeface="Calibri" pitchFamily="34" charset="0"/>
                <a:ea typeface="Calibri" pitchFamily="34" charset="-122"/>
                <a:cs typeface="Calibri" pitchFamily="34" charset="-120"/>
              </a:rPr>
              <a:t>Showing the driver where the rider is</a:t>
            </a:r>
            <a:endParaRPr lang="en-US" sz="3000" dirty="0"/>
          </a:p>
        </p:txBody>
      </p:sp>
      <p:sp>
        <p:nvSpPr>
          <p:cNvPr id="38" name="Text 35"/>
          <p:cNvSpPr txBox="1"/>
          <p:nvPr/>
        </p:nvSpPr>
        <p:spPr>
          <a:xfrm>
            <a:off x="4434840" y="2048256"/>
            <a:ext cx="7208215" cy="475488"/>
          </a:xfrm>
          <a:prstGeom prst="rect">
            <a:avLst/>
          </a:prstGeom>
          <a:noFill/>
          <a:ln/>
        </p:spPr>
        <p:txBody>
          <a:bodyPr wrap="square" lIns="0" tIns="0" rIns="0" bIns="0" rtlCol="0" anchor="t"/>
          <a:lstStyle/>
          <a:p>
            <a:pPr indent="0" marL="0">
              <a:buNone/>
            </a:pPr>
            <a:r>
              <a:rPr lang="en-US" sz="1500" dirty="0">
                <a:solidFill>
                  <a:srgbClr val="34465A"/>
                </a:solidFill>
                <a:latin typeface="Calibri" pitchFamily="34" charset="0"/>
                <a:ea typeface="Calibri" pitchFamily="34" charset="-122"/>
                <a:cs typeface="Calibri" pitchFamily="34" charset="-120"/>
              </a:rPr>
              <a:t>While the cab is on its way, the rider’s phone shares where they are with S. Kumar, so the driver can find them at a busy gate.</a:t>
            </a:r>
            <a:endParaRPr lang="en-US" sz="1500" dirty="0"/>
          </a:p>
        </p:txBody>
      </p:sp>
      <p:sp>
        <p:nvSpPr>
          <p:cNvPr id="39" name="Shape 36"/>
          <p:cNvSpPr/>
          <p:nvPr/>
        </p:nvSpPr>
        <p:spPr>
          <a:xfrm>
            <a:off x="4434840" y="2798064"/>
            <a:ext cx="7208215" cy="649224"/>
          </a:xfrm>
          <a:prstGeom prst="roundRect">
            <a:avLst>
              <a:gd name="adj" fmla="val 11268"/>
            </a:avLst>
          </a:prstGeom>
          <a:solidFill>
            <a:srgbClr val="F3F6F9"/>
          </a:solidFill>
          <a:ln w="6350">
            <a:solidFill>
              <a:srgbClr val="F3F6F9"/>
            </a:solidFill>
            <a:prstDash val="solid"/>
          </a:ln>
        </p:spPr>
      </p:sp>
      <p:sp>
        <p:nvSpPr>
          <p:cNvPr id="40" name="Shape 37"/>
          <p:cNvSpPr/>
          <p:nvPr/>
        </p:nvSpPr>
        <p:spPr>
          <a:xfrm>
            <a:off x="4599432" y="2916936"/>
            <a:ext cx="292608" cy="292608"/>
          </a:xfrm>
          <a:prstGeom prst="ellipse">
            <a:avLst/>
          </a:prstGeom>
          <a:solidFill>
            <a:srgbClr val="E85D04"/>
          </a:solidFill>
          <a:ln w="15875">
            <a:solidFill>
              <a:srgbClr val="FFFFFF"/>
            </a:solidFill>
            <a:prstDash val="solid"/>
          </a:ln>
        </p:spPr>
      </p:sp>
      <p:sp>
        <p:nvSpPr>
          <p:cNvPr id="41" name="Text 38"/>
          <p:cNvSpPr txBox="1"/>
          <p:nvPr/>
        </p:nvSpPr>
        <p:spPr>
          <a:xfrm>
            <a:off x="4599432" y="2916936"/>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42" name="Text 39"/>
          <p:cNvSpPr txBox="1"/>
          <p:nvPr/>
        </p:nvSpPr>
        <p:spPr>
          <a:xfrm>
            <a:off x="5029200" y="2907792"/>
            <a:ext cx="6430975" cy="274320"/>
          </a:xfrm>
          <a:prstGeom prst="rect">
            <a:avLst/>
          </a:prstGeom>
          <a:noFill/>
          <a:ln/>
        </p:spPr>
        <p:txBody>
          <a:bodyPr wrap="square" lIns="0" tIns="0" rIns="0" bIns="0" rtlCol="0" anchor="ctr"/>
          <a:lstStyle/>
          <a:p>
            <a:pPr indent="0" marL="0">
              <a:buNone/>
            </a:pPr>
            <a:r>
              <a:rPr lang="en-US" sz="1400" b="1" dirty="0">
                <a:solidFill>
                  <a:srgbClr val="16202B"/>
                </a:solidFill>
                <a:latin typeface="Calibri" pitchFamily="34" charset="0"/>
                <a:ea typeface="Calibri" pitchFamily="34" charset="-122"/>
                <a:cs typeface="Calibri" pitchFamily="34" charset="-120"/>
              </a:rPr>
              <a:t>Sharing with S. Kumar · C-12</a:t>
            </a:r>
            <a:endParaRPr lang="en-US" sz="1400" dirty="0"/>
          </a:p>
        </p:txBody>
      </p:sp>
      <p:sp>
        <p:nvSpPr>
          <p:cNvPr id="43" name="Text 40"/>
          <p:cNvSpPr txBox="1"/>
          <p:nvPr/>
        </p:nvSpPr>
        <p:spPr>
          <a:xfrm>
            <a:off x="5029200" y="3182112"/>
            <a:ext cx="6430975" cy="192024"/>
          </a:xfrm>
          <a:prstGeom prst="rect">
            <a:avLst/>
          </a:prstGeom>
          <a:noFill/>
          <a:ln/>
        </p:spPr>
        <p:txBody>
          <a:bodyPr wrap="square" lIns="0" tIns="0" rIns="0" bIns="0" rtlCol="0" anchor="t"/>
          <a:lstStyle/>
          <a:p>
            <a:pPr indent="0" marL="0">
              <a:buNone/>
            </a:pPr>
            <a:r>
              <a:rPr lang="en-US" sz="1200" dirty="0">
                <a:solidFill>
                  <a:srgbClr val="34465A"/>
                </a:solidFill>
                <a:latin typeface="Calibri" pitchFamily="34" charset="0"/>
                <a:ea typeface="Calibri" pitchFamily="34" charset="-122"/>
                <a:cs typeface="Calibri" pitchFamily="34" charset="-120"/>
              </a:rPr>
              <a:t>“You are 170 m from Gate 2”, updated every few seconds.</a:t>
            </a:r>
            <a:endParaRPr lang="en-US" sz="1200" dirty="0"/>
          </a:p>
        </p:txBody>
      </p:sp>
      <p:sp>
        <p:nvSpPr>
          <p:cNvPr id="44" name="Shape 41"/>
          <p:cNvSpPr/>
          <p:nvPr/>
        </p:nvSpPr>
        <p:spPr>
          <a:xfrm>
            <a:off x="4434840" y="3557016"/>
            <a:ext cx="7208215" cy="649224"/>
          </a:xfrm>
          <a:prstGeom prst="roundRect">
            <a:avLst>
              <a:gd name="adj" fmla="val 11268"/>
            </a:avLst>
          </a:prstGeom>
          <a:solidFill>
            <a:srgbClr val="F3F6F9"/>
          </a:solidFill>
          <a:ln w="6350">
            <a:solidFill>
              <a:srgbClr val="F3F6F9"/>
            </a:solidFill>
            <a:prstDash val="solid"/>
          </a:ln>
        </p:spPr>
      </p:sp>
      <p:sp>
        <p:nvSpPr>
          <p:cNvPr id="45" name="Shape 42"/>
          <p:cNvSpPr/>
          <p:nvPr/>
        </p:nvSpPr>
        <p:spPr>
          <a:xfrm>
            <a:off x="4599432" y="3675888"/>
            <a:ext cx="292608" cy="292608"/>
          </a:xfrm>
          <a:prstGeom prst="ellipse">
            <a:avLst/>
          </a:prstGeom>
          <a:solidFill>
            <a:srgbClr val="E85D04"/>
          </a:solidFill>
          <a:ln w="15875">
            <a:solidFill>
              <a:srgbClr val="FFFFFF"/>
            </a:solidFill>
            <a:prstDash val="solid"/>
          </a:ln>
        </p:spPr>
      </p:sp>
      <p:sp>
        <p:nvSpPr>
          <p:cNvPr id="46" name="Text 43"/>
          <p:cNvSpPr txBox="1"/>
          <p:nvPr/>
        </p:nvSpPr>
        <p:spPr>
          <a:xfrm>
            <a:off x="4599432" y="3675888"/>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47" name="Text 44"/>
          <p:cNvSpPr txBox="1"/>
          <p:nvPr/>
        </p:nvSpPr>
        <p:spPr>
          <a:xfrm>
            <a:off x="5029200" y="3666744"/>
            <a:ext cx="6430975" cy="274320"/>
          </a:xfrm>
          <a:prstGeom prst="rect">
            <a:avLst/>
          </a:prstGeom>
          <a:noFill/>
          <a:ln/>
        </p:spPr>
        <p:txBody>
          <a:bodyPr wrap="square" lIns="0" tIns="0" rIns="0" bIns="0" rtlCol="0" anchor="ctr"/>
          <a:lstStyle/>
          <a:p>
            <a:pPr indent="0" marL="0">
              <a:buNone/>
            </a:pPr>
            <a:r>
              <a:rPr lang="en-US" sz="1400" b="1" dirty="0">
                <a:solidFill>
                  <a:srgbClr val="16202B"/>
                </a:solidFill>
                <a:latin typeface="Calibri" pitchFamily="34" charset="0"/>
                <a:ea typeface="Calibri" pitchFamily="34" charset="-122"/>
                <a:cs typeface="Calibri" pitchFamily="34" charset="-120"/>
              </a:rPr>
              <a:t>Stop sharing</a:t>
            </a:r>
            <a:endParaRPr lang="en-US" sz="1400" dirty="0"/>
          </a:p>
        </p:txBody>
      </p:sp>
      <p:sp>
        <p:nvSpPr>
          <p:cNvPr id="48" name="Text 45"/>
          <p:cNvSpPr txBox="1"/>
          <p:nvPr/>
        </p:nvSpPr>
        <p:spPr>
          <a:xfrm>
            <a:off x="5029200" y="3941064"/>
            <a:ext cx="6430975" cy="192024"/>
          </a:xfrm>
          <a:prstGeom prst="rect">
            <a:avLst/>
          </a:prstGeom>
          <a:noFill/>
          <a:ln/>
        </p:spPr>
        <p:txBody>
          <a:bodyPr wrap="square" lIns="0" tIns="0" rIns="0" bIns="0" rtlCol="0" anchor="t"/>
          <a:lstStyle/>
          <a:p>
            <a:pPr indent="0" marL="0">
              <a:buNone/>
            </a:pPr>
            <a:r>
              <a:rPr lang="en-US" sz="1200" dirty="0">
                <a:solidFill>
                  <a:srgbClr val="34465A"/>
                </a:solidFill>
                <a:latin typeface="Calibri" pitchFamily="34" charset="0"/>
                <a:ea typeface="Calibri" pitchFamily="34" charset="-122"/>
                <a:cs typeface="Calibri" pitchFamily="34" charset="-120"/>
              </a:rPr>
              <a:t>One tap deletes the position; the driver stops seeing it at once.</a:t>
            </a:r>
            <a:endParaRPr lang="en-US" sz="1200" dirty="0"/>
          </a:p>
        </p:txBody>
      </p:sp>
      <p:sp>
        <p:nvSpPr>
          <p:cNvPr id="49" name="Shape 46"/>
          <p:cNvSpPr/>
          <p:nvPr/>
        </p:nvSpPr>
        <p:spPr>
          <a:xfrm>
            <a:off x="4434840" y="4315968"/>
            <a:ext cx="7208215" cy="649224"/>
          </a:xfrm>
          <a:prstGeom prst="roundRect">
            <a:avLst>
              <a:gd name="adj" fmla="val 11268"/>
            </a:avLst>
          </a:prstGeom>
          <a:solidFill>
            <a:srgbClr val="F3F6F9"/>
          </a:solidFill>
          <a:ln w="6350">
            <a:solidFill>
              <a:srgbClr val="F3F6F9"/>
            </a:solidFill>
            <a:prstDash val="solid"/>
          </a:ln>
        </p:spPr>
      </p:sp>
      <p:sp>
        <p:nvSpPr>
          <p:cNvPr id="50" name="Shape 47"/>
          <p:cNvSpPr/>
          <p:nvPr/>
        </p:nvSpPr>
        <p:spPr>
          <a:xfrm>
            <a:off x="4599432" y="4434840"/>
            <a:ext cx="292608" cy="292608"/>
          </a:xfrm>
          <a:prstGeom prst="ellipse">
            <a:avLst/>
          </a:prstGeom>
          <a:solidFill>
            <a:srgbClr val="E85D04"/>
          </a:solidFill>
          <a:ln w="15875">
            <a:solidFill>
              <a:srgbClr val="FFFFFF"/>
            </a:solidFill>
            <a:prstDash val="solid"/>
          </a:ln>
        </p:spPr>
      </p:sp>
      <p:sp>
        <p:nvSpPr>
          <p:cNvPr id="51" name="Text 48"/>
          <p:cNvSpPr txBox="1"/>
          <p:nvPr/>
        </p:nvSpPr>
        <p:spPr>
          <a:xfrm>
            <a:off x="4599432" y="443484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52" name="Text 49"/>
          <p:cNvSpPr txBox="1"/>
          <p:nvPr/>
        </p:nvSpPr>
        <p:spPr>
          <a:xfrm>
            <a:off x="5029200" y="4425696"/>
            <a:ext cx="6430975" cy="274320"/>
          </a:xfrm>
          <a:prstGeom prst="rect">
            <a:avLst/>
          </a:prstGeom>
          <a:noFill/>
          <a:ln/>
        </p:spPr>
        <p:txBody>
          <a:bodyPr wrap="square" lIns="0" tIns="0" rIns="0" bIns="0" rtlCol="0" anchor="ctr"/>
          <a:lstStyle/>
          <a:p>
            <a:pPr indent="0" marL="0">
              <a:buNone/>
            </a:pPr>
            <a:r>
              <a:rPr lang="en-US" sz="1400" b="1" dirty="0">
                <a:solidFill>
                  <a:srgbClr val="16202B"/>
                </a:solidFill>
                <a:latin typeface="Calibri" pitchFamily="34" charset="0"/>
                <a:ea typeface="Calibri" pitchFamily="34" charset="-122"/>
                <a:cs typeface="Calibri" pitchFamily="34" charset="-120"/>
              </a:rPr>
              <a:t>Driver and vehicle</a:t>
            </a:r>
            <a:endParaRPr lang="en-US" sz="1400" dirty="0"/>
          </a:p>
        </p:txBody>
      </p:sp>
      <p:sp>
        <p:nvSpPr>
          <p:cNvPr id="53" name="Text 50"/>
          <p:cNvSpPr txBox="1"/>
          <p:nvPr/>
        </p:nvSpPr>
        <p:spPr>
          <a:xfrm>
            <a:off x="5029200" y="4700016"/>
            <a:ext cx="6430975" cy="192024"/>
          </a:xfrm>
          <a:prstGeom prst="rect">
            <a:avLst/>
          </a:prstGeom>
          <a:noFill/>
          <a:ln/>
        </p:spPr>
        <p:txBody>
          <a:bodyPr wrap="square" lIns="0" tIns="0" rIns="0" bIns="0" rtlCol="0" anchor="t"/>
          <a:lstStyle/>
          <a:p>
            <a:pPr indent="0" marL="0">
              <a:buNone/>
            </a:pPr>
            <a:r>
              <a:rPr lang="en-US" sz="1200" dirty="0">
                <a:solidFill>
                  <a:srgbClr val="34465A"/>
                </a:solidFill>
                <a:latin typeface="Calibri" pitchFamily="34" charset="0"/>
                <a:ea typeface="Calibri" pitchFamily="34" charset="-122"/>
                <a:cs typeface="Calibri" pitchFamily="34" charset="-120"/>
              </a:rPr>
              <a:t>S. Kumar, phone number and fleet; MH 12 AB 4412; a Call button.</a:t>
            </a:r>
            <a:endParaRPr lang="en-US" sz="1200" dirty="0"/>
          </a:p>
        </p:txBody>
      </p:sp>
      <p:sp>
        <p:nvSpPr>
          <p:cNvPr id="54" name="Shape 51"/>
          <p:cNvSpPr/>
          <p:nvPr/>
        </p:nvSpPr>
        <p:spPr>
          <a:xfrm>
            <a:off x="4434840" y="5166360"/>
            <a:ext cx="7208215" cy="768096"/>
          </a:xfrm>
          <a:prstGeom prst="roundRect">
            <a:avLst>
              <a:gd name="adj" fmla="val 9524"/>
            </a:avLst>
          </a:prstGeom>
          <a:solidFill>
            <a:srgbClr val="FFEDE0"/>
          </a:solidFill>
          <a:ln w="6350">
            <a:solidFill>
              <a:srgbClr val="FFEDE0"/>
            </a:solidFill>
            <a:prstDash val="solid"/>
          </a:ln>
        </p:spPr>
      </p:sp>
      <p:sp>
        <p:nvSpPr>
          <p:cNvPr id="55" name="Text 52"/>
          <p:cNvSpPr txBox="1"/>
          <p:nvPr/>
        </p:nvSpPr>
        <p:spPr>
          <a:xfrm>
            <a:off x="4617720" y="5257800"/>
            <a:ext cx="6842455" cy="201168"/>
          </a:xfrm>
          <a:prstGeom prst="rect">
            <a:avLst/>
          </a:prstGeom>
          <a:noFill/>
          <a:ln/>
        </p:spPr>
        <p:txBody>
          <a:bodyPr wrap="square" lIns="0" tIns="0" rIns="0" bIns="0" rtlCol="0" anchor="ctr"/>
          <a:lstStyle/>
          <a:p>
            <a:pPr indent="0" marL="0">
              <a:buNone/>
            </a:pPr>
            <a:r>
              <a:rPr lang="en-US" sz="950" b="1" spc="150" kern="0" dirty="0">
                <a:solidFill>
                  <a:srgbClr val="B84A03"/>
                </a:solidFill>
                <a:latin typeface="Calibri" pitchFamily="34" charset="0"/>
                <a:ea typeface="Calibri" pitchFamily="34" charset="-122"/>
                <a:cs typeface="Calibri" pitchFamily="34" charset="-120"/>
              </a:rPr>
              <a:t>BEHIND THE SCENES</a:t>
            </a:r>
            <a:endParaRPr lang="en-US" sz="950" dirty="0"/>
          </a:p>
        </p:txBody>
      </p:sp>
      <p:sp>
        <p:nvSpPr>
          <p:cNvPr id="56" name="Text 53"/>
          <p:cNvSpPr txBox="1"/>
          <p:nvPr/>
        </p:nvSpPr>
        <p:spPr>
          <a:xfrm>
            <a:off x="4617720" y="5468112"/>
            <a:ext cx="6842455" cy="384048"/>
          </a:xfrm>
          <a:prstGeom prst="rect">
            <a:avLst/>
          </a:prstGeom>
          <a:noFill/>
          <a:ln/>
        </p:spPr>
        <p:txBody>
          <a:bodyPr wrap="square" lIns="0" tIns="0" rIns="0" bIns="0" rtlCol="0" anchor="t"/>
          <a:lstStyle/>
          <a:p>
            <a:pPr indent="0" marL="0">
              <a:buNone/>
            </a:pPr>
            <a:r>
              <a:rPr lang="en-US" sz="1200" dirty="0">
                <a:solidFill>
                  <a:srgbClr val="16202B"/>
                </a:solidFill>
                <a:latin typeface="Calibri" pitchFamily="34" charset="0"/>
                <a:ea typeface="Calibri" pitchFamily="34" charset="-122"/>
                <a:cs typeface="Calibri" pitchFamily="34" charset="-120"/>
              </a:rPr>
              <a:t>Only the driver of this cab sees it, and only until boarding. The desk and the tracking link never do.</a:t>
            </a:r>
            <a:endParaRPr lang="en-US" sz="1200" dirty="0"/>
          </a:p>
        </p:txBody>
      </p:sp>
      <p:sp>
        <p:nvSpPr>
          <p:cNvPr id="57" name="Text 54"/>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900" dirty="0">
                <a:solidFill>
                  <a:srgbClr val="5E6D7D"/>
                </a:solidFill>
                <a:latin typeface="Calibri" pitchFamily="34" charset="0"/>
                <a:ea typeface="Calibri" pitchFamily="34" charset="-122"/>
                <a:cs typeface="Calibri" pitchFamily="34" charset="-120"/>
              </a:rPr>
              <a:t>Plant Ride · Rider → Driver journey · recorded on the MVP with demo data</a:t>
            </a:r>
            <a:endParaRPr lang="en-US" sz="900" dirty="0"/>
          </a:p>
        </p:txBody>
      </p:sp>
      <p:sp>
        <p:nvSpPr>
          <p:cNvPr id="58" name="Text 55"/>
          <p:cNvSpPr txBox="1"/>
          <p:nvPr/>
        </p:nvSpPr>
        <p:spPr>
          <a:xfrm>
            <a:off x="11185855" y="6473952"/>
            <a:ext cx="457200" cy="228600"/>
          </a:xfrm>
          <a:prstGeom prst="rect">
            <a:avLst/>
          </a:prstGeom>
          <a:noFill/>
          <a:ln/>
        </p:spPr>
        <p:txBody>
          <a:bodyPr wrap="square" lIns="0" tIns="0" rIns="0" bIns="0" rtlCol="0" anchor="ctr"/>
          <a:lstStyle/>
          <a:p>
            <a:pPr algn="r" indent="0" marL="0">
              <a:buNone/>
            </a:pPr>
            <a:r>
              <a:rPr lang="en-US" sz="900" dirty="0">
                <a:solidFill>
                  <a:srgbClr val="5E6D7D"/>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50976" y="402336"/>
            <a:ext cx="2813925" cy="5961888"/>
          </a:xfrm>
          <a:prstGeom prst="roundRect">
            <a:avLst>
              <a:gd name="adj" fmla="val 5849"/>
            </a:avLst>
          </a:prstGeom>
          <a:solidFill>
            <a:srgbClr val="16202B"/>
          </a:solidFill>
          <a:ln w="9525">
            <a:solidFill>
              <a:srgbClr val="16202B"/>
            </a:solidFill>
            <a:prstDash val="solid"/>
          </a:ln>
          <a:effectLst>
            <a:outerShdw sx="100000" sy="100000" kx="0" ky="0" algn="bl" rotWithShape="0" blurRad="127000" dist="38100" dir="5400000">
              <a:srgbClr val="000000">
                <a:alpha val="20000"/>
              </a:srgbClr>
            </a:outerShdw>
          </a:effectLst>
        </p:spPr>
      </p:sp>
      <p:pic>
        <p:nvPicPr>
          <p:cNvPr id="3" name="Image 0" descr="Screenshot: r09-otp-link">    </p:cNvPr>
          <p:cNvPicPr>
            <a:picLocks noChangeAspect="1"/>
          </p:cNvPicPr>
          <p:nvPr/>
        </p:nvPicPr>
        <p:blipFill>
          <a:blip r:embed="rId1"/>
          <a:stretch>
            <a:fillRect/>
          </a:stretch>
        </p:blipFill>
        <p:spPr>
          <a:xfrm>
            <a:off x="1005840" y="457200"/>
            <a:ext cx="2704197" cy="5852160"/>
          </a:xfrm>
          <a:prstGeom prst="rect">
            <a:avLst/>
          </a:prstGeom>
        </p:spPr>
      </p:pic>
      <p:sp>
        <p:nvSpPr>
          <p:cNvPr id="4" name="Shape 1"/>
          <p:cNvSpPr/>
          <p:nvPr/>
        </p:nvSpPr>
        <p:spPr>
          <a:xfrm>
            <a:off x="822960" y="1039642"/>
            <a:ext cx="1117973" cy="914"/>
          </a:xfrm>
          <a:prstGeom prst="line">
            <a:avLst/>
          </a:prstGeom>
          <a:noFill/>
          <a:ln w="15875">
            <a:solidFill>
              <a:srgbClr val="E85D04"/>
            </a:solidFill>
            <a:prstDash val="solid"/>
          </a:ln>
        </p:spPr>
      </p:sp>
      <p:sp>
        <p:nvSpPr>
          <p:cNvPr id="5" name="Shape 2"/>
          <p:cNvSpPr/>
          <p:nvPr/>
        </p:nvSpPr>
        <p:spPr>
          <a:xfrm>
            <a:off x="1899785" y="998494"/>
            <a:ext cx="82296" cy="82296"/>
          </a:xfrm>
          <a:prstGeom prst="ellipse">
            <a:avLst/>
          </a:prstGeom>
          <a:solidFill>
            <a:srgbClr val="E85D04"/>
          </a:solidFill>
          <a:ln w="9525">
            <a:solidFill>
              <a:srgbClr val="FFFFFF"/>
            </a:solidFill>
            <a:prstDash val="solid"/>
          </a:ln>
        </p:spPr>
      </p:sp>
      <p:sp>
        <p:nvSpPr>
          <p:cNvPr id="6" name="Shape 3"/>
          <p:cNvSpPr/>
          <p:nvPr/>
        </p:nvSpPr>
        <p:spPr>
          <a:xfrm>
            <a:off x="548640" y="902482"/>
            <a:ext cx="274320" cy="274320"/>
          </a:xfrm>
          <a:prstGeom prst="ellipse">
            <a:avLst/>
          </a:prstGeom>
          <a:solidFill>
            <a:srgbClr val="E85D04"/>
          </a:solidFill>
          <a:ln w="15875">
            <a:solidFill>
              <a:srgbClr val="FFFFFF"/>
            </a:solidFill>
            <a:prstDash val="solid"/>
          </a:ln>
        </p:spPr>
      </p:sp>
      <p:sp>
        <p:nvSpPr>
          <p:cNvPr id="7" name="Text 4"/>
          <p:cNvSpPr txBox="1"/>
          <p:nvPr/>
        </p:nvSpPr>
        <p:spPr>
          <a:xfrm>
            <a:off x="548640" y="90248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8" name="Shape 5"/>
          <p:cNvSpPr/>
          <p:nvPr/>
        </p:nvSpPr>
        <p:spPr>
          <a:xfrm>
            <a:off x="822960" y="2357072"/>
            <a:ext cx="356226" cy="914"/>
          </a:xfrm>
          <a:prstGeom prst="line">
            <a:avLst/>
          </a:prstGeom>
          <a:noFill/>
          <a:ln w="15875">
            <a:solidFill>
              <a:srgbClr val="E85D04"/>
            </a:solidFill>
            <a:prstDash val="solid"/>
          </a:ln>
        </p:spPr>
      </p:sp>
      <p:sp>
        <p:nvSpPr>
          <p:cNvPr id="9" name="Shape 6"/>
          <p:cNvSpPr/>
          <p:nvPr/>
        </p:nvSpPr>
        <p:spPr>
          <a:xfrm>
            <a:off x="1138038" y="2315924"/>
            <a:ext cx="82296" cy="82296"/>
          </a:xfrm>
          <a:prstGeom prst="ellipse">
            <a:avLst/>
          </a:prstGeom>
          <a:solidFill>
            <a:srgbClr val="E85D04"/>
          </a:solidFill>
          <a:ln w="9525">
            <a:solidFill>
              <a:srgbClr val="FFFFFF"/>
            </a:solidFill>
            <a:prstDash val="solid"/>
          </a:ln>
        </p:spPr>
      </p:sp>
      <p:sp>
        <p:nvSpPr>
          <p:cNvPr id="10" name="Shape 7"/>
          <p:cNvSpPr/>
          <p:nvPr/>
        </p:nvSpPr>
        <p:spPr>
          <a:xfrm>
            <a:off x="548640" y="2219912"/>
            <a:ext cx="274320" cy="274320"/>
          </a:xfrm>
          <a:prstGeom prst="ellipse">
            <a:avLst/>
          </a:prstGeom>
          <a:solidFill>
            <a:srgbClr val="E85D04"/>
          </a:solidFill>
          <a:ln w="15875">
            <a:solidFill>
              <a:srgbClr val="FFFFFF"/>
            </a:solidFill>
            <a:prstDash val="solid"/>
          </a:ln>
        </p:spPr>
      </p:sp>
      <p:sp>
        <p:nvSpPr>
          <p:cNvPr id="11" name="Text 8"/>
          <p:cNvSpPr txBox="1"/>
          <p:nvPr/>
        </p:nvSpPr>
        <p:spPr>
          <a:xfrm>
            <a:off x="548640" y="221991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2" name="Shape 9"/>
          <p:cNvSpPr/>
          <p:nvPr/>
        </p:nvSpPr>
        <p:spPr>
          <a:xfrm>
            <a:off x="822960" y="3584361"/>
            <a:ext cx="238351" cy="914"/>
          </a:xfrm>
          <a:prstGeom prst="line">
            <a:avLst/>
          </a:prstGeom>
          <a:noFill/>
          <a:ln w="15875">
            <a:solidFill>
              <a:srgbClr val="E85D04"/>
            </a:solidFill>
            <a:prstDash val="solid"/>
          </a:ln>
        </p:spPr>
      </p:sp>
      <p:sp>
        <p:nvSpPr>
          <p:cNvPr id="13" name="Shape 10"/>
          <p:cNvSpPr/>
          <p:nvPr/>
        </p:nvSpPr>
        <p:spPr>
          <a:xfrm>
            <a:off x="1020163" y="3543213"/>
            <a:ext cx="82296" cy="82296"/>
          </a:xfrm>
          <a:prstGeom prst="ellipse">
            <a:avLst/>
          </a:prstGeom>
          <a:solidFill>
            <a:srgbClr val="E85D04"/>
          </a:solidFill>
          <a:ln w="9525">
            <a:solidFill>
              <a:srgbClr val="FFFFFF"/>
            </a:solidFill>
            <a:prstDash val="solid"/>
          </a:ln>
        </p:spPr>
      </p:sp>
      <p:sp>
        <p:nvSpPr>
          <p:cNvPr id="14" name="Shape 11"/>
          <p:cNvSpPr/>
          <p:nvPr/>
        </p:nvSpPr>
        <p:spPr>
          <a:xfrm>
            <a:off x="548640" y="3447201"/>
            <a:ext cx="274320" cy="274320"/>
          </a:xfrm>
          <a:prstGeom prst="ellipse">
            <a:avLst/>
          </a:prstGeom>
          <a:solidFill>
            <a:srgbClr val="E85D04"/>
          </a:solidFill>
          <a:ln w="15875">
            <a:solidFill>
              <a:srgbClr val="FFFFFF"/>
            </a:solidFill>
            <a:prstDash val="solid"/>
          </a:ln>
        </p:spPr>
      </p:sp>
      <p:sp>
        <p:nvSpPr>
          <p:cNvPr id="15" name="Text 12"/>
          <p:cNvSpPr txBox="1"/>
          <p:nvPr/>
        </p:nvSpPr>
        <p:spPr>
          <a:xfrm>
            <a:off x="548640" y="3447201"/>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6" name="Shape 13"/>
          <p:cNvSpPr/>
          <p:nvPr/>
        </p:nvSpPr>
        <p:spPr>
          <a:xfrm>
            <a:off x="4434840" y="457200"/>
            <a:ext cx="384048" cy="384048"/>
          </a:xfrm>
          <a:prstGeom prst="ellipse">
            <a:avLst/>
          </a:prstGeom>
          <a:solidFill>
            <a:srgbClr val="E85D04"/>
          </a:solidFill>
          <a:ln w="6350">
            <a:solidFill>
              <a:srgbClr val="E85D04"/>
            </a:solidFill>
            <a:prstDash val="solid"/>
          </a:ln>
        </p:spPr>
      </p:sp>
      <p:sp>
        <p:nvSpPr>
          <p:cNvPr id="17" name="Text 14"/>
          <p:cNvSpPr txBox="1"/>
          <p:nvPr/>
        </p:nvSpPr>
        <p:spPr>
          <a:xfrm>
            <a:off x="4434840" y="457200"/>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AR</a:t>
            </a:r>
            <a:endParaRPr lang="en-US" sz="1100" dirty="0"/>
          </a:p>
        </p:txBody>
      </p:sp>
      <p:sp>
        <p:nvSpPr>
          <p:cNvPr id="18" name="Text 15"/>
          <p:cNvSpPr txBox="1"/>
          <p:nvPr/>
        </p:nvSpPr>
        <p:spPr>
          <a:xfrm>
            <a:off x="4937760" y="457200"/>
            <a:ext cx="3291840" cy="384048"/>
          </a:xfrm>
          <a:prstGeom prst="rect">
            <a:avLst/>
          </a:prstGeom>
          <a:noFill/>
          <a:ln/>
        </p:spPr>
        <p:txBody>
          <a:bodyPr wrap="square" lIns="0" tIns="0" rIns="0" bIns="0" rtlCol="0" anchor="ctr"/>
          <a:lstStyle/>
          <a:p>
            <a:pPr indent="0" marL="0">
              <a:buNone/>
            </a:pPr>
            <a:r>
              <a:rPr lang="en-US" sz="1300" b="1" dirty="0">
                <a:solidFill>
                  <a:srgbClr val="E85D04"/>
                </a:solidFill>
                <a:latin typeface="Calibri" pitchFamily="34" charset="0"/>
                <a:ea typeface="Calibri" pitchFamily="34" charset="-122"/>
                <a:cs typeface="Calibri" pitchFamily="34" charset="-120"/>
              </a:rPr>
              <a:t>Rider  </a:t>
            </a:r>
            <a:pPr indent="0" marL="0">
              <a:buNone/>
            </a:pPr>
            <a:r>
              <a:rPr lang="en-US" sz="1300" b="1" dirty="0">
                <a:solidFill>
                  <a:srgbClr val="16202B"/>
                </a:solidFill>
                <a:latin typeface="Calibri" pitchFamily="34" charset="0"/>
                <a:ea typeface="Calibri" pitchFamily="34" charset="-122"/>
                <a:cs typeface="Calibri" pitchFamily="34" charset="-120"/>
              </a:rPr>
              <a:t>A. Raghavan</a:t>
            </a:r>
            <a:endParaRPr lang="en-US" sz="1300" dirty="0"/>
          </a:p>
        </p:txBody>
      </p:sp>
      <p:sp>
        <p:nvSpPr>
          <p:cNvPr id="19" name="Shape 16"/>
          <p:cNvSpPr/>
          <p:nvPr/>
        </p:nvSpPr>
        <p:spPr>
          <a:xfrm>
            <a:off x="8780983" y="585216"/>
            <a:ext cx="118872" cy="118872"/>
          </a:xfrm>
          <a:prstGeom prst="ellipse">
            <a:avLst/>
          </a:prstGeom>
          <a:solidFill>
            <a:srgbClr val="FFEDE0"/>
          </a:solidFill>
          <a:ln w="9525">
            <a:solidFill>
              <a:srgbClr val="E85D04"/>
            </a:solidFill>
            <a:prstDash val="solid"/>
          </a:ln>
        </p:spPr>
      </p:sp>
      <p:sp>
        <p:nvSpPr>
          <p:cNvPr id="20" name="Shape 17"/>
          <p:cNvSpPr/>
          <p:nvPr/>
        </p:nvSpPr>
        <p:spPr>
          <a:xfrm>
            <a:off x="8963863" y="585216"/>
            <a:ext cx="118872" cy="118872"/>
          </a:xfrm>
          <a:prstGeom prst="ellipse">
            <a:avLst/>
          </a:prstGeom>
          <a:solidFill>
            <a:srgbClr val="FFEDE0"/>
          </a:solidFill>
          <a:ln w="9525">
            <a:solidFill>
              <a:srgbClr val="E85D04"/>
            </a:solidFill>
            <a:prstDash val="solid"/>
          </a:ln>
        </p:spPr>
      </p:sp>
      <p:sp>
        <p:nvSpPr>
          <p:cNvPr id="21" name="Shape 18"/>
          <p:cNvSpPr/>
          <p:nvPr/>
        </p:nvSpPr>
        <p:spPr>
          <a:xfrm>
            <a:off x="9146743" y="585216"/>
            <a:ext cx="118872" cy="118872"/>
          </a:xfrm>
          <a:prstGeom prst="ellipse">
            <a:avLst/>
          </a:prstGeom>
          <a:solidFill>
            <a:srgbClr val="FFEDE0"/>
          </a:solidFill>
          <a:ln w="9525">
            <a:solidFill>
              <a:srgbClr val="E85D04"/>
            </a:solidFill>
            <a:prstDash val="solid"/>
          </a:ln>
        </p:spPr>
      </p:sp>
      <p:sp>
        <p:nvSpPr>
          <p:cNvPr id="22" name="Shape 19"/>
          <p:cNvSpPr/>
          <p:nvPr/>
        </p:nvSpPr>
        <p:spPr>
          <a:xfrm>
            <a:off x="9329623" y="585216"/>
            <a:ext cx="118872" cy="118872"/>
          </a:xfrm>
          <a:prstGeom prst="ellipse">
            <a:avLst/>
          </a:prstGeom>
          <a:solidFill>
            <a:srgbClr val="FFEDE0"/>
          </a:solidFill>
          <a:ln w="9525">
            <a:solidFill>
              <a:srgbClr val="E85D04"/>
            </a:solidFill>
            <a:prstDash val="solid"/>
          </a:ln>
        </p:spPr>
      </p:sp>
      <p:sp>
        <p:nvSpPr>
          <p:cNvPr id="23" name="Shape 20"/>
          <p:cNvSpPr/>
          <p:nvPr/>
        </p:nvSpPr>
        <p:spPr>
          <a:xfrm>
            <a:off x="9512503" y="585216"/>
            <a:ext cx="118872" cy="118872"/>
          </a:xfrm>
          <a:prstGeom prst="ellipse">
            <a:avLst/>
          </a:prstGeom>
          <a:solidFill>
            <a:srgbClr val="FFEDE0"/>
          </a:solidFill>
          <a:ln w="9525">
            <a:solidFill>
              <a:srgbClr val="E85D04"/>
            </a:solidFill>
            <a:prstDash val="solid"/>
          </a:ln>
        </p:spPr>
      </p:sp>
      <p:sp>
        <p:nvSpPr>
          <p:cNvPr id="24" name="Shape 21"/>
          <p:cNvSpPr/>
          <p:nvPr/>
        </p:nvSpPr>
        <p:spPr>
          <a:xfrm>
            <a:off x="9695383" y="585216"/>
            <a:ext cx="118872" cy="118872"/>
          </a:xfrm>
          <a:prstGeom prst="ellipse">
            <a:avLst/>
          </a:prstGeom>
          <a:solidFill>
            <a:srgbClr val="FFEDE0"/>
          </a:solidFill>
          <a:ln w="9525">
            <a:solidFill>
              <a:srgbClr val="E85D04"/>
            </a:solidFill>
            <a:prstDash val="solid"/>
          </a:ln>
        </p:spPr>
      </p:sp>
      <p:sp>
        <p:nvSpPr>
          <p:cNvPr id="25" name="Shape 22"/>
          <p:cNvSpPr/>
          <p:nvPr/>
        </p:nvSpPr>
        <p:spPr>
          <a:xfrm>
            <a:off x="9878263" y="585216"/>
            <a:ext cx="118872" cy="118872"/>
          </a:xfrm>
          <a:prstGeom prst="ellipse">
            <a:avLst/>
          </a:prstGeom>
          <a:solidFill>
            <a:srgbClr val="FFEDE0"/>
          </a:solidFill>
          <a:ln w="9525">
            <a:solidFill>
              <a:srgbClr val="E85D04"/>
            </a:solidFill>
            <a:prstDash val="solid"/>
          </a:ln>
        </p:spPr>
      </p:sp>
      <p:sp>
        <p:nvSpPr>
          <p:cNvPr id="26" name="Shape 23"/>
          <p:cNvSpPr/>
          <p:nvPr/>
        </p:nvSpPr>
        <p:spPr>
          <a:xfrm>
            <a:off x="10061143" y="585216"/>
            <a:ext cx="118872" cy="118872"/>
          </a:xfrm>
          <a:prstGeom prst="ellipse">
            <a:avLst/>
          </a:prstGeom>
          <a:solidFill>
            <a:srgbClr val="FFEDE0"/>
          </a:solidFill>
          <a:ln w="9525">
            <a:solidFill>
              <a:srgbClr val="E85D04"/>
            </a:solidFill>
            <a:prstDash val="solid"/>
          </a:ln>
        </p:spPr>
      </p:sp>
      <p:sp>
        <p:nvSpPr>
          <p:cNvPr id="27" name="Shape 24"/>
          <p:cNvSpPr/>
          <p:nvPr/>
        </p:nvSpPr>
        <p:spPr>
          <a:xfrm>
            <a:off x="10216591" y="557784"/>
            <a:ext cx="173736" cy="173736"/>
          </a:xfrm>
          <a:prstGeom prst="ellipse">
            <a:avLst/>
          </a:prstGeom>
          <a:solidFill>
            <a:srgbClr val="E85D04"/>
          </a:solidFill>
          <a:ln w="9525">
            <a:solidFill>
              <a:srgbClr val="E85D04"/>
            </a:solidFill>
            <a:prstDash val="solid"/>
          </a:ln>
        </p:spPr>
      </p:sp>
      <p:sp>
        <p:nvSpPr>
          <p:cNvPr id="28" name="Shape 25"/>
          <p:cNvSpPr/>
          <p:nvPr/>
        </p:nvSpPr>
        <p:spPr>
          <a:xfrm>
            <a:off x="10426903" y="585216"/>
            <a:ext cx="118872" cy="118872"/>
          </a:xfrm>
          <a:prstGeom prst="ellipse">
            <a:avLst/>
          </a:prstGeom>
          <a:solidFill>
            <a:srgbClr val="F3F6F9"/>
          </a:solidFill>
          <a:ln w="9525">
            <a:solidFill>
              <a:srgbClr val="DCE4EC"/>
            </a:solidFill>
            <a:prstDash val="solid"/>
          </a:ln>
        </p:spPr>
      </p:sp>
      <p:sp>
        <p:nvSpPr>
          <p:cNvPr id="29" name="Shape 26"/>
          <p:cNvSpPr/>
          <p:nvPr/>
        </p:nvSpPr>
        <p:spPr>
          <a:xfrm>
            <a:off x="10609783" y="585216"/>
            <a:ext cx="118872" cy="118872"/>
          </a:xfrm>
          <a:prstGeom prst="ellipse">
            <a:avLst/>
          </a:prstGeom>
          <a:solidFill>
            <a:srgbClr val="F3F6F9"/>
          </a:solidFill>
          <a:ln w="9525">
            <a:solidFill>
              <a:srgbClr val="DCE4EC"/>
            </a:solidFill>
            <a:prstDash val="solid"/>
          </a:ln>
        </p:spPr>
      </p:sp>
      <p:sp>
        <p:nvSpPr>
          <p:cNvPr id="30" name="Shape 27"/>
          <p:cNvSpPr/>
          <p:nvPr/>
        </p:nvSpPr>
        <p:spPr>
          <a:xfrm>
            <a:off x="10792663" y="585216"/>
            <a:ext cx="118872" cy="118872"/>
          </a:xfrm>
          <a:prstGeom prst="ellipse">
            <a:avLst/>
          </a:prstGeom>
          <a:solidFill>
            <a:srgbClr val="F3F6F9"/>
          </a:solidFill>
          <a:ln w="9525">
            <a:solidFill>
              <a:srgbClr val="DCE4EC"/>
            </a:solidFill>
            <a:prstDash val="solid"/>
          </a:ln>
        </p:spPr>
      </p:sp>
      <p:sp>
        <p:nvSpPr>
          <p:cNvPr id="31" name="Shape 28"/>
          <p:cNvSpPr/>
          <p:nvPr/>
        </p:nvSpPr>
        <p:spPr>
          <a:xfrm>
            <a:off x="10975543" y="585216"/>
            <a:ext cx="118872" cy="118872"/>
          </a:xfrm>
          <a:prstGeom prst="ellipse">
            <a:avLst/>
          </a:prstGeom>
          <a:solidFill>
            <a:srgbClr val="F3F6F9"/>
          </a:solidFill>
          <a:ln w="9525">
            <a:solidFill>
              <a:srgbClr val="DCE4EC"/>
            </a:solidFill>
            <a:prstDash val="solid"/>
          </a:ln>
        </p:spPr>
      </p:sp>
      <p:sp>
        <p:nvSpPr>
          <p:cNvPr id="32" name="Shape 29"/>
          <p:cNvSpPr/>
          <p:nvPr/>
        </p:nvSpPr>
        <p:spPr>
          <a:xfrm>
            <a:off x="11158423" y="585216"/>
            <a:ext cx="118872" cy="118872"/>
          </a:xfrm>
          <a:prstGeom prst="ellipse">
            <a:avLst/>
          </a:prstGeom>
          <a:solidFill>
            <a:srgbClr val="F3F6F9"/>
          </a:solidFill>
          <a:ln w="9525">
            <a:solidFill>
              <a:srgbClr val="DCE4EC"/>
            </a:solidFill>
            <a:prstDash val="solid"/>
          </a:ln>
        </p:spPr>
      </p:sp>
      <p:sp>
        <p:nvSpPr>
          <p:cNvPr id="33" name="Shape 30"/>
          <p:cNvSpPr/>
          <p:nvPr/>
        </p:nvSpPr>
        <p:spPr>
          <a:xfrm>
            <a:off x="11341303" y="585216"/>
            <a:ext cx="118872" cy="118872"/>
          </a:xfrm>
          <a:prstGeom prst="ellipse">
            <a:avLst/>
          </a:prstGeom>
          <a:solidFill>
            <a:srgbClr val="F3F6F9"/>
          </a:solidFill>
          <a:ln w="9525">
            <a:solidFill>
              <a:srgbClr val="DCE4EC"/>
            </a:solidFill>
            <a:prstDash val="solid"/>
          </a:ln>
        </p:spPr>
      </p:sp>
      <p:sp>
        <p:nvSpPr>
          <p:cNvPr id="34" name="Shape 31"/>
          <p:cNvSpPr/>
          <p:nvPr/>
        </p:nvSpPr>
        <p:spPr>
          <a:xfrm>
            <a:off x="11524183" y="585216"/>
            <a:ext cx="118872" cy="118872"/>
          </a:xfrm>
          <a:prstGeom prst="ellipse">
            <a:avLst/>
          </a:prstGeom>
          <a:solidFill>
            <a:srgbClr val="F3F6F9"/>
          </a:solidFill>
          <a:ln w="9525">
            <a:solidFill>
              <a:srgbClr val="DCE4EC"/>
            </a:solidFill>
            <a:prstDash val="solid"/>
          </a:ln>
        </p:spPr>
      </p:sp>
      <p:sp>
        <p:nvSpPr>
          <p:cNvPr id="35" name="Text 32"/>
          <p:cNvSpPr txBox="1"/>
          <p:nvPr/>
        </p:nvSpPr>
        <p:spPr>
          <a:xfrm>
            <a:off x="8780983" y="768096"/>
            <a:ext cx="2862072" cy="201168"/>
          </a:xfrm>
          <a:prstGeom prst="rect">
            <a:avLst/>
          </a:prstGeom>
          <a:noFill/>
          <a:ln/>
        </p:spPr>
        <p:txBody>
          <a:bodyPr wrap="square" lIns="0" tIns="0" rIns="0" bIns="0" rtlCol="0" anchor="ctr"/>
          <a:lstStyle/>
          <a:p>
            <a:pPr algn="r" indent="0" marL="0">
              <a:buNone/>
            </a:pPr>
            <a:r>
              <a:rPr lang="en-US" sz="950" dirty="0">
                <a:solidFill>
                  <a:srgbClr val="5E6D7D"/>
                </a:solidFill>
                <a:latin typeface="Calibri" pitchFamily="34" charset="0"/>
                <a:ea typeface="Calibri" pitchFamily="34" charset="-122"/>
                <a:cs typeface="Calibri" pitchFamily="34" charset="-120"/>
              </a:rPr>
              <a:t>Screen 9 of 16</a:t>
            </a:r>
            <a:endParaRPr lang="en-US" sz="950" dirty="0"/>
          </a:p>
        </p:txBody>
      </p:sp>
      <p:sp>
        <p:nvSpPr>
          <p:cNvPr id="36" name="Text 33"/>
          <p:cNvSpPr txBox="1"/>
          <p:nvPr/>
        </p:nvSpPr>
        <p:spPr>
          <a:xfrm>
            <a:off x="4434840" y="1170432"/>
            <a:ext cx="7208215" cy="237744"/>
          </a:xfrm>
          <a:prstGeom prst="rect">
            <a:avLst/>
          </a:prstGeom>
          <a:noFill/>
          <a:ln/>
        </p:spPr>
        <p:txBody>
          <a:bodyPr wrap="square" lIns="0" tIns="0" rIns="0" bIns="0" rtlCol="0" anchor="ctr"/>
          <a:lstStyle/>
          <a:p>
            <a:pPr indent="0" marL="0">
              <a:buNone/>
            </a:pPr>
            <a:r>
              <a:rPr lang="en-US" sz="1100" b="1" spc="200" kern="0" dirty="0">
                <a:solidFill>
                  <a:srgbClr val="E85D04"/>
                </a:solidFill>
                <a:latin typeface="Calibri" pitchFamily="34" charset="0"/>
                <a:ea typeface="Calibri" pitchFamily="34" charset="-122"/>
                <a:cs typeface="Calibri" pitchFamily="34" charset="-120"/>
              </a:rPr>
              <a:t>BOARDING CODE</a:t>
            </a:r>
            <a:endParaRPr lang="en-US" sz="1100" dirty="0"/>
          </a:p>
        </p:txBody>
      </p:sp>
      <p:sp>
        <p:nvSpPr>
          <p:cNvPr id="37" name="Text 34"/>
          <p:cNvSpPr txBox="1"/>
          <p:nvPr/>
        </p:nvSpPr>
        <p:spPr>
          <a:xfrm>
            <a:off x="4434840" y="1463040"/>
            <a:ext cx="7208215" cy="457200"/>
          </a:xfrm>
          <a:prstGeom prst="rect">
            <a:avLst/>
          </a:prstGeom>
          <a:noFill/>
          <a:ln/>
        </p:spPr>
        <p:txBody>
          <a:bodyPr wrap="square" lIns="0" tIns="0" rIns="0" bIns="0" rtlCol="0" anchor="t"/>
          <a:lstStyle/>
          <a:p>
            <a:pPr indent="0" marL="0">
              <a:buNone/>
            </a:pPr>
            <a:r>
              <a:rPr lang="en-US" sz="3000" b="1" dirty="0">
                <a:solidFill>
                  <a:srgbClr val="16202B"/>
                </a:solidFill>
                <a:latin typeface="Calibri" pitchFamily="34" charset="0"/>
                <a:ea typeface="Calibri" pitchFamily="34" charset="-122"/>
                <a:cs typeface="Calibri" pitchFamily="34" charset="-120"/>
              </a:rPr>
              <a:t>A boarding code and a tracking link</a:t>
            </a:r>
            <a:endParaRPr lang="en-US" sz="3000" dirty="0"/>
          </a:p>
        </p:txBody>
      </p:sp>
      <p:sp>
        <p:nvSpPr>
          <p:cNvPr id="38" name="Text 35"/>
          <p:cNvSpPr txBox="1"/>
          <p:nvPr/>
        </p:nvSpPr>
        <p:spPr>
          <a:xfrm>
            <a:off x="4434840" y="2048256"/>
            <a:ext cx="7208215" cy="475488"/>
          </a:xfrm>
          <a:prstGeom prst="rect">
            <a:avLst/>
          </a:prstGeom>
          <a:noFill/>
          <a:ln/>
        </p:spPr>
        <p:txBody>
          <a:bodyPr wrap="square" lIns="0" tIns="0" rIns="0" bIns="0" rtlCol="0" anchor="t"/>
          <a:lstStyle/>
          <a:p>
            <a:pPr indent="0" marL="0">
              <a:buNone/>
            </a:pPr>
            <a:r>
              <a:rPr lang="en-US" sz="1500" dirty="0">
                <a:solidFill>
                  <a:srgbClr val="34465A"/>
                </a:solidFill>
                <a:latin typeface="Calibri" pitchFamily="34" charset="0"/>
                <a:ea typeface="Calibri" pitchFamily="34" charset="-122"/>
                <a:cs typeface="Calibri" pitchFamily="34" charset="-120"/>
              </a:rPr>
              <a:t>A 4-digit code makes sure the right rider boards the right cab. The link can go to a host or family.</a:t>
            </a:r>
            <a:endParaRPr lang="en-US" sz="1500" dirty="0"/>
          </a:p>
        </p:txBody>
      </p:sp>
      <p:sp>
        <p:nvSpPr>
          <p:cNvPr id="39" name="Shape 36"/>
          <p:cNvSpPr/>
          <p:nvPr/>
        </p:nvSpPr>
        <p:spPr>
          <a:xfrm>
            <a:off x="4434840" y="2798064"/>
            <a:ext cx="7208215" cy="649224"/>
          </a:xfrm>
          <a:prstGeom prst="roundRect">
            <a:avLst>
              <a:gd name="adj" fmla="val 11268"/>
            </a:avLst>
          </a:prstGeom>
          <a:solidFill>
            <a:srgbClr val="F3F6F9"/>
          </a:solidFill>
          <a:ln w="6350">
            <a:solidFill>
              <a:srgbClr val="F3F6F9"/>
            </a:solidFill>
            <a:prstDash val="solid"/>
          </a:ln>
        </p:spPr>
      </p:sp>
      <p:sp>
        <p:nvSpPr>
          <p:cNvPr id="40" name="Shape 37"/>
          <p:cNvSpPr/>
          <p:nvPr/>
        </p:nvSpPr>
        <p:spPr>
          <a:xfrm>
            <a:off x="4599432" y="2916936"/>
            <a:ext cx="292608" cy="292608"/>
          </a:xfrm>
          <a:prstGeom prst="ellipse">
            <a:avLst/>
          </a:prstGeom>
          <a:solidFill>
            <a:srgbClr val="E85D04"/>
          </a:solidFill>
          <a:ln w="15875">
            <a:solidFill>
              <a:srgbClr val="FFFFFF"/>
            </a:solidFill>
            <a:prstDash val="solid"/>
          </a:ln>
        </p:spPr>
      </p:sp>
      <p:sp>
        <p:nvSpPr>
          <p:cNvPr id="41" name="Text 38"/>
          <p:cNvSpPr txBox="1"/>
          <p:nvPr/>
        </p:nvSpPr>
        <p:spPr>
          <a:xfrm>
            <a:off x="4599432" y="2916936"/>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42" name="Text 39"/>
          <p:cNvSpPr txBox="1"/>
          <p:nvPr/>
        </p:nvSpPr>
        <p:spPr>
          <a:xfrm>
            <a:off x="5029200" y="2907792"/>
            <a:ext cx="6430975" cy="274320"/>
          </a:xfrm>
          <a:prstGeom prst="rect">
            <a:avLst/>
          </a:prstGeom>
          <a:noFill/>
          <a:ln/>
        </p:spPr>
        <p:txBody>
          <a:bodyPr wrap="square" lIns="0" tIns="0" rIns="0" bIns="0" rtlCol="0" anchor="ctr"/>
          <a:lstStyle/>
          <a:p>
            <a:pPr indent="0" marL="0">
              <a:buNone/>
            </a:pPr>
            <a:r>
              <a:rPr lang="en-US" sz="1400" b="1" dirty="0">
                <a:solidFill>
                  <a:srgbClr val="16202B"/>
                </a:solidFill>
                <a:latin typeface="Calibri" pitchFamily="34" charset="0"/>
                <a:ea typeface="Calibri" pitchFamily="34" charset="-122"/>
                <a:cs typeface="Calibri" pitchFamily="34" charset="-120"/>
              </a:rPr>
              <a:t>Boarding OTP 0416</a:t>
            </a:r>
            <a:endParaRPr lang="en-US" sz="1400" dirty="0"/>
          </a:p>
        </p:txBody>
      </p:sp>
      <p:sp>
        <p:nvSpPr>
          <p:cNvPr id="43" name="Text 40"/>
          <p:cNvSpPr txBox="1"/>
          <p:nvPr/>
        </p:nvSpPr>
        <p:spPr>
          <a:xfrm>
            <a:off x="5029200" y="3182112"/>
            <a:ext cx="6430975" cy="192024"/>
          </a:xfrm>
          <a:prstGeom prst="rect">
            <a:avLst/>
          </a:prstGeom>
          <a:noFill/>
          <a:ln/>
        </p:spPr>
        <p:txBody>
          <a:bodyPr wrap="square" lIns="0" tIns="0" rIns="0" bIns="0" rtlCol="0" anchor="t"/>
          <a:lstStyle/>
          <a:p>
            <a:pPr indent="0" marL="0">
              <a:buNone/>
            </a:pPr>
            <a:r>
              <a:rPr lang="en-US" sz="1200" dirty="0">
                <a:solidFill>
                  <a:srgbClr val="34465A"/>
                </a:solidFill>
                <a:latin typeface="Calibri" pitchFamily="34" charset="0"/>
                <a:ea typeface="Calibri" pitchFamily="34" charset="-122"/>
                <a:cs typeface="Calibri" pitchFamily="34" charset="-120"/>
              </a:rPr>
              <a:t>Shown to the driver at the pickup.</a:t>
            </a:r>
            <a:endParaRPr lang="en-US" sz="1200" dirty="0"/>
          </a:p>
        </p:txBody>
      </p:sp>
      <p:sp>
        <p:nvSpPr>
          <p:cNvPr id="44" name="Shape 41"/>
          <p:cNvSpPr/>
          <p:nvPr/>
        </p:nvSpPr>
        <p:spPr>
          <a:xfrm>
            <a:off x="4434840" y="3557016"/>
            <a:ext cx="7208215" cy="649224"/>
          </a:xfrm>
          <a:prstGeom prst="roundRect">
            <a:avLst>
              <a:gd name="adj" fmla="val 11268"/>
            </a:avLst>
          </a:prstGeom>
          <a:solidFill>
            <a:srgbClr val="F3F6F9"/>
          </a:solidFill>
          <a:ln w="6350">
            <a:solidFill>
              <a:srgbClr val="F3F6F9"/>
            </a:solidFill>
            <a:prstDash val="solid"/>
          </a:ln>
        </p:spPr>
      </p:sp>
      <p:sp>
        <p:nvSpPr>
          <p:cNvPr id="45" name="Shape 42"/>
          <p:cNvSpPr/>
          <p:nvPr/>
        </p:nvSpPr>
        <p:spPr>
          <a:xfrm>
            <a:off x="4599432" y="3675888"/>
            <a:ext cx="292608" cy="292608"/>
          </a:xfrm>
          <a:prstGeom prst="ellipse">
            <a:avLst/>
          </a:prstGeom>
          <a:solidFill>
            <a:srgbClr val="E85D04"/>
          </a:solidFill>
          <a:ln w="15875">
            <a:solidFill>
              <a:srgbClr val="FFFFFF"/>
            </a:solidFill>
            <a:prstDash val="solid"/>
          </a:ln>
        </p:spPr>
      </p:sp>
      <p:sp>
        <p:nvSpPr>
          <p:cNvPr id="46" name="Text 43"/>
          <p:cNvSpPr txBox="1"/>
          <p:nvPr/>
        </p:nvSpPr>
        <p:spPr>
          <a:xfrm>
            <a:off x="4599432" y="3675888"/>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47" name="Text 44"/>
          <p:cNvSpPr txBox="1"/>
          <p:nvPr/>
        </p:nvSpPr>
        <p:spPr>
          <a:xfrm>
            <a:off x="5029200" y="3666744"/>
            <a:ext cx="6430975" cy="274320"/>
          </a:xfrm>
          <a:prstGeom prst="rect">
            <a:avLst/>
          </a:prstGeom>
          <a:noFill/>
          <a:ln/>
        </p:spPr>
        <p:txBody>
          <a:bodyPr wrap="square" lIns="0" tIns="0" rIns="0" bIns="0" rtlCol="0" anchor="ctr"/>
          <a:lstStyle/>
          <a:p>
            <a:pPr indent="0" marL="0">
              <a:buNone/>
            </a:pPr>
            <a:r>
              <a:rPr lang="en-US" sz="1400" b="1" dirty="0">
                <a:solidFill>
                  <a:srgbClr val="16202B"/>
                </a:solidFill>
                <a:latin typeface="Calibri" pitchFamily="34" charset="0"/>
                <a:ea typeface="Calibri" pitchFamily="34" charset="-122"/>
                <a:cs typeface="Calibri" pitchFamily="34" charset="-120"/>
              </a:rPr>
              <a:t>Live tracking link</a:t>
            </a:r>
            <a:endParaRPr lang="en-US" sz="1400" dirty="0"/>
          </a:p>
        </p:txBody>
      </p:sp>
      <p:sp>
        <p:nvSpPr>
          <p:cNvPr id="48" name="Text 45"/>
          <p:cNvSpPr txBox="1"/>
          <p:nvPr/>
        </p:nvSpPr>
        <p:spPr>
          <a:xfrm>
            <a:off x="5029200" y="3941064"/>
            <a:ext cx="6430975" cy="192024"/>
          </a:xfrm>
          <a:prstGeom prst="rect">
            <a:avLst/>
          </a:prstGeom>
          <a:noFill/>
          <a:ln/>
        </p:spPr>
        <p:txBody>
          <a:bodyPr wrap="square" lIns="0" tIns="0" rIns="0" bIns="0" rtlCol="0" anchor="t"/>
          <a:lstStyle/>
          <a:p>
            <a:pPr indent="0" marL="0">
              <a:buNone/>
            </a:pPr>
            <a:r>
              <a:rPr lang="en-US" sz="1200" dirty="0">
                <a:solidFill>
                  <a:srgbClr val="34465A"/>
                </a:solidFill>
                <a:latin typeface="Calibri" pitchFamily="34" charset="0"/>
                <a:ea typeface="Calibri" pitchFamily="34" charset="-122"/>
                <a:cs typeface="Calibri" pitchFamily="34" charset="-120"/>
              </a:rPr>
              <a:t>Shows the vehicle, never the people; expires when the trip closes.</a:t>
            </a:r>
            <a:endParaRPr lang="en-US" sz="1200" dirty="0"/>
          </a:p>
        </p:txBody>
      </p:sp>
      <p:sp>
        <p:nvSpPr>
          <p:cNvPr id="49" name="Shape 46"/>
          <p:cNvSpPr/>
          <p:nvPr/>
        </p:nvSpPr>
        <p:spPr>
          <a:xfrm>
            <a:off x="4434840" y="4315968"/>
            <a:ext cx="7208215" cy="649224"/>
          </a:xfrm>
          <a:prstGeom prst="roundRect">
            <a:avLst>
              <a:gd name="adj" fmla="val 11268"/>
            </a:avLst>
          </a:prstGeom>
          <a:solidFill>
            <a:srgbClr val="F3F6F9"/>
          </a:solidFill>
          <a:ln w="6350">
            <a:solidFill>
              <a:srgbClr val="F3F6F9"/>
            </a:solidFill>
            <a:prstDash val="solid"/>
          </a:ln>
        </p:spPr>
      </p:sp>
      <p:sp>
        <p:nvSpPr>
          <p:cNvPr id="50" name="Shape 47"/>
          <p:cNvSpPr/>
          <p:nvPr/>
        </p:nvSpPr>
        <p:spPr>
          <a:xfrm>
            <a:off x="4599432" y="4434840"/>
            <a:ext cx="292608" cy="292608"/>
          </a:xfrm>
          <a:prstGeom prst="ellipse">
            <a:avLst/>
          </a:prstGeom>
          <a:solidFill>
            <a:srgbClr val="E85D04"/>
          </a:solidFill>
          <a:ln w="15875">
            <a:solidFill>
              <a:srgbClr val="FFFFFF"/>
            </a:solidFill>
            <a:prstDash val="solid"/>
          </a:ln>
        </p:spPr>
      </p:sp>
      <p:sp>
        <p:nvSpPr>
          <p:cNvPr id="51" name="Text 48"/>
          <p:cNvSpPr txBox="1"/>
          <p:nvPr/>
        </p:nvSpPr>
        <p:spPr>
          <a:xfrm>
            <a:off x="4599432" y="443484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52" name="Text 49"/>
          <p:cNvSpPr txBox="1"/>
          <p:nvPr/>
        </p:nvSpPr>
        <p:spPr>
          <a:xfrm>
            <a:off x="5029200" y="4425696"/>
            <a:ext cx="6430975" cy="274320"/>
          </a:xfrm>
          <a:prstGeom prst="rect">
            <a:avLst/>
          </a:prstGeom>
          <a:noFill/>
          <a:ln/>
        </p:spPr>
        <p:txBody>
          <a:bodyPr wrap="square" lIns="0" tIns="0" rIns="0" bIns="0" rtlCol="0" anchor="ctr"/>
          <a:lstStyle/>
          <a:p>
            <a:pPr indent="0" marL="0">
              <a:buNone/>
            </a:pPr>
            <a:r>
              <a:rPr lang="en-US" sz="1400" b="1" dirty="0">
                <a:solidFill>
                  <a:srgbClr val="16202B"/>
                </a:solidFill>
                <a:latin typeface="Calibri" pitchFamily="34" charset="0"/>
                <a:ea typeface="Calibri" pitchFamily="34" charset="-122"/>
                <a:cs typeface="Calibri" pitchFamily="34" charset="-120"/>
              </a:rPr>
              <a:t>Stops on this run</a:t>
            </a:r>
            <a:endParaRPr lang="en-US" sz="1400" dirty="0"/>
          </a:p>
        </p:txBody>
      </p:sp>
      <p:sp>
        <p:nvSpPr>
          <p:cNvPr id="53" name="Text 50"/>
          <p:cNvSpPr txBox="1"/>
          <p:nvPr/>
        </p:nvSpPr>
        <p:spPr>
          <a:xfrm>
            <a:off x="5029200" y="4700016"/>
            <a:ext cx="6430975" cy="192024"/>
          </a:xfrm>
          <a:prstGeom prst="rect">
            <a:avLst/>
          </a:prstGeom>
          <a:noFill/>
          <a:ln/>
        </p:spPr>
        <p:txBody>
          <a:bodyPr wrap="square" lIns="0" tIns="0" rIns="0" bIns="0" rtlCol="0" anchor="t"/>
          <a:lstStyle/>
          <a:p>
            <a:pPr indent="0" marL="0">
              <a:buNone/>
            </a:pPr>
            <a:r>
              <a:rPr lang="en-US" sz="1200" dirty="0">
                <a:solidFill>
                  <a:srgbClr val="34465A"/>
                </a:solidFill>
                <a:latin typeface="Calibri" pitchFamily="34" charset="0"/>
                <a:ea typeface="Calibri" pitchFamily="34" charset="-122"/>
                <a:cs typeface="Calibri" pitchFamily="34" charset="-120"/>
              </a:rPr>
              <a:t>Gate 2, Coke Plant, Blast Furnace: sharing with 2 colleagues, 3 of 3 seats.</a:t>
            </a:r>
            <a:endParaRPr lang="en-US" sz="1200" dirty="0"/>
          </a:p>
        </p:txBody>
      </p:sp>
      <p:sp>
        <p:nvSpPr>
          <p:cNvPr id="54" name="Text 51"/>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900" dirty="0">
                <a:solidFill>
                  <a:srgbClr val="5E6D7D"/>
                </a:solidFill>
                <a:latin typeface="Calibri" pitchFamily="34" charset="0"/>
                <a:ea typeface="Calibri" pitchFamily="34" charset="-122"/>
                <a:cs typeface="Calibri" pitchFamily="34" charset="-120"/>
              </a:rPr>
              <a:t>Plant Ride · Rider → Driver journey · recorded on the MVP with demo data</a:t>
            </a:r>
            <a:endParaRPr lang="en-US" sz="900" dirty="0"/>
          </a:p>
        </p:txBody>
      </p:sp>
      <p:sp>
        <p:nvSpPr>
          <p:cNvPr id="55" name="Text 52"/>
          <p:cNvSpPr txBox="1"/>
          <p:nvPr/>
        </p:nvSpPr>
        <p:spPr>
          <a:xfrm>
            <a:off x="11185855" y="6473952"/>
            <a:ext cx="457200" cy="228600"/>
          </a:xfrm>
          <a:prstGeom prst="rect">
            <a:avLst/>
          </a:prstGeom>
          <a:noFill/>
          <a:ln/>
        </p:spPr>
        <p:txBody>
          <a:bodyPr wrap="square" lIns="0" tIns="0" rIns="0" bIns="0" rtlCol="0" anchor="ctr"/>
          <a:lstStyle/>
          <a:p>
            <a:pPr algn="r" indent="0" marL="0">
              <a:buNone/>
            </a:pPr>
            <a:r>
              <a:rPr lang="en-US" sz="900" dirty="0">
                <a:solidFill>
                  <a:srgbClr val="5E6D7D"/>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50976" y="402336"/>
            <a:ext cx="2813925" cy="5961888"/>
          </a:xfrm>
          <a:prstGeom prst="roundRect">
            <a:avLst>
              <a:gd name="adj" fmla="val 5849"/>
            </a:avLst>
          </a:prstGeom>
          <a:solidFill>
            <a:srgbClr val="16202B"/>
          </a:solidFill>
          <a:ln w="9525">
            <a:solidFill>
              <a:srgbClr val="16202B"/>
            </a:solidFill>
            <a:prstDash val="solid"/>
          </a:ln>
          <a:effectLst>
            <a:outerShdw sx="100000" sy="100000" kx="0" ky="0" algn="bl" rotWithShape="0" blurRad="127000" dist="38100" dir="5400000">
              <a:srgbClr val="000000">
                <a:alpha val="20000"/>
              </a:srgbClr>
            </a:outerShdw>
          </a:effectLst>
        </p:spPr>
      </p:sp>
      <p:pic>
        <p:nvPicPr>
          <p:cNvPr id="3" name="Image 0" descr="Screenshot: r10-cab-closer">    </p:cNvPr>
          <p:cNvPicPr>
            <a:picLocks noChangeAspect="1"/>
          </p:cNvPicPr>
          <p:nvPr/>
        </p:nvPicPr>
        <p:blipFill>
          <a:blip r:embed="rId1"/>
          <a:stretch>
            <a:fillRect/>
          </a:stretch>
        </p:blipFill>
        <p:spPr>
          <a:xfrm>
            <a:off x="1005840" y="457200"/>
            <a:ext cx="2704197" cy="5852160"/>
          </a:xfrm>
          <a:prstGeom prst="rect">
            <a:avLst/>
          </a:prstGeom>
        </p:spPr>
      </p:pic>
      <p:sp>
        <p:nvSpPr>
          <p:cNvPr id="4" name="Shape 1"/>
          <p:cNvSpPr/>
          <p:nvPr/>
        </p:nvSpPr>
        <p:spPr>
          <a:xfrm>
            <a:off x="822960" y="1247658"/>
            <a:ext cx="356226" cy="914"/>
          </a:xfrm>
          <a:prstGeom prst="line">
            <a:avLst/>
          </a:prstGeom>
          <a:noFill/>
          <a:ln w="15875">
            <a:solidFill>
              <a:srgbClr val="E85D04"/>
            </a:solidFill>
            <a:prstDash val="solid"/>
          </a:ln>
        </p:spPr>
      </p:sp>
      <p:sp>
        <p:nvSpPr>
          <p:cNvPr id="5" name="Shape 2"/>
          <p:cNvSpPr/>
          <p:nvPr/>
        </p:nvSpPr>
        <p:spPr>
          <a:xfrm>
            <a:off x="1138038" y="1206510"/>
            <a:ext cx="82296" cy="82296"/>
          </a:xfrm>
          <a:prstGeom prst="ellipse">
            <a:avLst/>
          </a:prstGeom>
          <a:solidFill>
            <a:srgbClr val="E85D04"/>
          </a:solidFill>
          <a:ln w="9525">
            <a:solidFill>
              <a:srgbClr val="FFFFFF"/>
            </a:solidFill>
            <a:prstDash val="solid"/>
          </a:ln>
        </p:spPr>
      </p:sp>
      <p:sp>
        <p:nvSpPr>
          <p:cNvPr id="6" name="Shape 3"/>
          <p:cNvSpPr/>
          <p:nvPr/>
        </p:nvSpPr>
        <p:spPr>
          <a:xfrm>
            <a:off x="548640" y="1110498"/>
            <a:ext cx="274320" cy="274320"/>
          </a:xfrm>
          <a:prstGeom prst="ellipse">
            <a:avLst/>
          </a:prstGeom>
          <a:solidFill>
            <a:srgbClr val="E85D04"/>
          </a:solidFill>
          <a:ln w="15875">
            <a:solidFill>
              <a:srgbClr val="FFFFFF"/>
            </a:solidFill>
            <a:prstDash val="solid"/>
          </a:ln>
        </p:spPr>
      </p:sp>
      <p:sp>
        <p:nvSpPr>
          <p:cNvPr id="7" name="Text 4"/>
          <p:cNvSpPr txBox="1"/>
          <p:nvPr/>
        </p:nvSpPr>
        <p:spPr>
          <a:xfrm>
            <a:off x="548640" y="111049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8" name="Shape 5"/>
          <p:cNvSpPr/>
          <p:nvPr/>
        </p:nvSpPr>
        <p:spPr>
          <a:xfrm flipV="1">
            <a:off x="822960" y="1414070"/>
            <a:ext cx="356226" cy="181060"/>
          </a:xfrm>
          <a:prstGeom prst="line">
            <a:avLst/>
          </a:prstGeom>
          <a:noFill/>
          <a:ln w="15875">
            <a:solidFill>
              <a:srgbClr val="E85D04"/>
            </a:solidFill>
            <a:prstDash val="solid"/>
          </a:ln>
        </p:spPr>
      </p:sp>
      <p:sp>
        <p:nvSpPr>
          <p:cNvPr id="9" name="Shape 6"/>
          <p:cNvSpPr/>
          <p:nvPr/>
        </p:nvSpPr>
        <p:spPr>
          <a:xfrm>
            <a:off x="1138038" y="1372922"/>
            <a:ext cx="82296" cy="82296"/>
          </a:xfrm>
          <a:prstGeom prst="ellipse">
            <a:avLst/>
          </a:prstGeom>
          <a:solidFill>
            <a:srgbClr val="E85D04"/>
          </a:solidFill>
          <a:ln w="9525">
            <a:solidFill>
              <a:srgbClr val="FFFFFF"/>
            </a:solidFill>
            <a:prstDash val="solid"/>
          </a:ln>
        </p:spPr>
      </p:sp>
      <p:sp>
        <p:nvSpPr>
          <p:cNvPr id="10" name="Shape 7"/>
          <p:cNvSpPr/>
          <p:nvPr/>
        </p:nvSpPr>
        <p:spPr>
          <a:xfrm>
            <a:off x="548640" y="1457970"/>
            <a:ext cx="274320" cy="274320"/>
          </a:xfrm>
          <a:prstGeom prst="ellipse">
            <a:avLst/>
          </a:prstGeom>
          <a:solidFill>
            <a:srgbClr val="E85D04"/>
          </a:solidFill>
          <a:ln w="15875">
            <a:solidFill>
              <a:srgbClr val="FFFFFF"/>
            </a:solidFill>
            <a:prstDash val="solid"/>
          </a:ln>
        </p:spPr>
      </p:sp>
      <p:sp>
        <p:nvSpPr>
          <p:cNvPr id="11" name="Text 8"/>
          <p:cNvSpPr txBox="1"/>
          <p:nvPr/>
        </p:nvSpPr>
        <p:spPr>
          <a:xfrm>
            <a:off x="548640" y="145797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2" name="Shape 9"/>
          <p:cNvSpPr/>
          <p:nvPr/>
        </p:nvSpPr>
        <p:spPr>
          <a:xfrm>
            <a:off x="822960" y="4215341"/>
            <a:ext cx="716786" cy="914"/>
          </a:xfrm>
          <a:prstGeom prst="line">
            <a:avLst/>
          </a:prstGeom>
          <a:noFill/>
          <a:ln w="15875">
            <a:solidFill>
              <a:srgbClr val="E85D04"/>
            </a:solidFill>
            <a:prstDash val="solid"/>
          </a:ln>
        </p:spPr>
      </p:sp>
      <p:sp>
        <p:nvSpPr>
          <p:cNvPr id="13" name="Shape 10"/>
          <p:cNvSpPr/>
          <p:nvPr/>
        </p:nvSpPr>
        <p:spPr>
          <a:xfrm>
            <a:off x="1498598" y="4174193"/>
            <a:ext cx="82296" cy="82296"/>
          </a:xfrm>
          <a:prstGeom prst="ellipse">
            <a:avLst/>
          </a:prstGeom>
          <a:solidFill>
            <a:srgbClr val="E85D04"/>
          </a:solidFill>
          <a:ln w="9525">
            <a:solidFill>
              <a:srgbClr val="FFFFFF"/>
            </a:solidFill>
            <a:prstDash val="solid"/>
          </a:ln>
        </p:spPr>
      </p:sp>
      <p:sp>
        <p:nvSpPr>
          <p:cNvPr id="14" name="Shape 11"/>
          <p:cNvSpPr/>
          <p:nvPr/>
        </p:nvSpPr>
        <p:spPr>
          <a:xfrm>
            <a:off x="548640" y="4078181"/>
            <a:ext cx="274320" cy="274320"/>
          </a:xfrm>
          <a:prstGeom prst="ellipse">
            <a:avLst/>
          </a:prstGeom>
          <a:solidFill>
            <a:srgbClr val="E85D04"/>
          </a:solidFill>
          <a:ln w="15875">
            <a:solidFill>
              <a:srgbClr val="FFFFFF"/>
            </a:solidFill>
            <a:prstDash val="solid"/>
          </a:ln>
        </p:spPr>
      </p:sp>
      <p:sp>
        <p:nvSpPr>
          <p:cNvPr id="15" name="Text 12"/>
          <p:cNvSpPr txBox="1"/>
          <p:nvPr/>
        </p:nvSpPr>
        <p:spPr>
          <a:xfrm>
            <a:off x="548640" y="4078181"/>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6" name="Shape 13"/>
          <p:cNvSpPr/>
          <p:nvPr/>
        </p:nvSpPr>
        <p:spPr>
          <a:xfrm>
            <a:off x="4434840" y="457200"/>
            <a:ext cx="384048" cy="384048"/>
          </a:xfrm>
          <a:prstGeom prst="ellipse">
            <a:avLst/>
          </a:prstGeom>
          <a:solidFill>
            <a:srgbClr val="E85D04"/>
          </a:solidFill>
          <a:ln w="6350">
            <a:solidFill>
              <a:srgbClr val="E85D04"/>
            </a:solidFill>
            <a:prstDash val="solid"/>
          </a:ln>
        </p:spPr>
      </p:sp>
      <p:sp>
        <p:nvSpPr>
          <p:cNvPr id="17" name="Text 14"/>
          <p:cNvSpPr txBox="1"/>
          <p:nvPr/>
        </p:nvSpPr>
        <p:spPr>
          <a:xfrm>
            <a:off x="4434840" y="457200"/>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AR</a:t>
            </a:r>
            <a:endParaRPr lang="en-US" sz="1100" dirty="0"/>
          </a:p>
        </p:txBody>
      </p:sp>
      <p:sp>
        <p:nvSpPr>
          <p:cNvPr id="18" name="Text 15"/>
          <p:cNvSpPr txBox="1"/>
          <p:nvPr/>
        </p:nvSpPr>
        <p:spPr>
          <a:xfrm>
            <a:off x="4937760" y="457200"/>
            <a:ext cx="3291840" cy="384048"/>
          </a:xfrm>
          <a:prstGeom prst="rect">
            <a:avLst/>
          </a:prstGeom>
          <a:noFill/>
          <a:ln/>
        </p:spPr>
        <p:txBody>
          <a:bodyPr wrap="square" lIns="0" tIns="0" rIns="0" bIns="0" rtlCol="0" anchor="ctr"/>
          <a:lstStyle/>
          <a:p>
            <a:pPr indent="0" marL="0">
              <a:buNone/>
            </a:pPr>
            <a:r>
              <a:rPr lang="en-US" sz="1300" b="1" dirty="0">
                <a:solidFill>
                  <a:srgbClr val="E85D04"/>
                </a:solidFill>
                <a:latin typeface="Calibri" pitchFamily="34" charset="0"/>
                <a:ea typeface="Calibri" pitchFamily="34" charset="-122"/>
                <a:cs typeface="Calibri" pitchFamily="34" charset="-120"/>
              </a:rPr>
              <a:t>Rider  </a:t>
            </a:r>
            <a:pPr indent="0" marL="0">
              <a:buNone/>
            </a:pPr>
            <a:r>
              <a:rPr lang="en-US" sz="1300" b="1" dirty="0">
                <a:solidFill>
                  <a:srgbClr val="16202B"/>
                </a:solidFill>
                <a:latin typeface="Calibri" pitchFamily="34" charset="0"/>
                <a:ea typeface="Calibri" pitchFamily="34" charset="-122"/>
                <a:cs typeface="Calibri" pitchFamily="34" charset="-120"/>
              </a:rPr>
              <a:t>A. Raghavan</a:t>
            </a:r>
            <a:endParaRPr lang="en-US" sz="1300" dirty="0"/>
          </a:p>
        </p:txBody>
      </p:sp>
      <p:sp>
        <p:nvSpPr>
          <p:cNvPr id="19" name="Shape 16"/>
          <p:cNvSpPr/>
          <p:nvPr/>
        </p:nvSpPr>
        <p:spPr>
          <a:xfrm>
            <a:off x="8780983" y="585216"/>
            <a:ext cx="118872" cy="118872"/>
          </a:xfrm>
          <a:prstGeom prst="ellipse">
            <a:avLst/>
          </a:prstGeom>
          <a:solidFill>
            <a:srgbClr val="FFEDE0"/>
          </a:solidFill>
          <a:ln w="9525">
            <a:solidFill>
              <a:srgbClr val="E85D04"/>
            </a:solidFill>
            <a:prstDash val="solid"/>
          </a:ln>
        </p:spPr>
      </p:sp>
      <p:sp>
        <p:nvSpPr>
          <p:cNvPr id="20" name="Shape 17"/>
          <p:cNvSpPr/>
          <p:nvPr/>
        </p:nvSpPr>
        <p:spPr>
          <a:xfrm>
            <a:off x="8963863" y="585216"/>
            <a:ext cx="118872" cy="118872"/>
          </a:xfrm>
          <a:prstGeom prst="ellipse">
            <a:avLst/>
          </a:prstGeom>
          <a:solidFill>
            <a:srgbClr val="FFEDE0"/>
          </a:solidFill>
          <a:ln w="9525">
            <a:solidFill>
              <a:srgbClr val="E85D04"/>
            </a:solidFill>
            <a:prstDash val="solid"/>
          </a:ln>
        </p:spPr>
      </p:sp>
      <p:sp>
        <p:nvSpPr>
          <p:cNvPr id="21" name="Shape 18"/>
          <p:cNvSpPr/>
          <p:nvPr/>
        </p:nvSpPr>
        <p:spPr>
          <a:xfrm>
            <a:off x="9146743" y="585216"/>
            <a:ext cx="118872" cy="118872"/>
          </a:xfrm>
          <a:prstGeom prst="ellipse">
            <a:avLst/>
          </a:prstGeom>
          <a:solidFill>
            <a:srgbClr val="FFEDE0"/>
          </a:solidFill>
          <a:ln w="9525">
            <a:solidFill>
              <a:srgbClr val="E85D04"/>
            </a:solidFill>
            <a:prstDash val="solid"/>
          </a:ln>
        </p:spPr>
      </p:sp>
      <p:sp>
        <p:nvSpPr>
          <p:cNvPr id="22" name="Shape 19"/>
          <p:cNvSpPr/>
          <p:nvPr/>
        </p:nvSpPr>
        <p:spPr>
          <a:xfrm>
            <a:off x="9329623" y="585216"/>
            <a:ext cx="118872" cy="118872"/>
          </a:xfrm>
          <a:prstGeom prst="ellipse">
            <a:avLst/>
          </a:prstGeom>
          <a:solidFill>
            <a:srgbClr val="FFEDE0"/>
          </a:solidFill>
          <a:ln w="9525">
            <a:solidFill>
              <a:srgbClr val="E85D04"/>
            </a:solidFill>
            <a:prstDash val="solid"/>
          </a:ln>
        </p:spPr>
      </p:sp>
      <p:sp>
        <p:nvSpPr>
          <p:cNvPr id="23" name="Shape 20"/>
          <p:cNvSpPr/>
          <p:nvPr/>
        </p:nvSpPr>
        <p:spPr>
          <a:xfrm>
            <a:off x="9512503" y="585216"/>
            <a:ext cx="118872" cy="118872"/>
          </a:xfrm>
          <a:prstGeom prst="ellipse">
            <a:avLst/>
          </a:prstGeom>
          <a:solidFill>
            <a:srgbClr val="FFEDE0"/>
          </a:solidFill>
          <a:ln w="9525">
            <a:solidFill>
              <a:srgbClr val="E85D04"/>
            </a:solidFill>
            <a:prstDash val="solid"/>
          </a:ln>
        </p:spPr>
      </p:sp>
      <p:sp>
        <p:nvSpPr>
          <p:cNvPr id="24" name="Shape 21"/>
          <p:cNvSpPr/>
          <p:nvPr/>
        </p:nvSpPr>
        <p:spPr>
          <a:xfrm>
            <a:off x="9695383" y="585216"/>
            <a:ext cx="118872" cy="118872"/>
          </a:xfrm>
          <a:prstGeom prst="ellipse">
            <a:avLst/>
          </a:prstGeom>
          <a:solidFill>
            <a:srgbClr val="FFEDE0"/>
          </a:solidFill>
          <a:ln w="9525">
            <a:solidFill>
              <a:srgbClr val="E85D04"/>
            </a:solidFill>
            <a:prstDash val="solid"/>
          </a:ln>
        </p:spPr>
      </p:sp>
      <p:sp>
        <p:nvSpPr>
          <p:cNvPr id="25" name="Shape 22"/>
          <p:cNvSpPr/>
          <p:nvPr/>
        </p:nvSpPr>
        <p:spPr>
          <a:xfrm>
            <a:off x="9878263" y="585216"/>
            <a:ext cx="118872" cy="118872"/>
          </a:xfrm>
          <a:prstGeom prst="ellipse">
            <a:avLst/>
          </a:prstGeom>
          <a:solidFill>
            <a:srgbClr val="FFEDE0"/>
          </a:solidFill>
          <a:ln w="9525">
            <a:solidFill>
              <a:srgbClr val="E85D04"/>
            </a:solidFill>
            <a:prstDash val="solid"/>
          </a:ln>
        </p:spPr>
      </p:sp>
      <p:sp>
        <p:nvSpPr>
          <p:cNvPr id="26" name="Shape 23"/>
          <p:cNvSpPr/>
          <p:nvPr/>
        </p:nvSpPr>
        <p:spPr>
          <a:xfrm>
            <a:off x="10061143" y="585216"/>
            <a:ext cx="118872" cy="118872"/>
          </a:xfrm>
          <a:prstGeom prst="ellipse">
            <a:avLst/>
          </a:prstGeom>
          <a:solidFill>
            <a:srgbClr val="FFEDE0"/>
          </a:solidFill>
          <a:ln w="9525">
            <a:solidFill>
              <a:srgbClr val="E85D04"/>
            </a:solidFill>
            <a:prstDash val="solid"/>
          </a:ln>
        </p:spPr>
      </p:sp>
      <p:sp>
        <p:nvSpPr>
          <p:cNvPr id="27" name="Shape 24"/>
          <p:cNvSpPr/>
          <p:nvPr/>
        </p:nvSpPr>
        <p:spPr>
          <a:xfrm>
            <a:off x="10244023" y="585216"/>
            <a:ext cx="118872" cy="118872"/>
          </a:xfrm>
          <a:prstGeom prst="ellipse">
            <a:avLst/>
          </a:prstGeom>
          <a:solidFill>
            <a:srgbClr val="FFEDE0"/>
          </a:solidFill>
          <a:ln w="9525">
            <a:solidFill>
              <a:srgbClr val="E85D04"/>
            </a:solidFill>
            <a:prstDash val="solid"/>
          </a:ln>
        </p:spPr>
      </p:sp>
      <p:sp>
        <p:nvSpPr>
          <p:cNvPr id="28" name="Shape 25"/>
          <p:cNvSpPr/>
          <p:nvPr/>
        </p:nvSpPr>
        <p:spPr>
          <a:xfrm>
            <a:off x="10399471" y="557784"/>
            <a:ext cx="173736" cy="173736"/>
          </a:xfrm>
          <a:prstGeom prst="ellipse">
            <a:avLst/>
          </a:prstGeom>
          <a:solidFill>
            <a:srgbClr val="E85D04"/>
          </a:solidFill>
          <a:ln w="9525">
            <a:solidFill>
              <a:srgbClr val="E85D04"/>
            </a:solidFill>
            <a:prstDash val="solid"/>
          </a:ln>
        </p:spPr>
      </p:sp>
      <p:sp>
        <p:nvSpPr>
          <p:cNvPr id="29" name="Shape 26"/>
          <p:cNvSpPr/>
          <p:nvPr/>
        </p:nvSpPr>
        <p:spPr>
          <a:xfrm>
            <a:off x="10609783" y="585216"/>
            <a:ext cx="118872" cy="118872"/>
          </a:xfrm>
          <a:prstGeom prst="ellipse">
            <a:avLst/>
          </a:prstGeom>
          <a:solidFill>
            <a:srgbClr val="F3F6F9"/>
          </a:solidFill>
          <a:ln w="9525">
            <a:solidFill>
              <a:srgbClr val="DCE4EC"/>
            </a:solidFill>
            <a:prstDash val="solid"/>
          </a:ln>
        </p:spPr>
      </p:sp>
      <p:sp>
        <p:nvSpPr>
          <p:cNvPr id="30" name="Shape 27"/>
          <p:cNvSpPr/>
          <p:nvPr/>
        </p:nvSpPr>
        <p:spPr>
          <a:xfrm>
            <a:off x="10792663" y="585216"/>
            <a:ext cx="118872" cy="118872"/>
          </a:xfrm>
          <a:prstGeom prst="ellipse">
            <a:avLst/>
          </a:prstGeom>
          <a:solidFill>
            <a:srgbClr val="F3F6F9"/>
          </a:solidFill>
          <a:ln w="9525">
            <a:solidFill>
              <a:srgbClr val="DCE4EC"/>
            </a:solidFill>
            <a:prstDash val="solid"/>
          </a:ln>
        </p:spPr>
      </p:sp>
      <p:sp>
        <p:nvSpPr>
          <p:cNvPr id="31" name="Shape 28"/>
          <p:cNvSpPr/>
          <p:nvPr/>
        </p:nvSpPr>
        <p:spPr>
          <a:xfrm>
            <a:off x="10975543" y="585216"/>
            <a:ext cx="118872" cy="118872"/>
          </a:xfrm>
          <a:prstGeom prst="ellipse">
            <a:avLst/>
          </a:prstGeom>
          <a:solidFill>
            <a:srgbClr val="F3F6F9"/>
          </a:solidFill>
          <a:ln w="9525">
            <a:solidFill>
              <a:srgbClr val="DCE4EC"/>
            </a:solidFill>
            <a:prstDash val="solid"/>
          </a:ln>
        </p:spPr>
      </p:sp>
      <p:sp>
        <p:nvSpPr>
          <p:cNvPr id="32" name="Shape 29"/>
          <p:cNvSpPr/>
          <p:nvPr/>
        </p:nvSpPr>
        <p:spPr>
          <a:xfrm>
            <a:off x="11158423" y="585216"/>
            <a:ext cx="118872" cy="118872"/>
          </a:xfrm>
          <a:prstGeom prst="ellipse">
            <a:avLst/>
          </a:prstGeom>
          <a:solidFill>
            <a:srgbClr val="F3F6F9"/>
          </a:solidFill>
          <a:ln w="9525">
            <a:solidFill>
              <a:srgbClr val="DCE4EC"/>
            </a:solidFill>
            <a:prstDash val="solid"/>
          </a:ln>
        </p:spPr>
      </p:sp>
      <p:sp>
        <p:nvSpPr>
          <p:cNvPr id="33" name="Shape 30"/>
          <p:cNvSpPr/>
          <p:nvPr/>
        </p:nvSpPr>
        <p:spPr>
          <a:xfrm>
            <a:off x="11341303" y="585216"/>
            <a:ext cx="118872" cy="118872"/>
          </a:xfrm>
          <a:prstGeom prst="ellipse">
            <a:avLst/>
          </a:prstGeom>
          <a:solidFill>
            <a:srgbClr val="F3F6F9"/>
          </a:solidFill>
          <a:ln w="9525">
            <a:solidFill>
              <a:srgbClr val="DCE4EC"/>
            </a:solidFill>
            <a:prstDash val="solid"/>
          </a:ln>
        </p:spPr>
      </p:sp>
      <p:sp>
        <p:nvSpPr>
          <p:cNvPr id="34" name="Shape 31"/>
          <p:cNvSpPr/>
          <p:nvPr/>
        </p:nvSpPr>
        <p:spPr>
          <a:xfrm>
            <a:off x="11524183" y="585216"/>
            <a:ext cx="118872" cy="118872"/>
          </a:xfrm>
          <a:prstGeom prst="ellipse">
            <a:avLst/>
          </a:prstGeom>
          <a:solidFill>
            <a:srgbClr val="F3F6F9"/>
          </a:solidFill>
          <a:ln w="9525">
            <a:solidFill>
              <a:srgbClr val="DCE4EC"/>
            </a:solidFill>
            <a:prstDash val="solid"/>
          </a:ln>
        </p:spPr>
      </p:sp>
      <p:sp>
        <p:nvSpPr>
          <p:cNvPr id="35" name="Text 32"/>
          <p:cNvSpPr txBox="1"/>
          <p:nvPr/>
        </p:nvSpPr>
        <p:spPr>
          <a:xfrm>
            <a:off x="8780983" y="768096"/>
            <a:ext cx="2862072" cy="201168"/>
          </a:xfrm>
          <a:prstGeom prst="rect">
            <a:avLst/>
          </a:prstGeom>
          <a:noFill/>
          <a:ln/>
        </p:spPr>
        <p:txBody>
          <a:bodyPr wrap="square" lIns="0" tIns="0" rIns="0" bIns="0" rtlCol="0" anchor="ctr"/>
          <a:lstStyle/>
          <a:p>
            <a:pPr algn="r" indent="0" marL="0">
              <a:buNone/>
            </a:pPr>
            <a:r>
              <a:rPr lang="en-US" sz="950" dirty="0">
                <a:solidFill>
                  <a:srgbClr val="5E6D7D"/>
                </a:solidFill>
                <a:latin typeface="Calibri" pitchFamily="34" charset="0"/>
                <a:ea typeface="Calibri" pitchFamily="34" charset="-122"/>
                <a:cs typeface="Calibri" pitchFamily="34" charset="-120"/>
              </a:rPr>
              <a:t>Screen 10 of 16</a:t>
            </a:r>
            <a:endParaRPr lang="en-US" sz="950" dirty="0"/>
          </a:p>
        </p:txBody>
      </p:sp>
      <p:sp>
        <p:nvSpPr>
          <p:cNvPr id="36" name="Text 33"/>
          <p:cNvSpPr txBox="1"/>
          <p:nvPr/>
        </p:nvSpPr>
        <p:spPr>
          <a:xfrm>
            <a:off x="4434840" y="1170432"/>
            <a:ext cx="7208215" cy="237744"/>
          </a:xfrm>
          <a:prstGeom prst="rect">
            <a:avLst/>
          </a:prstGeom>
          <a:noFill/>
          <a:ln/>
        </p:spPr>
        <p:txBody>
          <a:bodyPr wrap="square" lIns="0" tIns="0" rIns="0" bIns="0" rtlCol="0" anchor="ctr"/>
          <a:lstStyle/>
          <a:p>
            <a:pPr indent="0" marL="0">
              <a:buNone/>
            </a:pPr>
            <a:r>
              <a:rPr lang="en-US" sz="1100" b="1" spc="200" kern="0" dirty="0">
                <a:solidFill>
                  <a:srgbClr val="E85D04"/>
                </a:solidFill>
                <a:latin typeface="Calibri" pitchFamily="34" charset="0"/>
                <a:ea typeface="Calibri" pitchFamily="34" charset="-122"/>
                <a:cs typeface="Calibri" pitchFamily="34" charset="-120"/>
              </a:rPr>
              <a:t>CAB APPROACHING</a:t>
            </a:r>
            <a:endParaRPr lang="en-US" sz="1100" dirty="0"/>
          </a:p>
        </p:txBody>
      </p:sp>
      <p:sp>
        <p:nvSpPr>
          <p:cNvPr id="37" name="Text 34"/>
          <p:cNvSpPr txBox="1"/>
          <p:nvPr/>
        </p:nvSpPr>
        <p:spPr>
          <a:xfrm>
            <a:off x="4434840" y="1463040"/>
            <a:ext cx="7208215" cy="457200"/>
          </a:xfrm>
          <a:prstGeom prst="rect">
            <a:avLst/>
          </a:prstGeom>
          <a:noFill/>
          <a:ln/>
        </p:spPr>
        <p:txBody>
          <a:bodyPr wrap="square" lIns="0" tIns="0" rIns="0" bIns="0" rtlCol="0" anchor="t"/>
          <a:lstStyle/>
          <a:p>
            <a:pPr indent="0" marL="0">
              <a:buNone/>
            </a:pPr>
            <a:r>
              <a:rPr lang="en-US" sz="3000" b="1" dirty="0">
                <a:solidFill>
                  <a:srgbClr val="16202B"/>
                </a:solidFill>
                <a:latin typeface="Calibri" pitchFamily="34" charset="0"/>
                <a:ea typeface="Calibri" pitchFamily="34" charset="-122"/>
                <a:cs typeface="Calibri" pitchFamily="34" charset="-120"/>
              </a:rPr>
              <a:t>The cab comes closer</a:t>
            </a:r>
            <a:endParaRPr lang="en-US" sz="3000" dirty="0"/>
          </a:p>
        </p:txBody>
      </p:sp>
      <p:sp>
        <p:nvSpPr>
          <p:cNvPr id="38" name="Text 35"/>
          <p:cNvSpPr txBox="1"/>
          <p:nvPr/>
        </p:nvSpPr>
        <p:spPr>
          <a:xfrm>
            <a:off x="4434840" y="2048256"/>
            <a:ext cx="7208215" cy="475488"/>
          </a:xfrm>
          <a:prstGeom prst="rect">
            <a:avLst/>
          </a:prstGeom>
          <a:noFill/>
          <a:ln/>
        </p:spPr>
        <p:txBody>
          <a:bodyPr wrap="square" lIns="0" tIns="0" rIns="0" bIns="0" rtlCol="0" anchor="t"/>
          <a:lstStyle/>
          <a:p>
            <a:pPr indent="0" marL="0">
              <a:buNone/>
            </a:pPr>
            <a:r>
              <a:rPr lang="en-US" sz="1500" dirty="0">
                <a:solidFill>
                  <a:srgbClr val="34465A"/>
                </a:solidFill>
                <a:latin typeface="Calibri" pitchFamily="34" charset="0"/>
                <a:ea typeface="Calibri" pitchFamily="34" charset="-122"/>
                <a:cs typeface="Calibri" pitchFamily="34" charset="-120"/>
              </a:rPr>
              <a:t>Moments later C-12 is 190 m away, moving at 16 km/h. A. Raghavan has walked to the pickup point.</a:t>
            </a:r>
            <a:endParaRPr lang="en-US" sz="1500" dirty="0"/>
          </a:p>
        </p:txBody>
      </p:sp>
      <p:sp>
        <p:nvSpPr>
          <p:cNvPr id="39" name="Shape 36"/>
          <p:cNvSpPr/>
          <p:nvPr/>
        </p:nvSpPr>
        <p:spPr>
          <a:xfrm>
            <a:off x="4434840" y="2798064"/>
            <a:ext cx="7208215" cy="649224"/>
          </a:xfrm>
          <a:prstGeom prst="roundRect">
            <a:avLst>
              <a:gd name="adj" fmla="val 11268"/>
            </a:avLst>
          </a:prstGeom>
          <a:solidFill>
            <a:srgbClr val="F3F6F9"/>
          </a:solidFill>
          <a:ln w="6350">
            <a:solidFill>
              <a:srgbClr val="F3F6F9"/>
            </a:solidFill>
            <a:prstDash val="solid"/>
          </a:ln>
        </p:spPr>
      </p:sp>
      <p:sp>
        <p:nvSpPr>
          <p:cNvPr id="40" name="Shape 37"/>
          <p:cNvSpPr/>
          <p:nvPr/>
        </p:nvSpPr>
        <p:spPr>
          <a:xfrm>
            <a:off x="4599432" y="2916936"/>
            <a:ext cx="292608" cy="292608"/>
          </a:xfrm>
          <a:prstGeom prst="ellipse">
            <a:avLst/>
          </a:prstGeom>
          <a:solidFill>
            <a:srgbClr val="E85D04"/>
          </a:solidFill>
          <a:ln w="15875">
            <a:solidFill>
              <a:srgbClr val="FFFFFF"/>
            </a:solidFill>
            <a:prstDash val="solid"/>
          </a:ln>
        </p:spPr>
      </p:sp>
      <p:sp>
        <p:nvSpPr>
          <p:cNvPr id="41" name="Text 38"/>
          <p:cNvSpPr txBox="1"/>
          <p:nvPr/>
        </p:nvSpPr>
        <p:spPr>
          <a:xfrm>
            <a:off x="4599432" y="2916936"/>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42" name="Text 39"/>
          <p:cNvSpPr txBox="1"/>
          <p:nvPr/>
        </p:nvSpPr>
        <p:spPr>
          <a:xfrm>
            <a:off x="5029200" y="2907792"/>
            <a:ext cx="6430975" cy="274320"/>
          </a:xfrm>
          <a:prstGeom prst="rect">
            <a:avLst/>
          </a:prstGeom>
          <a:noFill/>
          <a:ln/>
        </p:spPr>
        <p:txBody>
          <a:bodyPr wrap="square" lIns="0" tIns="0" rIns="0" bIns="0" rtlCol="0" anchor="ctr"/>
          <a:lstStyle/>
          <a:p>
            <a:pPr indent="0" marL="0">
              <a:buNone/>
            </a:pPr>
            <a:r>
              <a:rPr lang="en-US" sz="1400" b="1" dirty="0">
                <a:solidFill>
                  <a:srgbClr val="16202B"/>
                </a:solidFill>
                <a:latin typeface="Calibri" pitchFamily="34" charset="0"/>
                <a:ea typeface="Calibri" pitchFamily="34" charset="-122"/>
                <a:cs typeface="Calibri" pitchFamily="34" charset="-120"/>
              </a:rPr>
              <a:t>C-12 is 190 m from Gate 2</a:t>
            </a:r>
            <a:endParaRPr lang="en-US" sz="1400" dirty="0"/>
          </a:p>
        </p:txBody>
      </p:sp>
      <p:sp>
        <p:nvSpPr>
          <p:cNvPr id="43" name="Text 40"/>
          <p:cNvSpPr txBox="1"/>
          <p:nvPr/>
        </p:nvSpPr>
        <p:spPr>
          <a:xfrm>
            <a:off x="5029200" y="3182112"/>
            <a:ext cx="6430975" cy="192024"/>
          </a:xfrm>
          <a:prstGeom prst="rect">
            <a:avLst/>
          </a:prstGeom>
          <a:noFill/>
          <a:ln/>
        </p:spPr>
        <p:txBody>
          <a:bodyPr wrap="square" lIns="0" tIns="0" rIns="0" bIns="0" rtlCol="0" anchor="t"/>
          <a:lstStyle/>
          <a:p>
            <a:pPr indent="0" marL="0">
              <a:buNone/>
            </a:pPr>
            <a:r>
              <a:rPr lang="en-US" sz="1200" dirty="0">
                <a:solidFill>
                  <a:srgbClr val="34465A"/>
                </a:solidFill>
                <a:latin typeface="Calibri" pitchFamily="34" charset="0"/>
                <a:ea typeface="Calibri" pitchFamily="34" charset="-122"/>
                <a:cs typeface="Calibri" pitchFamily="34" charset="-120"/>
              </a:rPr>
              <a:t>The map and distance follow every fix.</a:t>
            </a:r>
            <a:endParaRPr lang="en-US" sz="1200" dirty="0"/>
          </a:p>
        </p:txBody>
      </p:sp>
      <p:sp>
        <p:nvSpPr>
          <p:cNvPr id="44" name="Shape 41"/>
          <p:cNvSpPr/>
          <p:nvPr/>
        </p:nvSpPr>
        <p:spPr>
          <a:xfrm>
            <a:off x="4434840" y="3557016"/>
            <a:ext cx="7208215" cy="649224"/>
          </a:xfrm>
          <a:prstGeom prst="roundRect">
            <a:avLst>
              <a:gd name="adj" fmla="val 11268"/>
            </a:avLst>
          </a:prstGeom>
          <a:solidFill>
            <a:srgbClr val="F3F6F9"/>
          </a:solidFill>
          <a:ln w="6350">
            <a:solidFill>
              <a:srgbClr val="F3F6F9"/>
            </a:solidFill>
            <a:prstDash val="solid"/>
          </a:ln>
        </p:spPr>
      </p:sp>
      <p:sp>
        <p:nvSpPr>
          <p:cNvPr id="45" name="Shape 42"/>
          <p:cNvSpPr/>
          <p:nvPr/>
        </p:nvSpPr>
        <p:spPr>
          <a:xfrm>
            <a:off x="4599432" y="3675888"/>
            <a:ext cx="292608" cy="292608"/>
          </a:xfrm>
          <a:prstGeom prst="ellipse">
            <a:avLst/>
          </a:prstGeom>
          <a:solidFill>
            <a:srgbClr val="E85D04"/>
          </a:solidFill>
          <a:ln w="15875">
            <a:solidFill>
              <a:srgbClr val="FFFFFF"/>
            </a:solidFill>
            <a:prstDash val="solid"/>
          </a:ln>
        </p:spPr>
      </p:sp>
      <p:sp>
        <p:nvSpPr>
          <p:cNvPr id="46" name="Text 43"/>
          <p:cNvSpPr txBox="1"/>
          <p:nvPr/>
        </p:nvSpPr>
        <p:spPr>
          <a:xfrm>
            <a:off x="4599432" y="3675888"/>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47" name="Text 44"/>
          <p:cNvSpPr txBox="1"/>
          <p:nvPr/>
        </p:nvSpPr>
        <p:spPr>
          <a:xfrm>
            <a:off x="5029200" y="3666744"/>
            <a:ext cx="6430975" cy="274320"/>
          </a:xfrm>
          <a:prstGeom prst="rect">
            <a:avLst/>
          </a:prstGeom>
          <a:noFill/>
          <a:ln/>
        </p:spPr>
        <p:txBody>
          <a:bodyPr wrap="square" lIns="0" tIns="0" rIns="0" bIns="0" rtlCol="0" anchor="ctr"/>
          <a:lstStyle/>
          <a:p>
            <a:pPr indent="0" marL="0">
              <a:buNone/>
            </a:pPr>
            <a:r>
              <a:rPr lang="en-US" sz="1400" b="1" dirty="0">
                <a:solidFill>
                  <a:srgbClr val="16202B"/>
                </a:solidFill>
                <a:latin typeface="Calibri" pitchFamily="34" charset="0"/>
                <a:ea typeface="Calibri" pitchFamily="34" charset="-122"/>
                <a:cs typeface="Calibri" pitchFamily="34" charset="-120"/>
              </a:rPr>
              <a:t>Moving at 16 km/h · near Gate 2</a:t>
            </a:r>
            <a:endParaRPr lang="en-US" sz="1400" dirty="0"/>
          </a:p>
        </p:txBody>
      </p:sp>
      <p:sp>
        <p:nvSpPr>
          <p:cNvPr id="48" name="Text 45"/>
          <p:cNvSpPr txBox="1"/>
          <p:nvPr/>
        </p:nvSpPr>
        <p:spPr>
          <a:xfrm>
            <a:off x="5029200" y="3941064"/>
            <a:ext cx="6430975" cy="192024"/>
          </a:xfrm>
          <a:prstGeom prst="rect">
            <a:avLst/>
          </a:prstGeom>
          <a:noFill/>
          <a:ln/>
        </p:spPr>
        <p:txBody>
          <a:bodyPr wrap="square" lIns="0" tIns="0" rIns="0" bIns="0" rtlCol="0" anchor="t"/>
          <a:lstStyle/>
          <a:p>
            <a:pPr indent="0" marL="0">
              <a:buNone/>
            </a:pPr>
            <a:r>
              <a:rPr lang="en-US" sz="1200" dirty="0">
                <a:solidFill>
                  <a:srgbClr val="34465A"/>
                </a:solidFill>
                <a:latin typeface="Calibri" pitchFamily="34" charset="0"/>
                <a:ea typeface="Calibri" pitchFamily="34" charset="-122"/>
                <a:cs typeface="Calibri" pitchFamily="34" charset="-120"/>
              </a:rPr>
              <a:t>Speed and the nearest stop come from the driver’s phone.</a:t>
            </a:r>
            <a:endParaRPr lang="en-US" sz="1200" dirty="0"/>
          </a:p>
        </p:txBody>
      </p:sp>
      <p:sp>
        <p:nvSpPr>
          <p:cNvPr id="49" name="Shape 46"/>
          <p:cNvSpPr/>
          <p:nvPr/>
        </p:nvSpPr>
        <p:spPr>
          <a:xfrm>
            <a:off x="4434840" y="4315968"/>
            <a:ext cx="7208215" cy="649224"/>
          </a:xfrm>
          <a:prstGeom prst="roundRect">
            <a:avLst>
              <a:gd name="adj" fmla="val 11268"/>
            </a:avLst>
          </a:prstGeom>
          <a:solidFill>
            <a:srgbClr val="F3F6F9"/>
          </a:solidFill>
          <a:ln w="6350">
            <a:solidFill>
              <a:srgbClr val="F3F6F9"/>
            </a:solidFill>
            <a:prstDash val="solid"/>
          </a:ln>
        </p:spPr>
      </p:sp>
      <p:sp>
        <p:nvSpPr>
          <p:cNvPr id="50" name="Shape 47"/>
          <p:cNvSpPr/>
          <p:nvPr/>
        </p:nvSpPr>
        <p:spPr>
          <a:xfrm>
            <a:off x="4599432" y="4434840"/>
            <a:ext cx="292608" cy="292608"/>
          </a:xfrm>
          <a:prstGeom prst="ellipse">
            <a:avLst/>
          </a:prstGeom>
          <a:solidFill>
            <a:srgbClr val="E85D04"/>
          </a:solidFill>
          <a:ln w="15875">
            <a:solidFill>
              <a:srgbClr val="FFFFFF"/>
            </a:solidFill>
            <a:prstDash val="solid"/>
          </a:ln>
        </p:spPr>
      </p:sp>
      <p:sp>
        <p:nvSpPr>
          <p:cNvPr id="51" name="Text 48"/>
          <p:cNvSpPr txBox="1"/>
          <p:nvPr/>
        </p:nvSpPr>
        <p:spPr>
          <a:xfrm>
            <a:off x="4599432" y="443484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52" name="Text 49"/>
          <p:cNvSpPr txBox="1"/>
          <p:nvPr/>
        </p:nvSpPr>
        <p:spPr>
          <a:xfrm>
            <a:off x="5029200" y="4425696"/>
            <a:ext cx="6430975" cy="274320"/>
          </a:xfrm>
          <a:prstGeom prst="rect">
            <a:avLst/>
          </a:prstGeom>
          <a:noFill/>
          <a:ln/>
        </p:spPr>
        <p:txBody>
          <a:bodyPr wrap="square" lIns="0" tIns="0" rIns="0" bIns="0" rtlCol="0" anchor="ctr"/>
          <a:lstStyle/>
          <a:p>
            <a:pPr indent="0" marL="0">
              <a:buNone/>
            </a:pPr>
            <a:r>
              <a:rPr lang="en-US" sz="1400" b="1" dirty="0">
                <a:solidFill>
                  <a:srgbClr val="16202B"/>
                </a:solidFill>
                <a:latin typeface="Calibri" pitchFamily="34" charset="0"/>
                <a:ea typeface="Calibri" pitchFamily="34" charset="-122"/>
                <a:cs typeface="Calibri" pitchFamily="34" charset="-120"/>
              </a:rPr>
              <a:t>You are at the Gate 2 pickup point</a:t>
            </a:r>
            <a:endParaRPr lang="en-US" sz="1400" dirty="0"/>
          </a:p>
        </p:txBody>
      </p:sp>
      <p:sp>
        <p:nvSpPr>
          <p:cNvPr id="53" name="Text 50"/>
          <p:cNvSpPr txBox="1"/>
          <p:nvPr/>
        </p:nvSpPr>
        <p:spPr>
          <a:xfrm>
            <a:off x="5029200" y="4700016"/>
            <a:ext cx="6430975" cy="192024"/>
          </a:xfrm>
          <a:prstGeom prst="rect">
            <a:avLst/>
          </a:prstGeom>
          <a:noFill/>
          <a:ln/>
        </p:spPr>
        <p:txBody>
          <a:bodyPr wrap="square" lIns="0" tIns="0" rIns="0" bIns="0" rtlCol="0" anchor="t"/>
          <a:lstStyle/>
          <a:p>
            <a:pPr indent="0" marL="0">
              <a:buNone/>
            </a:pPr>
            <a:r>
              <a:rPr lang="en-US" sz="1200" dirty="0">
                <a:solidFill>
                  <a:srgbClr val="34465A"/>
                </a:solidFill>
                <a:latin typeface="Calibri" pitchFamily="34" charset="0"/>
                <a:ea typeface="Calibri" pitchFamily="34" charset="-122"/>
                <a:cs typeface="Calibri" pitchFamily="34" charset="-120"/>
              </a:rPr>
              <a:t>The rider’s phone is inside the point’s 40 m arrival radius.</a:t>
            </a:r>
            <a:endParaRPr lang="en-US" sz="1200" dirty="0"/>
          </a:p>
        </p:txBody>
      </p:sp>
      <p:sp>
        <p:nvSpPr>
          <p:cNvPr id="54" name="Text 51"/>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900" dirty="0">
                <a:solidFill>
                  <a:srgbClr val="5E6D7D"/>
                </a:solidFill>
                <a:latin typeface="Calibri" pitchFamily="34" charset="0"/>
                <a:ea typeface="Calibri" pitchFamily="34" charset="-122"/>
                <a:cs typeface="Calibri" pitchFamily="34" charset="-120"/>
              </a:rPr>
              <a:t>Plant Ride · Rider → Driver journey · recorded on the MVP with demo data</a:t>
            </a:r>
            <a:endParaRPr lang="en-US" sz="900" dirty="0"/>
          </a:p>
        </p:txBody>
      </p:sp>
      <p:sp>
        <p:nvSpPr>
          <p:cNvPr id="55" name="Text 52"/>
          <p:cNvSpPr txBox="1"/>
          <p:nvPr/>
        </p:nvSpPr>
        <p:spPr>
          <a:xfrm>
            <a:off x="11185855" y="6473952"/>
            <a:ext cx="457200" cy="228600"/>
          </a:xfrm>
          <a:prstGeom prst="rect">
            <a:avLst/>
          </a:prstGeom>
          <a:noFill/>
          <a:ln/>
        </p:spPr>
        <p:txBody>
          <a:bodyPr wrap="square" lIns="0" tIns="0" rIns="0" bIns="0" rtlCol="0" anchor="ctr"/>
          <a:lstStyle/>
          <a:p>
            <a:pPr algn="r" indent="0" marL="0">
              <a:buNone/>
            </a:pPr>
            <a:r>
              <a:rPr lang="en-US" sz="900" dirty="0">
                <a:solidFill>
                  <a:srgbClr val="5E6D7D"/>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50976" y="402336"/>
            <a:ext cx="2813925" cy="5961888"/>
          </a:xfrm>
          <a:prstGeom prst="roundRect">
            <a:avLst>
              <a:gd name="adj" fmla="val 5849"/>
            </a:avLst>
          </a:prstGeom>
          <a:solidFill>
            <a:srgbClr val="16202B"/>
          </a:solidFill>
          <a:ln w="9525">
            <a:solidFill>
              <a:srgbClr val="16202B"/>
            </a:solidFill>
            <a:prstDash val="solid"/>
          </a:ln>
          <a:effectLst>
            <a:outerShdw sx="100000" sy="100000" kx="0" ky="0" algn="bl" rotWithShape="0" blurRad="127000" dist="38100" dir="5400000">
              <a:srgbClr val="000000">
                <a:alpha val="20000"/>
              </a:srgbClr>
            </a:outerShdw>
          </a:effectLst>
        </p:spPr>
      </p:sp>
      <p:pic>
        <p:nvPicPr>
          <p:cNvPr id="3" name="Image 0" descr="Screenshot: r11-arrived">    </p:cNvPr>
          <p:cNvPicPr>
            <a:picLocks noChangeAspect="1"/>
          </p:cNvPicPr>
          <p:nvPr/>
        </p:nvPicPr>
        <p:blipFill>
          <a:blip r:embed="rId1"/>
          <a:stretch>
            <a:fillRect/>
          </a:stretch>
        </p:blipFill>
        <p:spPr>
          <a:xfrm>
            <a:off x="1005840" y="457200"/>
            <a:ext cx="2704197" cy="5852160"/>
          </a:xfrm>
          <a:prstGeom prst="rect">
            <a:avLst/>
          </a:prstGeom>
        </p:spPr>
      </p:pic>
      <p:sp>
        <p:nvSpPr>
          <p:cNvPr id="4" name="Shape 1"/>
          <p:cNvSpPr/>
          <p:nvPr/>
        </p:nvSpPr>
        <p:spPr>
          <a:xfrm>
            <a:off x="822960" y="1316996"/>
            <a:ext cx="238351" cy="914"/>
          </a:xfrm>
          <a:prstGeom prst="line">
            <a:avLst/>
          </a:prstGeom>
          <a:noFill/>
          <a:ln w="15875">
            <a:solidFill>
              <a:srgbClr val="E85D04"/>
            </a:solidFill>
            <a:prstDash val="solid"/>
          </a:ln>
        </p:spPr>
      </p:sp>
      <p:sp>
        <p:nvSpPr>
          <p:cNvPr id="5" name="Shape 2"/>
          <p:cNvSpPr/>
          <p:nvPr/>
        </p:nvSpPr>
        <p:spPr>
          <a:xfrm>
            <a:off x="1020163" y="1275848"/>
            <a:ext cx="82296" cy="82296"/>
          </a:xfrm>
          <a:prstGeom prst="ellipse">
            <a:avLst/>
          </a:prstGeom>
          <a:solidFill>
            <a:srgbClr val="E85D04"/>
          </a:solidFill>
          <a:ln w="9525">
            <a:solidFill>
              <a:srgbClr val="FFFFFF"/>
            </a:solidFill>
            <a:prstDash val="solid"/>
          </a:ln>
        </p:spPr>
      </p:sp>
      <p:sp>
        <p:nvSpPr>
          <p:cNvPr id="6" name="Shape 3"/>
          <p:cNvSpPr/>
          <p:nvPr/>
        </p:nvSpPr>
        <p:spPr>
          <a:xfrm>
            <a:off x="548640" y="1179836"/>
            <a:ext cx="274320" cy="274320"/>
          </a:xfrm>
          <a:prstGeom prst="ellipse">
            <a:avLst/>
          </a:prstGeom>
          <a:solidFill>
            <a:srgbClr val="E85D04"/>
          </a:solidFill>
          <a:ln w="15875">
            <a:solidFill>
              <a:srgbClr val="FFFFFF"/>
            </a:solidFill>
            <a:prstDash val="solid"/>
          </a:ln>
        </p:spPr>
      </p:sp>
      <p:sp>
        <p:nvSpPr>
          <p:cNvPr id="7" name="Text 4"/>
          <p:cNvSpPr txBox="1"/>
          <p:nvPr/>
        </p:nvSpPr>
        <p:spPr>
          <a:xfrm>
            <a:off x="548640" y="117983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8" name="Shape 5"/>
          <p:cNvSpPr/>
          <p:nvPr/>
        </p:nvSpPr>
        <p:spPr>
          <a:xfrm>
            <a:off x="822960" y="2294667"/>
            <a:ext cx="835744" cy="914"/>
          </a:xfrm>
          <a:prstGeom prst="line">
            <a:avLst/>
          </a:prstGeom>
          <a:noFill/>
          <a:ln w="15875">
            <a:solidFill>
              <a:srgbClr val="E85D04"/>
            </a:solidFill>
            <a:prstDash val="solid"/>
          </a:ln>
        </p:spPr>
      </p:sp>
      <p:sp>
        <p:nvSpPr>
          <p:cNvPr id="9" name="Shape 6"/>
          <p:cNvSpPr/>
          <p:nvPr/>
        </p:nvSpPr>
        <p:spPr>
          <a:xfrm>
            <a:off x="1617556" y="2253519"/>
            <a:ext cx="82296" cy="82296"/>
          </a:xfrm>
          <a:prstGeom prst="ellipse">
            <a:avLst/>
          </a:prstGeom>
          <a:solidFill>
            <a:srgbClr val="E85D04"/>
          </a:solidFill>
          <a:ln w="9525">
            <a:solidFill>
              <a:srgbClr val="FFFFFF"/>
            </a:solidFill>
            <a:prstDash val="solid"/>
          </a:ln>
        </p:spPr>
      </p:sp>
      <p:sp>
        <p:nvSpPr>
          <p:cNvPr id="10" name="Shape 7"/>
          <p:cNvSpPr/>
          <p:nvPr/>
        </p:nvSpPr>
        <p:spPr>
          <a:xfrm>
            <a:off x="548640" y="2157507"/>
            <a:ext cx="274320" cy="274320"/>
          </a:xfrm>
          <a:prstGeom prst="ellipse">
            <a:avLst/>
          </a:prstGeom>
          <a:solidFill>
            <a:srgbClr val="E85D04"/>
          </a:solidFill>
          <a:ln w="15875">
            <a:solidFill>
              <a:srgbClr val="FFFFFF"/>
            </a:solidFill>
            <a:prstDash val="solid"/>
          </a:ln>
        </p:spPr>
      </p:sp>
      <p:sp>
        <p:nvSpPr>
          <p:cNvPr id="11" name="Text 8"/>
          <p:cNvSpPr txBox="1"/>
          <p:nvPr/>
        </p:nvSpPr>
        <p:spPr>
          <a:xfrm>
            <a:off x="548640" y="2157507"/>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2" name="Shape 9"/>
          <p:cNvSpPr/>
          <p:nvPr/>
        </p:nvSpPr>
        <p:spPr>
          <a:xfrm>
            <a:off x="822960" y="3404082"/>
            <a:ext cx="356226" cy="914"/>
          </a:xfrm>
          <a:prstGeom prst="line">
            <a:avLst/>
          </a:prstGeom>
          <a:noFill/>
          <a:ln w="15875">
            <a:solidFill>
              <a:srgbClr val="E85D04"/>
            </a:solidFill>
            <a:prstDash val="solid"/>
          </a:ln>
        </p:spPr>
      </p:sp>
      <p:sp>
        <p:nvSpPr>
          <p:cNvPr id="13" name="Shape 10"/>
          <p:cNvSpPr/>
          <p:nvPr/>
        </p:nvSpPr>
        <p:spPr>
          <a:xfrm>
            <a:off x="1138038" y="3362934"/>
            <a:ext cx="82296" cy="82296"/>
          </a:xfrm>
          <a:prstGeom prst="ellipse">
            <a:avLst/>
          </a:prstGeom>
          <a:solidFill>
            <a:srgbClr val="E85D04"/>
          </a:solidFill>
          <a:ln w="9525">
            <a:solidFill>
              <a:srgbClr val="FFFFFF"/>
            </a:solidFill>
            <a:prstDash val="solid"/>
          </a:ln>
        </p:spPr>
      </p:sp>
      <p:sp>
        <p:nvSpPr>
          <p:cNvPr id="14" name="Shape 11"/>
          <p:cNvSpPr/>
          <p:nvPr/>
        </p:nvSpPr>
        <p:spPr>
          <a:xfrm>
            <a:off x="548640" y="3266922"/>
            <a:ext cx="274320" cy="274320"/>
          </a:xfrm>
          <a:prstGeom prst="ellipse">
            <a:avLst/>
          </a:prstGeom>
          <a:solidFill>
            <a:srgbClr val="E85D04"/>
          </a:solidFill>
          <a:ln w="15875">
            <a:solidFill>
              <a:srgbClr val="FFFFFF"/>
            </a:solidFill>
            <a:prstDash val="solid"/>
          </a:ln>
        </p:spPr>
      </p:sp>
      <p:sp>
        <p:nvSpPr>
          <p:cNvPr id="15" name="Text 12"/>
          <p:cNvSpPr txBox="1"/>
          <p:nvPr/>
        </p:nvSpPr>
        <p:spPr>
          <a:xfrm>
            <a:off x="548640" y="326692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6" name="Shape 13"/>
          <p:cNvSpPr/>
          <p:nvPr/>
        </p:nvSpPr>
        <p:spPr>
          <a:xfrm>
            <a:off x="4434840" y="457200"/>
            <a:ext cx="384048" cy="384048"/>
          </a:xfrm>
          <a:prstGeom prst="ellipse">
            <a:avLst/>
          </a:prstGeom>
          <a:solidFill>
            <a:srgbClr val="E85D04"/>
          </a:solidFill>
          <a:ln w="6350">
            <a:solidFill>
              <a:srgbClr val="E85D04"/>
            </a:solidFill>
            <a:prstDash val="solid"/>
          </a:ln>
        </p:spPr>
      </p:sp>
      <p:sp>
        <p:nvSpPr>
          <p:cNvPr id="17" name="Text 14"/>
          <p:cNvSpPr txBox="1"/>
          <p:nvPr/>
        </p:nvSpPr>
        <p:spPr>
          <a:xfrm>
            <a:off x="4434840" y="457200"/>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AR</a:t>
            </a:r>
            <a:endParaRPr lang="en-US" sz="1100" dirty="0"/>
          </a:p>
        </p:txBody>
      </p:sp>
      <p:sp>
        <p:nvSpPr>
          <p:cNvPr id="18" name="Text 15"/>
          <p:cNvSpPr txBox="1"/>
          <p:nvPr/>
        </p:nvSpPr>
        <p:spPr>
          <a:xfrm>
            <a:off x="4937760" y="457200"/>
            <a:ext cx="3291840" cy="384048"/>
          </a:xfrm>
          <a:prstGeom prst="rect">
            <a:avLst/>
          </a:prstGeom>
          <a:noFill/>
          <a:ln/>
        </p:spPr>
        <p:txBody>
          <a:bodyPr wrap="square" lIns="0" tIns="0" rIns="0" bIns="0" rtlCol="0" anchor="ctr"/>
          <a:lstStyle/>
          <a:p>
            <a:pPr indent="0" marL="0">
              <a:buNone/>
            </a:pPr>
            <a:r>
              <a:rPr lang="en-US" sz="1300" b="1" dirty="0">
                <a:solidFill>
                  <a:srgbClr val="E85D04"/>
                </a:solidFill>
                <a:latin typeface="Calibri" pitchFamily="34" charset="0"/>
                <a:ea typeface="Calibri" pitchFamily="34" charset="-122"/>
                <a:cs typeface="Calibri" pitchFamily="34" charset="-120"/>
              </a:rPr>
              <a:t>Rider  </a:t>
            </a:r>
            <a:pPr indent="0" marL="0">
              <a:buNone/>
            </a:pPr>
            <a:r>
              <a:rPr lang="en-US" sz="1300" b="1" dirty="0">
                <a:solidFill>
                  <a:srgbClr val="16202B"/>
                </a:solidFill>
                <a:latin typeface="Calibri" pitchFamily="34" charset="0"/>
                <a:ea typeface="Calibri" pitchFamily="34" charset="-122"/>
                <a:cs typeface="Calibri" pitchFamily="34" charset="-120"/>
              </a:rPr>
              <a:t>A. Raghavan</a:t>
            </a:r>
            <a:endParaRPr lang="en-US" sz="1300" dirty="0"/>
          </a:p>
        </p:txBody>
      </p:sp>
      <p:sp>
        <p:nvSpPr>
          <p:cNvPr id="19" name="Shape 16"/>
          <p:cNvSpPr/>
          <p:nvPr/>
        </p:nvSpPr>
        <p:spPr>
          <a:xfrm>
            <a:off x="8780983" y="585216"/>
            <a:ext cx="118872" cy="118872"/>
          </a:xfrm>
          <a:prstGeom prst="ellipse">
            <a:avLst/>
          </a:prstGeom>
          <a:solidFill>
            <a:srgbClr val="FFEDE0"/>
          </a:solidFill>
          <a:ln w="9525">
            <a:solidFill>
              <a:srgbClr val="E85D04"/>
            </a:solidFill>
            <a:prstDash val="solid"/>
          </a:ln>
        </p:spPr>
      </p:sp>
      <p:sp>
        <p:nvSpPr>
          <p:cNvPr id="20" name="Shape 17"/>
          <p:cNvSpPr/>
          <p:nvPr/>
        </p:nvSpPr>
        <p:spPr>
          <a:xfrm>
            <a:off x="8963863" y="585216"/>
            <a:ext cx="118872" cy="118872"/>
          </a:xfrm>
          <a:prstGeom prst="ellipse">
            <a:avLst/>
          </a:prstGeom>
          <a:solidFill>
            <a:srgbClr val="FFEDE0"/>
          </a:solidFill>
          <a:ln w="9525">
            <a:solidFill>
              <a:srgbClr val="E85D04"/>
            </a:solidFill>
            <a:prstDash val="solid"/>
          </a:ln>
        </p:spPr>
      </p:sp>
      <p:sp>
        <p:nvSpPr>
          <p:cNvPr id="21" name="Shape 18"/>
          <p:cNvSpPr/>
          <p:nvPr/>
        </p:nvSpPr>
        <p:spPr>
          <a:xfrm>
            <a:off x="9146743" y="585216"/>
            <a:ext cx="118872" cy="118872"/>
          </a:xfrm>
          <a:prstGeom prst="ellipse">
            <a:avLst/>
          </a:prstGeom>
          <a:solidFill>
            <a:srgbClr val="FFEDE0"/>
          </a:solidFill>
          <a:ln w="9525">
            <a:solidFill>
              <a:srgbClr val="E85D04"/>
            </a:solidFill>
            <a:prstDash val="solid"/>
          </a:ln>
        </p:spPr>
      </p:sp>
      <p:sp>
        <p:nvSpPr>
          <p:cNvPr id="22" name="Shape 19"/>
          <p:cNvSpPr/>
          <p:nvPr/>
        </p:nvSpPr>
        <p:spPr>
          <a:xfrm>
            <a:off x="9329623" y="585216"/>
            <a:ext cx="118872" cy="118872"/>
          </a:xfrm>
          <a:prstGeom prst="ellipse">
            <a:avLst/>
          </a:prstGeom>
          <a:solidFill>
            <a:srgbClr val="FFEDE0"/>
          </a:solidFill>
          <a:ln w="9525">
            <a:solidFill>
              <a:srgbClr val="E85D04"/>
            </a:solidFill>
            <a:prstDash val="solid"/>
          </a:ln>
        </p:spPr>
      </p:sp>
      <p:sp>
        <p:nvSpPr>
          <p:cNvPr id="23" name="Shape 20"/>
          <p:cNvSpPr/>
          <p:nvPr/>
        </p:nvSpPr>
        <p:spPr>
          <a:xfrm>
            <a:off x="9512503" y="585216"/>
            <a:ext cx="118872" cy="118872"/>
          </a:xfrm>
          <a:prstGeom prst="ellipse">
            <a:avLst/>
          </a:prstGeom>
          <a:solidFill>
            <a:srgbClr val="FFEDE0"/>
          </a:solidFill>
          <a:ln w="9525">
            <a:solidFill>
              <a:srgbClr val="E85D04"/>
            </a:solidFill>
            <a:prstDash val="solid"/>
          </a:ln>
        </p:spPr>
      </p:sp>
      <p:sp>
        <p:nvSpPr>
          <p:cNvPr id="24" name="Shape 21"/>
          <p:cNvSpPr/>
          <p:nvPr/>
        </p:nvSpPr>
        <p:spPr>
          <a:xfrm>
            <a:off x="9695383" y="585216"/>
            <a:ext cx="118872" cy="118872"/>
          </a:xfrm>
          <a:prstGeom prst="ellipse">
            <a:avLst/>
          </a:prstGeom>
          <a:solidFill>
            <a:srgbClr val="FFEDE0"/>
          </a:solidFill>
          <a:ln w="9525">
            <a:solidFill>
              <a:srgbClr val="E85D04"/>
            </a:solidFill>
            <a:prstDash val="solid"/>
          </a:ln>
        </p:spPr>
      </p:sp>
      <p:sp>
        <p:nvSpPr>
          <p:cNvPr id="25" name="Shape 22"/>
          <p:cNvSpPr/>
          <p:nvPr/>
        </p:nvSpPr>
        <p:spPr>
          <a:xfrm>
            <a:off x="9878263" y="585216"/>
            <a:ext cx="118872" cy="118872"/>
          </a:xfrm>
          <a:prstGeom prst="ellipse">
            <a:avLst/>
          </a:prstGeom>
          <a:solidFill>
            <a:srgbClr val="FFEDE0"/>
          </a:solidFill>
          <a:ln w="9525">
            <a:solidFill>
              <a:srgbClr val="E85D04"/>
            </a:solidFill>
            <a:prstDash val="solid"/>
          </a:ln>
        </p:spPr>
      </p:sp>
      <p:sp>
        <p:nvSpPr>
          <p:cNvPr id="26" name="Shape 23"/>
          <p:cNvSpPr/>
          <p:nvPr/>
        </p:nvSpPr>
        <p:spPr>
          <a:xfrm>
            <a:off x="10061143" y="585216"/>
            <a:ext cx="118872" cy="118872"/>
          </a:xfrm>
          <a:prstGeom prst="ellipse">
            <a:avLst/>
          </a:prstGeom>
          <a:solidFill>
            <a:srgbClr val="FFEDE0"/>
          </a:solidFill>
          <a:ln w="9525">
            <a:solidFill>
              <a:srgbClr val="E85D04"/>
            </a:solidFill>
            <a:prstDash val="solid"/>
          </a:ln>
        </p:spPr>
      </p:sp>
      <p:sp>
        <p:nvSpPr>
          <p:cNvPr id="27" name="Shape 24"/>
          <p:cNvSpPr/>
          <p:nvPr/>
        </p:nvSpPr>
        <p:spPr>
          <a:xfrm>
            <a:off x="10244023" y="585216"/>
            <a:ext cx="118872" cy="118872"/>
          </a:xfrm>
          <a:prstGeom prst="ellipse">
            <a:avLst/>
          </a:prstGeom>
          <a:solidFill>
            <a:srgbClr val="FFEDE0"/>
          </a:solidFill>
          <a:ln w="9525">
            <a:solidFill>
              <a:srgbClr val="E85D04"/>
            </a:solidFill>
            <a:prstDash val="solid"/>
          </a:ln>
        </p:spPr>
      </p:sp>
      <p:sp>
        <p:nvSpPr>
          <p:cNvPr id="28" name="Shape 25"/>
          <p:cNvSpPr/>
          <p:nvPr/>
        </p:nvSpPr>
        <p:spPr>
          <a:xfrm>
            <a:off x="10426903" y="585216"/>
            <a:ext cx="118872" cy="118872"/>
          </a:xfrm>
          <a:prstGeom prst="ellipse">
            <a:avLst/>
          </a:prstGeom>
          <a:solidFill>
            <a:srgbClr val="FFEDE0"/>
          </a:solidFill>
          <a:ln w="9525">
            <a:solidFill>
              <a:srgbClr val="E85D04"/>
            </a:solidFill>
            <a:prstDash val="solid"/>
          </a:ln>
        </p:spPr>
      </p:sp>
      <p:sp>
        <p:nvSpPr>
          <p:cNvPr id="29" name="Shape 26"/>
          <p:cNvSpPr/>
          <p:nvPr/>
        </p:nvSpPr>
        <p:spPr>
          <a:xfrm>
            <a:off x="10582351" y="557784"/>
            <a:ext cx="173736" cy="173736"/>
          </a:xfrm>
          <a:prstGeom prst="ellipse">
            <a:avLst/>
          </a:prstGeom>
          <a:solidFill>
            <a:srgbClr val="E85D04"/>
          </a:solidFill>
          <a:ln w="9525">
            <a:solidFill>
              <a:srgbClr val="E85D04"/>
            </a:solidFill>
            <a:prstDash val="solid"/>
          </a:ln>
        </p:spPr>
      </p:sp>
      <p:sp>
        <p:nvSpPr>
          <p:cNvPr id="30" name="Shape 27"/>
          <p:cNvSpPr/>
          <p:nvPr/>
        </p:nvSpPr>
        <p:spPr>
          <a:xfrm>
            <a:off x="10792663" y="585216"/>
            <a:ext cx="118872" cy="118872"/>
          </a:xfrm>
          <a:prstGeom prst="ellipse">
            <a:avLst/>
          </a:prstGeom>
          <a:solidFill>
            <a:srgbClr val="F3F6F9"/>
          </a:solidFill>
          <a:ln w="9525">
            <a:solidFill>
              <a:srgbClr val="DCE4EC"/>
            </a:solidFill>
            <a:prstDash val="solid"/>
          </a:ln>
        </p:spPr>
      </p:sp>
      <p:sp>
        <p:nvSpPr>
          <p:cNvPr id="31" name="Shape 28"/>
          <p:cNvSpPr/>
          <p:nvPr/>
        </p:nvSpPr>
        <p:spPr>
          <a:xfrm>
            <a:off x="10975543" y="585216"/>
            <a:ext cx="118872" cy="118872"/>
          </a:xfrm>
          <a:prstGeom prst="ellipse">
            <a:avLst/>
          </a:prstGeom>
          <a:solidFill>
            <a:srgbClr val="F3F6F9"/>
          </a:solidFill>
          <a:ln w="9525">
            <a:solidFill>
              <a:srgbClr val="DCE4EC"/>
            </a:solidFill>
            <a:prstDash val="solid"/>
          </a:ln>
        </p:spPr>
      </p:sp>
      <p:sp>
        <p:nvSpPr>
          <p:cNvPr id="32" name="Shape 29"/>
          <p:cNvSpPr/>
          <p:nvPr/>
        </p:nvSpPr>
        <p:spPr>
          <a:xfrm>
            <a:off x="11158423" y="585216"/>
            <a:ext cx="118872" cy="118872"/>
          </a:xfrm>
          <a:prstGeom prst="ellipse">
            <a:avLst/>
          </a:prstGeom>
          <a:solidFill>
            <a:srgbClr val="F3F6F9"/>
          </a:solidFill>
          <a:ln w="9525">
            <a:solidFill>
              <a:srgbClr val="DCE4EC"/>
            </a:solidFill>
            <a:prstDash val="solid"/>
          </a:ln>
        </p:spPr>
      </p:sp>
      <p:sp>
        <p:nvSpPr>
          <p:cNvPr id="33" name="Shape 30"/>
          <p:cNvSpPr/>
          <p:nvPr/>
        </p:nvSpPr>
        <p:spPr>
          <a:xfrm>
            <a:off x="11341303" y="585216"/>
            <a:ext cx="118872" cy="118872"/>
          </a:xfrm>
          <a:prstGeom prst="ellipse">
            <a:avLst/>
          </a:prstGeom>
          <a:solidFill>
            <a:srgbClr val="F3F6F9"/>
          </a:solidFill>
          <a:ln w="9525">
            <a:solidFill>
              <a:srgbClr val="DCE4EC"/>
            </a:solidFill>
            <a:prstDash val="solid"/>
          </a:ln>
        </p:spPr>
      </p:sp>
      <p:sp>
        <p:nvSpPr>
          <p:cNvPr id="34" name="Shape 31"/>
          <p:cNvSpPr/>
          <p:nvPr/>
        </p:nvSpPr>
        <p:spPr>
          <a:xfrm>
            <a:off x="11524183" y="585216"/>
            <a:ext cx="118872" cy="118872"/>
          </a:xfrm>
          <a:prstGeom prst="ellipse">
            <a:avLst/>
          </a:prstGeom>
          <a:solidFill>
            <a:srgbClr val="F3F6F9"/>
          </a:solidFill>
          <a:ln w="9525">
            <a:solidFill>
              <a:srgbClr val="DCE4EC"/>
            </a:solidFill>
            <a:prstDash val="solid"/>
          </a:ln>
        </p:spPr>
      </p:sp>
      <p:sp>
        <p:nvSpPr>
          <p:cNvPr id="35" name="Text 32"/>
          <p:cNvSpPr txBox="1"/>
          <p:nvPr/>
        </p:nvSpPr>
        <p:spPr>
          <a:xfrm>
            <a:off x="8780983" y="768096"/>
            <a:ext cx="2862072" cy="201168"/>
          </a:xfrm>
          <a:prstGeom prst="rect">
            <a:avLst/>
          </a:prstGeom>
          <a:noFill/>
          <a:ln/>
        </p:spPr>
        <p:txBody>
          <a:bodyPr wrap="square" lIns="0" tIns="0" rIns="0" bIns="0" rtlCol="0" anchor="ctr"/>
          <a:lstStyle/>
          <a:p>
            <a:pPr algn="r" indent="0" marL="0">
              <a:buNone/>
            </a:pPr>
            <a:r>
              <a:rPr lang="en-US" sz="950" dirty="0">
                <a:solidFill>
                  <a:srgbClr val="5E6D7D"/>
                </a:solidFill>
                <a:latin typeface="Calibri" pitchFamily="34" charset="0"/>
                <a:ea typeface="Calibri" pitchFamily="34" charset="-122"/>
                <a:cs typeface="Calibri" pitchFamily="34" charset="-120"/>
              </a:rPr>
              <a:t>Screen 11 of 16</a:t>
            </a:r>
            <a:endParaRPr lang="en-US" sz="950" dirty="0"/>
          </a:p>
        </p:txBody>
      </p:sp>
      <p:sp>
        <p:nvSpPr>
          <p:cNvPr id="36" name="Text 33"/>
          <p:cNvSpPr txBox="1"/>
          <p:nvPr/>
        </p:nvSpPr>
        <p:spPr>
          <a:xfrm>
            <a:off x="4434840" y="1170432"/>
            <a:ext cx="7208215" cy="237744"/>
          </a:xfrm>
          <a:prstGeom prst="rect">
            <a:avLst/>
          </a:prstGeom>
          <a:noFill/>
          <a:ln/>
        </p:spPr>
        <p:txBody>
          <a:bodyPr wrap="square" lIns="0" tIns="0" rIns="0" bIns="0" rtlCol="0" anchor="ctr"/>
          <a:lstStyle/>
          <a:p>
            <a:pPr indent="0" marL="0">
              <a:buNone/>
            </a:pPr>
            <a:r>
              <a:rPr lang="en-US" sz="1100" b="1" spc="200" kern="0" dirty="0">
                <a:solidFill>
                  <a:srgbClr val="E85D04"/>
                </a:solidFill>
                <a:latin typeface="Calibri" pitchFamily="34" charset="0"/>
                <a:ea typeface="Calibri" pitchFamily="34" charset="-122"/>
                <a:cs typeface="Calibri" pitchFamily="34" charset="-120"/>
              </a:rPr>
              <a:t>CAB ARRIVED</a:t>
            </a:r>
            <a:endParaRPr lang="en-US" sz="1100" dirty="0"/>
          </a:p>
        </p:txBody>
      </p:sp>
      <p:sp>
        <p:nvSpPr>
          <p:cNvPr id="37" name="Text 34"/>
          <p:cNvSpPr txBox="1"/>
          <p:nvPr/>
        </p:nvSpPr>
        <p:spPr>
          <a:xfrm>
            <a:off x="4434840" y="1463040"/>
            <a:ext cx="7208215" cy="457200"/>
          </a:xfrm>
          <a:prstGeom prst="rect">
            <a:avLst/>
          </a:prstGeom>
          <a:noFill/>
          <a:ln/>
        </p:spPr>
        <p:txBody>
          <a:bodyPr wrap="square" lIns="0" tIns="0" rIns="0" bIns="0" rtlCol="0" anchor="t"/>
          <a:lstStyle/>
          <a:p>
            <a:pPr indent="0" marL="0">
              <a:buNone/>
            </a:pPr>
            <a:r>
              <a:rPr lang="en-US" sz="3000" b="1" dirty="0">
                <a:solidFill>
                  <a:srgbClr val="16202B"/>
                </a:solidFill>
                <a:latin typeface="Calibri" pitchFamily="34" charset="0"/>
                <a:ea typeface="Calibri" pitchFamily="34" charset="-122"/>
                <a:cs typeface="Calibri" pitchFamily="34" charset="-120"/>
              </a:rPr>
              <a:t>Your cab has arrived</a:t>
            </a:r>
            <a:endParaRPr lang="en-US" sz="3000" dirty="0"/>
          </a:p>
        </p:txBody>
      </p:sp>
      <p:sp>
        <p:nvSpPr>
          <p:cNvPr id="38" name="Text 35"/>
          <p:cNvSpPr txBox="1"/>
          <p:nvPr/>
        </p:nvSpPr>
        <p:spPr>
          <a:xfrm>
            <a:off x="4434840" y="2048256"/>
            <a:ext cx="7208215" cy="475488"/>
          </a:xfrm>
          <a:prstGeom prst="rect">
            <a:avLst/>
          </a:prstGeom>
          <a:noFill/>
          <a:ln/>
        </p:spPr>
        <p:txBody>
          <a:bodyPr wrap="square" lIns="0" tIns="0" rIns="0" bIns="0" rtlCol="0" anchor="t"/>
          <a:lstStyle/>
          <a:p>
            <a:pPr indent="0" marL="0">
              <a:buNone/>
            </a:pPr>
            <a:r>
              <a:rPr lang="en-US" sz="1500" dirty="0">
                <a:solidFill>
                  <a:srgbClr val="34465A"/>
                </a:solidFill>
                <a:latin typeface="Calibri" pitchFamily="34" charset="0"/>
                <a:ea typeface="Calibri" pitchFamily="34" charset="-122"/>
                <a:cs typeface="Calibri" pitchFamily="34" charset="-120"/>
              </a:rPr>
              <a:t>C-12’s GPS enters Gate 2’s arrival radius. The rider’s screen changes by itself and shows the code in large digits.</a:t>
            </a:r>
            <a:endParaRPr lang="en-US" sz="1500" dirty="0"/>
          </a:p>
        </p:txBody>
      </p:sp>
      <p:sp>
        <p:nvSpPr>
          <p:cNvPr id="39" name="Shape 36"/>
          <p:cNvSpPr/>
          <p:nvPr/>
        </p:nvSpPr>
        <p:spPr>
          <a:xfrm>
            <a:off x="4434840" y="2798064"/>
            <a:ext cx="7208215" cy="649224"/>
          </a:xfrm>
          <a:prstGeom prst="roundRect">
            <a:avLst>
              <a:gd name="adj" fmla="val 11268"/>
            </a:avLst>
          </a:prstGeom>
          <a:solidFill>
            <a:srgbClr val="F3F6F9"/>
          </a:solidFill>
          <a:ln w="6350">
            <a:solidFill>
              <a:srgbClr val="F3F6F9"/>
            </a:solidFill>
            <a:prstDash val="solid"/>
          </a:ln>
        </p:spPr>
      </p:sp>
      <p:sp>
        <p:nvSpPr>
          <p:cNvPr id="40" name="Shape 37"/>
          <p:cNvSpPr/>
          <p:nvPr/>
        </p:nvSpPr>
        <p:spPr>
          <a:xfrm>
            <a:off x="4599432" y="2916936"/>
            <a:ext cx="292608" cy="292608"/>
          </a:xfrm>
          <a:prstGeom prst="ellipse">
            <a:avLst/>
          </a:prstGeom>
          <a:solidFill>
            <a:srgbClr val="E85D04"/>
          </a:solidFill>
          <a:ln w="15875">
            <a:solidFill>
              <a:srgbClr val="FFFFFF"/>
            </a:solidFill>
            <a:prstDash val="solid"/>
          </a:ln>
        </p:spPr>
      </p:sp>
      <p:sp>
        <p:nvSpPr>
          <p:cNvPr id="41" name="Text 38"/>
          <p:cNvSpPr txBox="1"/>
          <p:nvPr/>
        </p:nvSpPr>
        <p:spPr>
          <a:xfrm>
            <a:off x="4599432" y="2916936"/>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42" name="Text 39"/>
          <p:cNvSpPr txBox="1"/>
          <p:nvPr/>
        </p:nvSpPr>
        <p:spPr>
          <a:xfrm>
            <a:off x="5029200" y="2907792"/>
            <a:ext cx="6430975" cy="274320"/>
          </a:xfrm>
          <a:prstGeom prst="rect">
            <a:avLst/>
          </a:prstGeom>
          <a:noFill/>
          <a:ln/>
        </p:spPr>
        <p:txBody>
          <a:bodyPr wrap="square" lIns="0" tIns="0" rIns="0" bIns="0" rtlCol="0" anchor="ctr"/>
          <a:lstStyle/>
          <a:p>
            <a:pPr indent="0" marL="0">
              <a:buNone/>
            </a:pPr>
            <a:r>
              <a:rPr lang="en-US" sz="1400" b="1" dirty="0">
                <a:solidFill>
                  <a:srgbClr val="16202B"/>
                </a:solidFill>
                <a:latin typeface="Calibri" pitchFamily="34" charset="0"/>
                <a:ea typeface="Calibri" pitchFamily="34" charset="-122"/>
                <a:cs typeface="Calibri" pitchFamily="34" charset="-120"/>
              </a:rPr>
              <a:t>Your cab has arrived</a:t>
            </a:r>
            <a:endParaRPr lang="en-US" sz="1400" dirty="0"/>
          </a:p>
        </p:txBody>
      </p:sp>
      <p:sp>
        <p:nvSpPr>
          <p:cNvPr id="43" name="Text 40"/>
          <p:cNvSpPr txBox="1"/>
          <p:nvPr/>
        </p:nvSpPr>
        <p:spPr>
          <a:xfrm>
            <a:off x="5029200" y="3182112"/>
            <a:ext cx="6430975" cy="192024"/>
          </a:xfrm>
          <a:prstGeom prst="rect">
            <a:avLst/>
          </a:prstGeom>
          <a:noFill/>
          <a:ln/>
        </p:spPr>
        <p:txBody>
          <a:bodyPr wrap="square" lIns="0" tIns="0" rIns="0" bIns="0" rtlCol="0" anchor="t"/>
          <a:lstStyle/>
          <a:p>
            <a:pPr indent="0" marL="0">
              <a:buNone/>
            </a:pPr>
            <a:r>
              <a:rPr lang="en-US" sz="1200" dirty="0">
                <a:solidFill>
                  <a:srgbClr val="34465A"/>
                </a:solidFill>
                <a:latin typeface="Calibri" pitchFamily="34" charset="0"/>
                <a:ea typeface="Calibri" pitchFamily="34" charset="-122"/>
                <a:cs typeface="Calibri" pitchFamily="34" charset="-120"/>
              </a:rPr>
              <a:t>Nobody had to tap anything: the arrival came from GPS.</a:t>
            </a:r>
            <a:endParaRPr lang="en-US" sz="1200" dirty="0"/>
          </a:p>
        </p:txBody>
      </p:sp>
      <p:sp>
        <p:nvSpPr>
          <p:cNvPr id="44" name="Shape 41"/>
          <p:cNvSpPr/>
          <p:nvPr/>
        </p:nvSpPr>
        <p:spPr>
          <a:xfrm>
            <a:off x="4434840" y="3557016"/>
            <a:ext cx="7208215" cy="649224"/>
          </a:xfrm>
          <a:prstGeom prst="roundRect">
            <a:avLst>
              <a:gd name="adj" fmla="val 11268"/>
            </a:avLst>
          </a:prstGeom>
          <a:solidFill>
            <a:srgbClr val="F3F6F9"/>
          </a:solidFill>
          <a:ln w="6350">
            <a:solidFill>
              <a:srgbClr val="F3F6F9"/>
            </a:solidFill>
            <a:prstDash val="solid"/>
          </a:ln>
        </p:spPr>
      </p:sp>
      <p:sp>
        <p:nvSpPr>
          <p:cNvPr id="45" name="Shape 42"/>
          <p:cNvSpPr/>
          <p:nvPr/>
        </p:nvSpPr>
        <p:spPr>
          <a:xfrm>
            <a:off x="4599432" y="3675888"/>
            <a:ext cx="292608" cy="292608"/>
          </a:xfrm>
          <a:prstGeom prst="ellipse">
            <a:avLst/>
          </a:prstGeom>
          <a:solidFill>
            <a:srgbClr val="E85D04"/>
          </a:solidFill>
          <a:ln w="15875">
            <a:solidFill>
              <a:srgbClr val="FFFFFF"/>
            </a:solidFill>
            <a:prstDash val="solid"/>
          </a:ln>
        </p:spPr>
      </p:sp>
      <p:sp>
        <p:nvSpPr>
          <p:cNvPr id="46" name="Text 43"/>
          <p:cNvSpPr txBox="1"/>
          <p:nvPr/>
        </p:nvSpPr>
        <p:spPr>
          <a:xfrm>
            <a:off x="4599432" y="3675888"/>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47" name="Text 44"/>
          <p:cNvSpPr txBox="1"/>
          <p:nvPr/>
        </p:nvSpPr>
        <p:spPr>
          <a:xfrm>
            <a:off x="5029200" y="3666744"/>
            <a:ext cx="6430975" cy="274320"/>
          </a:xfrm>
          <a:prstGeom prst="rect">
            <a:avLst/>
          </a:prstGeom>
          <a:noFill/>
          <a:ln/>
        </p:spPr>
        <p:txBody>
          <a:bodyPr wrap="square" lIns="0" tIns="0" rIns="0" bIns="0" rtlCol="0" anchor="ctr"/>
          <a:lstStyle/>
          <a:p>
            <a:pPr indent="0" marL="0">
              <a:buNone/>
            </a:pPr>
            <a:r>
              <a:rPr lang="en-US" sz="1400" b="1" dirty="0">
                <a:solidFill>
                  <a:srgbClr val="16202B"/>
                </a:solidFill>
                <a:latin typeface="Calibri" pitchFamily="34" charset="0"/>
                <a:ea typeface="Calibri" pitchFamily="34" charset="-122"/>
                <a:cs typeface="Calibri" pitchFamily="34" charset="-120"/>
              </a:rPr>
              <a:t>Show this to the driver</a:t>
            </a:r>
            <a:endParaRPr lang="en-US" sz="1400" dirty="0"/>
          </a:p>
        </p:txBody>
      </p:sp>
      <p:sp>
        <p:nvSpPr>
          <p:cNvPr id="48" name="Text 45"/>
          <p:cNvSpPr txBox="1"/>
          <p:nvPr/>
        </p:nvSpPr>
        <p:spPr>
          <a:xfrm>
            <a:off x="5029200" y="3941064"/>
            <a:ext cx="6430975" cy="192024"/>
          </a:xfrm>
          <a:prstGeom prst="rect">
            <a:avLst/>
          </a:prstGeom>
          <a:noFill/>
          <a:ln/>
        </p:spPr>
        <p:txBody>
          <a:bodyPr wrap="square" lIns="0" tIns="0" rIns="0" bIns="0" rtlCol="0" anchor="t"/>
          <a:lstStyle/>
          <a:p>
            <a:pPr indent="0" marL="0">
              <a:buNone/>
            </a:pPr>
            <a:r>
              <a:rPr lang="en-US" sz="1200" dirty="0">
                <a:solidFill>
                  <a:srgbClr val="34465A"/>
                </a:solidFill>
                <a:latin typeface="Calibri" pitchFamily="34" charset="0"/>
                <a:ea typeface="Calibri" pitchFamily="34" charset="-122"/>
                <a:cs typeface="Calibri" pitchFamily="34" charset="-120"/>
              </a:rPr>
              <a:t>0 4 1 6, readable at arm’s length in sunlight.</a:t>
            </a:r>
            <a:endParaRPr lang="en-US" sz="1200" dirty="0"/>
          </a:p>
        </p:txBody>
      </p:sp>
      <p:sp>
        <p:nvSpPr>
          <p:cNvPr id="49" name="Shape 46"/>
          <p:cNvSpPr/>
          <p:nvPr/>
        </p:nvSpPr>
        <p:spPr>
          <a:xfrm>
            <a:off x="4434840" y="4315968"/>
            <a:ext cx="7208215" cy="649224"/>
          </a:xfrm>
          <a:prstGeom prst="roundRect">
            <a:avLst>
              <a:gd name="adj" fmla="val 11268"/>
            </a:avLst>
          </a:prstGeom>
          <a:solidFill>
            <a:srgbClr val="F3F6F9"/>
          </a:solidFill>
          <a:ln w="6350">
            <a:solidFill>
              <a:srgbClr val="F3F6F9"/>
            </a:solidFill>
            <a:prstDash val="solid"/>
          </a:ln>
        </p:spPr>
      </p:sp>
      <p:sp>
        <p:nvSpPr>
          <p:cNvPr id="50" name="Shape 47"/>
          <p:cNvSpPr/>
          <p:nvPr/>
        </p:nvSpPr>
        <p:spPr>
          <a:xfrm>
            <a:off x="4599432" y="4434840"/>
            <a:ext cx="292608" cy="292608"/>
          </a:xfrm>
          <a:prstGeom prst="ellipse">
            <a:avLst/>
          </a:prstGeom>
          <a:solidFill>
            <a:srgbClr val="E85D04"/>
          </a:solidFill>
          <a:ln w="15875">
            <a:solidFill>
              <a:srgbClr val="FFFFFF"/>
            </a:solidFill>
            <a:prstDash val="solid"/>
          </a:ln>
        </p:spPr>
      </p:sp>
      <p:sp>
        <p:nvSpPr>
          <p:cNvPr id="51" name="Text 48"/>
          <p:cNvSpPr txBox="1"/>
          <p:nvPr/>
        </p:nvSpPr>
        <p:spPr>
          <a:xfrm>
            <a:off x="4599432" y="443484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52" name="Text 49"/>
          <p:cNvSpPr txBox="1"/>
          <p:nvPr/>
        </p:nvSpPr>
        <p:spPr>
          <a:xfrm>
            <a:off x="5029200" y="4425696"/>
            <a:ext cx="6430975" cy="274320"/>
          </a:xfrm>
          <a:prstGeom prst="rect">
            <a:avLst/>
          </a:prstGeom>
          <a:noFill/>
          <a:ln/>
        </p:spPr>
        <p:txBody>
          <a:bodyPr wrap="square" lIns="0" tIns="0" rIns="0" bIns="0" rtlCol="0" anchor="ctr"/>
          <a:lstStyle/>
          <a:p>
            <a:pPr indent="0" marL="0">
              <a:buNone/>
            </a:pPr>
            <a:r>
              <a:rPr lang="en-US" sz="1400" b="1" dirty="0">
                <a:solidFill>
                  <a:srgbClr val="16202B"/>
                </a:solidFill>
                <a:latin typeface="Calibri" pitchFamily="34" charset="0"/>
                <a:ea typeface="Calibri" pitchFamily="34" charset="-122"/>
                <a:cs typeface="Calibri" pitchFamily="34" charset="-120"/>
              </a:rPr>
              <a:t>3 of 3 riders on this pick-up</a:t>
            </a:r>
            <a:endParaRPr lang="en-US" sz="1400" dirty="0"/>
          </a:p>
        </p:txBody>
      </p:sp>
      <p:sp>
        <p:nvSpPr>
          <p:cNvPr id="53" name="Text 50"/>
          <p:cNvSpPr txBox="1"/>
          <p:nvPr/>
        </p:nvSpPr>
        <p:spPr>
          <a:xfrm>
            <a:off x="5029200" y="4700016"/>
            <a:ext cx="6430975" cy="192024"/>
          </a:xfrm>
          <a:prstGeom prst="rect">
            <a:avLst/>
          </a:prstGeom>
          <a:noFill/>
          <a:ln/>
        </p:spPr>
        <p:txBody>
          <a:bodyPr wrap="square" lIns="0" tIns="0" rIns="0" bIns="0" rtlCol="0" anchor="t"/>
          <a:lstStyle/>
          <a:p>
            <a:pPr indent="0" marL="0">
              <a:buNone/>
            </a:pPr>
            <a:r>
              <a:rPr lang="en-US" sz="1200" dirty="0">
                <a:solidFill>
                  <a:srgbClr val="34465A"/>
                </a:solidFill>
                <a:latin typeface="Calibri" pitchFamily="34" charset="0"/>
                <a:ea typeface="Calibri" pitchFamily="34" charset="-122"/>
                <a:cs typeface="Calibri" pitchFamily="34" charset="-120"/>
              </a:rPr>
              <a:t>Seat 4 is held free by policy: the 3-rider cap.</a:t>
            </a:r>
            <a:endParaRPr lang="en-US" sz="1200" dirty="0"/>
          </a:p>
        </p:txBody>
      </p:sp>
      <p:sp>
        <p:nvSpPr>
          <p:cNvPr id="54" name="Shape 51"/>
          <p:cNvSpPr/>
          <p:nvPr/>
        </p:nvSpPr>
        <p:spPr>
          <a:xfrm>
            <a:off x="4434840" y="5166360"/>
            <a:ext cx="7208215" cy="576072"/>
          </a:xfrm>
          <a:prstGeom prst="roundRect">
            <a:avLst>
              <a:gd name="adj" fmla="val 12698"/>
            </a:avLst>
          </a:prstGeom>
          <a:solidFill>
            <a:srgbClr val="FFEDE0"/>
          </a:solidFill>
          <a:ln w="6350">
            <a:solidFill>
              <a:srgbClr val="FFEDE0"/>
            </a:solidFill>
            <a:prstDash val="solid"/>
          </a:ln>
        </p:spPr>
      </p:sp>
      <p:sp>
        <p:nvSpPr>
          <p:cNvPr id="55" name="Text 52"/>
          <p:cNvSpPr txBox="1"/>
          <p:nvPr/>
        </p:nvSpPr>
        <p:spPr>
          <a:xfrm>
            <a:off x="4617720" y="5257800"/>
            <a:ext cx="6842455" cy="201168"/>
          </a:xfrm>
          <a:prstGeom prst="rect">
            <a:avLst/>
          </a:prstGeom>
          <a:noFill/>
          <a:ln/>
        </p:spPr>
        <p:txBody>
          <a:bodyPr wrap="square" lIns="0" tIns="0" rIns="0" bIns="0" rtlCol="0" anchor="ctr"/>
          <a:lstStyle/>
          <a:p>
            <a:pPr indent="0" marL="0">
              <a:buNone/>
            </a:pPr>
            <a:r>
              <a:rPr lang="en-US" sz="950" b="1" spc="150" kern="0" dirty="0">
                <a:solidFill>
                  <a:srgbClr val="B84A03"/>
                </a:solidFill>
                <a:latin typeface="Calibri" pitchFamily="34" charset="0"/>
                <a:ea typeface="Calibri" pitchFamily="34" charset="-122"/>
                <a:cs typeface="Calibri" pitchFamily="34" charset="-120"/>
              </a:rPr>
              <a:t>BEHIND THE SCENES</a:t>
            </a:r>
            <a:endParaRPr lang="en-US" sz="950" dirty="0"/>
          </a:p>
        </p:txBody>
      </p:sp>
      <p:sp>
        <p:nvSpPr>
          <p:cNvPr id="56" name="Text 53"/>
          <p:cNvSpPr txBox="1"/>
          <p:nvPr/>
        </p:nvSpPr>
        <p:spPr>
          <a:xfrm>
            <a:off x="4617720" y="5468112"/>
            <a:ext cx="6842455" cy="192024"/>
          </a:xfrm>
          <a:prstGeom prst="rect">
            <a:avLst/>
          </a:prstGeom>
          <a:noFill/>
          <a:ln/>
        </p:spPr>
        <p:txBody>
          <a:bodyPr wrap="square" lIns="0" tIns="0" rIns="0" bIns="0" rtlCol="0" anchor="t"/>
          <a:lstStyle/>
          <a:p>
            <a:pPr indent="0" marL="0">
              <a:buNone/>
            </a:pPr>
            <a:r>
              <a:rPr lang="en-US" sz="1200" dirty="0">
                <a:solidFill>
                  <a:srgbClr val="16202B"/>
                </a:solidFill>
                <a:latin typeface="Calibri" pitchFamily="34" charset="0"/>
                <a:ea typeface="Calibri" pitchFamily="34" charset="-122"/>
                <a:cs typeface="Calibri" pitchFamily="34" charset="-120"/>
              </a:rPr>
              <a:t>The cab waits 5 minutes before the driver can mark a no-show.</a:t>
            </a:r>
            <a:endParaRPr lang="en-US" sz="1200" dirty="0"/>
          </a:p>
        </p:txBody>
      </p:sp>
      <p:sp>
        <p:nvSpPr>
          <p:cNvPr id="57" name="Text 54"/>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900" dirty="0">
                <a:solidFill>
                  <a:srgbClr val="5E6D7D"/>
                </a:solidFill>
                <a:latin typeface="Calibri" pitchFamily="34" charset="0"/>
                <a:ea typeface="Calibri" pitchFamily="34" charset="-122"/>
                <a:cs typeface="Calibri" pitchFamily="34" charset="-120"/>
              </a:rPr>
              <a:t>Plant Ride · Rider → Driver journey · recorded on the MVP with demo data</a:t>
            </a:r>
            <a:endParaRPr lang="en-US" sz="900" dirty="0"/>
          </a:p>
        </p:txBody>
      </p:sp>
      <p:sp>
        <p:nvSpPr>
          <p:cNvPr id="58" name="Text 55"/>
          <p:cNvSpPr txBox="1"/>
          <p:nvPr/>
        </p:nvSpPr>
        <p:spPr>
          <a:xfrm>
            <a:off x="11185855" y="6473952"/>
            <a:ext cx="457200" cy="228600"/>
          </a:xfrm>
          <a:prstGeom prst="rect">
            <a:avLst/>
          </a:prstGeom>
          <a:noFill/>
          <a:ln/>
        </p:spPr>
        <p:txBody>
          <a:bodyPr wrap="square" lIns="0" tIns="0" rIns="0" bIns="0" rtlCol="0" anchor="ctr"/>
          <a:lstStyle/>
          <a:p>
            <a:pPr algn="r" indent="0" marL="0">
              <a:buNone/>
            </a:pPr>
            <a:r>
              <a:rPr lang="en-US" sz="900" dirty="0">
                <a:solidFill>
                  <a:srgbClr val="5E6D7D"/>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50976" y="402336"/>
            <a:ext cx="2813925" cy="5961888"/>
          </a:xfrm>
          <a:prstGeom prst="roundRect">
            <a:avLst>
              <a:gd name="adj" fmla="val 5849"/>
            </a:avLst>
          </a:prstGeom>
          <a:solidFill>
            <a:srgbClr val="16202B"/>
          </a:solidFill>
          <a:ln w="9525">
            <a:solidFill>
              <a:srgbClr val="16202B"/>
            </a:solidFill>
            <a:prstDash val="solid"/>
          </a:ln>
          <a:effectLst>
            <a:outerShdw sx="100000" sy="100000" kx="0" ky="0" algn="bl" rotWithShape="0" blurRad="127000" dist="38100" dir="5400000">
              <a:srgbClr val="000000">
                <a:alpha val="20000"/>
              </a:srgbClr>
            </a:outerShdw>
          </a:effectLst>
        </p:spPr>
      </p:sp>
      <p:pic>
        <p:nvPicPr>
          <p:cNvPr id="3" name="Image 0" descr="Screenshot: r12-on-trip">    </p:cNvPr>
          <p:cNvPicPr>
            <a:picLocks noChangeAspect="1"/>
          </p:cNvPicPr>
          <p:nvPr/>
        </p:nvPicPr>
        <p:blipFill>
          <a:blip r:embed="rId1"/>
          <a:stretch>
            <a:fillRect/>
          </a:stretch>
        </p:blipFill>
        <p:spPr>
          <a:xfrm>
            <a:off x="1005840" y="457200"/>
            <a:ext cx="2704197" cy="5852160"/>
          </a:xfrm>
          <a:prstGeom prst="rect">
            <a:avLst/>
          </a:prstGeom>
        </p:spPr>
      </p:pic>
      <p:sp>
        <p:nvSpPr>
          <p:cNvPr id="4" name="Shape 1"/>
          <p:cNvSpPr/>
          <p:nvPr/>
        </p:nvSpPr>
        <p:spPr>
          <a:xfrm>
            <a:off x="822960" y="1067378"/>
            <a:ext cx="307689" cy="914"/>
          </a:xfrm>
          <a:prstGeom prst="line">
            <a:avLst/>
          </a:prstGeom>
          <a:noFill/>
          <a:ln w="15875">
            <a:solidFill>
              <a:srgbClr val="E85D04"/>
            </a:solidFill>
            <a:prstDash val="solid"/>
          </a:ln>
        </p:spPr>
      </p:sp>
      <p:sp>
        <p:nvSpPr>
          <p:cNvPr id="5" name="Shape 2"/>
          <p:cNvSpPr/>
          <p:nvPr/>
        </p:nvSpPr>
        <p:spPr>
          <a:xfrm>
            <a:off x="1089501" y="1026230"/>
            <a:ext cx="82296" cy="82296"/>
          </a:xfrm>
          <a:prstGeom prst="ellipse">
            <a:avLst/>
          </a:prstGeom>
          <a:solidFill>
            <a:srgbClr val="E85D04"/>
          </a:solidFill>
          <a:ln w="9525">
            <a:solidFill>
              <a:srgbClr val="FFFFFF"/>
            </a:solidFill>
            <a:prstDash val="solid"/>
          </a:ln>
        </p:spPr>
      </p:sp>
      <p:sp>
        <p:nvSpPr>
          <p:cNvPr id="6" name="Shape 3"/>
          <p:cNvSpPr/>
          <p:nvPr/>
        </p:nvSpPr>
        <p:spPr>
          <a:xfrm>
            <a:off x="548640" y="930218"/>
            <a:ext cx="274320" cy="274320"/>
          </a:xfrm>
          <a:prstGeom prst="ellipse">
            <a:avLst/>
          </a:prstGeom>
          <a:solidFill>
            <a:srgbClr val="E85D04"/>
          </a:solidFill>
          <a:ln w="15875">
            <a:solidFill>
              <a:srgbClr val="FFFFFF"/>
            </a:solidFill>
            <a:prstDash val="solid"/>
          </a:ln>
        </p:spPr>
      </p:sp>
      <p:sp>
        <p:nvSpPr>
          <p:cNvPr id="7" name="Text 4"/>
          <p:cNvSpPr txBox="1"/>
          <p:nvPr/>
        </p:nvSpPr>
        <p:spPr>
          <a:xfrm>
            <a:off x="548640" y="93021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8" name="Shape 5"/>
          <p:cNvSpPr/>
          <p:nvPr/>
        </p:nvSpPr>
        <p:spPr>
          <a:xfrm flipV="1">
            <a:off x="822960" y="1316996"/>
            <a:ext cx="238351" cy="97854"/>
          </a:xfrm>
          <a:prstGeom prst="line">
            <a:avLst/>
          </a:prstGeom>
          <a:noFill/>
          <a:ln w="15875">
            <a:solidFill>
              <a:srgbClr val="E85D04"/>
            </a:solidFill>
            <a:prstDash val="solid"/>
          </a:ln>
        </p:spPr>
      </p:sp>
      <p:sp>
        <p:nvSpPr>
          <p:cNvPr id="9" name="Shape 6"/>
          <p:cNvSpPr/>
          <p:nvPr/>
        </p:nvSpPr>
        <p:spPr>
          <a:xfrm>
            <a:off x="1020163" y="1275848"/>
            <a:ext cx="82296" cy="82296"/>
          </a:xfrm>
          <a:prstGeom prst="ellipse">
            <a:avLst/>
          </a:prstGeom>
          <a:solidFill>
            <a:srgbClr val="E85D04"/>
          </a:solidFill>
          <a:ln w="9525">
            <a:solidFill>
              <a:srgbClr val="FFFFFF"/>
            </a:solidFill>
            <a:prstDash val="solid"/>
          </a:ln>
        </p:spPr>
      </p:sp>
      <p:sp>
        <p:nvSpPr>
          <p:cNvPr id="10" name="Shape 7"/>
          <p:cNvSpPr/>
          <p:nvPr/>
        </p:nvSpPr>
        <p:spPr>
          <a:xfrm>
            <a:off x="548640" y="1277690"/>
            <a:ext cx="274320" cy="274320"/>
          </a:xfrm>
          <a:prstGeom prst="ellipse">
            <a:avLst/>
          </a:prstGeom>
          <a:solidFill>
            <a:srgbClr val="E85D04"/>
          </a:solidFill>
          <a:ln w="15875">
            <a:solidFill>
              <a:srgbClr val="FFFFFF"/>
            </a:solidFill>
            <a:prstDash val="solid"/>
          </a:ln>
        </p:spPr>
      </p:sp>
      <p:sp>
        <p:nvSpPr>
          <p:cNvPr id="11" name="Text 8"/>
          <p:cNvSpPr txBox="1"/>
          <p:nvPr/>
        </p:nvSpPr>
        <p:spPr>
          <a:xfrm>
            <a:off x="548640" y="127769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2" name="Shape 9"/>
          <p:cNvSpPr/>
          <p:nvPr/>
        </p:nvSpPr>
        <p:spPr>
          <a:xfrm>
            <a:off x="822960" y="1878637"/>
            <a:ext cx="356226" cy="914"/>
          </a:xfrm>
          <a:prstGeom prst="line">
            <a:avLst/>
          </a:prstGeom>
          <a:noFill/>
          <a:ln w="15875">
            <a:solidFill>
              <a:srgbClr val="E85D04"/>
            </a:solidFill>
            <a:prstDash val="solid"/>
          </a:ln>
        </p:spPr>
      </p:sp>
      <p:sp>
        <p:nvSpPr>
          <p:cNvPr id="13" name="Shape 10"/>
          <p:cNvSpPr/>
          <p:nvPr/>
        </p:nvSpPr>
        <p:spPr>
          <a:xfrm>
            <a:off x="1138038" y="1837489"/>
            <a:ext cx="82296" cy="82296"/>
          </a:xfrm>
          <a:prstGeom prst="ellipse">
            <a:avLst/>
          </a:prstGeom>
          <a:solidFill>
            <a:srgbClr val="E85D04"/>
          </a:solidFill>
          <a:ln w="9525">
            <a:solidFill>
              <a:srgbClr val="FFFFFF"/>
            </a:solidFill>
            <a:prstDash val="solid"/>
          </a:ln>
        </p:spPr>
      </p:sp>
      <p:sp>
        <p:nvSpPr>
          <p:cNvPr id="14" name="Shape 11"/>
          <p:cNvSpPr/>
          <p:nvPr/>
        </p:nvSpPr>
        <p:spPr>
          <a:xfrm>
            <a:off x="548640" y="1741477"/>
            <a:ext cx="274320" cy="274320"/>
          </a:xfrm>
          <a:prstGeom prst="ellipse">
            <a:avLst/>
          </a:prstGeom>
          <a:solidFill>
            <a:srgbClr val="E85D04"/>
          </a:solidFill>
          <a:ln w="15875">
            <a:solidFill>
              <a:srgbClr val="FFFFFF"/>
            </a:solidFill>
            <a:prstDash val="solid"/>
          </a:ln>
        </p:spPr>
      </p:sp>
      <p:sp>
        <p:nvSpPr>
          <p:cNvPr id="15" name="Text 12"/>
          <p:cNvSpPr txBox="1"/>
          <p:nvPr/>
        </p:nvSpPr>
        <p:spPr>
          <a:xfrm>
            <a:off x="548640" y="1741477"/>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6" name="Shape 13"/>
          <p:cNvSpPr/>
          <p:nvPr/>
        </p:nvSpPr>
        <p:spPr>
          <a:xfrm>
            <a:off x="4434840" y="457200"/>
            <a:ext cx="384048" cy="384048"/>
          </a:xfrm>
          <a:prstGeom prst="ellipse">
            <a:avLst/>
          </a:prstGeom>
          <a:solidFill>
            <a:srgbClr val="E85D04"/>
          </a:solidFill>
          <a:ln w="6350">
            <a:solidFill>
              <a:srgbClr val="E85D04"/>
            </a:solidFill>
            <a:prstDash val="solid"/>
          </a:ln>
        </p:spPr>
      </p:sp>
      <p:sp>
        <p:nvSpPr>
          <p:cNvPr id="17" name="Text 14"/>
          <p:cNvSpPr txBox="1"/>
          <p:nvPr/>
        </p:nvSpPr>
        <p:spPr>
          <a:xfrm>
            <a:off x="4434840" y="457200"/>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AR</a:t>
            </a:r>
            <a:endParaRPr lang="en-US" sz="1100" dirty="0"/>
          </a:p>
        </p:txBody>
      </p:sp>
      <p:sp>
        <p:nvSpPr>
          <p:cNvPr id="18" name="Text 15"/>
          <p:cNvSpPr txBox="1"/>
          <p:nvPr/>
        </p:nvSpPr>
        <p:spPr>
          <a:xfrm>
            <a:off x="4937760" y="457200"/>
            <a:ext cx="3291840" cy="384048"/>
          </a:xfrm>
          <a:prstGeom prst="rect">
            <a:avLst/>
          </a:prstGeom>
          <a:noFill/>
          <a:ln/>
        </p:spPr>
        <p:txBody>
          <a:bodyPr wrap="square" lIns="0" tIns="0" rIns="0" bIns="0" rtlCol="0" anchor="ctr"/>
          <a:lstStyle/>
          <a:p>
            <a:pPr indent="0" marL="0">
              <a:buNone/>
            </a:pPr>
            <a:r>
              <a:rPr lang="en-US" sz="1300" b="1" dirty="0">
                <a:solidFill>
                  <a:srgbClr val="E85D04"/>
                </a:solidFill>
                <a:latin typeface="Calibri" pitchFamily="34" charset="0"/>
                <a:ea typeface="Calibri" pitchFamily="34" charset="-122"/>
                <a:cs typeface="Calibri" pitchFamily="34" charset="-120"/>
              </a:rPr>
              <a:t>Rider  </a:t>
            </a:r>
            <a:pPr indent="0" marL="0">
              <a:buNone/>
            </a:pPr>
            <a:r>
              <a:rPr lang="en-US" sz="1300" b="1" dirty="0">
                <a:solidFill>
                  <a:srgbClr val="16202B"/>
                </a:solidFill>
                <a:latin typeface="Calibri" pitchFamily="34" charset="0"/>
                <a:ea typeface="Calibri" pitchFamily="34" charset="-122"/>
                <a:cs typeface="Calibri" pitchFamily="34" charset="-120"/>
              </a:rPr>
              <a:t>A. Raghavan</a:t>
            </a:r>
            <a:endParaRPr lang="en-US" sz="1300" dirty="0"/>
          </a:p>
        </p:txBody>
      </p:sp>
      <p:sp>
        <p:nvSpPr>
          <p:cNvPr id="19" name="Shape 16"/>
          <p:cNvSpPr/>
          <p:nvPr/>
        </p:nvSpPr>
        <p:spPr>
          <a:xfrm>
            <a:off x="8780983" y="585216"/>
            <a:ext cx="118872" cy="118872"/>
          </a:xfrm>
          <a:prstGeom prst="ellipse">
            <a:avLst/>
          </a:prstGeom>
          <a:solidFill>
            <a:srgbClr val="FFEDE0"/>
          </a:solidFill>
          <a:ln w="9525">
            <a:solidFill>
              <a:srgbClr val="E85D04"/>
            </a:solidFill>
            <a:prstDash val="solid"/>
          </a:ln>
        </p:spPr>
      </p:sp>
      <p:sp>
        <p:nvSpPr>
          <p:cNvPr id="20" name="Shape 17"/>
          <p:cNvSpPr/>
          <p:nvPr/>
        </p:nvSpPr>
        <p:spPr>
          <a:xfrm>
            <a:off x="8963863" y="585216"/>
            <a:ext cx="118872" cy="118872"/>
          </a:xfrm>
          <a:prstGeom prst="ellipse">
            <a:avLst/>
          </a:prstGeom>
          <a:solidFill>
            <a:srgbClr val="FFEDE0"/>
          </a:solidFill>
          <a:ln w="9525">
            <a:solidFill>
              <a:srgbClr val="E85D04"/>
            </a:solidFill>
            <a:prstDash val="solid"/>
          </a:ln>
        </p:spPr>
      </p:sp>
      <p:sp>
        <p:nvSpPr>
          <p:cNvPr id="21" name="Shape 18"/>
          <p:cNvSpPr/>
          <p:nvPr/>
        </p:nvSpPr>
        <p:spPr>
          <a:xfrm>
            <a:off x="9146743" y="585216"/>
            <a:ext cx="118872" cy="118872"/>
          </a:xfrm>
          <a:prstGeom prst="ellipse">
            <a:avLst/>
          </a:prstGeom>
          <a:solidFill>
            <a:srgbClr val="FFEDE0"/>
          </a:solidFill>
          <a:ln w="9525">
            <a:solidFill>
              <a:srgbClr val="E85D04"/>
            </a:solidFill>
            <a:prstDash val="solid"/>
          </a:ln>
        </p:spPr>
      </p:sp>
      <p:sp>
        <p:nvSpPr>
          <p:cNvPr id="22" name="Shape 19"/>
          <p:cNvSpPr/>
          <p:nvPr/>
        </p:nvSpPr>
        <p:spPr>
          <a:xfrm>
            <a:off x="9329623" y="585216"/>
            <a:ext cx="118872" cy="118872"/>
          </a:xfrm>
          <a:prstGeom prst="ellipse">
            <a:avLst/>
          </a:prstGeom>
          <a:solidFill>
            <a:srgbClr val="FFEDE0"/>
          </a:solidFill>
          <a:ln w="9525">
            <a:solidFill>
              <a:srgbClr val="E85D04"/>
            </a:solidFill>
            <a:prstDash val="solid"/>
          </a:ln>
        </p:spPr>
      </p:sp>
      <p:sp>
        <p:nvSpPr>
          <p:cNvPr id="23" name="Shape 20"/>
          <p:cNvSpPr/>
          <p:nvPr/>
        </p:nvSpPr>
        <p:spPr>
          <a:xfrm>
            <a:off x="9512503" y="585216"/>
            <a:ext cx="118872" cy="118872"/>
          </a:xfrm>
          <a:prstGeom prst="ellipse">
            <a:avLst/>
          </a:prstGeom>
          <a:solidFill>
            <a:srgbClr val="FFEDE0"/>
          </a:solidFill>
          <a:ln w="9525">
            <a:solidFill>
              <a:srgbClr val="E85D04"/>
            </a:solidFill>
            <a:prstDash val="solid"/>
          </a:ln>
        </p:spPr>
      </p:sp>
      <p:sp>
        <p:nvSpPr>
          <p:cNvPr id="24" name="Shape 21"/>
          <p:cNvSpPr/>
          <p:nvPr/>
        </p:nvSpPr>
        <p:spPr>
          <a:xfrm>
            <a:off x="9695383" y="585216"/>
            <a:ext cx="118872" cy="118872"/>
          </a:xfrm>
          <a:prstGeom prst="ellipse">
            <a:avLst/>
          </a:prstGeom>
          <a:solidFill>
            <a:srgbClr val="FFEDE0"/>
          </a:solidFill>
          <a:ln w="9525">
            <a:solidFill>
              <a:srgbClr val="E85D04"/>
            </a:solidFill>
            <a:prstDash val="solid"/>
          </a:ln>
        </p:spPr>
      </p:sp>
      <p:sp>
        <p:nvSpPr>
          <p:cNvPr id="25" name="Shape 22"/>
          <p:cNvSpPr/>
          <p:nvPr/>
        </p:nvSpPr>
        <p:spPr>
          <a:xfrm>
            <a:off x="9878263" y="585216"/>
            <a:ext cx="118872" cy="118872"/>
          </a:xfrm>
          <a:prstGeom prst="ellipse">
            <a:avLst/>
          </a:prstGeom>
          <a:solidFill>
            <a:srgbClr val="FFEDE0"/>
          </a:solidFill>
          <a:ln w="9525">
            <a:solidFill>
              <a:srgbClr val="E85D04"/>
            </a:solidFill>
            <a:prstDash val="solid"/>
          </a:ln>
        </p:spPr>
      </p:sp>
      <p:sp>
        <p:nvSpPr>
          <p:cNvPr id="26" name="Shape 23"/>
          <p:cNvSpPr/>
          <p:nvPr/>
        </p:nvSpPr>
        <p:spPr>
          <a:xfrm>
            <a:off x="10061143" y="585216"/>
            <a:ext cx="118872" cy="118872"/>
          </a:xfrm>
          <a:prstGeom prst="ellipse">
            <a:avLst/>
          </a:prstGeom>
          <a:solidFill>
            <a:srgbClr val="FFEDE0"/>
          </a:solidFill>
          <a:ln w="9525">
            <a:solidFill>
              <a:srgbClr val="E85D04"/>
            </a:solidFill>
            <a:prstDash val="solid"/>
          </a:ln>
        </p:spPr>
      </p:sp>
      <p:sp>
        <p:nvSpPr>
          <p:cNvPr id="27" name="Shape 24"/>
          <p:cNvSpPr/>
          <p:nvPr/>
        </p:nvSpPr>
        <p:spPr>
          <a:xfrm>
            <a:off x="10244023" y="585216"/>
            <a:ext cx="118872" cy="118872"/>
          </a:xfrm>
          <a:prstGeom prst="ellipse">
            <a:avLst/>
          </a:prstGeom>
          <a:solidFill>
            <a:srgbClr val="FFEDE0"/>
          </a:solidFill>
          <a:ln w="9525">
            <a:solidFill>
              <a:srgbClr val="E85D04"/>
            </a:solidFill>
            <a:prstDash val="solid"/>
          </a:ln>
        </p:spPr>
      </p:sp>
      <p:sp>
        <p:nvSpPr>
          <p:cNvPr id="28" name="Shape 25"/>
          <p:cNvSpPr/>
          <p:nvPr/>
        </p:nvSpPr>
        <p:spPr>
          <a:xfrm>
            <a:off x="10426903" y="585216"/>
            <a:ext cx="118872" cy="118872"/>
          </a:xfrm>
          <a:prstGeom prst="ellipse">
            <a:avLst/>
          </a:prstGeom>
          <a:solidFill>
            <a:srgbClr val="FFEDE0"/>
          </a:solidFill>
          <a:ln w="9525">
            <a:solidFill>
              <a:srgbClr val="E85D04"/>
            </a:solidFill>
            <a:prstDash val="solid"/>
          </a:ln>
        </p:spPr>
      </p:sp>
      <p:sp>
        <p:nvSpPr>
          <p:cNvPr id="29" name="Shape 26"/>
          <p:cNvSpPr/>
          <p:nvPr/>
        </p:nvSpPr>
        <p:spPr>
          <a:xfrm>
            <a:off x="10609783" y="585216"/>
            <a:ext cx="118872" cy="118872"/>
          </a:xfrm>
          <a:prstGeom prst="ellipse">
            <a:avLst/>
          </a:prstGeom>
          <a:solidFill>
            <a:srgbClr val="FFEDE0"/>
          </a:solidFill>
          <a:ln w="9525">
            <a:solidFill>
              <a:srgbClr val="E85D04"/>
            </a:solidFill>
            <a:prstDash val="solid"/>
          </a:ln>
        </p:spPr>
      </p:sp>
      <p:sp>
        <p:nvSpPr>
          <p:cNvPr id="30" name="Shape 27"/>
          <p:cNvSpPr/>
          <p:nvPr/>
        </p:nvSpPr>
        <p:spPr>
          <a:xfrm>
            <a:off x="10765231" y="557784"/>
            <a:ext cx="173736" cy="173736"/>
          </a:xfrm>
          <a:prstGeom prst="ellipse">
            <a:avLst/>
          </a:prstGeom>
          <a:solidFill>
            <a:srgbClr val="E85D04"/>
          </a:solidFill>
          <a:ln w="9525">
            <a:solidFill>
              <a:srgbClr val="E85D04"/>
            </a:solidFill>
            <a:prstDash val="solid"/>
          </a:ln>
        </p:spPr>
      </p:sp>
      <p:sp>
        <p:nvSpPr>
          <p:cNvPr id="31" name="Shape 28"/>
          <p:cNvSpPr/>
          <p:nvPr/>
        </p:nvSpPr>
        <p:spPr>
          <a:xfrm>
            <a:off x="10975543" y="585216"/>
            <a:ext cx="118872" cy="118872"/>
          </a:xfrm>
          <a:prstGeom prst="ellipse">
            <a:avLst/>
          </a:prstGeom>
          <a:solidFill>
            <a:srgbClr val="F3F6F9"/>
          </a:solidFill>
          <a:ln w="9525">
            <a:solidFill>
              <a:srgbClr val="DCE4EC"/>
            </a:solidFill>
            <a:prstDash val="solid"/>
          </a:ln>
        </p:spPr>
      </p:sp>
      <p:sp>
        <p:nvSpPr>
          <p:cNvPr id="32" name="Shape 29"/>
          <p:cNvSpPr/>
          <p:nvPr/>
        </p:nvSpPr>
        <p:spPr>
          <a:xfrm>
            <a:off x="11158423" y="585216"/>
            <a:ext cx="118872" cy="118872"/>
          </a:xfrm>
          <a:prstGeom prst="ellipse">
            <a:avLst/>
          </a:prstGeom>
          <a:solidFill>
            <a:srgbClr val="F3F6F9"/>
          </a:solidFill>
          <a:ln w="9525">
            <a:solidFill>
              <a:srgbClr val="DCE4EC"/>
            </a:solidFill>
            <a:prstDash val="solid"/>
          </a:ln>
        </p:spPr>
      </p:sp>
      <p:sp>
        <p:nvSpPr>
          <p:cNvPr id="33" name="Shape 30"/>
          <p:cNvSpPr/>
          <p:nvPr/>
        </p:nvSpPr>
        <p:spPr>
          <a:xfrm>
            <a:off x="11341303" y="585216"/>
            <a:ext cx="118872" cy="118872"/>
          </a:xfrm>
          <a:prstGeom prst="ellipse">
            <a:avLst/>
          </a:prstGeom>
          <a:solidFill>
            <a:srgbClr val="F3F6F9"/>
          </a:solidFill>
          <a:ln w="9525">
            <a:solidFill>
              <a:srgbClr val="DCE4EC"/>
            </a:solidFill>
            <a:prstDash val="solid"/>
          </a:ln>
        </p:spPr>
      </p:sp>
      <p:sp>
        <p:nvSpPr>
          <p:cNvPr id="34" name="Shape 31"/>
          <p:cNvSpPr/>
          <p:nvPr/>
        </p:nvSpPr>
        <p:spPr>
          <a:xfrm>
            <a:off x="11524183" y="585216"/>
            <a:ext cx="118872" cy="118872"/>
          </a:xfrm>
          <a:prstGeom prst="ellipse">
            <a:avLst/>
          </a:prstGeom>
          <a:solidFill>
            <a:srgbClr val="F3F6F9"/>
          </a:solidFill>
          <a:ln w="9525">
            <a:solidFill>
              <a:srgbClr val="DCE4EC"/>
            </a:solidFill>
            <a:prstDash val="solid"/>
          </a:ln>
        </p:spPr>
      </p:sp>
      <p:sp>
        <p:nvSpPr>
          <p:cNvPr id="35" name="Text 32"/>
          <p:cNvSpPr txBox="1"/>
          <p:nvPr/>
        </p:nvSpPr>
        <p:spPr>
          <a:xfrm>
            <a:off x="8780983" y="768096"/>
            <a:ext cx="2862072" cy="201168"/>
          </a:xfrm>
          <a:prstGeom prst="rect">
            <a:avLst/>
          </a:prstGeom>
          <a:noFill/>
          <a:ln/>
        </p:spPr>
        <p:txBody>
          <a:bodyPr wrap="square" lIns="0" tIns="0" rIns="0" bIns="0" rtlCol="0" anchor="ctr"/>
          <a:lstStyle/>
          <a:p>
            <a:pPr algn="r" indent="0" marL="0">
              <a:buNone/>
            </a:pPr>
            <a:r>
              <a:rPr lang="en-US" sz="950" dirty="0">
                <a:solidFill>
                  <a:srgbClr val="5E6D7D"/>
                </a:solidFill>
                <a:latin typeface="Calibri" pitchFamily="34" charset="0"/>
                <a:ea typeface="Calibri" pitchFamily="34" charset="-122"/>
                <a:cs typeface="Calibri" pitchFamily="34" charset="-120"/>
              </a:rPr>
              <a:t>Screen 12 of 16</a:t>
            </a:r>
            <a:endParaRPr lang="en-US" sz="950" dirty="0"/>
          </a:p>
        </p:txBody>
      </p:sp>
      <p:sp>
        <p:nvSpPr>
          <p:cNvPr id="36" name="Text 33"/>
          <p:cNvSpPr txBox="1"/>
          <p:nvPr/>
        </p:nvSpPr>
        <p:spPr>
          <a:xfrm>
            <a:off x="4434840" y="1170432"/>
            <a:ext cx="7208215" cy="237744"/>
          </a:xfrm>
          <a:prstGeom prst="rect">
            <a:avLst/>
          </a:prstGeom>
          <a:noFill/>
          <a:ln/>
        </p:spPr>
        <p:txBody>
          <a:bodyPr wrap="square" lIns="0" tIns="0" rIns="0" bIns="0" rtlCol="0" anchor="ctr"/>
          <a:lstStyle/>
          <a:p>
            <a:pPr indent="0" marL="0">
              <a:buNone/>
            </a:pPr>
            <a:r>
              <a:rPr lang="en-US" sz="1100" b="1" spc="200" kern="0" dirty="0">
                <a:solidFill>
                  <a:srgbClr val="E85D04"/>
                </a:solidFill>
                <a:latin typeface="Calibri" pitchFamily="34" charset="0"/>
                <a:ea typeface="Calibri" pitchFamily="34" charset="-122"/>
                <a:cs typeface="Calibri" pitchFamily="34" charset="-120"/>
              </a:rPr>
              <a:t>ON BOARD</a:t>
            </a:r>
            <a:endParaRPr lang="en-US" sz="1100" dirty="0"/>
          </a:p>
        </p:txBody>
      </p:sp>
      <p:sp>
        <p:nvSpPr>
          <p:cNvPr id="37" name="Text 34"/>
          <p:cNvSpPr txBox="1"/>
          <p:nvPr/>
        </p:nvSpPr>
        <p:spPr>
          <a:xfrm>
            <a:off x="4434840" y="1463040"/>
            <a:ext cx="7208215" cy="457200"/>
          </a:xfrm>
          <a:prstGeom prst="rect">
            <a:avLst/>
          </a:prstGeom>
          <a:noFill/>
          <a:ln/>
        </p:spPr>
        <p:txBody>
          <a:bodyPr wrap="square" lIns="0" tIns="0" rIns="0" bIns="0" rtlCol="0" anchor="t"/>
          <a:lstStyle/>
          <a:p>
            <a:pPr indent="0" marL="0">
              <a:buNone/>
            </a:pPr>
            <a:r>
              <a:rPr lang="en-US" sz="3000" b="1" dirty="0">
                <a:solidFill>
                  <a:srgbClr val="16202B"/>
                </a:solidFill>
                <a:latin typeface="Calibri" pitchFamily="34" charset="0"/>
                <a:ea typeface="Calibri" pitchFamily="34" charset="-122"/>
                <a:cs typeface="Calibri" pitchFamily="34" charset="-120"/>
              </a:rPr>
              <a:t>Trip in progress</a:t>
            </a:r>
            <a:endParaRPr lang="en-US" sz="3000" dirty="0"/>
          </a:p>
        </p:txBody>
      </p:sp>
      <p:sp>
        <p:nvSpPr>
          <p:cNvPr id="38" name="Text 35"/>
          <p:cNvSpPr txBox="1"/>
          <p:nvPr/>
        </p:nvSpPr>
        <p:spPr>
          <a:xfrm>
            <a:off x="4434840" y="2048256"/>
            <a:ext cx="7208215" cy="475488"/>
          </a:xfrm>
          <a:prstGeom prst="rect">
            <a:avLst/>
          </a:prstGeom>
          <a:noFill/>
          <a:ln/>
        </p:spPr>
        <p:txBody>
          <a:bodyPr wrap="square" lIns="0" tIns="0" rIns="0" bIns="0" rtlCol="0" anchor="t"/>
          <a:lstStyle/>
          <a:p>
            <a:pPr indent="0" marL="0">
              <a:buNone/>
            </a:pPr>
            <a:r>
              <a:rPr lang="en-US" sz="1500" dirty="0">
                <a:solidFill>
                  <a:srgbClr val="34465A"/>
                </a:solidFill>
                <a:latin typeface="Calibri" pitchFamily="34" charset="0"/>
                <a:ea typeface="Calibri" pitchFamily="34" charset="-122"/>
                <a:cs typeface="Calibri" pitchFamily="34" charset="-120"/>
              </a:rPr>
              <a:t>The driver accepts the code. The screen switches to the ride, with the drop time first.</a:t>
            </a:r>
            <a:endParaRPr lang="en-US" sz="1500" dirty="0"/>
          </a:p>
        </p:txBody>
      </p:sp>
      <p:sp>
        <p:nvSpPr>
          <p:cNvPr id="39" name="Shape 36"/>
          <p:cNvSpPr/>
          <p:nvPr/>
        </p:nvSpPr>
        <p:spPr>
          <a:xfrm>
            <a:off x="4434840" y="2798064"/>
            <a:ext cx="7208215" cy="649224"/>
          </a:xfrm>
          <a:prstGeom prst="roundRect">
            <a:avLst>
              <a:gd name="adj" fmla="val 11268"/>
            </a:avLst>
          </a:prstGeom>
          <a:solidFill>
            <a:srgbClr val="F3F6F9"/>
          </a:solidFill>
          <a:ln w="6350">
            <a:solidFill>
              <a:srgbClr val="F3F6F9"/>
            </a:solidFill>
            <a:prstDash val="solid"/>
          </a:ln>
        </p:spPr>
      </p:sp>
      <p:sp>
        <p:nvSpPr>
          <p:cNvPr id="40" name="Shape 37"/>
          <p:cNvSpPr/>
          <p:nvPr/>
        </p:nvSpPr>
        <p:spPr>
          <a:xfrm>
            <a:off x="4599432" y="2916936"/>
            <a:ext cx="292608" cy="292608"/>
          </a:xfrm>
          <a:prstGeom prst="ellipse">
            <a:avLst/>
          </a:prstGeom>
          <a:solidFill>
            <a:srgbClr val="E85D04"/>
          </a:solidFill>
          <a:ln w="15875">
            <a:solidFill>
              <a:srgbClr val="FFFFFF"/>
            </a:solidFill>
            <a:prstDash val="solid"/>
          </a:ln>
        </p:spPr>
      </p:sp>
      <p:sp>
        <p:nvSpPr>
          <p:cNvPr id="41" name="Text 38"/>
          <p:cNvSpPr txBox="1"/>
          <p:nvPr/>
        </p:nvSpPr>
        <p:spPr>
          <a:xfrm>
            <a:off x="4599432" y="2916936"/>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42" name="Text 39"/>
          <p:cNvSpPr txBox="1"/>
          <p:nvPr/>
        </p:nvSpPr>
        <p:spPr>
          <a:xfrm>
            <a:off x="5029200" y="2907792"/>
            <a:ext cx="6430975" cy="274320"/>
          </a:xfrm>
          <a:prstGeom prst="rect">
            <a:avLst/>
          </a:prstGeom>
          <a:noFill/>
          <a:ln/>
        </p:spPr>
        <p:txBody>
          <a:bodyPr wrap="square" lIns="0" tIns="0" rIns="0" bIns="0" rtlCol="0" anchor="ctr"/>
          <a:lstStyle/>
          <a:p>
            <a:pPr indent="0" marL="0">
              <a:buNone/>
            </a:pPr>
            <a:r>
              <a:rPr lang="en-US" sz="1400" b="1" dirty="0">
                <a:solidFill>
                  <a:srgbClr val="16202B"/>
                </a:solidFill>
                <a:latin typeface="Calibri" pitchFamily="34" charset="0"/>
                <a:ea typeface="Calibri" pitchFamily="34" charset="-122"/>
                <a:cs typeface="Calibri" pitchFamily="34" charset="-120"/>
              </a:rPr>
              <a:t>On trip</a:t>
            </a:r>
            <a:endParaRPr lang="en-US" sz="1400" dirty="0"/>
          </a:p>
        </p:txBody>
      </p:sp>
      <p:sp>
        <p:nvSpPr>
          <p:cNvPr id="43" name="Text 40"/>
          <p:cNvSpPr txBox="1"/>
          <p:nvPr/>
        </p:nvSpPr>
        <p:spPr>
          <a:xfrm>
            <a:off x="5029200" y="3182112"/>
            <a:ext cx="6430975" cy="192024"/>
          </a:xfrm>
          <a:prstGeom prst="rect">
            <a:avLst/>
          </a:prstGeom>
          <a:noFill/>
          <a:ln/>
        </p:spPr>
        <p:txBody>
          <a:bodyPr wrap="square" lIns="0" tIns="0" rIns="0" bIns="0" rtlCol="0" anchor="t"/>
          <a:lstStyle/>
          <a:p>
            <a:pPr indent="0" marL="0">
              <a:buNone/>
            </a:pPr>
            <a:r>
              <a:rPr lang="en-US" sz="1200" dirty="0">
                <a:solidFill>
                  <a:srgbClr val="34465A"/>
                </a:solidFill>
                <a:latin typeface="Calibri" pitchFamily="34" charset="0"/>
                <a:ea typeface="Calibri" pitchFamily="34" charset="-122"/>
                <a:cs typeface="Calibri" pitchFamily="34" charset="-120"/>
              </a:rPr>
              <a:t>Every step of the progress bar is now done.</a:t>
            </a:r>
            <a:endParaRPr lang="en-US" sz="1200" dirty="0"/>
          </a:p>
        </p:txBody>
      </p:sp>
      <p:sp>
        <p:nvSpPr>
          <p:cNvPr id="44" name="Shape 41"/>
          <p:cNvSpPr/>
          <p:nvPr/>
        </p:nvSpPr>
        <p:spPr>
          <a:xfrm>
            <a:off x="4434840" y="3557016"/>
            <a:ext cx="7208215" cy="649224"/>
          </a:xfrm>
          <a:prstGeom prst="roundRect">
            <a:avLst>
              <a:gd name="adj" fmla="val 11268"/>
            </a:avLst>
          </a:prstGeom>
          <a:solidFill>
            <a:srgbClr val="F3F6F9"/>
          </a:solidFill>
          <a:ln w="6350">
            <a:solidFill>
              <a:srgbClr val="F3F6F9"/>
            </a:solidFill>
            <a:prstDash val="solid"/>
          </a:ln>
        </p:spPr>
      </p:sp>
      <p:sp>
        <p:nvSpPr>
          <p:cNvPr id="45" name="Shape 42"/>
          <p:cNvSpPr/>
          <p:nvPr/>
        </p:nvSpPr>
        <p:spPr>
          <a:xfrm>
            <a:off x="4599432" y="3675888"/>
            <a:ext cx="292608" cy="292608"/>
          </a:xfrm>
          <a:prstGeom prst="ellipse">
            <a:avLst/>
          </a:prstGeom>
          <a:solidFill>
            <a:srgbClr val="E85D04"/>
          </a:solidFill>
          <a:ln w="15875">
            <a:solidFill>
              <a:srgbClr val="FFFFFF"/>
            </a:solidFill>
            <a:prstDash val="solid"/>
          </a:ln>
        </p:spPr>
      </p:sp>
      <p:sp>
        <p:nvSpPr>
          <p:cNvPr id="46" name="Text 43"/>
          <p:cNvSpPr txBox="1"/>
          <p:nvPr/>
        </p:nvSpPr>
        <p:spPr>
          <a:xfrm>
            <a:off x="4599432" y="3675888"/>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47" name="Text 44"/>
          <p:cNvSpPr txBox="1"/>
          <p:nvPr/>
        </p:nvSpPr>
        <p:spPr>
          <a:xfrm>
            <a:off x="5029200" y="3666744"/>
            <a:ext cx="6430975" cy="274320"/>
          </a:xfrm>
          <a:prstGeom prst="rect">
            <a:avLst/>
          </a:prstGeom>
          <a:noFill/>
          <a:ln/>
        </p:spPr>
        <p:txBody>
          <a:bodyPr wrap="square" lIns="0" tIns="0" rIns="0" bIns="0" rtlCol="0" anchor="ctr"/>
          <a:lstStyle/>
          <a:p>
            <a:pPr indent="0" marL="0">
              <a:buNone/>
            </a:pPr>
            <a:r>
              <a:rPr lang="en-US" sz="1400" b="1" dirty="0">
                <a:solidFill>
                  <a:srgbClr val="16202B"/>
                </a:solidFill>
                <a:latin typeface="Calibri" pitchFamily="34" charset="0"/>
                <a:ea typeface="Calibri" pitchFamily="34" charset="-122"/>
                <a:cs typeface="Calibri" pitchFamily="34" charset="-120"/>
              </a:rPr>
              <a:t>Trip in progress</a:t>
            </a:r>
            <a:endParaRPr lang="en-US" sz="1400" dirty="0"/>
          </a:p>
        </p:txBody>
      </p:sp>
      <p:sp>
        <p:nvSpPr>
          <p:cNvPr id="48" name="Text 45"/>
          <p:cNvSpPr txBox="1"/>
          <p:nvPr/>
        </p:nvSpPr>
        <p:spPr>
          <a:xfrm>
            <a:off x="5029200" y="3941064"/>
            <a:ext cx="6430975" cy="192024"/>
          </a:xfrm>
          <a:prstGeom prst="rect">
            <a:avLst/>
          </a:prstGeom>
          <a:noFill/>
          <a:ln/>
        </p:spPr>
        <p:txBody>
          <a:bodyPr wrap="square" lIns="0" tIns="0" rIns="0" bIns="0" rtlCol="0" anchor="t"/>
          <a:lstStyle/>
          <a:p>
            <a:pPr indent="0" marL="0">
              <a:buNone/>
            </a:pPr>
            <a:r>
              <a:rPr lang="en-US" sz="1200" dirty="0">
                <a:solidFill>
                  <a:srgbClr val="34465A"/>
                </a:solidFill>
                <a:latin typeface="Calibri" pitchFamily="34" charset="0"/>
                <a:ea typeface="Calibri" pitchFamily="34" charset="-122"/>
                <a:cs typeface="Calibri" pitchFamily="34" charset="-120"/>
              </a:rPr>
              <a:t>Starts the moment the driver accepts the code.</a:t>
            </a:r>
            <a:endParaRPr lang="en-US" sz="1200" dirty="0"/>
          </a:p>
        </p:txBody>
      </p:sp>
      <p:sp>
        <p:nvSpPr>
          <p:cNvPr id="49" name="Shape 46"/>
          <p:cNvSpPr/>
          <p:nvPr/>
        </p:nvSpPr>
        <p:spPr>
          <a:xfrm>
            <a:off x="4434840" y="4315968"/>
            <a:ext cx="7208215" cy="649224"/>
          </a:xfrm>
          <a:prstGeom prst="roundRect">
            <a:avLst>
              <a:gd name="adj" fmla="val 11268"/>
            </a:avLst>
          </a:prstGeom>
          <a:solidFill>
            <a:srgbClr val="F3F6F9"/>
          </a:solidFill>
          <a:ln w="6350">
            <a:solidFill>
              <a:srgbClr val="F3F6F9"/>
            </a:solidFill>
            <a:prstDash val="solid"/>
          </a:ln>
        </p:spPr>
      </p:sp>
      <p:sp>
        <p:nvSpPr>
          <p:cNvPr id="50" name="Shape 47"/>
          <p:cNvSpPr/>
          <p:nvPr/>
        </p:nvSpPr>
        <p:spPr>
          <a:xfrm>
            <a:off x="4599432" y="4434840"/>
            <a:ext cx="292608" cy="292608"/>
          </a:xfrm>
          <a:prstGeom prst="ellipse">
            <a:avLst/>
          </a:prstGeom>
          <a:solidFill>
            <a:srgbClr val="E85D04"/>
          </a:solidFill>
          <a:ln w="15875">
            <a:solidFill>
              <a:srgbClr val="FFFFFF"/>
            </a:solidFill>
            <a:prstDash val="solid"/>
          </a:ln>
        </p:spPr>
      </p:sp>
      <p:sp>
        <p:nvSpPr>
          <p:cNvPr id="51" name="Text 48"/>
          <p:cNvSpPr txBox="1"/>
          <p:nvPr/>
        </p:nvSpPr>
        <p:spPr>
          <a:xfrm>
            <a:off x="4599432" y="443484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52" name="Text 49"/>
          <p:cNvSpPr txBox="1"/>
          <p:nvPr/>
        </p:nvSpPr>
        <p:spPr>
          <a:xfrm>
            <a:off x="5029200" y="4425696"/>
            <a:ext cx="6430975" cy="274320"/>
          </a:xfrm>
          <a:prstGeom prst="rect">
            <a:avLst/>
          </a:prstGeom>
          <a:noFill/>
          <a:ln/>
        </p:spPr>
        <p:txBody>
          <a:bodyPr wrap="square" lIns="0" tIns="0" rIns="0" bIns="0" rtlCol="0" anchor="ctr"/>
          <a:lstStyle/>
          <a:p>
            <a:pPr indent="0" marL="0">
              <a:buNone/>
            </a:pPr>
            <a:r>
              <a:rPr lang="en-US" sz="1400" b="1" dirty="0">
                <a:solidFill>
                  <a:srgbClr val="16202B"/>
                </a:solidFill>
                <a:latin typeface="Calibri" pitchFamily="34" charset="0"/>
                <a:ea typeface="Calibri" pitchFamily="34" charset="-122"/>
                <a:cs typeface="Calibri" pitchFamily="34" charset="-120"/>
              </a:rPr>
              <a:t>Drop at Blast Furnace in 16 min</a:t>
            </a:r>
            <a:endParaRPr lang="en-US" sz="1400" dirty="0"/>
          </a:p>
        </p:txBody>
      </p:sp>
      <p:sp>
        <p:nvSpPr>
          <p:cNvPr id="53" name="Text 50"/>
          <p:cNvSpPr txBox="1"/>
          <p:nvPr/>
        </p:nvSpPr>
        <p:spPr>
          <a:xfrm>
            <a:off x="5029200" y="4700016"/>
            <a:ext cx="6430975" cy="192024"/>
          </a:xfrm>
          <a:prstGeom prst="rect">
            <a:avLst/>
          </a:prstGeom>
          <a:noFill/>
          <a:ln/>
        </p:spPr>
        <p:txBody>
          <a:bodyPr wrap="square" lIns="0" tIns="0" rIns="0" bIns="0" rtlCol="0" anchor="t"/>
          <a:lstStyle/>
          <a:p>
            <a:pPr indent="0" marL="0">
              <a:buNone/>
            </a:pPr>
            <a:r>
              <a:rPr lang="en-US" sz="1200" dirty="0">
                <a:solidFill>
                  <a:srgbClr val="34465A"/>
                </a:solidFill>
                <a:latin typeface="Calibri" pitchFamily="34" charset="0"/>
                <a:ea typeface="Calibri" pitchFamily="34" charset="-122"/>
                <a:cs typeface="Calibri" pitchFamily="34" charset="-120"/>
              </a:rPr>
              <a:t>Counts down from the cab’s live position.</a:t>
            </a:r>
            <a:endParaRPr lang="en-US" sz="1200" dirty="0"/>
          </a:p>
        </p:txBody>
      </p:sp>
      <p:sp>
        <p:nvSpPr>
          <p:cNvPr id="54" name="Text 51"/>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900" dirty="0">
                <a:solidFill>
                  <a:srgbClr val="5E6D7D"/>
                </a:solidFill>
                <a:latin typeface="Calibri" pitchFamily="34" charset="0"/>
                <a:ea typeface="Calibri" pitchFamily="34" charset="-122"/>
                <a:cs typeface="Calibri" pitchFamily="34" charset="-120"/>
              </a:rPr>
              <a:t>Plant Ride · Rider → Driver journey · recorded on the MVP with demo data</a:t>
            </a:r>
            <a:endParaRPr lang="en-US" sz="900" dirty="0"/>
          </a:p>
        </p:txBody>
      </p:sp>
      <p:sp>
        <p:nvSpPr>
          <p:cNvPr id="55" name="Text 52"/>
          <p:cNvSpPr txBox="1"/>
          <p:nvPr/>
        </p:nvSpPr>
        <p:spPr>
          <a:xfrm>
            <a:off x="11185855" y="6473952"/>
            <a:ext cx="457200" cy="228600"/>
          </a:xfrm>
          <a:prstGeom prst="rect">
            <a:avLst/>
          </a:prstGeom>
          <a:noFill/>
          <a:ln/>
        </p:spPr>
        <p:txBody>
          <a:bodyPr wrap="square" lIns="0" tIns="0" rIns="0" bIns="0" rtlCol="0" anchor="ctr"/>
          <a:lstStyle/>
          <a:p>
            <a:pPr algn="r" indent="0" marL="0">
              <a:buNone/>
            </a:pPr>
            <a:r>
              <a:rPr lang="en-US" sz="900" dirty="0">
                <a:solidFill>
                  <a:srgbClr val="5E6D7D"/>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50976" y="402336"/>
            <a:ext cx="2813925" cy="5961888"/>
          </a:xfrm>
          <a:prstGeom prst="roundRect">
            <a:avLst>
              <a:gd name="adj" fmla="val 5849"/>
            </a:avLst>
          </a:prstGeom>
          <a:solidFill>
            <a:srgbClr val="16202B"/>
          </a:solidFill>
          <a:ln w="9525">
            <a:solidFill>
              <a:srgbClr val="16202B"/>
            </a:solidFill>
            <a:prstDash val="solid"/>
          </a:ln>
          <a:effectLst>
            <a:outerShdw sx="100000" sy="100000" kx="0" ky="0" algn="bl" rotWithShape="0" blurRad="127000" dist="38100" dir="5400000">
              <a:srgbClr val="000000">
                <a:alpha val="20000"/>
              </a:srgbClr>
            </a:outerShdw>
          </a:effectLst>
        </p:spPr>
      </p:sp>
      <p:pic>
        <p:nvPicPr>
          <p:cNvPr id="3" name="Image 0" descr="Screenshot: r13-on-trip-map">    </p:cNvPr>
          <p:cNvPicPr>
            <a:picLocks noChangeAspect="1"/>
          </p:cNvPicPr>
          <p:nvPr/>
        </p:nvPicPr>
        <p:blipFill>
          <a:blip r:embed="rId1"/>
          <a:stretch>
            <a:fillRect/>
          </a:stretch>
        </p:blipFill>
        <p:spPr>
          <a:xfrm>
            <a:off x="1005840" y="457200"/>
            <a:ext cx="2704197" cy="5852160"/>
          </a:xfrm>
          <a:prstGeom prst="rect">
            <a:avLst/>
          </a:prstGeom>
        </p:spPr>
      </p:pic>
      <p:sp>
        <p:nvSpPr>
          <p:cNvPr id="4" name="Shape 1"/>
          <p:cNvSpPr/>
          <p:nvPr/>
        </p:nvSpPr>
        <p:spPr>
          <a:xfrm>
            <a:off x="822960" y="1247658"/>
            <a:ext cx="356226" cy="914"/>
          </a:xfrm>
          <a:prstGeom prst="line">
            <a:avLst/>
          </a:prstGeom>
          <a:noFill/>
          <a:ln w="15875">
            <a:solidFill>
              <a:srgbClr val="E85D04"/>
            </a:solidFill>
            <a:prstDash val="solid"/>
          </a:ln>
        </p:spPr>
      </p:sp>
      <p:sp>
        <p:nvSpPr>
          <p:cNvPr id="5" name="Shape 2"/>
          <p:cNvSpPr/>
          <p:nvPr/>
        </p:nvSpPr>
        <p:spPr>
          <a:xfrm>
            <a:off x="1138038" y="1206510"/>
            <a:ext cx="82296" cy="82296"/>
          </a:xfrm>
          <a:prstGeom prst="ellipse">
            <a:avLst/>
          </a:prstGeom>
          <a:solidFill>
            <a:srgbClr val="E85D04"/>
          </a:solidFill>
          <a:ln w="9525">
            <a:solidFill>
              <a:srgbClr val="FFFFFF"/>
            </a:solidFill>
            <a:prstDash val="solid"/>
          </a:ln>
        </p:spPr>
      </p:sp>
      <p:sp>
        <p:nvSpPr>
          <p:cNvPr id="6" name="Shape 3"/>
          <p:cNvSpPr/>
          <p:nvPr/>
        </p:nvSpPr>
        <p:spPr>
          <a:xfrm>
            <a:off x="548640" y="1110498"/>
            <a:ext cx="274320" cy="274320"/>
          </a:xfrm>
          <a:prstGeom prst="ellipse">
            <a:avLst/>
          </a:prstGeom>
          <a:solidFill>
            <a:srgbClr val="E85D04"/>
          </a:solidFill>
          <a:ln w="15875">
            <a:solidFill>
              <a:srgbClr val="FFFFFF"/>
            </a:solidFill>
            <a:prstDash val="solid"/>
          </a:ln>
        </p:spPr>
      </p:sp>
      <p:sp>
        <p:nvSpPr>
          <p:cNvPr id="7" name="Text 4"/>
          <p:cNvSpPr txBox="1"/>
          <p:nvPr/>
        </p:nvSpPr>
        <p:spPr>
          <a:xfrm>
            <a:off x="548640" y="111049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8" name="Shape 5"/>
          <p:cNvSpPr/>
          <p:nvPr/>
        </p:nvSpPr>
        <p:spPr>
          <a:xfrm flipV="1">
            <a:off x="822960" y="1414070"/>
            <a:ext cx="356226" cy="181060"/>
          </a:xfrm>
          <a:prstGeom prst="line">
            <a:avLst/>
          </a:prstGeom>
          <a:noFill/>
          <a:ln w="15875">
            <a:solidFill>
              <a:srgbClr val="E85D04"/>
            </a:solidFill>
            <a:prstDash val="solid"/>
          </a:ln>
        </p:spPr>
      </p:sp>
      <p:sp>
        <p:nvSpPr>
          <p:cNvPr id="9" name="Shape 6"/>
          <p:cNvSpPr/>
          <p:nvPr/>
        </p:nvSpPr>
        <p:spPr>
          <a:xfrm>
            <a:off x="1138038" y="1372922"/>
            <a:ext cx="82296" cy="82296"/>
          </a:xfrm>
          <a:prstGeom prst="ellipse">
            <a:avLst/>
          </a:prstGeom>
          <a:solidFill>
            <a:srgbClr val="E85D04"/>
          </a:solidFill>
          <a:ln w="9525">
            <a:solidFill>
              <a:srgbClr val="FFFFFF"/>
            </a:solidFill>
            <a:prstDash val="solid"/>
          </a:ln>
        </p:spPr>
      </p:sp>
      <p:sp>
        <p:nvSpPr>
          <p:cNvPr id="10" name="Shape 7"/>
          <p:cNvSpPr/>
          <p:nvPr/>
        </p:nvSpPr>
        <p:spPr>
          <a:xfrm>
            <a:off x="548640" y="1457970"/>
            <a:ext cx="274320" cy="274320"/>
          </a:xfrm>
          <a:prstGeom prst="ellipse">
            <a:avLst/>
          </a:prstGeom>
          <a:solidFill>
            <a:srgbClr val="E85D04"/>
          </a:solidFill>
          <a:ln w="15875">
            <a:solidFill>
              <a:srgbClr val="FFFFFF"/>
            </a:solidFill>
            <a:prstDash val="solid"/>
          </a:ln>
        </p:spPr>
      </p:sp>
      <p:sp>
        <p:nvSpPr>
          <p:cNvPr id="11" name="Text 8"/>
          <p:cNvSpPr txBox="1"/>
          <p:nvPr/>
        </p:nvSpPr>
        <p:spPr>
          <a:xfrm>
            <a:off x="548640" y="145797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2" name="Shape 9"/>
          <p:cNvSpPr/>
          <p:nvPr/>
        </p:nvSpPr>
        <p:spPr>
          <a:xfrm>
            <a:off x="822960" y="2398675"/>
            <a:ext cx="356226" cy="914"/>
          </a:xfrm>
          <a:prstGeom prst="line">
            <a:avLst/>
          </a:prstGeom>
          <a:noFill/>
          <a:ln w="15875">
            <a:solidFill>
              <a:srgbClr val="E85D04"/>
            </a:solidFill>
            <a:prstDash val="solid"/>
          </a:ln>
        </p:spPr>
      </p:sp>
      <p:sp>
        <p:nvSpPr>
          <p:cNvPr id="13" name="Shape 10"/>
          <p:cNvSpPr/>
          <p:nvPr/>
        </p:nvSpPr>
        <p:spPr>
          <a:xfrm>
            <a:off x="1138038" y="2357527"/>
            <a:ext cx="82296" cy="82296"/>
          </a:xfrm>
          <a:prstGeom prst="ellipse">
            <a:avLst/>
          </a:prstGeom>
          <a:solidFill>
            <a:srgbClr val="E85D04"/>
          </a:solidFill>
          <a:ln w="9525">
            <a:solidFill>
              <a:srgbClr val="FFFFFF"/>
            </a:solidFill>
            <a:prstDash val="solid"/>
          </a:ln>
        </p:spPr>
      </p:sp>
      <p:sp>
        <p:nvSpPr>
          <p:cNvPr id="14" name="Shape 11"/>
          <p:cNvSpPr/>
          <p:nvPr/>
        </p:nvSpPr>
        <p:spPr>
          <a:xfrm>
            <a:off x="548640" y="2261515"/>
            <a:ext cx="274320" cy="274320"/>
          </a:xfrm>
          <a:prstGeom prst="ellipse">
            <a:avLst/>
          </a:prstGeom>
          <a:solidFill>
            <a:srgbClr val="E85D04"/>
          </a:solidFill>
          <a:ln w="15875">
            <a:solidFill>
              <a:srgbClr val="FFFFFF"/>
            </a:solidFill>
            <a:prstDash val="solid"/>
          </a:ln>
        </p:spPr>
      </p:sp>
      <p:sp>
        <p:nvSpPr>
          <p:cNvPr id="15" name="Text 12"/>
          <p:cNvSpPr txBox="1"/>
          <p:nvPr/>
        </p:nvSpPr>
        <p:spPr>
          <a:xfrm>
            <a:off x="548640" y="226151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6" name="Shape 13"/>
          <p:cNvSpPr/>
          <p:nvPr/>
        </p:nvSpPr>
        <p:spPr>
          <a:xfrm>
            <a:off x="4434840" y="457200"/>
            <a:ext cx="384048" cy="384048"/>
          </a:xfrm>
          <a:prstGeom prst="ellipse">
            <a:avLst/>
          </a:prstGeom>
          <a:solidFill>
            <a:srgbClr val="E85D04"/>
          </a:solidFill>
          <a:ln w="6350">
            <a:solidFill>
              <a:srgbClr val="E85D04"/>
            </a:solidFill>
            <a:prstDash val="solid"/>
          </a:ln>
        </p:spPr>
      </p:sp>
      <p:sp>
        <p:nvSpPr>
          <p:cNvPr id="17" name="Text 14"/>
          <p:cNvSpPr txBox="1"/>
          <p:nvPr/>
        </p:nvSpPr>
        <p:spPr>
          <a:xfrm>
            <a:off x="4434840" y="457200"/>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AR</a:t>
            </a:r>
            <a:endParaRPr lang="en-US" sz="1100" dirty="0"/>
          </a:p>
        </p:txBody>
      </p:sp>
      <p:sp>
        <p:nvSpPr>
          <p:cNvPr id="18" name="Text 15"/>
          <p:cNvSpPr txBox="1"/>
          <p:nvPr/>
        </p:nvSpPr>
        <p:spPr>
          <a:xfrm>
            <a:off x="4937760" y="457200"/>
            <a:ext cx="3291840" cy="384048"/>
          </a:xfrm>
          <a:prstGeom prst="rect">
            <a:avLst/>
          </a:prstGeom>
          <a:noFill/>
          <a:ln/>
        </p:spPr>
        <p:txBody>
          <a:bodyPr wrap="square" lIns="0" tIns="0" rIns="0" bIns="0" rtlCol="0" anchor="ctr"/>
          <a:lstStyle/>
          <a:p>
            <a:pPr indent="0" marL="0">
              <a:buNone/>
            </a:pPr>
            <a:r>
              <a:rPr lang="en-US" sz="1300" b="1" dirty="0">
                <a:solidFill>
                  <a:srgbClr val="E85D04"/>
                </a:solidFill>
                <a:latin typeface="Calibri" pitchFamily="34" charset="0"/>
                <a:ea typeface="Calibri" pitchFamily="34" charset="-122"/>
                <a:cs typeface="Calibri" pitchFamily="34" charset="-120"/>
              </a:rPr>
              <a:t>Rider  </a:t>
            </a:r>
            <a:pPr indent="0" marL="0">
              <a:buNone/>
            </a:pPr>
            <a:r>
              <a:rPr lang="en-US" sz="1300" b="1" dirty="0">
                <a:solidFill>
                  <a:srgbClr val="16202B"/>
                </a:solidFill>
                <a:latin typeface="Calibri" pitchFamily="34" charset="0"/>
                <a:ea typeface="Calibri" pitchFamily="34" charset="-122"/>
                <a:cs typeface="Calibri" pitchFamily="34" charset="-120"/>
              </a:rPr>
              <a:t>A. Raghavan</a:t>
            </a:r>
            <a:endParaRPr lang="en-US" sz="1300" dirty="0"/>
          </a:p>
        </p:txBody>
      </p:sp>
      <p:sp>
        <p:nvSpPr>
          <p:cNvPr id="19" name="Shape 16"/>
          <p:cNvSpPr/>
          <p:nvPr/>
        </p:nvSpPr>
        <p:spPr>
          <a:xfrm>
            <a:off x="8780983" y="585216"/>
            <a:ext cx="118872" cy="118872"/>
          </a:xfrm>
          <a:prstGeom prst="ellipse">
            <a:avLst/>
          </a:prstGeom>
          <a:solidFill>
            <a:srgbClr val="FFEDE0"/>
          </a:solidFill>
          <a:ln w="9525">
            <a:solidFill>
              <a:srgbClr val="E85D04"/>
            </a:solidFill>
            <a:prstDash val="solid"/>
          </a:ln>
        </p:spPr>
      </p:sp>
      <p:sp>
        <p:nvSpPr>
          <p:cNvPr id="20" name="Shape 17"/>
          <p:cNvSpPr/>
          <p:nvPr/>
        </p:nvSpPr>
        <p:spPr>
          <a:xfrm>
            <a:off x="8963863" y="585216"/>
            <a:ext cx="118872" cy="118872"/>
          </a:xfrm>
          <a:prstGeom prst="ellipse">
            <a:avLst/>
          </a:prstGeom>
          <a:solidFill>
            <a:srgbClr val="FFEDE0"/>
          </a:solidFill>
          <a:ln w="9525">
            <a:solidFill>
              <a:srgbClr val="E85D04"/>
            </a:solidFill>
            <a:prstDash val="solid"/>
          </a:ln>
        </p:spPr>
      </p:sp>
      <p:sp>
        <p:nvSpPr>
          <p:cNvPr id="21" name="Shape 18"/>
          <p:cNvSpPr/>
          <p:nvPr/>
        </p:nvSpPr>
        <p:spPr>
          <a:xfrm>
            <a:off x="9146743" y="585216"/>
            <a:ext cx="118872" cy="118872"/>
          </a:xfrm>
          <a:prstGeom prst="ellipse">
            <a:avLst/>
          </a:prstGeom>
          <a:solidFill>
            <a:srgbClr val="FFEDE0"/>
          </a:solidFill>
          <a:ln w="9525">
            <a:solidFill>
              <a:srgbClr val="E85D04"/>
            </a:solidFill>
            <a:prstDash val="solid"/>
          </a:ln>
        </p:spPr>
      </p:sp>
      <p:sp>
        <p:nvSpPr>
          <p:cNvPr id="22" name="Shape 19"/>
          <p:cNvSpPr/>
          <p:nvPr/>
        </p:nvSpPr>
        <p:spPr>
          <a:xfrm>
            <a:off x="9329623" y="585216"/>
            <a:ext cx="118872" cy="118872"/>
          </a:xfrm>
          <a:prstGeom prst="ellipse">
            <a:avLst/>
          </a:prstGeom>
          <a:solidFill>
            <a:srgbClr val="FFEDE0"/>
          </a:solidFill>
          <a:ln w="9525">
            <a:solidFill>
              <a:srgbClr val="E85D04"/>
            </a:solidFill>
            <a:prstDash val="solid"/>
          </a:ln>
        </p:spPr>
      </p:sp>
      <p:sp>
        <p:nvSpPr>
          <p:cNvPr id="23" name="Shape 20"/>
          <p:cNvSpPr/>
          <p:nvPr/>
        </p:nvSpPr>
        <p:spPr>
          <a:xfrm>
            <a:off x="9512503" y="585216"/>
            <a:ext cx="118872" cy="118872"/>
          </a:xfrm>
          <a:prstGeom prst="ellipse">
            <a:avLst/>
          </a:prstGeom>
          <a:solidFill>
            <a:srgbClr val="FFEDE0"/>
          </a:solidFill>
          <a:ln w="9525">
            <a:solidFill>
              <a:srgbClr val="E85D04"/>
            </a:solidFill>
            <a:prstDash val="solid"/>
          </a:ln>
        </p:spPr>
      </p:sp>
      <p:sp>
        <p:nvSpPr>
          <p:cNvPr id="24" name="Shape 21"/>
          <p:cNvSpPr/>
          <p:nvPr/>
        </p:nvSpPr>
        <p:spPr>
          <a:xfrm>
            <a:off x="9695383" y="585216"/>
            <a:ext cx="118872" cy="118872"/>
          </a:xfrm>
          <a:prstGeom prst="ellipse">
            <a:avLst/>
          </a:prstGeom>
          <a:solidFill>
            <a:srgbClr val="FFEDE0"/>
          </a:solidFill>
          <a:ln w="9525">
            <a:solidFill>
              <a:srgbClr val="E85D04"/>
            </a:solidFill>
            <a:prstDash val="solid"/>
          </a:ln>
        </p:spPr>
      </p:sp>
      <p:sp>
        <p:nvSpPr>
          <p:cNvPr id="25" name="Shape 22"/>
          <p:cNvSpPr/>
          <p:nvPr/>
        </p:nvSpPr>
        <p:spPr>
          <a:xfrm>
            <a:off x="9878263" y="585216"/>
            <a:ext cx="118872" cy="118872"/>
          </a:xfrm>
          <a:prstGeom prst="ellipse">
            <a:avLst/>
          </a:prstGeom>
          <a:solidFill>
            <a:srgbClr val="FFEDE0"/>
          </a:solidFill>
          <a:ln w="9525">
            <a:solidFill>
              <a:srgbClr val="E85D04"/>
            </a:solidFill>
            <a:prstDash val="solid"/>
          </a:ln>
        </p:spPr>
      </p:sp>
      <p:sp>
        <p:nvSpPr>
          <p:cNvPr id="26" name="Shape 23"/>
          <p:cNvSpPr/>
          <p:nvPr/>
        </p:nvSpPr>
        <p:spPr>
          <a:xfrm>
            <a:off x="10061143" y="585216"/>
            <a:ext cx="118872" cy="118872"/>
          </a:xfrm>
          <a:prstGeom prst="ellipse">
            <a:avLst/>
          </a:prstGeom>
          <a:solidFill>
            <a:srgbClr val="FFEDE0"/>
          </a:solidFill>
          <a:ln w="9525">
            <a:solidFill>
              <a:srgbClr val="E85D04"/>
            </a:solidFill>
            <a:prstDash val="solid"/>
          </a:ln>
        </p:spPr>
      </p:sp>
      <p:sp>
        <p:nvSpPr>
          <p:cNvPr id="27" name="Shape 24"/>
          <p:cNvSpPr/>
          <p:nvPr/>
        </p:nvSpPr>
        <p:spPr>
          <a:xfrm>
            <a:off x="10244023" y="585216"/>
            <a:ext cx="118872" cy="118872"/>
          </a:xfrm>
          <a:prstGeom prst="ellipse">
            <a:avLst/>
          </a:prstGeom>
          <a:solidFill>
            <a:srgbClr val="FFEDE0"/>
          </a:solidFill>
          <a:ln w="9525">
            <a:solidFill>
              <a:srgbClr val="E85D04"/>
            </a:solidFill>
            <a:prstDash val="solid"/>
          </a:ln>
        </p:spPr>
      </p:sp>
      <p:sp>
        <p:nvSpPr>
          <p:cNvPr id="28" name="Shape 25"/>
          <p:cNvSpPr/>
          <p:nvPr/>
        </p:nvSpPr>
        <p:spPr>
          <a:xfrm>
            <a:off x="10426903" y="585216"/>
            <a:ext cx="118872" cy="118872"/>
          </a:xfrm>
          <a:prstGeom prst="ellipse">
            <a:avLst/>
          </a:prstGeom>
          <a:solidFill>
            <a:srgbClr val="FFEDE0"/>
          </a:solidFill>
          <a:ln w="9525">
            <a:solidFill>
              <a:srgbClr val="E85D04"/>
            </a:solidFill>
            <a:prstDash val="solid"/>
          </a:ln>
        </p:spPr>
      </p:sp>
      <p:sp>
        <p:nvSpPr>
          <p:cNvPr id="29" name="Shape 26"/>
          <p:cNvSpPr/>
          <p:nvPr/>
        </p:nvSpPr>
        <p:spPr>
          <a:xfrm>
            <a:off x="10609783" y="585216"/>
            <a:ext cx="118872" cy="118872"/>
          </a:xfrm>
          <a:prstGeom prst="ellipse">
            <a:avLst/>
          </a:prstGeom>
          <a:solidFill>
            <a:srgbClr val="FFEDE0"/>
          </a:solidFill>
          <a:ln w="9525">
            <a:solidFill>
              <a:srgbClr val="E85D04"/>
            </a:solidFill>
            <a:prstDash val="solid"/>
          </a:ln>
        </p:spPr>
      </p:sp>
      <p:sp>
        <p:nvSpPr>
          <p:cNvPr id="30" name="Shape 27"/>
          <p:cNvSpPr/>
          <p:nvPr/>
        </p:nvSpPr>
        <p:spPr>
          <a:xfrm>
            <a:off x="10792663" y="585216"/>
            <a:ext cx="118872" cy="118872"/>
          </a:xfrm>
          <a:prstGeom prst="ellipse">
            <a:avLst/>
          </a:prstGeom>
          <a:solidFill>
            <a:srgbClr val="FFEDE0"/>
          </a:solidFill>
          <a:ln w="9525">
            <a:solidFill>
              <a:srgbClr val="E85D04"/>
            </a:solidFill>
            <a:prstDash val="solid"/>
          </a:ln>
        </p:spPr>
      </p:sp>
      <p:sp>
        <p:nvSpPr>
          <p:cNvPr id="31" name="Shape 28"/>
          <p:cNvSpPr/>
          <p:nvPr/>
        </p:nvSpPr>
        <p:spPr>
          <a:xfrm>
            <a:off x="10948111" y="557784"/>
            <a:ext cx="173736" cy="173736"/>
          </a:xfrm>
          <a:prstGeom prst="ellipse">
            <a:avLst/>
          </a:prstGeom>
          <a:solidFill>
            <a:srgbClr val="E85D04"/>
          </a:solidFill>
          <a:ln w="9525">
            <a:solidFill>
              <a:srgbClr val="E85D04"/>
            </a:solidFill>
            <a:prstDash val="solid"/>
          </a:ln>
        </p:spPr>
      </p:sp>
      <p:sp>
        <p:nvSpPr>
          <p:cNvPr id="32" name="Shape 29"/>
          <p:cNvSpPr/>
          <p:nvPr/>
        </p:nvSpPr>
        <p:spPr>
          <a:xfrm>
            <a:off x="11158423" y="585216"/>
            <a:ext cx="118872" cy="118872"/>
          </a:xfrm>
          <a:prstGeom prst="ellipse">
            <a:avLst/>
          </a:prstGeom>
          <a:solidFill>
            <a:srgbClr val="F3F6F9"/>
          </a:solidFill>
          <a:ln w="9525">
            <a:solidFill>
              <a:srgbClr val="DCE4EC"/>
            </a:solidFill>
            <a:prstDash val="solid"/>
          </a:ln>
        </p:spPr>
      </p:sp>
      <p:sp>
        <p:nvSpPr>
          <p:cNvPr id="33" name="Shape 30"/>
          <p:cNvSpPr/>
          <p:nvPr/>
        </p:nvSpPr>
        <p:spPr>
          <a:xfrm>
            <a:off x="11341303" y="585216"/>
            <a:ext cx="118872" cy="118872"/>
          </a:xfrm>
          <a:prstGeom prst="ellipse">
            <a:avLst/>
          </a:prstGeom>
          <a:solidFill>
            <a:srgbClr val="F3F6F9"/>
          </a:solidFill>
          <a:ln w="9525">
            <a:solidFill>
              <a:srgbClr val="DCE4EC"/>
            </a:solidFill>
            <a:prstDash val="solid"/>
          </a:ln>
        </p:spPr>
      </p:sp>
      <p:sp>
        <p:nvSpPr>
          <p:cNvPr id="34" name="Shape 31"/>
          <p:cNvSpPr/>
          <p:nvPr/>
        </p:nvSpPr>
        <p:spPr>
          <a:xfrm>
            <a:off x="11524183" y="585216"/>
            <a:ext cx="118872" cy="118872"/>
          </a:xfrm>
          <a:prstGeom prst="ellipse">
            <a:avLst/>
          </a:prstGeom>
          <a:solidFill>
            <a:srgbClr val="F3F6F9"/>
          </a:solidFill>
          <a:ln w="9525">
            <a:solidFill>
              <a:srgbClr val="DCE4EC"/>
            </a:solidFill>
            <a:prstDash val="solid"/>
          </a:ln>
        </p:spPr>
      </p:sp>
      <p:sp>
        <p:nvSpPr>
          <p:cNvPr id="35" name="Text 32"/>
          <p:cNvSpPr txBox="1"/>
          <p:nvPr/>
        </p:nvSpPr>
        <p:spPr>
          <a:xfrm>
            <a:off x="8780983" y="768096"/>
            <a:ext cx="2862072" cy="201168"/>
          </a:xfrm>
          <a:prstGeom prst="rect">
            <a:avLst/>
          </a:prstGeom>
          <a:noFill/>
          <a:ln/>
        </p:spPr>
        <p:txBody>
          <a:bodyPr wrap="square" lIns="0" tIns="0" rIns="0" bIns="0" rtlCol="0" anchor="ctr"/>
          <a:lstStyle/>
          <a:p>
            <a:pPr algn="r" indent="0" marL="0">
              <a:buNone/>
            </a:pPr>
            <a:r>
              <a:rPr lang="en-US" sz="950" dirty="0">
                <a:solidFill>
                  <a:srgbClr val="5E6D7D"/>
                </a:solidFill>
                <a:latin typeface="Calibri" pitchFamily="34" charset="0"/>
                <a:ea typeface="Calibri" pitchFamily="34" charset="-122"/>
                <a:cs typeface="Calibri" pitchFamily="34" charset="-120"/>
              </a:rPr>
              <a:t>Screen 13 of 16</a:t>
            </a:r>
            <a:endParaRPr lang="en-US" sz="950" dirty="0"/>
          </a:p>
        </p:txBody>
      </p:sp>
      <p:sp>
        <p:nvSpPr>
          <p:cNvPr id="36" name="Text 33"/>
          <p:cNvSpPr txBox="1"/>
          <p:nvPr/>
        </p:nvSpPr>
        <p:spPr>
          <a:xfrm>
            <a:off x="4434840" y="1170432"/>
            <a:ext cx="7208215" cy="237744"/>
          </a:xfrm>
          <a:prstGeom prst="rect">
            <a:avLst/>
          </a:prstGeom>
          <a:noFill/>
          <a:ln/>
        </p:spPr>
        <p:txBody>
          <a:bodyPr wrap="square" lIns="0" tIns="0" rIns="0" bIns="0" rtlCol="0" anchor="ctr"/>
          <a:lstStyle/>
          <a:p>
            <a:pPr indent="0" marL="0">
              <a:buNone/>
            </a:pPr>
            <a:r>
              <a:rPr lang="en-US" sz="1100" b="1" spc="200" kern="0" dirty="0">
                <a:solidFill>
                  <a:srgbClr val="E85D04"/>
                </a:solidFill>
                <a:latin typeface="Calibri" pitchFamily="34" charset="0"/>
                <a:ea typeface="Calibri" pitchFamily="34" charset="-122"/>
                <a:cs typeface="Calibri" pitchFamily="34" charset="-120"/>
              </a:rPr>
              <a:t>ON THE WAY</a:t>
            </a:r>
            <a:endParaRPr lang="en-US" sz="1100" dirty="0"/>
          </a:p>
        </p:txBody>
      </p:sp>
      <p:sp>
        <p:nvSpPr>
          <p:cNvPr id="37" name="Text 34"/>
          <p:cNvSpPr txBox="1"/>
          <p:nvPr/>
        </p:nvSpPr>
        <p:spPr>
          <a:xfrm>
            <a:off x="4434840" y="1463040"/>
            <a:ext cx="7208215" cy="457200"/>
          </a:xfrm>
          <a:prstGeom prst="rect">
            <a:avLst/>
          </a:prstGeom>
          <a:noFill/>
          <a:ln/>
        </p:spPr>
        <p:txBody>
          <a:bodyPr wrap="square" lIns="0" tIns="0" rIns="0" bIns="0" rtlCol="0" anchor="t"/>
          <a:lstStyle/>
          <a:p>
            <a:pPr indent="0" marL="0">
              <a:buNone/>
            </a:pPr>
            <a:r>
              <a:rPr lang="en-US" sz="3000" b="1" dirty="0">
                <a:solidFill>
                  <a:srgbClr val="16202B"/>
                </a:solidFill>
                <a:latin typeface="Calibri" pitchFamily="34" charset="0"/>
                <a:ea typeface="Calibri" pitchFamily="34" charset="-122"/>
                <a:cs typeface="Calibri" pitchFamily="34" charset="-120"/>
              </a:rPr>
              <a:t>Following the ride on the map</a:t>
            </a:r>
            <a:endParaRPr lang="en-US" sz="3000" dirty="0"/>
          </a:p>
        </p:txBody>
      </p:sp>
      <p:sp>
        <p:nvSpPr>
          <p:cNvPr id="38" name="Text 35"/>
          <p:cNvSpPr txBox="1"/>
          <p:nvPr/>
        </p:nvSpPr>
        <p:spPr>
          <a:xfrm>
            <a:off x="4434840" y="2048256"/>
            <a:ext cx="7208215" cy="475488"/>
          </a:xfrm>
          <a:prstGeom prst="rect">
            <a:avLst/>
          </a:prstGeom>
          <a:noFill/>
          <a:ln/>
        </p:spPr>
        <p:txBody>
          <a:bodyPr wrap="square" lIns="0" tIns="0" rIns="0" bIns="0" rtlCol="0" anchor="t"/>
          <a:lstStyle/>
          <a:p>
            <a:pPr indent="0" marL="0">
              <a:buNone/>
            </a:pPr>
            <a:r>
              <a:rPr lang="en-US" sz="1500" dirty="0">
                <a:solidFill>
                  <a:srgbClr val="34465A"/>
                </a:solidFill>
                <a:latin typeface="Calibri" pitchFamily="34" charset="0"/>
                <a:ea typeface="Calibri" pitchFamily="34" charset="-122"/>
                <a:cs typeface="Calibri" pitchFamily="34" charset="-120"/>
              </a:rPr>
              <a:t>The distance is now measured to the drop. M. Iyer gets off at Coke Plant on the way.</a:t>
            </a:r>
            <a:endParaRPr lang="en-US" sz="1500" dirty="0"/>
          </a:p>
        </p:txBody>
      </p:sp>
      <p:sp>
        <p:nvSpPr>
          <p:cNvPr id="39" name="Shape 36"/>
          <p:cNvSpPr/>
          <p:nvPr/>
        </p:nvSpPr>
        <p:spPr>
          <a:xfrm>
            <a:off x="4434840" y="2798064"/>
            <a:ext cx="7208215" cy="649224"/>
          </a:xfrm>
          <a:prstGeom prst="roundRect">
            <a:avLst>
              <a:gd name="adj" fmla="val 11268"/>
            </a:avLst>
          </a:prstGeom>
          <a:solidFill>
            <a:srgbClr val="F3F6F9"/>
          </a:solidFill>
          <a:ln w="6350">
            <a:solidFill>
              <a:srgbClr val="F3F6F9"/>
            </a:solidFill>
            <a:prstDash val="solid"/>
          </a:ln>
        </p:spPr>
      </p:sp>
      <p:sp>
        <p:nvSpPr>
          <p:cNvPr id="40" name="Shape 37"/>
          <p:cNvSpPr/>
          <p:nvPr/>
        </p:nvSpPr>
        <p:spPr>
          <a:xfrm>
            <a:off x="4599432" y="2916936"/>
            <a:ext cx="292608" cy="292608"/>
          </a:xfrm>
          <a:prstGeom prst="ellipse">
            <a:avLst/>
          </a:prstGeom>
          <a:solidFill>
            <a:srgbClr val="E85D04"/>
          </a:solidFill>
          <a:ln w="15875">
            <a:solidFill>
              <a:srgbClr val="FFFFFF"/>
            </a:solidFill>
            <a:prstDash val="solid"/>
          </a:ln>
        </p:spPr>
      </p:sp>
      <p:sp>
        <p:nvSpPr>
          <p:cNvPr id="41" name="Text 38"/>
          <p:cNvSpPr txBox="1"/>
          <p:nvPr/>
        </p:nvSpPr>
        <p:spPr>
          <a:xfrm>
            <a:off x="4599432" y="2916936"/>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42" name="Text 39"/>
          <p:cNvSpPr txBox="1"/>
          <p:nvPr/>
        </p:nvSpPr>
        <p:spPr>
          <a:xfrm>
            <a:off x="5029200" y="2907792"/>
            <a:ext cx="6430975" cy="274320"/>
          </a:xfrm>
          <a:prstGeom prst="rect">
            <a:avLst/>
          </a:prstGeom>
          <a:noFill/>
          <a:ln/>
        </p:spPr>
        <p:txBody>
          <a:bodyPr wrap="square" lIns="0" tIns="0" rIns="0" bIns="0" rtlCol="0" anchor="ctr"/>
          <a:lstStyle/>
          <a:p>
            <a:pPr indent="0" marL="0">
              <a:buNone/>
            </a:pPr>
            <a:r>
              <a:rPr lang="en-US" sz="1400" b="1" dirty="0">
                <a:solidFill>
                  <a:srgbClr val="16202B"/>
                </a:solidFill>
                <a:latin typeface="Calibri" pitchFamily="34" charset="0"/>
                <a:ea typeface="Calibri" pitchFamily="34" charset="-122"/>
                <a:cs typeface="Calibri" pitchFamily="34" charset="-120"/>
              </a:rPr>
              <a:t>C-12 is 1.3 km from Blast Furnace</a:t>
            </a:r>
            <a:endParaRPr lang="en-US" sz="1400" dirty="0"/>
          </a:p>
        </p:txBody>
      </p:sp>
      <p:sp>
        <p:nvSpPr>
          <p:cNvPr id="43" name="Text 40"/>
          <p:cNvSpPr txBox="1"/>
          <p:nvPr/>
        </p:nvSpPr>
        <p:spPr>
          <a:xfrm>
            <a:off x="5029200" y="3182112"/>
            <a:ext cx="6430975" cy="192024"/>
          </a:xfrm>
          <a:prstGeom prst="rect">
            <a:avLst/>
          </a:prstGeom>
          <a:noFill/>
          <a:ln/>
        </p:spPr>
        <p:txBody>
          <a:bodyPr wrap="square" lIns="0" tIns="0" rIns="0" bIns="0" rtlCol="0" anchor="t"/>
          <a:lstStyle/>
          <a:p>
            <a:pPr indent="0" marL="0">
              <a:buNone/>
            </a:pPr>
            <a:r>
              <a:rPr lang="en-US" sz="1200" dirty="0">
                <a:solidFill>
                  <a:srgbClr val="34465A"/>
                </a:solidFill>
                <a:latin typeface="Calibri" pitchFamily="34" charset="0"/>
                <a:ea typeface="Calibri" pitchFamily="34" charset="-122"/>
                <a:cs typeface="Calibri" pitchFamily="34" charset="-120"/>
              </a:rPr>
              <a:t>Measured to the drop now that the rider is on board.</a:t>
            </a:r>
            <a:endParaRPr lang="en-US" sz="1200" dirty="0"/>
          </a:p>
        </p:txBody>
      </p:sp>
      <p:sp>
        <p:nvSpPr>
          <p:cNvPr id="44" name="Shape 41"/>
          <p:cNvSpPr/>
          <p:nvPr/>
        </p:nvSpPr>
        <p:spPr>
          <a:xfrm>
            <a:off x="4434840" y="3557016"/>
            <a:ext cx="7208215" cy="649224"/>
          </a:xfrm>
          <a:prstGeom prst="roundRect">
            <a:avLst>
              <a:gd name="adj" fmla="val 11268"/>
            </a:avLst>
          </a:prstGeom>
          <a:solidFill>
            <a:srgbClr val="F3F6F9"/>
          </a:solidFill>
          <a:ln w="6350">
            <a:solidFill>
              <a:srgbClr val="F3F6F9"/>
            </a:solidFill>
            <a:prstDash val="solid"/>
          </a:ln>
        </p:spPr>
      </p:sp>
      <p:sp>
        <p:nvSpPr>
          <p:cNvPr id="45" name="Shape 42"/>
          <p:cNvSpPr/>
          <p:nvPr/>
        </p:nvSpPr>
        <p:spPr>
          <a:xfrm>
            <a:off x="4599432" y="3675888"/>
            <a:ext cx="292608" cy="292608"/>
          </a:xfrm>
          <a:prstGeom prst="ellipse">
            <a:avLst/>
          </a:prstGeom>
          <a:solidFill>
            <a:srgbClr val="E85D04"/>
          </a:solidFill>
          <a:ln w="15875">
            <a:solidFill>
              <a:srgbClr val="FFFFFF"/>
            </a:solidFill>
            <a:prstDash val="solid"/>
          </a:ln>
        </p:spPr>
      </p:sp>
      <p:sp>
        <p:nvSpPr>
          <p:cNvPr id="46" name="Text 43"/>
          <p:cNvSpPr txBox="1"/>
          <p:nvPr/>
        </p:nvSpPr>
        <p:spPr>
          <a:xfrm>
            <a:off x="4599432" y="3675888"/>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47" name="Text 44"/>
          <p:cNvSpPr txBox="1"/>
          <p:nvPr/>
        </p:nvSpPr>
        <p:spPr>
          <a:xfrm>
            <a:off x="5029200" y="3666744"/>
            <a:ext cx="6430975" cy="274320"/>
          </a:xfrm>
          <a:prstGeom prst="rect">
            <a:avLst/>
          </a:prstGeom>
          <a:noFill/>
          <a:ln/>
        </p:spPr>
        <p:txBody>
          <a:bodyPr wrap="square" lIns="0" tIns="0" rIns="0" bIns="0" rtlCol="0" anchor="ctr"/>
          <a:lstStyle/>
          <a:p>
            <a:pPr indent="0" marL="0">
              <a:buNone/>
            </a:pPr>
            <a:r>
              <a:rPr lang="en-US" sz="1400" b="1" dirty="0">
                <a:solidFill>
                  <a:srgbClr val="16202B"/>
                </a:solidFill>
                <a:latin typeface="Calibri" pitchFamily="34" charset="0"/>
                <a:ea typeface="Calibri" pitchFamily="34" charset="-122"/>
                <a:cs typeface="Calibri" pitchFamily="34" charset="-120"/>
              </a:rPr>
              <a:t>Moving at 18 km/h</a:t>
            </a:r>
            <a:endParaRPr lang="en-US" sz="1400" dirty="0"/>
          </a:p>
        </p:txBody>
      </p:sp>
      <p:sp>
        <p:nvSpPr>
          <p:cNvPr id="48" name="Text 45"/>
          <p:cNvSpPr txBox="1"/>
          <p:nvPr/>
        </p:nvSpPr>
        <p:spPr>
          <a:xfrm>
            <a:off x="5029200" y="3941064"/>
            <a:ext cx="6430975" cy="192024"/>
          </a:xfrm>
          <a:prstGeom prst="rect">
            <a:avLst/>
          </a:prstGeom>
          <a:noFill/>
          <a:ln/>
        </p:spPr>
        <p:txBody>
          <a:bodyPr wrap="square" lIns="0" tIns="0" rIns="0" bIns="0" rtlCol="0" anchor="t"/>
          <a:lstStyle/>
          <a:p>
            <a:pPr indent="0" marL="0">
              <a:buNone/>
            </a:pPr>
            <a:r>
              <a:rPr lang="en-US" sz="1200" dirty="0">
                <a:solidFill>
                  <a:srgbClr val="34465A"/>
                </a:solidFill>
                <a:latin typeface="Calibri" pitchFamily="34" charset="0"/>
                <a:ea typeface="Calibri" pitchFamily="34" charset="-122"/>
                <a:cs typeface="Calibri" pitchFamily="34" charset="-120"/>
              </a:rPr>
              <a:t>Within the route’s 20 km/h limit; overspeed alerts the desk.</a:t>
            </a:r>
            <a:endParaRPr lang="en-US" sz="1200" dirty="0"/>
          </a:p>
        </p:txBody>
      </p:sp>
      <p:sp>
        <p:nvSpPr>
          <p:cNvPr id="49" name="Shape 46"/>
          <p:cNvSpPr/>
          <p:nvPr/>
        </p:nvSpPr>
        <p:spPr>
          <a:xfrm>
            <a:off x="4434840" y="4315968"/>
            <a:ext cx="7208215" cy="649224"/>
          </a:xfrm>
          <a:prstGeom prst="roundRect">
            <a:avLst>
              <a:gd name="adj" fmla="val 11268"/>
            </a:avLst>
          </a:prstGeom>
          <a:solidFill>
            <a:srgbClr val="F3F6F9"/>
          </a:solidFill>
          <a:ln w="6350">
            <a:solidFill>
              <a:srgbClr val="F3F6F9"/>
            </a:solidFill>
            <a:prstDash val="solid"/>
          </a:ln>
        </p:spPr>
      </p:sp>
      <p:sp>
        <p:nvSpPr>
          <p:cNvPr id="50" name="Shape 47"/>
          <p:cNvSpPr/>
          <p:nvPr/>
        </p:nvSpPr>
        <p:spPr>
          <a:xfrm>
            <a:off x="4599432" y="4434840"/>
            <a:ext cx="292608" cy="292608"/>
          </a:xfrm>
          <a:prstGeom prst="ellipse">
            <a:avLst/>
          </a:prstGeom>
          <a:solidFill>
            <a:srgbClr val="E85D04"/>
          </a:solidFill>
          <a:ln w="15875">
            <a:solidFill>
              <a:srgbClr val="FFFFFF"/>
            </a:solidFill>
            <a:prstDash val="solid"/>
          </a:ln>
        </p:spPr>
      </p:sp>
      <p:sp>
        <p:nvSpPr>
          <p:cNvPr id="51" name="Text 48"/>
          <p:cNvSpPr txBox="1"/>
          <p:nvPr/>
        </p:nvSpPr>
        <p:spPr>
          <a:xfrm>
            <a:off x="4599432" y="443484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52" name="Text 49"/>
          <p:cNvSpPr txBox="1"/>
          <p:nvPr/>
        </p:nvSpPr>
        <p:spPr>
          <a:xfrm>
            <a:off x="5029200" y="4425696"/>
            <a:ext cx="6430975" cy="274320"/>
          </a:xfrm>
          <a:prstGeom prst="rect">
            <a:avLst/>
          </a:prstGeom>
          <a:noFill/>
          <a:ln/>
        </p:spPr>
        <p:txBody>
          <a:bodyPr wrap="square" lIns="0" tIns="0" rIns="0" bIns="0" rtlCol="0" anchor="ctr"/>
          <a:lstStyle/>
          <a:p>
            <a:pPr indent="0" marL="0">
              <a:buNone/>
            </a:pPr>
            <a:r>
              <a:rPr lang="en-US" sz="1400" b="1" dirty="0">
                <a:solidFill>
                  <a:srgbClr val="16202B"/>
                </a:solidFill>
                <a:latin typeface="Calibri" pitchFamily="34" charset="0"/>
                <a:ea typeface="Calibri" pitchFamily="34" charset="-122"/>
                <a:cs typeface="Calibri" pitchFamily="34" charset="-120"/>
              </a:rPr>
              <a:t>Coke Plant, then Blast Furnace</a:t>
            </a:r>
            <a:endParaRPr lang="en-US" sz="1400" dirty="0"/>
          </a:p>
        </p:txBody>
      </p:sp>
      <p:sp>
        <p:nvSpPr>
          <p:cNvPr id="53" name="Text 50"/>
          <p:cNvSpPr txBox="1"/>
          <p:nvPr/>
        </p:nvSpPr>
        <p:spPr>
          <a:xfrm>
            <a:off x="5029200" y="4700016"/>
            <a:ext cx="6430975" cy="192024"/>
          </a:xfrm>
          <a:prstGeom prst="rect">
            <a:avLst/>
          </a:prstGeom>
          <a:noFill/>
          <a:ln/>
        </p:spPr>
        <p:txBody>
          <a:bodyPr wrap="square" lIns="0" tIns="0" rIns="0" bIns="0" rtlCol="0" anchor="t"/>
          <a:lstStyle/>
          <a:p>
            <a:pPr indent="0" marL="0">
              <a:buNone/>
            </a:pPr>
            <a:r>
              <a:rPr lang="en-US" sz="1200" dirty="0">
                <a:solidFill>
                  <a:srgbClr val="34465A"/>
                </a:solidFill>
                <a:latin typeface="Calibri" pitchFamily="34" charset="0"/>
                <a:ea typeface="Calibri" pitchFamily="34" charset="-122"/>
                <a:cs typeface="Calibri" pitchFamily="34" charset="-120"/>
              </a:rPr>
              <a:t>The stops on this shared run, in route order.</a:t>
            </a:r>
            <a:endParaRPr lang="en-US" sz="1200" dirty="0"/>
          </a:p>
        </p:txBody>
      </p:sp>
      <p:sp>
        <p:nvSpPr>
          <p:cNvPr id="54" name="Shape 51"/>
          <p:cNvSpPr/>
          <p:nvPr/>
        </p:nvSpPr>
        <p:spPr>
          <a:xfrm>
            <a:off x="4434840" y="5166360"/>
            <a:ext cx="7208215" cy="576072"/>
          </a:xfrm>
          <a:prstGeom prst="roundRect">
            <a:avLst>
              <a:gd name="adj" fmla="val 12698"/>
            </a:avLst>
          </a:prstGeom>
          <a:solidFill>
            <a:srgbClr val="FFEDE0"/>
          </a:solidFill>
          <a:ln w="6350">
            <a:solidFill>
              <a:srgbClr val="FFEDE0"/>
            </a:solidFill>
            <a:prstDash val="solid"/>
          </a:ln>
        </p:spPr>
      </p:sp>
      <p:sp>
        <p:nvSpPr>
          <p:cNvPr id="55" name="Text 52"/>
          <p:cNvSpPr txBox="1"/>
          <p:nvPr/>
        </p:nvSpPr>
        <p:spPr>
          <a:xfrm>
            <a:off x="4617720" y="5257800"/>
            <a:ext cx="6842455" cy="201168"/>
          </a:xfrm>
          <a:prstGeom prst="rect">
            <a:avLst/>
          </a:prstGeom>
          <a:noFill/>
          <a:ln/>
        </p:spPr>
        <p:txBody>
          <a:bodyPr wrap="square" lIns="0" tIns="0" rIns="0" bIns="0" rtlCol="0" anchor="ctr"/>
          <a:lstStyle/>
          <a:p>
            <a:pPr indent="0" marL="0">
              <a:buNone/>
            </a:pPr>
            <a:r>
              <a:rPr lang="en-US" sz="950" b="1" spc="150" kern="0" dirty="0">
                <a:solidFill>
                  <a:srgbClr val="B84A03"/>
                </a:solidFill>
                <a:latin typeface="Calibri" pitchFamily="34" charset="0"/>
                <a:ea typeface="Calibri" pitchFamily="34" charset="-122"/>
                <a:cs typeface="Calibri" pitchFamily="34" charset="-120"/>
              </a:rPr>
              <a:t>BEHIND THE SCENES</a:t>
            </a:r>
            <a:endParaRPr lang="en-US" sz="950" dirty="0"/>
          </a:p>
        </p:txBody>
      </p:sp>
      <p:sp>
        <p:nvSpPr>
          <p:cNvPr id="56" name="Text 53"/>
          <p:cNvSpPr txBox="1"/>
          <p:nvPr/>
        </p:nvSpPr>
        <p:spPr>
          <a:xfrm>
            <a:off x="4617720" y="5468112"/>
            <a:ext cx="6842455" cy="192024"/>
          </a:xfrm>
          <a:prstGeom prst="rect">
            <a:avLst/>
          </a:prstGeom>
          <a:noFill/>
          <a:ln/>
        </p:spPr>
        <p:txBody>
          <a:bodyPr wrap="square" lIns="0" tIns="0" rIns="0" bIns="0" rtlCol="0" anchor="t"/>
          <a:lstStyle/>
          <a:p>
            <a:pPr indent="0" marL="0">
              <a:buNone/>
            </a:pPr>
            <a:r>
              <a:rPr lang="en-US" sz="1200" dirty="0">
                <a:solidFill>
                  <a:srgbClr val="16202B"/>
                </a:solidFill>
                <a:latin typeface="Calibri" pitchFamily="34" charset="0"/>
                <a:ea typeface="Calibri" pitchFamily="34" charset="-122"/>
                <a:cs typeface="Calibri" pitchFamily="34" charset="-120"/>
              </a:rPr>
              <a:t>The rider’s own position is no longer shared: it was deleted at boarding.</a:t>
            </a:r>
            <a:endParaRPr lang="en-US" sz="1200" dirty="0"/>
          </a:p>
        </p:txBody>
      </p:sp>
      <p:sp>
        <p:nvSpPr>
          <p:cNvPr id="57" name="Text 54"/>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900" dirty="0">
                <a:solidFill>
                  <a:srgbClr val="5E6D7D"/>
                </a:solidFill>
                <a:latin typeface="Calibri" pitchFamily="34" charset="0"/>
                <a:ea typeface="Calibri" pitchFamily="34" charset="-122"/>
                <a:cs typeface="Calibri" pitchFamily="34" charset="-120"/>
              </a:rPr>
              <a:t>Plant Ride · Rider → Driver journey · recorded on the MVP with demo data</a:t>
            </a:r>
            <a:endParaRPr lang="en-US" sz="900" dirty="0"/>
          </a:p>
        </p:txBody>
      </p:sp>
      <p:sp>
        <p:nvSpPr>
          <p:cNvPr id="58" name="Text 55"/>
          <p:cNvSpPr txBox="1"/>
          <p:nvPr/>
        </p:nvSpPr>
        <p:spPr>
          <a:xfrm>
            <a:off x="11185855" y="6473952"/>
            <a:ext cx="457200" cy="228600"/>
          </a:xfrm>
          <a:prstGeom prst="rect">
            <a:avLst/>
          </a:prstGeom>
          <a:noFill/>
          <a:ln/>
        </p:spPr>
        <p:txBody>
          <a:bodyPr wrap="square" lIns="0" tIns="0" rIns="0" bIns="0" rtlCol="0" anchor="ctr"/>
          <a:lstStyle/>
          <a:p>
            <a:pPr algn="r" indent="0" marL="0">
              <a:buNone/>
            </a:pPr>
            <a:r>
              <a:rPr lang="en-US" sz="900" dirty="0">
                <a:solidFill>
                  <a:srgbClr val="5E6D7D"/>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50976" y="402336"/>
            <a:ext cx="2813925" cy="5961888"/>
          </a:xfrm>
          <a:prstGeom prst="roundRect">
            <a:avLst>
              <a:gd name="adj" fmla="val 5849"/>
            </a:avLst>
          </a:prstGeom>
          <a:solidFill>
            <a:srgbClr val="16202B"/>
          </a:solidFill>
          <a:ln w="9525">
            <a:solidFill>
              <a:srgbClr val="16202B"/>
            </a:solidFill>
            <a:prstDash val="solid"/>
          </a:ln>
          <a:effectLst>
            <a:outerShdw sx="100000" sy="100000" kx="0" ky="0" algn="bl" rotWithShape="0" blurRad="127000" dist="38100" dir="5400000">
              <a:srgbClr val="000000">
                <a:alpha val="20000"/>
              </a:srgbClr>
            </a:outerShdw>
          </a:effectLst>
        </p:spPr>
      </p:sp>
      <p:pic>
        <p:nvPicPr>
          <p:cNvPr id="3" name="Image 0" descr="Screenshot: r14-complete">    </p:cNvPr>
          <p:cNvPicPr>
            <a:picLocks noChangeAspect="1"/>
          </p:cNvPicPr>
          <p:nvPr/>
        </p:nvPicPr>
        <p:blipFill>
          <a:blip r:embed="rId1"/>
          <a:stretch>
            <a:fillRect/>
          </a:stretch>
        </p:blipFill>
        <p:spPr>
          <a:xfrm>
            <a:off x="1005840" y="457200"/>
            <a:ext cx="2704197" cy="5852160"/>
          </a:xfrm>
          <a:prstGeom prst="rect">
            <a:avLst/>
          </a:prstGeom>
        </p:spPr>
      </p:pic>
      <p:sp>
        <p:nvSpPr>
          <p:cNvPr id="4" name="Shape 1"/>
          <p:cNvSpPr/>
          <p:nvPr/>
        </p:nvSpPr>
        <p:spPr>
          <a:xfrm>
            <a:off x="822960" y="1316996"/>
            <a:ext cx="238351" cy="914"/>
          </a:xfrm>
          <a:prstGeom prst="line">
            <a:avLst/>
          </a:prstGeom>
          <a:noFill/>
          <a:ln w="15875">
            <a:solidFill>
              <a:srgbClr val="E85D04"/>
            </a:solidFill>
            <a:prstDash val="solid"/>
          </a:ln>
        </p:spPr>
      </p:sp>
      <p:sp>
        <p:nvSpPr>
          <p:cNvPr id="5" name="Shape 2"/>
          <p:cNvSpPr/>
          <p:nvPr/>
        </p:nvSpPr>
        <p:spPr>
          <a:xfrm>
            <a:off x="1020163" y="1275848"/>
            <a:ext cx="82296" cy="82296"/>
          </a:xfrm>
          <a:prstGeom prst="ellipse">
            <a:avLst/>
          </a:prstGeom>
          <a:solidFill>
            <a:srgbClr val="E85D04"/>
          </a:solidFill>
          <a:ln w="9525">
            <a:solidFill>
              <a:srgbClr val="FFFFFF"/>
            </a:solidFill>
            <a:prstDash val="solid"/>
          </a:ln>
        </p:spPr>
      </p:sp>
      <p:sp>
        <p:nvSpPr>
          <p:cNvPr id="6" name="Shape 3"/>
          <p:cNvSpPr/>
          <p:nvPr/>
        </p:nvSpPr>
        <p:spPr>
          <a:xfrm>
            <a:off x="548640" y="1179836"/>
            <a:ext cx="274320" cy="274320"/>
          </a:xfrm>
          <a:prstGeom prst="ellipse">
            <a:avLst/>
          </a:prstGeom>
          <a:solidFill>
            <a:srgbClr val="E85D04"/>
          </a:solidFill>
          <a:ln w="15875">
            <a:solidFill>
              <a:srgbClr val="FFFFFF"/>
            </a:solidFill>
            <a:prstDash val="solid"/>
          </a:ln>
        </p:spPr>
      </p:sp>
      <p:sp>
        <p:nvSpPr>
          <p:cNvPr id="7" name="Text 4"/>
          <p:cNvSpPr txBox="1"/>
          <p:nvPr/>
        </p:nvSpPr>
        <p:spPr>
          <a:xfrm>
            <a:off x="548640" y="117983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8" name="Shape 5"/>
          <p:cNvSpPr/>
          <p:nvPr/>
        </p:nvSpPr>
        <p:spPr>
          <a:xfrm>
            <a:off x="822960" y="2572021"/>
            <a:ext cx="439432" cy="914"/>
          </a:xfrm>
          <a:prstGeom prst="line">
            <a:avLst/>
          </a:prstGeom>
          <a:noFill/>
          <a:ln w="15875">
            <a:solidFill>
              <a:srgbClr val="E85D04"/>
            </a:solidFill>
            <a:prstDash val="solid"/>
          </a:ln>
        </p:spPr>
      </p:sp>
      <p:sp>
        <p:nvSpPr>
          <p:cNvPr id="9" name="Shape 6"/>
          <p:cNvSpPr/>
          <p:nvPr/>
        </p:nvSpPr>
        <p:spPr>
          <a:xfrm>
            <a:off x="1221244" y="2530873"/>
            <a:ext cx="82296" cy="82296"/>
          </a:xfrm>
          <a:prstGeom prst="ellipse">
            <a:avLst/>
          </a:prstGeom>
          <a:solidFill>
            <a:srgbClr val="E85D04"/>
          </a:solidFill>
          <a:ln w="9525">
            <a:solidFill>
              <a:srgbClr val="FFFFFF"/>
            </a:solidFill>
            <a:prstDash val="solid"/>
          </a:ln>
        </p:spPr>
      </p:sp>
      <p:sp>
        <p:nvSpPr>
          <p:cNvPr id="10" name="Shape 7"/>
          <p:cNvSpPr/>
          <p:nvPr/>
        </p:nvSpPr>
        <p:spPr>
          <a:xfrm>
            <a:off x="548640" y="2434861"/>
            <a:ext cx="274320" cy="274320"/>
          </a:xfrm>
          <a:prstGeom prst="ellipse">
            <a:avLst/>
          </a:prstGeom>
          <a:solidFill>
            <a:srgbClr val="E85D04"/>
          </a:solidFill>
          <a:ln w="15875">
            <a:solidFill>
              <a:srgbClr val="FFFFFF"/>
            </a:solidFill>
            <a:prstDash val="solid"/>
          </a:ln>
        </p:spPr>
      </p:sp>
      <p:sp>
        <p:nvSpPr>
          <p:cNvPr id="11" name="Text 8"/>
          <p:cNvSpPr txBox="1"/>
          <p:nvPr/>
        </p:nvSpPr>
        <p:spPr>
          <a:xfrm>
            <a:off x="548640" y="2434861"/>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2" name="Shape 9"/>
          <p:cNvSpPr/>
          <p:nvPr/>
        </p:nvSpPr>
        <p:spPr>
          <a:xfrm>
            <a:off x="822960" y="3168331"/>
            <a:ext cx="356226" cy="914"/>
          </a:xfrm>
          <a:prstGeom prst="line">
            <a:avLst/>
          </a:prstGeom>
          <a:noFill/>
          <a:ln w="15875">
            <a:solidFill>
              <a:srgbClr val="E85D04"/>
            </a:solidFill>
            <a:prstDash val="solid"/>
          </a:ln>
        </p:spPr>
      </p:sp>
      <p:sp>
        <p:nvSpPr>
          <p:cNvPr id="13" name="Shape 10"/>
          <p:cNvSpPr/>
          <p:nvPr/>
        </p:nvSpPr>
        <p:spPr>
          <a:xfrm>
            <a:off x="1138038" y="3127183"/>
            <a:ext cx="82296" cy="82296"/>
          </a:xfrm>
          <a:prstGeom prst="ellipse">
            <a:avLst/>
          </a:prstGeom>
          <a:solidFill>
            <a:srgbClr val="E85D04"/>
          </a:solidFill>
          <a:ln w="9525">
            <a:solidFill>
              <a:srgbClr val="FFFFFF"/>
            </a:solidFill>
            <a:prstDash val="solid"/>
          </a:ln>
        </p:spPr>
      </p:sp>
      <p:sp>
        <p:nvSpPr>
          <p:cNvPr id="14" name="Shape 11"/>
          <p:cNvSpPr/>
          <p:nvPr/>
        </p:nvSpPr>
        <p:spPr>
          <a:xfrm>
            <a:off x="548640" y="3031171"/>
            <a:ext cx="274320" cy="274320"/>
          </a:xfrm>
          <a:prstGeom prst="ellipse">
            <a:avLst/>
          </a:prstGeom>
          <a:solidFill>
            <a:srgbClr val="E85D04"/>
          </a:solidFill>
          <a:ln w="15875">
            <a:solidFill>
              <a:srgbClr val="FFFFFF"/>
            </a:solidFill>
            <a:prstDash val="solid"/>
          </a:ln>
        </p:spPr>
      </p:sp>
      <p:sp>
        <p:nvSpPr>
          <p:cNvPr id="15" name="Text 12"/>
          <p:cNvSpPr txBox="1"/>
          <p:nvPr/>
        </p:nvSpPr>
        <p:spPr>
          <a:xfrm>
            <a:off x="548640" y="3031171"/>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6" name="Shape 13"/>
          <p:cNvSpPr/>
          <p:nvPr/>
        </p:nvSpPr>
        <p:spPr>
          <a:xfrm>
            <a:off x="4434840" y="457200"/>
            <a:ext cx="384048" cy="384048"/>
          </a:xfrm>
          <a:prstGeom prst="ellipse">
            <a:avLst/>
          </a:prstGeom>
          <a:solidFill>
            <a:srgbClr val="E85D04"/>
          </a:solidFill>
          <a:ln w="6350">
            <a:solidFill>
              <a:srgbClr val="E85D04"/>
            </a:solidFill>
            <a:prstDash val="solid"/>
          </a:ln>
        </p:spPr>
      </p:sp>
      <p:sp>
        <p:nvSpPr>
          <p:cNvPr id="17" name="Text 14"/>
          <p:cNvSpPr txBox="1"/>
          <p:nvPr/>
        </p:nvSpPr>
        <p:spPr>
          <a:xfrm>
            <a:off x="4434840" y="457200"/>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AR</a:t>
            </a:r>
            <a:endParaRPr lang="en-US" sz="1100" dirty="0"/>
          </a:p>
        </p:txBody>
      </p:sp>
      <p:sp>
        <p:nvSpPr>
          <p:cNvPr id="18" name="Text 15"/>
          <p:cNvSpPr txBox="1"/>
          <p:nvPr/>
        </p:nvSpPr>
        <p:spPr>
          <a:xfrm>
            <a:off x="4937760" y="457200"/>
            <a:ext cx="3291840" cy="384048"/>
          </a:xfrm>
          <a:prstGeom prst="rect">
            <a:avLst/>
          </a:prstGeom>
          <a:noFill/>
          <a:ln/>
        </p:spPr>
        <p:txBody>
          <a:bodyPr wrap="square" lIns="0" tIns="0" rIns="0" bIns="0" rtlCol="0" anchor="ctr"/>
          <a:lstStyle/>
          <a:p>
            <a:pPr indent="0" marL="0">
              <a:buNone/>
            </a:pPr>
            <a:r>
              <a:rPr lang="en-US" sz="1300" b="1" dirty="0">
                <a:solidFill>
                  <a:srgbClr val="E85D04"/>
                </a:solidFill>
                <a:latin typeface="Calibri" pitchFamily="34" charset="0"/>
                <a:ea typeface="Calibri" pitchFamily="34" charset="-122"/>
                <a:cs typeface="Calibri" pitchFamily="34" charset="-120"/>
              </a:rPr>
              <a:t>Rider  </a:t>
            </a:r>
            <a:pPr indent="0" marL="0">
              <a:buNone/>
            </a:pPr>
            <a:r>
              <a:rPr lang="en-US" sz="1300" b="1" dirty="0">
                <a:solidFill>
                  <a:srgbClr val="16202B"/>
                </a:solidFill>
                <a:latin typeface="Calibri" pitchFamily="34" charset="0"/>
                <a:ea typeface="Calibri" pitchFamily="34" charset="-122"/>
                <a:cs typeface="Calibri" pitchFamily="34" charset="-120"/>
              </a:rPr>
              <a:t>A. Raghavan</a:t>
            </a:r>
            <a:endParaRPr lang="en-US" sz="1300" dirty="0"/>
          </a:p>
        </p:txBody>
      </p:sp>
      <p:sp>
        <p:nvSpPr>
          <p:cNvPr id="19" name="Shape 16"/>
          <p:cNvSpPr/>
          <p:nvPr/>
        </p:nvSpPr>
        <p:spPr>
          <a:xfrm>
            <a:off x="8780983" y="585216"/>
            <a:ext cx="118872" cy="118872"/>
          </a:xfrm>
          <a:prstGeom prst="ellipse">
            <a:avLst/>
          </a:prstGeom>
          <a:solidFill>
            <a:srgbClr val="FFEDE0"/>
          </a:solidFill>
          <a:ln w="9525">
            <a:solidFill>
              <a:srgbClr val="E85D04"/>
            </a:solidFill>
            <a:prstDash val="solid"/>
          </a:ln>
        </p:spPr>
      </p:sp>
      <p:sp>
        <p:nvSpPr>
          <p:cNvPr id="20" name="Shape 17"/>
          <p:cNvSpPr/>
          <p:nvPr/>
        </p:nvSpPr>
        <p:spPr>
          <a:xfrm>
            <a:off x="8963863" y="585216"/>
            <a:ext cx="118872" cy="118872"/>
          </a:xfrm>
          <a:prstGeom prst="ellipse">
            <a:avLst/>
          </a:prstGeom>
          <a:solidFill>
            <a:srgbClr val="FFEDE0"/>
          </a:solidFill>
          <a:ln w="9525">
            <a:solidFill>
              <a:srgbClr val="E85D04"/>
            </a:solidFill>
            <a:prstDash val="solid"/>
          </a:ln>
        </p:spPr>
      </p:sp>
      <p:sp>
        <p:nvSpPr>
          <p:cNvPr id="21" name="Shape 18"/>
          <p:cNvSpPr/>
          <p:nvPr/>
        </p:nvSpPr>
        <p:spPr>
          <a:xfrm>
            <a:off x="9146743" y="585216"/>
            <a:ext cx="118872" cy="118872"/>
          </a:xfrm>
          <a:prstGeom prst="ellipse">
            <a:avLst/>
          </a:prstGeom>
          <a:solidFill>
            <a:srgbClr val="FFEDE0"/>
          </a:solidFill>
          <a:ln w="9525">
            <a:solidFill>
              <a:srgbClr val="E85D04"/>
            </a:solidFill>
            <a:prstDash val="solid"/>
          </a:ln>
        </p:spPr>
      </p:sp>
      <p:sp>
        <p:nvSpPr>
          <p:cNvPr id="22" name="Shape 19"/>
          <p:cNvSpPr/>
          <p:nvPr/>
        </p:nvSpPr>
        <p:spPr>
          <a:xfrm>
            <a:off x="9329623" y="585216"/>
            <a:ext cx="118872" cy="118872"/>
          </a:xfrm>
          <a:prstGeom prst="ellipse">
            <a:avLst/>
          </a:prstGeom>
          <a:solidFill>
            <a:srgbClr val="FFEDE0"/>
          </a:solidFill>
          <a:ln w="9525">
            <a:solidFill>
              <a:srgbClr val="E85D04"/>
            </a:solidFill>
            <a:prstDash val="solid"/>
          </a:ln>
        </p:spPr>
      </p:sp>
      <p:sp>
        <p:nvSpPr>
          <p:cNvPr id="23" name="Shape 20"/>
          <p:cNvSpPr/>
          <p:nvPr/>
        </p:nvSpPr>
        <p:spPr>
          <a:xfrm>
            <a:off x="9512503" y="585216"/>
            <a:ext cx="118872" cy="118872"/>
          </a:xfrm>
          <a:prstGeom prst="ellipse">
            <a:avLst/>
          </a:prstGeom>
          <a:solidFill>
            <a:srgbClr val="FFEDE0"/>
          </a:solidFill>
          <a:ln w="9525">
            <a:solidFill>
              <a:srgbClr val="E85D04"/>
            </a:solidFill>
            <a:prstDash val="solid"/>
          </a:ln>
        </p:spPr>
      </p:sp>
      <p:sp>
        <p:nvSpPr>
          <p:cNvPr id="24" name="Shape 21"/>
          <p:cNvSpPr/>
          <p:nvPr/>
        </p:nvSpPr>
        <p:spPr>
          <a:xfrm>
            <a:off x="9695383" y="585216"/>
            <a:ext cx="118872" cy="118872"/>
          </a:xfrm>
          <a:prstGeom prst="ellipse">
            <a:avLst/>
          </a:prstGeom>
          <a:solidFill>
            <a:srgbClr val="FFEDE0"/>
          </a:solidFill>
          <a:ln w="9525">
            <a:solidFill>
              <a:srgbClr val="E85D04"/>
            </a:solidFill>
            <a:prstDash val="solid"/>
          </a:ln>
        </p:spPr>
      </p:sp>
      <p:sp>
        <p:nvSpPr>
          <p:cNvPr id="25" name="Shape 22"/>
          <p:cNvSpPr/>
          <p:nvPr/>
        </p:nvSpPr>
        <p:spPr>
          <a:xfrm>
            <a:off x="9878263" y="585216"/>
            <a:ext cx="118872" cy="118872"/>
          </a:xfrm>
          <a:prstGeom prst="ellipse">
            <a:avLst/>
          </a:prstGeom>
          <a:solidFill>
            <a:srgbClr val="FFEDE0"/>
          </a:solidFill>
          <a:ln w="9525">
            <a:solidFill>
              <a:srgbClr val="E85D04"/>
            </a:solidFill>
            <a:prstDash val="solid"/>
          </a:ln>
        </p:spPr>
      </p:sp>
      <p:sp>
        <p:nvSpPr>
          <p:cNvPr id="26" name="Shape 23"/>
          <p:cNvSpPr/>
          <p:nvPr/>
        </p:nvSpPr>
        <p:spPr>
          <a:xfrm>
            <a:off x="10061143" y="585216"/>
            <a:ext cx="118872" cy="118872"/>
          </a:xfrm>
          <a:prstGeom prst="ellipse">
            <a:avLst/>
          </a:prstGeom>
          <a:solidFill>
            <a:srgbClr val="FFEDE0"/>
          </a:solidFill>
          <a:ln w="9525">
            <a:solidFill>
              <a:srgbClr val="E85D04"/>
            </a:solidFill>
            <a:prstDash val="solid"/>
          </a:ln>
        </p:spPr>
      </p:sp>
      <p:sp>
        <p:nvSpPr>
          <p:cNvPr id="27" name="Shape 24"/>
          <p:cNvSpPr/>
          <p:nvPr/>
        </p:nvSpPr>
        <p:spPr>
          <a:xfrm>
            <a:off x="10244023" y="585216"/>
            <a:ext cx="118872" cy="118872"/>
          </a:xfrm>
          <a:prstGeom prst="ellipse">
            <a:avLst/>
          </a:prstGeom>
          <a:solidFill>
            <a:srgbClr val="FFEDE0"/>
          </a:solidFill>
          <a:ln w="9525">
            <a:solidFill>
              <a:srgbClr val="E85D04"/>
            </a:solidFill>
            <a:prstDash val="solid"/>
          </a:ln>
        </p:spPr>
      </p:sp>
      <p:sp>
        <p:nvSpPr>
          <p:cNvPr id="28" name="Shape 25"/>
          <p:cNvSpPr/>
          <p:nvPr/>
        </p:nvSpPr>
        <p:spPr>
          <a:xfrm>
            <a:off x="10426903" y="585216"/>
            <a:ext cx="118872" cy="118872"/>
          </a:xfrm>
          <a:prstGeom prst="ellipse">
            <a:avLst/>
          </a:prstGeom>
          <a:solidFill>
            <a:srgbClr val="FFEDE0"/>
          </a:solidFill>
          <a:ln w="9525">
            <a:solidFill>
              <a:srgbClr val="E85D04"/>
            </a:solidFill>
            <a:prstDash val="solid"/>
          </a:ln>
        </p:spPr>
      </p:sp>
      <p:sp>
        <p:nvSpPr>
          <p:cNvPr id="29" name="Shape 26"/>
          <p:cNvSpPr/>
          <p:nvPr/>
        </p:nvSpPr>
        <p:spPr>
          <a:xfrm>
            <a:off x="10609783" y="585216"/>
            <a:ext cx="118872" cy="118872"/>
          </a:xfrm>
          <a:prstGeom prst="ellipse">
            <a:avLst/>
          </a:prstGeom>
          <a:solidFill>
            <a:srgbClr val="FFEDE0"/>
          </a:solidFill>
          <a:ln w="9525">
            <a:solidFill>
              <a:srgbClr val="E85D04"/>
            </a:solidFill>
            <a:prstDash val="solid"/>
          </a:ln>
        </p:spPr>
      </p:sp>
      <p:sp>
        <p:nvSpPr>
          <p:cNvPr id="30" name="Shape 27"/>
          <p:cNvSpPr/>
          <p:nvPr/>
        </p:nvSpPr>
        <p:spPr>
          <a:xfrm>
            <a:off x="10792663" y="585216"/>
            <a:ext cx="118872" cy="118872"/>
          </a:xfrm>
          <a:prstGeom prst="ellipse">
            <a:avLst/>
          </a:prstGeom>
          <a:solidFill>
            <a:srgbClr val="FFEDE0"/>
          </a:solidFill>
          <a:ln w="9525">
            <a:solidFill>
              <a:srgbClr val="E85D04"/>
            </a:solidFill>
            <a:prstDash val="solid"/>
          </a:ln>
        </p:spPr>
      </p:sp>
      <p:sp>
        <p:nvSpPr>
          <p:cNvPr id="31" name="Shape 28"/>
          <p:cNvSpPr/>
          <p:nvPr/>
        </p:nvSpPr>
        <p:spPr>
          <a:xfrm>
            <a:off x="10975543" y="585216"/>
            <a:ext cx="118872" cy="118872"/>
          </a:xfrm>
          <a:prstGeom prst="ellipse">
            <a:avLst/>
          </a:prstGeom>
          <a:solidFill>
            <a:srgbClr val="FFEDE0"/>
          </a:solidFill>
          <a:ln w="9525">
            <a:solidFill>
              <a:srgbClr val="E85D04"/>
            </a:solidFill>
            <a:prstDash val="solid"/>
          </a:ln>
        </p:spPr>
      </p:sp>
      <p:sp>
        <p:nvSpPr>
          <p:cNvPr id="32" name="Shape 29"/>
          <p:cNvSpPr/>
          <p:nvPr/>
        </p:nvSpPr>
        <p:spPr>
          <a:xfrm>
            <a:off x="11130991" y="557784"/>
            <a:ext cx="173736" cy="173736"/>
          </a:xfrm>
          <a:prstGeom prst="ellipse">
            <a:avLst/>
          </a:prstGeom>
          <a:solidFill>
            <a:srgbClr val="E85D04"/>
          </a:solidFill>
          <a:ln w="9525">
            <a:solidFill>
              <a:srgbClr val="E85D04"/>
            </a:solidFill>
            <a:prstDash val="solid"/>
          </a:ln>
        </p:spPr>
      </p:sp>
      <p:sp>
        <p:nvSpPr>
          <p:cNvPr id="33" name="Shape 30"/>
          <p:cNvSpPr/>
          <p:nvPr/>
        </p:nvSpPr>
        <p:spPr>
          <a:xfrm>
            <a:off x="11341303" y="585216"/>
            <a:ext cx="118872" cy="118872"/>
          </a:xfrm>
          <a:prstGeom prst="ellipse">
            <a:avLst/>
          </a:prstGeom>
          <a:solidFill>
            <a:srgbClr val="F3F6F9"/>
          </a:solidFill>
          <a:ln w="9525">
            <a:solidFill>
              <a:srgbClr val="DCE4EC"/>
            </a:solidFill>
            <a:prstDash val="solid"/>
          </a:ln>
        </p:spPr>
      </p:sp>
      <p:sp>
        <p:nvSpPr>
          <p:cNvPr id="34" name="Shape 31"/>
          <p:cNvSpPr/>
          <p:nvPr/>
        </p:nvSpPr>
        <p:spPr>
          <a:xfrm>
            <a:off x="11524183" y="585216"/>
            <a:ext cx="118872" cy="118872"/>
          </a:xfrm>
          <a:prstGeom prst="ellipse">
            <a:avLst/>
          </a:prstGeom>
          <a:solidFill>
            <a:srgbClr val="F3F6F9"/>
          </a:solidFill>
          <a:ln w="9525">
            <a:solidFill>
              <a:srgbClr val="DCE4EC"/>
            </a:solidFill>
            <a:prstDash val="solid"/>
          </a:ln>
        </p:spPr>
      </p:sp>
      <p:sp>
        <p:nvSpPr>
          <p:cNvPr id="35" name="Text 32"/>
          <p:cNvSpPr txBox="1"/>
          <p:nvPr/>
        </p:nvSpPr>
        <p:spPr>
          <a:xfrm>
            <a:off x="8780983" y="768096"/>
            <a:ext cx="2862072" cy="201168"/>
          </a:xfrm>
          <a:prstGeom prst="rect">
            <a:avLst/>
          </a:prstGeom>
          <a:noFill/>
          <a:ln/>
        </p:spPr>
        <p:txBody>
          <a:bodyPr wrap="square" lIns="0" tIns="0" rIns="0" bIns="0" rtlCol="0" anchor="ctr"/>
          <a:lstStyle/>
          <a:p>
            <a:pPr algn="r" indent="0" marL="0">
              <a:buNone/>
            </a:pPr>
            <a:r>
              <a:rPr lang="en-US" sz="950" dirty="0">
                <a:solidFill>
                  <a:srgbClr val="5E6D7D"/>
                </a:solidFill>
                <a:latin typeface="Calibri" pitchFamily="34" charset="0"/>
                <a:ea typeface="Calibri" pitchFamily="34" charset="-122"/>
                <a:cs typeface="Calibri" pitchFamily="34" charset="-120"/>
              </a:rPr>
              <a:t>Screen 14 of 16</a:t>
            </a:r>
            <a:endParaRPr lang="en-US" sz="950" dirty="0"/>
          </a:p>
        </p:txBody>
      </p:sp>
      <p:sp>
        <p:nvSpPr>
          <p:cNvPr id="36" name="Text 33"/>
          <p:cNvSpPr txBox="1"/>
          <p:nvPr/>
        </p:nvSpPr>
        <p:spPr>
          <a:xfrm>
            <a:off x="4434840" y="1170432"/>
            <a:ext cx="7208215" cy="237744"/>
          </a:xfrm>
          <a:prstGeom prst="rect">
            <a:avLst/>
          </a:prstGeom>
          <a:noFill/>
          <a:ln/>
        </p:spPr>
        <p:txBody>
          <a:bodyPr wrap="square" lIns="0" tIns="0" rIns="0" bIns="0" rtlCol="0" anchor="ctr"/>
          <a:lstStyle/>
          <a:p>
            <a:pPr indent="0" marL="0">
              <a:buNone/>
            </a:pPr>
            <a:r>
              <a:rPr lang="en-US" sz="1100" b="1" spc="200" kern="0" dirty="0">
                <a:solidFill>
                  <a:srgbClr val="E85D04"/>
                </a:solidFill>
                <a:latin typeface="Calibri" pitchFamily="34" charset="0"/>
                <a:ea typeface="Calibri" pitchFamily="34" charset="-122"/>
                <a:cs typeface="Calibri" pitchFamily="34" charset="-120"/>
              </a:rPr>
              <a:t>TRIP COMPLETE</a:t>
            </a:r>
            <a:endParaRPr lang="en-US" sz="1100" dirty="0"/>
          </a:p>
        </p:txBody>
      </p:sp>
      <p:sp>
        <p:nvSpPr>
          <p:cNvPr id="37" name="Text 34"/>
          <p:cNvSpPr txBox="1"/>
          <p:nvPr/>
        </p:nvSpPr>
        <p:spPr>
          <a:xfrm>
            <a:off x="4434840" y="1463040"/>
            <a:ext cx="7208215" cy="457200"/>
          </a:xfrm>
          <a:prstGeom prst="rect">
            <a:avLst/>
          </a:prstGeom>
          <a:noFill/>
          <a:ln/>
        </p:spPr>
        <p:txBody>
          <a:bodyPr wrap="square" lIns="0" tIns="0" rIns="0" bIns="0" rtlCol="0" anchor="t"/>
          <a:lstStyle/>
          <a:p>
            <a:pPr indent="0" marL="0">
              <a:buNone/>
            </a:pPr>
            <a:r>
              <a:rPr lang="en-US" sz="3000" b="1" dirty="0">
                <a:solidFill>
                  <a:srgbClr val="16202B"/>
                </a:solidFill>
                <a:latin typeface="Calibri" pitchFamily="34" charset="0"/>
                <a:ea typeface="Calibri" pitchFamily="34" charset="-122"/>
                <a:cs typeface="Calibri" pitchFamily="34" charset="-120"/>
              </a:rPr>
              <a:t>Dropped, and charged to CC-4471</a:t>
            </a:r>
            <a:endParaRPr lang="en-US" sz="3000" dirty="0"/>
          </a:p>
        </p:txBody>
      </p:sp>
      <p:sp>
        <p:nvSpPr>
          <p:cNvPr id="38" name="Text 35"/>
          <p:cNvSpPr txBox="1"/>
          <p:nvPr/>
        </p:nvSpPr>
        <p:spPr>
          <a:xfrm>
            <a:off x="4434840" y="2048256"/>
            <a:ext cx="7208215" cy="475488"/>
          </a:xfrm>
          <a:prstGeom prst="rect">
            <a:avLst/>
          </a:prstGeom>
          <a:noFill/>
          <a:ln/>
        </p:spPr>
        <p:txBody>
          <a:bodyPr wrap="square" lIns="0" tIns="0" rIns="0" bIns="0" rtlCol="0" anchor="t"/>
          <a:lstStyle/>
          <a:p>
            <a:pPr indent="0" marL="0">
              <a:buNone/>
            </a:pPr>
            <a:r>
              <a:rPr lang="en-US" sz="1500" dirty="0">
                <a:solidFill>
                  <a:srgbClr val="34465A"/>
                </a:solidFill>
                <a:latin typeface="Calibri" pitchFamily="34" charset="0"/>
                <a:ea typeface="Calibri" pitchFamily="34" charset="-122"/>
                <a:cs typeface="Calibri" pitchFamily="34" charset="-120"/>
              </a:rPr>
              <a:t>The last drop closes the trip. The distance is measured and the cost is split between the riders.</a:t>
            </a:r>
            <a:endParaRPr lang="en-US" sz="1500" dirty="0"/>
          </a:p>
        </p:txBody>
      </p:sp>
      <p:sp>
        <p:nvSpPr>
          <p:cNvPr id="39" name="Shape 36"/>
          <p:cNvSpPr/>
          <p:nvPr/>
        </p:nvSpPr>
        <p:spPr>
          <a:xfrm>
            <a:off x="4434840" y="2798064"/>
            <a:ext cx="7208215" cy="649224"/>
          </a:xfrm>
          <a:prstGeom prst="roundRect">
            <a:avLst>
              <a:gd name="adj" fmla="val 11268"/>
            </a:avLst>
          </a:prstGeom>
          <a:solidFill>
            <a:srgbClr val="F3F6F9"/>
          </a:solidFill>
          <a:ln w="6350">
            <a:solidFill>
              <a:srgbClr val="F3F6F9"/>
            </a:solidFill>
            <a:prstDash val="solid"/>
          </a:ln>
        </p:spPr>
      </p:sp>
      <p:sp>
        <p:nvSpPr>
          <p:cNvPr id="40" name="Shape 37"/>
          <p:cNvSpPr/>
          <p:nvPr/>
        </p:nvSpPr>
        <p:spPr>
          <a:xfrm>
            <a:off x="4599432" y="2916936"/>
            <a:ext cx="292608" cy="292608"/>
          </a:xfrm>
          <a:prstGeom prst="ellipse">
            <a:avLst/>
          </a:prstGeom>
          <a:solidFill>
            <a:srgbClr val="E85D04"/>
          </a:solidFill>
          <a:ln w="15875">
            <a:solidFill>
              <a:srgbClr val="FFFFFF"/>
            </a:solidFill>
            <a:prstDash val="solid"/>
          </a:ln>
        </p:spPr>
      </p:sp>
      <p:sp>
        <p:nvSpPr>
          <p:cNvPr id="41" name="Text 38"/>
          <p:cNvSpPr txBox="1"/>
          <p:nvPr/>
        </p:nvSpPr>
        <p:spPr>
          <a:xfrm>
            <a:off x="4599432" y="2916936"/>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42" name="Text 39"/>
          <p:cNvSpPr txBox="1"/>
          <p:nvPr/>
        </p:nvSpPr>
        <p:spPr>
          <a:xfrm>
            <a:off x="5029200" y="2907792"/>
            <a:ext cx="6430975" cy="274320"/>
          </a:xfrm>
          <a:prstGeom prst="rect">
            <a:avLst/>
          </a:prstGeom>
          <a:noFill/>
          <a:ln/>
        </p:spPr>
        <p:txBody>
          <a:bodyPr wrap="square" lIns="0" tIns="0" rIns="0" bIns="0" rtlCol="0" anchor="ctr"/>
          <a:lstStyle/>
          <a:p>
            <a:pPr indent="0" marL="0">
              <a:buNone/>
            </a:pPr>
            <a:r>
              <a:rPr lang="en-US" sz="1400" b="1" dirty="0">
                <a:solidFill>
                  <a:srgbClr val="16202B"/>
                </a:solidFill>
                <a:latin typeface="Calibri" pitchFamily="34" charset="0"/>
                <a:ea typeface="Calibri" pitchFamily="34" charset="-122"/>
                <a:cs typeface="Calibri" pitchFamily="34" charset="-120"/>
              </a:rPr>
              <a:t>Trip complete</a:t>
            </a:r>
            <a:endParaRPr lang="en-US" sz="1400" dirty="0"/>
          </a:p>
        </p:txBody>
      </p:sp>
      <p:sp>
        <p:nvSpPr>
          <p:cNvPr id="43" name="Text 40"/>
          <p:cNvSpPr txBox="1"/>
          <p:nvPr/>
        </p:nvSpPr>
        <p:spPr>
          <a:xfrm>
            <a:off x="5029200" y="3182112"/>
            <a:ext cx="6430975" cy="192024"/>
          </a:xfrm>
          <a:prstGeom prst="rect">
            <a:avLst/>
          </a:prstGeom>
          <a:noFill/>
          <a:ln/>
        </p:spPr>
        <p:txBody>
          <a:bodyPr wrap="square" lIns="0" tIns="0" rIns="0" bIns="0" rtlCol="0" anchor="t"/>
          <a:lstStyle/>
          <a:p>
            <a:pPr indent="0" marL="0">
              <a:buNone/>
            </a:pPr>
            <a:r>
              <a:rPr lang="en-US" sz="1200" dirty="0">
                <a:solidFill>
                  <a:srgbClr val="34465A"/>
                </a:solidFill>
                <a:latin typeface="Calibri" pitchFamily="34" charset="0"/>
                <a:ea typeface="Calibri" pitchFamily="34" charset="-122"/>
                <a:cs typeface="Calibri" pitchFamily="34" charset="-120"/>
              </a:rPr>
              <a:t>Gate 2 to Blast Furnace, 3.4 km, shared.</a:t>
            </a:r>
            <a:endParaRPr lang="en-US" sz="1200" dirty="0"/>
          </a:p>
        </p:txBody>
      </p:sp>
      <p:sp>
        <p:nvSpPr>
          <p:cNvPr id="44" name="Shape 41"/>
          <p:cNvSpPr/>
          <p:nvPr/>
        </p:nvSpPr>
        <p:spPr>
          <a:xfrm>
            <a:off x="4434840" y="3557016"/>
            <a:ext cx="7208215" cy="649224"/>
          </a:xfrm>
          <a:prstGeom prst="roundRect">
            <a:avLst>
              <a:gd name="adj" fmla="val 11268"/>
            </a:avLst>
          </a:prstGeom>
          <a:solidFill>
            <a:srgbClr val="F3F6F9"/>
          </a:solidFill>
          <a:ln w="6350">
            <a:solidFill>
              <a:srgbClr val="F3F6F9"/>
            </a:solidFill>
            <a:prstDash val="solid"/>
          </a:ln>
        </p:spPr>
      </p:sp>
      <p:sp>
        <p:nvSpPr>
          <p:cNvPr id="45" name="Shape 42"/>
          <p:cNvSpPr/>
          <p:nvPr/>
        </p:nvSpPr>
        <p:spPr>
          <a:xfrm>
            <a:off x="4599432" y="3675888"/>
            <a:ext cx="292608" cy="292608"/>
          </a:xfrm>
          <a:prstGeom prst="ellipse">
            <a:avLst/>
          </a:prstGeom>
          <a:solidFill>
            <a:srgbClr val="E85D04"/>
          </a:solidFill>
          <a:ln w="15875">
            <a:solidFill>
              <a:srgbClr val="FFFFFF"/>
            </a:solidFill>
            <a:prstDash val="solid"/>
          </a:ln>
        </p:spPr>
      </p:sp>
      <p:sp>
        <p:nvSpPr>
          <p:cNvPr id="46" name="Text 43"/>
          <p:cNvSpPr txBox="1"/>
          <p:nvPr/>
        </p:nvSpPr>
        <p:spPr>
          <a:xfrm>
            <a:off x="4599432" y="3675888"/>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47" name="Text 44"/>
          <p:cNvSpPr txBox="1"/>
          <p:nvPr/>
        </p:nvSpPr>
        <p:spPr>
          <a:xfrm>
            <a:off x="5029200" y="3666744"/>
            <a:ext cx="6430975" cy="274320"/>
          </a:xfrm>
          <a:prstGeom prst="rect">
            <a:avLst/>
          </a:prstGeom>
          <a:noFill/>
          <a:ln/>
        </p:spPr>
        <p:txBody>
          <a:bodyPr wrap="square" lIns="0" tIns="0" rIns="0" bIns="0" rtlCol="0" anchor="ctr"/>
          <a:lstStyle/>
          <a:p>
            <a:pPr indent="0" marL="0">
              <a:buNone/>
            </a:pPr>
            <a:r>
              <a:rPr lang="en-US" sz="1400" b="1" dirty="0">
                <a:solidFill>
                  <a:srgbClr val="16202B"/>
                </a:solidFill>
                <a:latin typeface="Calibri" pitchFamily="34" charset="0"/>
                <a:ea typeface="Calibri" pitchFamily="34" charset="-122"/>
                <a:cs typeface="Calibri" pitchFamily="34" charset="-120"/>
              </a:rPr>
              <a:t>₹22.86 to CC-4471 · Operations</a:t>
            </a:r>
            <a:endParaRPr lang="en-US" sz="1400" dirty="0"/>
          </a:p>
        </p:txBody>
      </p:sp>
      <p:sp>
        <p:nvSpPr>
          <p:cNvPr id="48" name="Text 45"/>
          <p:cNvSpPr txBox="1"/>
          <p:nvPr/>
        </p:nvSpPr>
        <p:spPr>
          <a:xfrm>
            <a:off x="5029200" y="3941064"/>
            <a:ext cx="6430975" cy="192024"/>
          </a:xfrm>
          <a:prstGeom prst="rect">
            <a:avLst/>
          </a:prstGeom>
          <a:noFill/>
          <a:ln/>
        </p:spPr>
        <p:txBody>
          <a:bodyPr wrap="square" lIns="0" tIns="0" rIns="0" bIns="0" rtlCol="0" anchor="t"/>
          <a:lstStyle/>
          <a:p>
            <a:pPr indent="0" marL="0">
              <a:buNone/>
            </a:pPr>
            <a:r>
              <a:rPr lang="en-US" sz="1200" dirty="0">
                <a:solidFill>
                  <a:srgbClr val="34465A"/>
                </a:solidFill>
                <a:latin typeface="Calibri" pitchFamily="34" charset="0"/>
                <a:ea typeface="Calibri" pitchFamily="34" charset="-122"/>
                <a:cs typeface="Calibri" pitchFamily="34" charset="-120"/>
              </a:rPr>
              <a:t>This rider’s share of the trip, split by kilometres ridden.</a:t>
            </a:r>
            <a:endParaRPr lang="en-US" sz="1200" dirty="0"/>
          </a:p>
        </p:txBody>
      </p:sp>
      <p:sp>
        <p:nvSpPr>
          <p:cNvPr id="49" name="Shape 46"/>
          <p:cNvSpPr/>
          <p:nvPr/>
        </p:nvSpPr>
        <p:spPr>
          <a:xfrm>
            <a:off x="4434840" y="4315968"/>
            <a:ext cx="7208215" cy="649224"/>
          </a:xfrm>
          <a:prstGeom prst="roundRect">
            <a:avLst>
              <a:gd name="adj" fmla="val 11268"/>
            </a:avLst>
          </a:prstGeom>
          <a:solidFill>
            <a:srgbClr val="F3F6F9"/>
          </a:solidFill>
          <a:ln w="6350">
            <a:solidFill>
              <a:srgbClr val="F3F6F9"/>
            </a:solidFill>
            <a:prstDash val="solid"/>
          </a:ln>
        </p:spPr>
      </p:sp>
      <p:sp>
        <p:nvSpPr>
          <p:cNvPr id="50" name="Shape 47"/>
          <p:cNvSpPr/>
          <p:nvPr/>
        </p:nvSpPr>
        <p:spPr>
          <a:xfrm>
            <a:off x="4599432" y="4434840"/>
            <a:ext cx="292608" cy="292608"/>
          </a:xfrm>
          <a:prstGeom prst="ellipse">
            <a:avLst/>
          </a:prstGeom>
          <a:solidFill>
            <a:srgbClr val="E85D04"/>
          </a:solidFill>
          <a:ln w="15875">
            <a:solidFill>
              <a:srgbClr val="FFFFFF"/>
            </a:solidFill>
            <a:prstDash val="solid"/>
          </a:ln>
        </p:spPr>
      </p:sp>
      <p:sp>
        <p:nvSpPr>
          <p:cNvPr id="51" name="Text 48"/>
          <p:cNvSpPr txBox="1"/>
          <p:nvPr/>
        </p:nvSpPr>
        <p:spPr>
          <a:xfrm>
            <a:off x="4599432" y="443484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52" name="Text 49"/>
          <p:cNvSpPr txBox="1"/>
          <p:nvPr/>
        </p:nvSpPr>
        <p:spPr>
          <a:xfrm>
            <a:off x="5029200" y="4425696"/>
            <a:ext cx="6430975" cy="274320"/>
          </a:xfrm>
          <a:prstGeom prst="rect">
            <a:avLst/>
          </a:prstGeom>
          <a:noFill/>
          <a:ln/>
        </p:spPr>
        <p:txBody>
          <a:bodyPr wrap="square" lIns="0" tIns="0" rIns="0" bIns="0" rtlCol="0" anchor="ctr"/>
          <a:lstStyle/>
          <a:p>
            <a:pPr indent="0" marL="0">
              <a:buNone/>
            </a:pPr>
            <a:r>
              <a:rPr lang="en-US" sz="1400" b="1" dirty="0">
                <a:solidFill>
                  <a:srgbClr val="16202B"/>
                </a:solidFill>
                <a:latin typeface="Calibri" pitchFamily="34" charset="0"/>
                <a:ea typeface="Calibri" pitchFamily="34" charset="-122"/>
                <a:cs typeface="Calibri" pitchFamily="34" charset="-120"/>
              </a:rPr>
              <a:t>How was the ride?</a:t>
            </a:r>
            <a:endParaRPr lang="en-US" sz="1400" dirty="0"/>
          </a:p>
        </p:txBody>
      </p:sp>
      <p:sp>
        <p:nvSpPr>
          <p:cNvPr id="53" name="Text 50"/>
          <p:cNvSpPr txBox="1"/>
          <p:nvPr/>
        </p:nvSpPr>
        <p:spPr>
          <a:xfrm>
            <a:off x="5029200" y="4700016"/>
            <a:ext cx="6430975" cy="192024"/>
          </a:xfrm>
          <a:prstGeom prst="rect">
            <a:avLst/>
          </a:prstGeom>
          <a:noFill/>
          <a:ln/>
        </p:spPr>
        <p:txBody>
          <a:bodyPr wrap="square" lIns="0" tIns="0" rIns="0" bIns="0" rtlCol="0" anchor="t"/>
          <a:lstStyle/>
          <a:p>
            <a:pPr indent="0" marL="0">
              <a:buNone/>
            </a:pPr>
            <a:r>
              <a:rPr lang="en-US" sz="1200" dirty="0">
                <a:solidFill>
                  <a:srgbClr val="34465A"/>
                </a:solidFill>
                <a:latin typeface="Calibri" pitchFamily="34" charset="0"/>
                <a:ea typeface="Calibri" pitchFamily="34" charset="-122"/>
                <a:cs typeface="Calibri" pitchFamily="34" charset="-120"/>
              </a:rPr>
              <a:t>Stars and tags; ratings feed the vendor SLA report.</a:t>
            </a:r>
            <a:endParaRPr lang="en-US" sz="1200" dirty="0"/>
          </a:p>
        </p:txBody>
      </p:sp>
      <p:sp>
        <p:nvSpPr>
          <p:cNvPr id="54" name="Text 51"/>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900" dirty="0">
                <a:solidFill>
                  <a:srgbClr val="5E6D7D"/>
                </a:solidFill>
                <a:latin typeface="Calibri" pitchFamily="34" charset="0"/>
                <a:ea typeface="Calibri" pitchFamily="34" charset="-122"/>
                <a:cs typeface="Calibri" pitchFamily="34" charset="-120"/>
              </a:rPr>
              <a:t>Plant Ride · Rider → Driver journey · recorded on the MVP with demo data</a:t>
            </a:r>
            <a:endParaRPr lang="en-US" sz="900" dirty="0"/>
          </a:p>
        </p:txBody>
      </p:sp>
      <p:sp>
        <p:nvSpPr>
          <p:cNvPr id="55" name="Text 52"/>
          <p:cNvSpPr txBox="1"/>
          <p:nvPr/>
        </p:nvSpPr>
        <p:spPr>
          <a:xfrm>
            <a:off x="11185855" y="6473952"/>
            <a:ext cx="457200" cy="228600"/>
          </a:xfrm>
          <a:prstGeom prst="rect">
            <a:avLst/>
          </a:prstGeom>
          <a:noFill/>
          <a:ln/>
        </p:spPr>
        <p:txBody>
          <a:bodyPr wrap="square" lIns="0" tIns="0" rIns="0" bIns="0" rtlCol="0" anchor="ctr"/>
          <a:lstStyle/>
          <a:p>
            <a:pPr algn="r" indent="0" marL="0">
              <a:buNone/>
            </a:pPr>
            <a:r>
              <a:rPr lang="en-US" sz="900" dirty="0">
                <a:solidFill>
                  <a:srgbClr val="5E6D7D"/>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50976" y="402336"/>
            <a:ext cx="2813925" cy="5961888"/>
          </a:xfrm>
          <a:prstGeom prst="roundRect">
            <a:avLst>
              <a:gd name="adj" fmla="val 5849"/>
            </a:avLst>
          </a:prstGeom>
          <a:solidFill>
            <a:srgbClr val="16202B"/>
          </a:solidFill>
          <a:ln w="9525">
            <a:solidFill>
              <a:srgbClr val="16202B"/>
            </a:solidFill>
            <a:prstDash val="solid"/>
          </a:ln>
          <a:effectLst>
            <a:outerShdw sx="100000" sy="100000" kx="0" ky="0" algn="bl" rotWithShape="0" blurRad="127000" dist="38100" dir="5400000">
              <a:srgbClr val="000000">
                <a:alpha val="20000"/>
              </a:srgbClr>
            </a:outerShdw>
          </a:effectLst>
        </p:spPr>
      </p:sp>
      <p:pic>
        <p:nvPicPr>
          <p:cNvPr id="3" name="Image 0" descr="Screenshot: r15-rated">    </p:cNvPr>
          <p:cNvPicPr>
            <a:picLocks noChangeAspect="1"/>
          </p:cNvPicPr>
          <p:nvPr/>
        </p:nvPicPr>
        <p:blipFill>
          <a:blip r:embed="rId1"/>
          <a:stretch>
            <a:fillRect/>
          </a:stretch>
        </p:blipFill>
        <p:spPr>
          <a:xfrm>
            <a:off x="1005840" y="457200"/>
            <a:ext cx="2704197" cy="5852160"/>
          </a:xfrm>
          <a:prstGeom prst="rect">
            <a:avLst/>
          </a:prstGeom>
        </p:spPr>
      </p:pic>
      <p:sp>
        <p:nvSpPr>
          <p:cNvPr id="4" name="Shape 1"/>
          <p:cNvSpPr/>
          <p:nvPr/>
        </p:nvSpPr>
        <p:spPr>
          <a:xfrm>
            <a:off x="822960" y="2572021"/>
            <a:ext cx="439432" cy="914"/>
          </a:xfrm>
          <a:prstGeom prst="line">
            <a:avLst/>
          </a:prstGeom>
          <a:noFill/>
          <a:ln w="15875">
            <a:solidFill>
              <a:srgbClr val="E85D04"/>
            </a:solidFill>
            <a:prstDash val="solid"/>
          </a:ln>
        </p:spPr>
      </p:sp>
      <p:sp>
        <p:nvSpPr>
          <p:cNvPr id="5" name="Shape 2"/>
          <p:cNvSpPr/>
          <p:nvPr/>
        </p:nvSpPr>
        <p:spPr>
          <a:xfrm>
            <a:off x="1221244" y="2530873"/>
            <a:ext cx="82296" cy="82296"/>
          </a:xfrm>
          <a:prstGeom prst="ellipse">
            <a:avLst/>
          </a:prstGeom>
          <a:solidFill>
            <a:srgbClr val="E85D04"/>
          </a:solidFill>
          <a:ln w="9525">
            <a:solidFill>
              <a:srgbClr val="FFFFFF"/>
            </a:solidFill>
            <a:prstDash val="solid"/>
          </a:ln>
        </p:spPr>
      </p:sp>
      <p:sp>
        <p:nvSpPr>
          <p:cNvPr id="6" name="Shape 3"/>
          <p:cNvSpPr/>
          <p:nvPr/>
        </p:nvSpPr>
        <p:spPr>
          <a:xfrm>
            <a:off x="548640" y="2434861"/>
            <a:ext cx="274320" cy="274320"/>
          </a:xfrm>
          <a:prstGeom prst="ellipse">
            <a:avLst/>
          </a:prstGeom>
          <a:solidFill>
            <a:srgbClr val="E85D04"/>
          </a:solidFill>
          <a:ln w="15875">
            <a:solidFill>
              <a:srgbClr val="FFFFFF"/>
            </a:solidFill>
            <a:prstDash val="solid"/>
          </a:ln>
        </p:spPr>
      </p:sp>
      <p:sp>
        <p:nvSpPr>
          <p:cNvPr id="7" name="Text 4"/>
          <p:cNvSpPr txBox="1"/>
          <p:nvPr/>
        </p:nvSpPr>
        <p:spPr>
          <a:xfrm>
            <a:off x="548640" y="2434861"/>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8" name="Shape 5"/>
          <p:cNvSpPr/>
          <p:nvPr/>
        </p:nvSpPr>
        <p:spPr>
          <a:xfrm>
            <a:off x="822960" y="3237669"/>
            <a:ext cx="550373" cy="914"/>
          </a:xfrm>
          <a:prstGeom prst="line">
            <a:avLst/>
          </a:prstGeom>
          <a:noFill/>
          <a:ln w="15875">
            <a:solidFill>
              <a:srgbClr val="E85D04"/>
            </a:solidFill>
            <a:prstDash val="solid"/>
          </a:ln>
        </p:spPr>
      </p:sp>
      <p:sp>
        <p:nvSpPr>
          <p:cNvPr id="9" name="Shape 6"/>
          <p:cNvSpPr/>
          <p:nvPr/>
        </p:nvSpPr>
        <p:spPr>
          <a:xfrm>
            <a:off x="1332185" y="3196521"/>
            <a:ext cx="82296" cy="82296"/>
          </a:xfrm>
          <a:prstGeom prst="ellipse">
            <a:avLst/>
          </a:prstGeom>
          <a:solidFill>
            <a:srgbClr val="E85D04"/>
          </a:solidFill>
          <a:ln w="9525">
            <a:solidFill>
              <a:srgbClr val="FFFFFF"/>
            </a:solidFill>
            <a:prstDash val="solid"/>
          </a:ln>
        </p:spPr>
      </p:sp>
      <p:sp>
        <p:nvSpPr>
          <p:cNvPr id="10" name="Shape 7"/>
          <p:cNvSpPr/>
          <p:nvPr/>
        </p:nvSpPr>
        <p:spPr>
          <a:xfrm>
            <a:off x="548640" y="3100509"/>
            <a:ext cx="274320" cy="274320"/>
          </a:xfrm>
          <a:prstGeom prst="ellipse">
            <a:avLst/>
          </a:prstGeom>
          <a:solidFill>
            <a:srgbClr val="E85D04"/>
          </a:solidFill>
          <a:ln w="15875">
            <a:solidFill>
              <a:srgbClr val="FFFFFF"/>
            </a:solidFill>
            <a:prstDash val="solid"/>
          </a:ln>
        </p:spPr>
      </p:sp>
      <p:sp>
        <p:nvSpPr>
          <p:cNvPr id="11" name="Text 8"/>
          <p:cNvSpPr txBox="1"/>
          <p:nvPr/>
        </p:nvSpPr>
        <p:spPr>
          <a:xfrm>
            <a:off x="548640" y="3100509"/>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2" name="Shape 9"/>
          <p:cNvSpPr/>
          <p:nvPr/>
        </p:nvSpPr>
        <p:spPr>
          <a:xfrm>
            <a:off x="4434840" y="457200"/>
            <a:ext cx="384048" cy="384048"/>
          </a:xfrm>
          <a:prstGeom prst="ellipse">
            <a:avLst/>
          </a:prstGeom>
          <a:solidFill>
            <a:srgbClr val="E85D04"/>
          </a:solidFill>
          <a:ln w="6350">
            <a:solidFill>
              <a:srgbClr val="E85D04"/>
            </a:solidFill>
            <a:prstDash val="solid"/>
          </a:ln>
        </p:spPr>
      </p:sp>
      <p:sp>
        <p:nvSpPr>
          <p:cNvPr id="13" name="Text 10"/>
          <p:cNvSpPr txBox="1"/>
          <p:nvPr/>
        </p:nvSpPr>
        <p:spPr>
          <a:xfrm>
            <a:off x="4434840" y="457200"/>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AR</a:t>
            </a:r>
            <a:endParaRPr lang="en-US" sz="1100" dirty="0"/>
          </a:p>
        </p:txBody>
      </p:sp>
      <p:sp>
        <p:nvSpPr>
          <p:cNvPr id="14" name="Text 11"/>
          <p:cNvSpPr txBox="1"/>
          <p:nvPr/>
        </p:nvSpPr>
        <p:spPr>
          <a:xfrm>
            <a:off x="4937760" y="457200"/>
            <a:ext cx="3291840" cy="384048"/>
          </a:xfrm>
          <a:prstGeom prst="rect">
            <a:avLst/>
          </a:prstGeom>
          <a:noFill/>
          <a:ln/>
        </p:spPr>
        <p:txBody>
          <a:bodyPr wrap="square" lIns="0" tIns="0" rIns="0" bIns="0" rtlCol="0" anchor="ctr"/>
          <a:lstStyle/>
          <a:p>
            <a:pPr indent="0" marL="0">
              <a:buNone/>
            </a:pPr>
            <a:r>
              <a:rPr lang="en-US" sz="1300" b="1" dirty="0">
                <a:solidFill>
                  <a:srgbClr val="E85D04"/>
                </a:solidFill>
                <a:latin typeface="Calibri" pitchFamily="34" charset="0"/>
                <a:ea typeface="Calibri" pitchFamily="34" charset="-122"/>
                <a:cs typeface="Calibri" pitchFamily="34" charset="-120"/>
              </a:rPr>
              <a:t>Rider  </a:t>
            </a:r>
            <a:pPr indent="0" marL="0">
              <a:buNone/>
            </a:pPr>
            <a:r>
              <a:rPr lang="en-US" sz="1300" b="1" dirty="0">
                <a:solidFill>
                  <a:srgbClr val="16202B"/>
                </a:solidFill>
                <a:latin typeface="Calibri" pitchFamily="34" charset="0"/>
                <a:ea typeface="Calibri" pitchFamily="34" charset="-122"/>
                <a:cs typeface="Calibri" pitchFamily="34" charset="-120"/>
              </a:rPr>
              <a:t>A. Raghavan</a:t>
            </a:r>
            <a:endParaRPr lang="en-US" sz="1300" dirty="0"/>
          </a:p>
        </p:txBody>
      </p:sp>
      <p:sp>
        <p:nvSpPr>
          <p:cNvPr id="15" name="Shape 12"/>
          <p:cNvSpPr/>
          <p:nvPr/>
        </p:nvSpPr>
        <p:spPr>
          <a:xfrm>
            <a:off x="8780983" y="585216"/>
            <a:ext cx="118872" cy="118872"/>
          </a:xfrm>
          <a:prstGeom prst="ellipse">
            <a:avLst/>
          </a:prstGeom>
          <a:solidFill>
            <a:srgbClr val="FFEDE0"/>
          </a:solidFill>
          <a:ln w="9525">
            <a:solidFill>
              <a:srgbClr val="E85D04"/>
            </a:solidFill>
            <a:prstDash val="solid"/>
          </a:ln>
        </p:spPr>
      </p:sp>
      <p:sp>
        <p:nvSpPr>
          <p:cNvPr id="16" name="Shape 13"/>
          <p:cNvSpPr/>
          <p:nvPr/>
        </p:nvSpPr>
        <p:spPr>
          <a:xfrm>
            <a:off x="8963863" y="585216"/>
            <a:ext cx="118872" cy="118872"/>
          </a:xfrm>
          <a:prstGeom prst="ellipse">
            <a:avLst/>
          </a:prstGeom>
          <a:solidFill>
            <a:srgbClr val="FFEDE0"/>
          </a:solidFill>
          <a:ln w="9525">
            <a:solidFill>
              <a:srgbClr val="E85D04"/>
            </a:solidFill>
            <a:prstDash val="solid"/>
          </a:ln>
        </p:spPr>
      </p:sp>
      <p:sp>
        <p:nvSpPr>
          <p:cNvPr id="17" name="Shape 14"/>
          <p:cNvSpPr/>
          <p:nvPr/>
        </p:nvSpPr>
        <p:spPr>
          <a:xfrm>
            <a:off x="9146743" y="585216"/>
            <a:ext cx="118872" cy="118872"/>
          </a:xfrm>
          <a:prstGeom prst="ellipse">
            <a:avLst/>
          </a:prstGeom>
          <a:solidFill>
            <a:srgbClr val="FFEDE0"/>
          </a:solidFill>
          <a:ln w="9525">
            <a:solidFill>
              <a:srgbClr val="E85D04"/>
            </a:solidFill>
            <a:prstDash val="solid"/>
          </a:ln>
        </p:spPr>
      </p:sp>
      <p:sp>
        <p:nvSpPr>
          <p:cNvPr id="18" name="Shape 15"/>
          <p:cNvSpPr/>
          <p:nvPr/>
        </p:nvSpPr>
        <p:spPr>
          <a:xfrm>
            <a:off x="9329623" y="585216"/>
            <a:ext cx="118872" cy="118872"/>
          </a:xfrm>
          <a:prstGeom prst="ellipse">
            <a:avLst/>
          </a:prstGeom>
          <a:solidFill>
            <a:srgbClr val="FFEDE0"/>
          </a:solidFill>
          <a:ln w="9525">
            <a:solidFill>
              <a:srgbClr val="E85D04"/>
            </a:solidFill>
            <a:prstDash val="solid"/>
          </a:ln>
        </p:spPr>
      </p:sp>
      <p:sp>
        <p:nvSpPr>
          <p:cNvPr id="19" name="Shape 16"/>
          <p:cNvSpPr/>
          <p:nvPr/>
        </p:nvSpPr>
        <p:spPr>
          <a:xfrm>
            <a:off x="9512503" y="585216"/>
            <a:ext cx="118872" cy="118872"/>
          </a:xfrm>
          <a:prstGeom prst="ellipse">
            <a:avLst/>
          </a:prstGeom>
          <a:solidFill>
            <a:srgbClr val="FFEDE0"/>
          </a:solidFill>
          <a:ln w="9525">
            <a:solidFill>
              <a:srgbClr val="E85D04"/>
            </a:solidFill>
            <a:prstDash val="solid"/>
          </a:ln>
        </p:spPr>
      </p:sp>
      <p:sp>
        <p:nvSpPr>
          <p:cNvPr id="20" name="Shape 17"/>
          <p:cNvSpPr/>
          <p:nvPr/>
        </p:nvSpPr>
        <p:spPr>
          <a:xfrm>
            <a:off x="9695383" y="585216"/>
            <a:ext cx="118872" cy="118872"/>
          </a:xfrm>
          <a:prstGeom prst="ellipse">
            <a:avLst/>
          </a:prstGeom>
          <a:solidFill>
            <a:srgbClr val="FFEDE0"/>
          </a:solidFill>
          <a:ln w="9525">
            <a:solidFill>
              <a:srgbClr val="E85D04"/>
            </a:solidFill>
            <a:prstDash val="solid"/>
          </a:ln>
        </p:spPr>
      </p:sp>
      <p:sp>
        <p:nvSpPr>
          <p:cNvPr id="21" name="Shape 18"/>
          <p:cNvSpPr/>
          <p:nvPr/>
        </p:nvSpPr>
        <p:spPr>
          <a:xfrm>
            <a:off x="9878263" y="585216"/>
            <a:ext cx="118872" cy="118872"/>
          </a:xfrm>
          <a:prstGeom prst="ellipse">
            <a:avLst/>
          </a:prstGeom>
          <a:solidFill>
            <a:srgbClr val="FFEDE0"/>
          </a:solidFill>
          <a:ln w="9525">
            <a:solidFill>
              <a:srgbClr val="E85D04"/>
            </a:solidFill>
            <a:prstDash val="solid"/>
          </a:ln>
        </p:spPr>
      </p:sp>
      <p:sp>
        <p:nvSpPr>
          <p:cNvPr id="22" name="Shape 19"/>
          <p:cNvSpPr/>
          <p:nvPr/>
        </p:nvSpPr>
        <p:spPr>
          <a:xfrm>
            <a:off x="10061143" y="585216"/>
            <a:ext cx="118872" cy="118872"/>
          </a:xfrm>
          <a:prstGeom prst="ellipse">
            <a:avLst/>
          </a:prstGeom>
          <a:solidFill>
            <a:srgbClr val="FFEDE0"/>
          </a:solidFill>
          <a:ln w="9525">
            <a:solidFill>
              <a:srgbClr val="E85D04"/>
            </a:solidFill>
            <a:prstDash val="solid"/>
          </a:ln>
        </p:spPr>
      </p:sp>
      <p:sp>
        <p:nvSpPr>
          <p:cNvPr id="23" name="Shape 20"/>
          <p:cNvSpPr/>
          <p:nvPr/>
        </p:nvSpPr>
        <p:spPr>
          <a:xfrm>
            <a:off x="10244023" y="585216"/>
            <a:ext cx="118872" cy="118872"/>
          </a:xfrm>
          <a:prstGeom prst="ellipse">
            <a:avLst/>
          </a:prstGeom>
          <a:solidFill>
            <a:srgbClr val="FFEDE0"/>
          </a:solidFill>
          <a:ln w="9525">
            <a:solidFill>
              <a:srgbClr val="E85D04"/>
            </a:solidFill>
            <a:prstDash val="solid"/>
          </a:ln>
        </p:spPr>
      </p:sp>
      <p:sp>
        <p:nvSpPr>
          <p:cNvPr id="24" name="Shape 21"/>
          <p:cNvSpPr/>
          <p:nvPr/>
        </p:nvSpPr>
        <p:spPr>
          <a:xfrm>
            <a:off x="10426903" y="585216"/>
            <a:ext cx="118872" cy="118872"/>
          </a:xfrm>
          <a:prstGeom prst="ellipse">
            <a:avLst/>
          </a:prstGeom>
          <a:solidFill>
            <a:srgbClr val="FFEDE0"/>
          </a:solidFill>
          <a:ln w="9525">
            <a:solidFill>
              <a:srgbClr val="E85D04"/>
            </a:solidFill>
            <a:prstDash val="solid"/>
          </a:ln>
        </p:spPr>
      </p:sp>
      <p:sp>
        <p:nvSpPr>
          <p:cNvPr id="25" name="Shape 22"/>
          <p:cNvSpPr/>
          <p:nvPr/>
        </p:nvSpPr>
        <p:spPr>
          <a:xfrm>
            <a:off x="10609783" y="585216"/>
            <a:ext cx="118872" cy="118872"/>
          </a:xfrm>
          <a:prstGeom prst="ellipse">
            <a:avLst/>
          </a:prstGeom>
          <a:solidFill>
            <a:srgbClr val="FFEDE0"/>
          </a:solidFill>
          <a:ln w="9525">
            <a:solidFill>
              <a:srgbClr val="E85D04"/>
            </a:solidFill>
            <a:prstDash val="solid"/>
          </a:ln>
        </p:spPr>
      </p:sp>
      <p:sp>
        <p:nvSpPr>
          <p:cNvPr id="26" name="Shape 23"/>
          <p:cNvSpPr/>
          <p:nvPr/>
        </p:nvSpPr>
        <p:spPr>
          <a:xfrm>
            <a:off x="10792663" y="585216"/>
            <a:ext cx="118872" cy="118872"/>
          </a:xfrm>
          <a:prstGeom prst="ellipse">
            <a:avLst/>
          </a:prstGeom>
          <a:solidFill>
            <a:srgbClr val="FFEDE0"/>
          </a:solidFill>
          <a:ln w="9525">
            <a:solidFill>
              <a:srgbClr val="E85D04"/>
            </a:solidFill>
            <a:prstDash val="solid"/>
          </a:ln>
        </p:spPr>
      </p:sp>
      <p:sp>
        <p:nvSpPr>
          <p:cNvPr id="27" name="Shape 24"/>
          <p:cNvSpPr/>
          <p:nvPr/>
        </p:nvSpPr>
        <p:spPr>
          <a:xfrm>
            <a:off x="10975543" y="585216"/>
            <a:ext cx="118872" cy="118872"/>
          </a:xfrm>
          <a:prstGeom prst="ellipse">
            <a:avLst/>
          </a:prstGeom>
          <a:solidFill>
            <a:srgbClr val="FFEDE0"/>
          </a:solidFill>
          <a:ln w="9525">
            <a:solidFill>
              <a:srgbClr val="E85D04"/>
            </a:solidFill>
            <a:prstDash val="solid"/>
          </a:ln>
        </p:spPr>
      </p:sp>
      <p:sp>
        <p:nvSpPr>
          <p:cNvPr id="28" name="Shape 25"/>
          <p:cNvSpPr/>
          <p:nvPr/>
        </p:nvSpPr>
        <p:spPr>
          <a:xfrm>
            <a:off x="11158423" y="585216"/>
            <a:ext cx="118872" cy="118872"/>
          </a:xfrm>
          <a:prstGeom prst="ellipse">
            <a:avLst/>
          </a:prstGeom>
          <a:solidFill>
            <a:srgbClr val="FFEDE0"/>
          </a:solidFill>
          <a:ln w="9525">
            <a:solidFill>
              <a:srgbClr val="E85D04"/>
            </a:solidFill>
            <a:prstDash val="solid"/>
          </a:ln>
        </p:spPr>
      </p:sp>
      <p:sp>
        <p:nvSpPr>
          <p:cNvPr id="29" name="Shape 26"/>
          <p:cNvSpPr/>
          <p:nvPr/>
        </p:nvSpPr>
        <p:spPr>
          <a:xfrm>
            <a:off x="11313871" y="557784"/>
            <a:ext cx="173736" cy="173736"/>
          </a:xfrm>
          <a:prstGeom prst="ellipse">
            <a:avLst/>
          </a:prstGeom>
          <a:solidFill>
            <a:srgbClr val="E85D04"/>
          </a:solidFill>
          <a:ln w="9525">
            <a:solidFill>
              <a:srgbClr val="E85D04"/>
            </a:solidFill>
            <a:prstDash val="solid"/>
          </a:ln>
        </p:spPr>
      </p:sp>
      <p:sp>
        <p:nvSpPr>
          <p:cNvPr id="30" name="Shape 27"/>
          <p:cNvSpPr/>
          <p:nvPr/>
        </p:nvSpPr>
        <p:spPr>
          <a:xfrm>
            <a:off x="11524183" y="585216"/>
            <a:ext cx="118872" cy="118872"/>
          </a:xfrm>
          <a:prstGeom prst="ellipse">
            <a:avLst/>
          </a:prstGeom>
          <a:solidFill>
            <a:srgbClr val="F3F6F9"/>
          </a:solidFill>
          <a:ln w="9525">
            <a:solidFill>
              <a:srgbClr val="DCE4EC"/>
            </a:solidFill>
            <a:prstDash val="solid"/>
          </a:ln>
        </p:spPr>
      </p:sp>
      <p:sp>
        <p:nvSpPr>
          <p:cNvPr id="31" name="Text 28"/>
          <p:cNvSpPr txBox="1"/>
          <p:nvPr/>
        </p:nvSpPr>
        <p:spPr>
          <a:xfrm>
            <a:off x="8780983" y="768096"/>
            <a:ext cx="2862072" cy="201168"/>
          </a:xfrm>
          <a:prstGeom prst="rect">
            <a:avLst/>
          </a:prstGeom>
          <a:noFill/>
          <a:ln/>
        </p:spPr>
        <p:txBody>
          <a:bodyPr wrap="square" lIns="0" tIns="0" rIns="0" bIns="0" rtlCol="0" anchor="ctr"/>
          <a:lstStyle/>
          <a:p>
            <a:pPr algn="r" indent="0" marL="0">
              <a:buNone/>
            </a:pPr>
            <a:r>
              <a:rPr lang="en-US" sz="950" dirty="0">
                <a:solidFill>
                  <a:srgbClr val="5E6D7D"/>
                </a:solidFill>
                <a:latin typeface="Calibri" pitchFamily="34" charset="0"/>
                <a:ea typeface="Calibri" pitchFamily="34" charset="-122"/>
                <a:cs typeface="Calibri" pitchFamily="34" charset="-120"/>
              </a:rPr>
              <a:t>Screen 15 of 16</a:t>
            </a:r>
            <a:endParaRPr lang="en-US" sz="950" dirty="0"/>
          </a:p>
        </p:txBody>
      </p:sp>
      <p:sp>
        <p:nvSpPr>
          <p:cNvPr id="32" name="Text 29"/>
          <p:cNvSpPr txBox="1"/>
          <p:nvPr/>
        </p:nvSpPr>
        <p:spPr>
          <a:xfrm>
            <a:off x="4434840" y="1170432"/>
            <a:ext cx="7208215" cy="237744"/>
          </a:xfrm>
          <a:prstGeom prst="rect">
            <a:avLst/>
          </a:prstGeom>
          <a:noFill/>
          <a:ln/>
        </p:spPr>
        <p:txBody>
          <a:bodyPr wrap="square" lIns="0" tIns="0" rIns="0" bIns="0" rtlCol="0" anchor="ctr"/>
          <a:lstStyle/>
          <a:p>
            <a:pPr indent="0" marL="0">
              <a:buNone/>
            </a:pPr>
            <a:r>
              <a:rPr lang="en-US" sz="1100" b="1" spc="200" kern="0" dirty="0">
                <a:solidFill>
                  <a:srgbClr val="E85D04"/>
                </a:solidFill>
                <a:latin typeface="Calibri" pitchFamily="34" charset="0"/>
                <a:ea typeface="Calibri" pitchFamily="34" charset="-122"/>
                <a:cs typeface="Calibri" pitchFamily="34" charset="-120"/>
              </a:rPr>
              <a:t>RATING</a:t>
            </a:r>
            <a:endParaRPr lang="en-US" sz="1100" dirty="0"/>
          </a:p>
        </p:txBody>
      </p:sp>
      <p:sp>
        <p:nvSpPr>
          <p:cNvPr id="33" name="Text 30"/>
          <p:cNvSpPr txBox="1"/>
          <p:nvPr/>
        </p:nvSpPr>
        <p:spPr>
          <a:xfrm>
            <a:off x="4434840" y="1463040"/>
            <a:ext cx="7208215" cy="457200"/>
          </a:xfrm>
          <a:prstGeom prst="rect">
            <a:avLst/>
          </a:prstGeom>
          <a:noFill/>
          <a:ln/>
        </p:spPr>
        <p:txBody>
          <a:bodyPr wrap="square" lIns="0" tIns="0" rIns="0" bIns="0" rtlCol="0" anchor="t"/>
          <a:lstStyle/>
          <a:p>
            <a:pPr indent="0" marL="0">
              <a:buNone/>
            </a:pPr>
            <a:r>
              <a:rPr lang="en-US" sz="3000" b="1" dirty="0">
                <a:solidFill>
                  <a:srgbClr val="16202B"/>
                </a:solidFill>
                <a:latin typeface="Calibri" pitchFamily="34" charset="0"/>
                <a:ea typeface="Calibri" pitchFamily="34" charset="-122"/>
                <a:cs typeface="Calibri" pitchFamily="34" charset="-120"/>
              </a:rPr>
              <a:t>A 5-star rating</a:t>
            </a:r>
            <a:endParaRPr lang="en-US" sz="3000" dirty="0"/>
          </a:p>
        </p:txBody>
      </p:sp>
      <p:sp>
        <p:nvSpPr>
          <p:cNvPr id="34" name="Text 31"/>
          <p:cNvSpPr txBox="1"/>
          <p:nvPr/>
        </p:nvSpPr>
        <p:spPr>
          <a:xfrm>
            <a:off x="4434840" y="2048256"/>
            <a:ext cx="7208215" cy="475488"/>
          </a:xfrm>
          <a:prstGeom prst="rect">
            <a:avLst/>
          </a:prstGeom>
          <a:noFill/>
          <a:ln/>
        </p:spPr>
        <p:txBody>
          <a:bodyPr wrap="square" lIns="0" tIns="0" rIns="0" bIns="0" rtlCol="0" anchor="t"/>
          <a:lstStyle/>
          <a:p>
            <a:pPr indent="0" marL="0">
              <a:buNone/>
            </a:pPr>
            <a:r>
              <a:rPr lang="en-US" sz="1500" dirty="0">
                <a:solidFill>
                  <a:srgbClr val="34465A"/>
                </a:solidFill>
                <a:latin typeface="Calibri" pitchFamily="34" charset="0"/>
                <a:ea typeface="Calibri" pitchFamily="34" charset="-122"/>
                <a:cs typeface="Calibri" pitchFamily="34" charset="-120"/>
              </a:rPr>
              <a:t>On time, clean cab, safe driving. The rating is stored with the trip and counts towards the vendor’s SLA.</a:t>
            </a:r>
            <a:endParaRPr lang="en-US" sz="1500" dirty="0"/>
          </a:p>
        </p:txBody>
      </p:sp>
      <p:sp>
        <p:nvSpPr>
          <p:cNvPr id="35" name="Shape 32"/>
          <p:cNvSpPr/>
          <p:nvPr/>
        </p:nvSpPr>
        <p:spPr>
          <a:xfrm>
            <a:off x="4434840" y="2798064"/>
            <a:ext cx="7208215" cy="649224"/>
          </a:xfrm>
          <a:prstGeom prst="roundRect">
            <a:avLst>
              <a:gd name="adj" fmla="val 11268"/>
            </a:avLst>
          </a:prstGeom>
          <a:solidFill>
            <a:srgbClr val="F3F6F9"/>
          </a:solidFill>
          <a:ln w="6350">
            <a:solidFill>
              <a:srgbClr val="F3F6F9"/>
            </a:solidFill>
            <a:prstDash val="solid"/>
          </a:ln>
        </p:spPr>
      </p:sp>
      <p:sp>
        <p:nvSpPr>
          <p:cNvPr id="36" name="Shape 33"/>
          <p:cNvSpPr/>
          <p:nvPr/>
        </p:nvSpPr>
        <p:spPr>
          <a:xfrm>
            <a:off x="4599432" y="2916936"/>
            <a:ext cx="292608" cy="292608"/>
          </a:xfrm>
          <a:prstGeom prst="ellipse">
            <a:avLst/>
          </a:prstGeom>
          <a:solidFill>
            <a:srgbClr val="E85D04"/>
          </a:solidFill>
          <a:ln w="15875">
            <a:solidFill>
              <a:srgbClr val="FFFFFF"/>
            </a:solidFill>
            <a:prstDash val="solid"/>
          </a:ln>
        </p:spPr>
      </p:sp>
      <p:sp>
        <p:nvSpPr>
          <p:cNvPr id="37" name="Text 34"/>
          <p:cNvSpPr txBox="1"/>
          <p:nvPr/>
        </p:nvSpPr>
        <p:spPr>
          <a:xfrm>
            <a:off x="4599432" y="2916936"/>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38" name="Text 35"/>
          <p:cNvSpPr txBox="1"/>
          <p:nvPr/>
        </p:nvSpPr>
        <p:spPr>
          <a:xfrm>
            <a:off x="5029200" y="2907792"/>
            <a:ext cx="6430975" cy="274320"/>
          </a:xfrm>
          <a:prstGeom prst="rect">
            <a:avLst/>
          </a:prstGeom>
          <a:noFill/>
          <a:ln/>
        </p:spPr>
        <p:txBody>
          <a:bodyPr wrap="square" lIns="0" tIns="0" rIns="0" bIns="0" rtlCol="0" anchor="ctr"/>
          <a:lstStyle/>
          <a:p>
            <a:pPr indent="0" marL="0">
              <a:buNone/>
            </a:pPr>
            <a:r>
              <a:rPr lang="en-US" sz="1400" b="1" dirty="0">
                <a:solidFill>
                  <a:srgbClr val="16202B"/>
                </a:solidFill>
                <a:latin typeface="Calibri" pitchFamily="34" charset="0"/>
                <a:ea typeface="Calibri" pitchFamily="34" charset="-122"/>
                <a:cs typeface="Calibri" pitchFamily="34" charset="-120"/>
              </a:rPr>
              <a:t>Charged to CC-4471</a:t>
            </a:r>
            <a:endParaRPr lang="en-US" sz="1400" dirty="0"/>
          </a:p>
        </p:txBody>
      </p:sp>
      <p:sp>
        <p:nvSpPr>
          <p:cNvPr id="39" name="Text 36"/>
          <p:cNvSpPr txBox="1"/>
          <p:nvPr/>
        </p:nvSpPr>
        <p:spPr>
          <a:xfrm>
            <a:off x="5029200" y="3182112"/>
            <a:ext cx="6430975" cy="192024"/>
          </a:xfrm>
          <a:prstGeom prst="rect">
            <a:avLst/>
          </a:prstGeom>
          <a:noFill/>
          <a:ln/>
        </p:spPr>
        <p:txBody>
          <a:bodyPr wrap="square" lIns="0" tIns="0" rIns="0" bIns="0" rtlCol="0" anchor="t"/>
          <a:lstStyle/>
          <a:p>
            <a:pPr indent="0" marL="0">
              <a:buNone/>
            </a:pPr>
            <a:r>
              <a:rPr lang="en-US" sz="1200" dirty="0">
                <a:solidFill>
                  <a:srgbClr val="34465A"/>
                </a:solidFill>
                <a:latin typeface="Calibri" pitchFamily="34" charset="0"/>
                <a:ea typeface="Calibri" pitchFamily="34" charset="-122"/>
                <a:cs typeface="Calibri" pitchFamily="34" charset="-120"/>
              </a:rPr>
              <a:t>The charge stays on the booking for good.</a:t>
            </a:r>
            <a:endParaRPr lang="en-US" sz="1200" dirty="0"/>
          </a:p>
        </p:txBody>
      </p:sp>
      <p:sp>
        <p:nvSpPr>
          <p:cNvPr id="40" name="Shape 37"/>
          <p:cNvSpPr/>
          <p:nvPr/>
        </p:nvSpPr>
        <p:spPr>
          <a:xfrm>
            <a:off x="4434840" y="3557016"/>
            <a:ext cx="7208215" cy="649224"/>
          </a:xfrm>
          <a:prstGeom prst="roundRect">
            <a:avLst>
              <a:gd name="adj" fmla="val 11268"/>
            </a:avLst>
          </a:prstGeom>
          <a:solidFill>
            <a:srgbClr val="F3F6F9"/>
          </a:solidFill>
          <a:ln w="6350">
            <a:solidFill>
              <a:srgbClr val="F3F6F9"/>
            </a:solidFill>
            <a:prstDash val="solid"/>
          </a:ln>
        </p:spPr>
      </p:sp>
      <p:sp>
        <p:nvSpPr>
          <p:cNvPr id="41" name="Shape 38"/>
          <p:cNvSpPr/>
          <p:nvPr/>
        </p:nvSpPr>
        <p:spPr>
          <a:xfrm>
            <a:off x="4599432" y="3675888"/>
            <a:ext cx="292608" cy="292608"/>
          </a:xfrm>
          <a:prstGeom prst="ellipse">
            <a:avLst/>
          </a:prstGeom>
          <a:solidFill>
            <a:srgbClr val="E85D04"/>
          </a:solidFill>
          <a:ln w="15875">
            <a:solidFill>
              <a:srgbClr val="FFFFFF"/>
            </a:solidFill>
            <a:prstDash val="solid"/>
          </a:ln>
        </p:spPr>
      </p:sp>
      <p:sp>
        <p:nvSpPr>
          <p:cNvPr id="42" name="Text 39"/>
          <p:cNvSpPr txBox="1"/>
          <p:nvPr/>
        </p:nvSpPr>
        <p:spPr>
          <a:xfrm>
            <a:off x="4599432" y="3675888"/>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43" name="Text 40"/>
          <p:cNvSpPr txBox="1"/>
          <p:nvPr/>
        </p:nvSpPr>
        <p:spPr>
          <a:xfrm>
            <a:off x="5029200" y="3666744"/>
            <a:ext cx="6430975" cy="274320"/>
          </a:xfrm>
          <a:prstGeom prst="rect">
            <a:avLst/>
          </a:prstGeom>
          <a:noFill/>
          <a:ln/>
        </p:spPr>
        <p:txBody>
          <a:bodyPr wrap="square" lIns="0" tIns="0" rIns="0" bIns="0" rtlCol="0" anchor="ctr"/>
          <a:lstStyle/>
          <a:p>
            <a:pPr indent="0" marL="0">
              <a:buNone/>
            </a:pPr>
            <a:r>
              <a:rPr lang="en-US" sz="1400" b="1" dirty="0">
                <a:solidFill>
                  <a:srgbClr val="16202B"/>
                </a:solidFill>
                <a:latin typeface="Calibri" pitchFamily="34" charset="0"/>
                <a:ea typeface="Calibri" pitchFamily="34" charset="-122"/>
                <a:cs typeface="Calibri" pitchFamily="34" charset="-120"/>
              </a:rPr>
              <a:t>You rated this ride 5/5</a:t>
            </a:r>
            <a:endParaRPr lang="en-US" sz="1400" dirty="0"/>
          </a:p>
        </p:txBody>
      </p:sp>
      <p:sp>
        <p:nvSpPr>
          <p:cNvPr id="44" name="Text 41"/>
          <p:cNvSpPr txBox="1"/>
          <p:nvPr/>
        </p:nvSpPr>
        <p:spPr>
          <a:xfrm>
            <a:off x="5029200" y="3941064"/>
            <a:ext cx="6430975" cy="192024"/>
          </a:xfrm>
          <a:prstGeom prst="rect">
            <a:avLst/>
          </a:prstGeom>
          <a:noFill/>
          <a:ln/>
        </p:spPr>
        <p:txBody>
          <a:bodyPr wrap="square" lIns="0" tIns="0" rIns="0" bIns="0" rtlCol="0" anchor="t"/>
          <a:lstStyle/>
          <a:p>
            <a:pPr indent="0" marL="0">
              <a:buNone/>
            </a:pPr>
            <a:r>
              <a:rPr lang="en-US" sz="1200" dirty="0">
                <a:solidFill>
                  <a:srgbClr val="34465A"/>
                </a:solidFill>
                <a:latin typeface="Calibri" pitchFamily="34" charset="0"/>
                <a:ea typeface="Calibri" pitchFamily="34" charset="-122"/>
                <a:cs typeface="Calibri" pitchFamily="34" charset="-120"/>
              </a:rPr>
              <a:t>With the tags chosen.</a:t>
            </a:r>
            <a:endParaRPr lang="en-US" sz="1200" dirty="0"/>
          </a:p>
        </p:txBody>
      </p:sp>
      <p:sp>
        <p:nvSpPr>
          <p:cNvPr id="45" name="Text 42"/>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900" dirty="0">
                <a:solidFill>
                  <a:srgbClr val="5E6D7D"/>
                </a:solidFill>
                <a:latin typeface="Calibri" pitchFamily="34" charset="0"/>
                <a:ea typeface="Calibri" pitchFamily="34" charset="-122"/>
                <a:cs typeface="Calibri" pitchFamily="34" charset="-120"/>
              </a:rPr>
              <a:t>Plant Ride · Rider → Driver journey · recorded on the MVP with demo data</a:t>
            </a:r>
            <a:endParaRPr lang="en-US" sz="900" dirty="0"/>
          </a:p>
        </p:txBody>
      </p:sp>
      <p:sp>
        <p:nvSpPr>
          <p:cNvPr id="46" name="Text 43"/>
          <p:cNvSpPr txBox="1"/>
          <p:nvPr/>
        </p:nvSpPr>
        <p:spPr>
          <a:xfrm>
            <a:off x="11185855" y="6473952"/>
            <a:ext cx="457200" cy="228600"/>
          </a:xfrm>
          <a:prstGeom prst="rect">
            <a:avLst/>
          </a:prstGeom>
          <a:noFill/>
          <a:ln/>
        </p:spPr>
        <p:txBody>
          <a:bodyPr wrap="square" lIns="0" tIns="0" rIns="0" bIns="0" rtlCol="0" anchor="ctr"/>
          <a:lstStyle/>
          <a:p>
            <a:pPr algn="r" indent="0" marL="0">
              <a:buNone/>
            </a:pPr>
            <a:r>
              <a:rPr lang="en-US" sz="900" dirty="0">
                <a:solidFill>
                  <a:srgbClr val="5E6D7D"/>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50976" y="402336"/>
            <a:ext cx="2813925" cy="5961888"/>
          </a:xfrm>
          <a:prstGeom prst="roundRect">
            <a:avLst>
              <a:gd name="adj" fmla="val 5849"/>
            </a:avLst>
          </a:prstGeom>
          <a:solidFill>
            <a:srgbClr val="16202B"/>
          </a:solidFill>
          <a:ln w="9525">
            <a:solidFill>
              <a:srgbClr val="16202B"/>
            </a:solidFill>
            <a:prstDash val="solid"/>
          </a:ln>
          <a:effectLst>
            <a:outerShdw sx="100000" sy="100000" kx="0" ky="0" algn="bl" rotWithShape="0" blurRad="127000" dist="38100" dir="5400000">
              <a:srgbClr val="000000">
                <a:alpha val="20000"/>
              </a:srgbClr>
            </a:outerShdw>
          </a:effectLst>
        </p:spPr>
      </p:sp>
      <p:pic>
        <p:nvPicPr>
          <p:cNvPr id="3" name="Image 0" descr="Screenshot: r16-alerts">    </p:cNvPr>
          <p:cNvPicPr>
            <a:picLocks noChangeAspect="1"/>
          </p:cNvPicPr>
          <p:nvPr/>
        </p:nvPicPr>
        <p:blipFill>
          <a:blip r:embed="rId1"/>
          <a:stretch>
            <a:fillRect/>
          </a:stretch>
        </p:blipFill>
        <p:spPr>
          <a:xfrm>
            <a:off x="1005840" y="457200"/>
            <a:ext cx="2704197" cy="5852160"/>
          </a:xfrm>
          <a:prstGeom prst="rect">
            <a:avLst/>
          </a:prstGeom>
        </p:spPr>
      </p:pic>
      <p:sp>
        <p:nvSpPr>
          <p:cNvPr id="4" name="Shape 1"/>
          <p:cNvSpPr/>
          <p:nvPr/>
        </p:nvSpPr>
        <p:spPr>
          <a:xfrm>
            <a:off x="822960" y="1379401"/>
            <a:ext cx="689050" cy="914"/>
          </a:xfrm>
          <a:prstGeom prst="line">
            <a:avLst/>
          </a:prstGeom>
          <a:noFill/>
          <a:ln w="15875">
            <a:solidFill>
              <a:srgbClr val="E85D04"/>
            </a:solidFill>
            <a:prstDash val="solid"/>
          </a:ln>
        </p:spPr>
      </p:sp>
      <p:sp>
        <p:nvSpPr>
          <p:cNvPr id="5" name="Shape 2"/>
          <p:cNvSpPr/>
          <p:nvPr/>
        </p:nvSpPr>
        <p:spPr>
          <a:xfrm>
            <a:off x="1470862" y="1338253"/>
            <a:ext cx="82296" cy="82296"/>
          </a:xfrm>
          <a:prstGeom prst="ellipse">
            <a:avLst/>
          </a:prstGeom>
          <a:solidFill>
            <a:srgbClr val="E85D04"/>
          </a:solidFill>
          <a:ln w="9525">
            <a:solidFill>
              <a:srgbClr val="FFFFFF"/>
            </a:solidFill>
            <a:prstDash val="solid"/>
          </a:ln>
        </p:spPr>
      </p:sp>
      <p:sp>
        <p:nvSpPr>
          <p:cNvPr id="6" name="Shape 3"/>
          <p:cNvSpPr/>
          <p:nvPr/>
        </p:nvSpPr>
        <p:spPr>
          <a:xfrm>
            <a:off x="548640" y="1242241"/>
            <a:ext cx="274320" cy="274320"/>
          </a:xfrm>
          <a:prstGeom prst="ellipse">
            <a:avLst/>
          </a:prstGeom>
          <a:solidFill>
            <a:srgbClr val="E85D04"/>
          </a:solidFill>
          <a:ln w="15875">
            <a:solidFill>
              <a:srgbClr val="FFFFFF"/>
            </a:solidFill>
            <a:prstDash val="solid"/>
          </a:ln>
        </p:spPr>
      </p:sp>
      <p:sp>
        <p:nvSpPr>
          <p:cNvPr id="7" name="Text 4"/>
          <p:cNvSpPr txBox="1"/>
          <p:nvPr/>
        </p:nvSpPr>
        <p:spPr>
          <a:xfrm>
            <a:off x="548640" y="1242241"/>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8" name="Shape 5"/>
          <p:cNvSpPr/>
          <p:nvPr/>
        </p:nvSpPr>
        <p:spPr>
          <a:xfrm>
            <a:off x="822960" y="3154463"/>
            <a:ext cx="689050" cy="914"/>
          </a:xfrm>
          <a:prstGeom prst="line">
            <a:avLst/>
          </a:prstGeom>
          <a:noFill/>
          <a:ln w="15875">
            <a:solidFill>
              <a:srgbClr val="E85D04"/>
            </a:solidFill>
            <a:prstDash val="solid"/>
          </a:ln>
        </p:spPr>
      </p:sp>
      <p:sp>
        <p:nvSpPr>
          <p:cNvPr id="9" name="Shape 6"/>
          <p:cNvSpPr/>
          <p:nvPr/>
        </p:nvSpPr>
        <p:spPr>
          <a:xfrm>
            <a:off x="1470862" y="3113315"/>
            <a:ext cx="82296" cy="82296"/>
          </a:xfrm>
          <a:prstGeom prst="ellipse">
            <a:avLst/>
          </a:prstGeom>
          <a:solidFill>
            <a:srgbClr val="E85D04"/>
          </a:solidFill>
          <a:ln w="9525">
            <a:solidFill>
              <a:srgbClr val="FFFFFF"/>
            </a:solidFill>
            <a:prstDash val="solid"/>
          </a:ln>
        </p:spPr>
      </p:sp>
      <p:sp>
        <p:nvSpPr>
          <p:cNvPr id="10" name="Shape 7"/>
          <p:cNvSpPr/>
          <p:nvPr/>
        </p:nvSpPr>
        <p:spPr>
          <a:xfrm>
            <a:off x="548640" y="3017303"/>
            <a:ext cx="274320" cy="274320"/>
          </a:xfrm>
          <a:prstGeom prst="ellipse">
            <a:avLst/>
          </a:prstGeom>
          <a:solidFill>
            <a:srgbClr val="E85D04"/>
          </a:solidFill>
          <a:ln w="15875">
            <a:solidFill>
              <a:srgbClr val="FFFFFF"/>
            </a:solidFill>
            <a:prstDash val="solid"/>
          </a:ln>
        </p:spPr>
      </p:sp>
      <p:sp>
        <p:nvSpPr>
          <p:cNvPr id="11" name="Text 8"/>
          <p:cNvSpPr txBox="1"/>
          <p:nvPr/>
        </p:nvSpPr>
        <p:spPr>
          <a:xfrm>
            <a:off x="548640" y="3017303"/>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2" name="Shape 9"/>
          <p:cNvSpPr/>
          <p:nvPr/>
        </p:nvSpPr>
        <p:spPr>
          <a:xfrm>
            <a:off x="822960" y="3903318"/>
            <a:ext cx="689050" cy="914"/>
          </a:xfrm>
          <a:prstGeom prst="line">
            <a:avLst/>
          </a:prstGeom>
          <a:noFill/>
          <a:ln w="15875">
            <a:solidFill>
              <a:srgbClr val="E85D04"/>
            </a:solidFill>
            <a:prstDash val="solid"/>
          </a:ln>
        </p:spPr>
      </p:sp>
      <p:sp>
        <p:nvSpPr>
          <p:cNvPr id="13" name="Shape 10"/>
          <p:cNvSpPr/>
          <p:nvPr/>
        </p:nvSpPr>
        <p:spPr>
          <a:xfrm>
            <a:off x="1470862" y="3862170"/>
            <a:ext cx="82296" cy="82296"/>
          </a:xfrm>
          <a:prstGeom prst="ellipse">
            <a:avLst/>
          </a:prstGeom>
          <a:solidFill>
            <a:srgbClr val="E85D04"/>
          </a:solidFill>
          <a:ln w="9525">
            <a:solidFill>
              <a:srgbClr val="FFFFFF"/>
            </a:solidFill>
            <a:prstDash val="solid"/>
          </a:ln>
        </p:spPr>
      </p:sp>
      <p:sp>
        <p:nvSpPr>
          <p:cNvPr id="14" name="Shape 11"/>
          <p:cNvSpPr/>
          <p:nvPr/>
        </p:nvSpPr>
        <p:spPr>
          <a:xfrm>
            <a:off x="548640" y="3766158"/>
            <a:ext cx="274320" cy="274320"/>
          </a:xfrm>
          <a:prstGeom prst="ellipse">
            <a:avLst/>
          </a:prstGeom>
          <a:solidFill>
            <a:srgbClr val="E85D04"/>
          </a:solidFill>
          <a:ln w="15875">
            <a:solidFill>
              <a:srgbClr val="FFFFFF"/>
            </a:solidFill>
            <a:prstDash val="solid"/>
          </a:ln>
        </p:spPr>
      </p:sp>
      <p:sp>
        <p:nvSpPr>
          <p:cNvPr id="15" name="Text 12"/>
          <p:cNvSpPr txBox="1"/>
          <p:nvPr/>
        </p:nvSpPr>
        <p:spPr>
          <a:xfrm>
            <a:off x="548640" y="376615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6" name="Shape 13"/>
          <p:cNvSpPr/>
          <p:nvPr/>
        </p:nvSpPr>
        <p:spPr>
          <a:xfrm>
            <a:off x="4434840" y="457200"/>
            <a:ext cx="384048" cy="384048"/>
          </a:xfrm>
          <a:prstGeom prst="ellipse">
            <a:avLst/>
          </a:prstGeom>
          <a:solidFill>
            <a:srgbClr val="E85D04"/>
          </a:solidFill>
          <a:ln w="6350">
            <a:solidFill>
              <a:srgbClr val="E85D04"/>
            </a:solidFill>
            <a:prstDash val="solid"/>
          </a:ln>
        </p:spPr>
      </p:sp>
      <p:sp>
        <p:nvSpPr>
          <p:cNvPr id="17" name="Text 14"/>
          <p:cNvSpPr txBox="1"/>
          <p:nvPr/>
        </p:nvSpPr>
        <p:spPr>
          <a:xfrm>
            <a:off x="4434840" y="457200"/>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AR</a:t>
            </a:r>
            <a:endParaRPr lang="en-US" sz="1100" dirty="0"/>
          </a:p>
        </p:txBody>
      </p:sp>
      <p:sp>
        <p:nvSpPr>
          <p:cNvPr id="18" name="Text 15"/>
          <p:cNvSpPr txBox="1"/>
          <p:nvPr/>
        </p:nvSpPr>
        <p:spPr>
          <a:xfrm>
            <a:off x="4937760" y="457200"/>
            <a:ext cx="3291840" cy="384048"/>
          </a:xfrm>
          <a:prstGeom prst="rect">
            <a:avLst/>
          </a:prstGeom>
          <a:noFill/>
          <a:ln/>
        </p:spPr>
        <p:txBody>
          <a:bodyPr wrap="square" lIns="0" tIns="0" rIns="0" bIns="0" rtlCol="0" anchor="ctr"/>
          <a:lstStyle/>
          <a:p>
            <a:pPr indent="0" marL="0">
              <a:buNone/>
            </a:pPr>
            <a:r>
              <a:rPr lang="en-US" sz="1300" b="1" dirty="0">
                <a:solidFill>
                  <a:srgbClr val="E85D04"/>
                </a:solidFill>
                <a:latin typeface="Calibri" pitchFamily="34" charset="0"/>
                <a:ea typeface="Calibri" pitchFamily="34" charset="-122"/>
                <a:cs typeface="Calibri" pitchFamily="34" charset="-120"/>
              </a:rPr>
              <a:t>Rider  </a:t>
            </a:r>
            <a:pPr indent="0" marL="0">
              <a:buNone/>
            </a:pPr>
            <a:r>
              <a:rPr lang="en-US" sz="1300" b="1" dirty="0">
                <a:solidFill>
                  <a:srgbClr val="16202B"/>
                </a:solidFill>
                <a:latin typeface="Calibri" pitchFamily="34" charset="0"/>
                <a:ea typeface="Calibri" pitchFamily="34" charset="-122"/>
                <a:cs typeface="Calibri" pitchFamily="34" charset="-120"/>
              </a:rPr>
              <a:t>A. Raghavan</a:t>
            </a:r>
            <a:endParaRPr lang="en-US" sz="1300" dirty="0"/>
          </a:p>
        </p:txBody>
      </p:sp>
      <p:sp>
        <p:nvSpPr>
          <p:cNvPr id="19" name="Shape 16"/>
          <p:cNvSpPr/>
          <p:nvPr/>
        </p:nvSpPr>
        <p:spPr>
          <a:xfrm>
            <a:off x="8780983" y="585216"/>
            <a:ext cx="118872" cy="118872"/>
          </a:xfrm>
          <a:prstGeom prst="ellipse">
            <a:avLst/>
          </a:prstGeom>
          <a:solidFill>
            <a:srgbClr val="FFEDE0"/>
          </a:solidFill>
          <a:ln w="9525">
            <a:solidFill>
              <a:srgbClr val="E85D04"/>
            </a:solidFill>
            <a:prstDash val="solid"/>
          </a:ln>
        </p:spPr>
      </p:sp>
      <p:sp>
        <p:nvSpPr>
          <p:cNvPr id="20" name="Shape 17"/>
          <p:cNvSpPr/>
          <p:nvPr/>
        </p:nvSpPr>
        <p:spPr>
          <a:xfrm>
            <a:off x="8963863" y="585216"/>
            <a:ext cx="118872" cy="118872"/>
          </a:xfrm>
          <a:prstGeom prst="ellipse">
            <a:avLst/>
          </a:prstGeom>
          <a:solidFill>
            <a:srgbClr val="FFEDE0"/>
          </a:solidFill>
          <a:ln w="9525">
            <a:solidFill>
              <a:srgbClr val="E85D04"/>
            </a:solidFill>
            <a:prstDash val="solid"/>
          </a:ln>
        </p:spPr>
      </p:sp>
      <p:sp>
        <p:nvSpPr>
          <p:cNvPr id="21" name="Shape 18"/>
          <p:cNvSpPr/>
          <p:nvPr/>
        </p:nvSpPr>
        <p:spPr>
          <a:xfrm>
            <a:off x="9146743" y="585216"/>
            <a:ext cx="118872" cy="118872"/>
          </a:xfrm>
          <a:prstGeom prst="ellipse">
            <a:avLst/>
          </a:prstGeom>
          <a:solidFill>
            <a:srgbClr val="FFEDE0"/>
          </a:solidFill>
          <a:ln w="9525">
            <a:solidFill>
              <a:srgbClr val="E85D04"/>
            </a:solidFill>
            <a:prstDash val="solid"/>
          </a:ln>
        </p:spPr>
      </p:sp>
      <p:sp>
        <p:nvSpPr>
          <p:cNvPr id="22" name="Shape 19"/>
          <p:cNvSpPr/>
          <p:nvPr/>
        </p:nvSpPr>
        <p:spPr>
          <a:xfrm>
            <a:off x="9329623" y="585216"/>
            <a:ext cx="118872" cy="118872"/>
          </a:xfrm>
          <a:prstGeom prst="ellipse">
            <a:avLst/>
          </a:prstGeom>
          <a:solidFill>
            <a:srgbClr val="FFEDE0"/>
          </a:solidFill>
          <a:ln w="9525">
            <a:solidFill>
              <a:srgbClr val="E85D04"/>
            </a:solidFill>
            <a:prstDash val="solid"/>
          </a:ln>
        </p:spPr>
      </p:sp>
      <p:sp>
        <p:nvSpPr>
          <p:cNvPr id="23" name="Shape 20"/>
          <p:cNvSpPr/>
          <p:nvPr/>
        </p:nvSpPr>
        <p:spPr>
          <a:xfrm>
            <a:off x="9512503" y="585216"/>
            <a:ext cx="118872" cy="118872"/>
          </a:xfrm>
          <a:prstGeom prst="ellipse">
            <a:avLst/>
          </a:prstGeom>
          <a:solidFill>
            <a:srgbClr val="FFEDE0"/>
          </a:solidFill>
          <a:ln w="9525">
            <a:solidFill>
              <a:srgbClr val="E85D04"/>
            </a:solidFill>
            <a:prstDash val="solid"/>
          </a:ln>
        </p:spPr>
      </p:sp>
      <p:sp>
        <p:nvSpPr>
          <p:cNvPr id="24" name="Shape 21"/>
          <p:cNvSpPr/>
          <p:nvPr/>
        </p:nvSpPr>
        <p:spPr>
          <a:xfrm>
            <a:off x="9695383" y="585216"/>
            <a:ext cx="118872" cy="118872"/>
          </a:xfrm>
          <a:prstGeom prst="ellipse">
            <a:avLst/>
          </a:prstGeom>
          <a:solidFill>
            <a:srgbClr val="FFEDE0"/>
          </a:solidFill>
          <a:ln w="9525">
            <a:solidFill>
              <a:srgbClr val="E85D04"/>
            </a:solidFill>
            <a:prstDash val="solid"/>
          </a:ln>
        </p:spPr>
      </p:sp>
      <p:sp>
        <p:nvSpPr>
          <p:cNvPr id="25" name="Shape 22"/>
          <p:cNvSpPr/>
          <p:nvPr/>
        </p:nvSpPr>
        <p:spPr>
          <a:xfrm>
            <a:off x="9878263" y="585216"/>
            <a:ext cx="118872" cy="118872"/>
          </a:xfrm>
          <a:prstGeom prst="ellipse">
            <a:avLst/>
          </a:prstGeom>
          <a:solidFill>
            <a:srgbClr val="FFEDE0"/>
          </a:solidFill>
          <a:ln w="9525">
            <a:solidFill>
              <a:srgbClr val="E85D04"/>
            </a:solidFill>
            <a:prstDash val="solid"/>
          </a:ln>
        </p:spPr>
      </p:sp>
      <p:sp>
        <p:nvSpPr>
          <p:cNvPr id="26" name="Shape 23"/>
          <p:cNvSpPr/>
          <p:nvPr/>
        </p:nvSpPr>
        <p:spPr>
          <a:xfrm>
            <a:off x="10061143" y="585216"/>
            <a:ext cx="118872" cy="118872"/>
          </a:xfrm>
          <a:prstGeom prst="ellipse">
            <a:avLst/>
          </a:prstGeom>
          <a:solidFill>
            <a:srgbClr val="FFEDE0"/>
          </a:solidFill>
          <a:ln w="9525">
            <a:solidFill>
              <a:srgbClr val="E85D04"/>
            </a:solidFill>
            <a:prstDash val="solid"/>
          </a:ln>
        </p:spPr>
      </p:sp>
      <p:sp>
        <p:nvSpPr>
          <p:cNvPr id="27" name="Shape 24"/>
          <p:cNvSpPr/>
          <p:nvPr/>
        </p:nvSpPr>
        <p:spPr>
          <a:xfrm>
            <a:off x="10244023" y="585216"/>
            <a:ext cx="118872" cy="118872"/>
          </a:xfrm>
          <a:prstGeom prst="ellipse">
            <a:avLst/>
          </a:prstGeom>
          <a:solidFill>
            <a:srgbClr val="FFEDE0"/>
          </a:solidFill>
          <a:ln w="9525">
            <a:solidFill>
              <a:srgbClr val="E85D04"/>
            </a:solidFill>
            <a:prstDash val="solid"/>
          </a:ln>
        </p:spPr>
      </p:sp>
      <p:sp>
        <p:nvSpPr>
          <p:cNvPr id="28" name="Shape 25"/>
          <p:cNvSpPr/>
          <p:nvPr/>
        </p:nvSpPr>
        <p:spPr>
          <a:xfrm>
            <a:off x="10426903" y="585216"/>
            <a:ext cx="118872" cy="118872"/>
          </a:xfrm>
          <a:prstGeom prst="ellipse">
            <a:avLst/>
          </a:prstGeom>
          <a:solidFill>
            <a:srgbClr val="FFEDE0"/>
          </a:solidFill>
          <a:ln w="9525">
            <a:solidFill>
              <a:srgbClr val="E85D04"/>
            </a:solidFill>
            <a:prstDash val="solid"/>
          </a:ln>
        </p:spPr>
      </p:sp>
      <p:sp>
        <p:nvSpPr>
          <p:cNvPr id="29" name="Shape 26"/>
          <p:cNvSpPr/>
          <p:nvPr/>
        </p:nvSpPr>
        <p:spPr>
          <a:xfrm>
            <a:off x="10609783" y="585216"/>
            <a:ext cx="118872" cy="118872"/>
          </a:xfrm>
          <a:prstGeom prst="ellipse">
            <a:avLst/>
          </a:prstGeom>
          <a:solidFill>
            <a:srgbClr val="FFEDE0"/>
          </a:solidFill>
          <a:ln w="9525">
            <a:solidFill>
              <a:srgbClr val="E85D04"/>
            </a:solidFill>
            <a:prstDash val="solid"/>
          </a:ln>
        </p:spPr>
      </p:sp>
      <p:sp>
        <p:nvSpPr>
          <p:cNvPr id="30" name="Shape 27"/>
          <p:cNvSpPr/>
          <p:nvPr/>
        </p:nvSpPr>
        <p:spPr>
          <a:xfrm>
            <a:off x="10792663" y="585216"/>
            <a:ext cx="118872" cy="118872"/>
          </a:xfrm>
          <a:prstGeom prst="ellipse">
            <a:avLst/>
          </a:prstGeom>
          <a:solidFill>
            <a:srgbClr val="FFEDE0"/>
          </a:solidFill>
          <a:ln w="9525">
            <a:solidFill>
              <a:srgbClr val="E85D04"/>
            </a:solidFill>
            <a:prstDash val="solid"/>
          </a:ln>
        </p:spPr>
      </p:sp>
      <p:sp>
        <p:nvSpPr>
          <p:cNvPr id="31" name="Shape 28"/>
          <p:cNvSpPr/>
          <p:nvPr/>
        </p:nvSpPr>
        <p:spPr>
          <a:xfrm>
            <a:off x="10975543" y="585216"/>
            <a:ext cx="118872" cy="118872"/>
          </a:xfrm>
          <a:prstGeom prst="ellipse">
            <a:avLst/>
          </a:prstGeom>
          <a:solidFill>
            <a:srgbClr val="FFEDE0"/>
          </a:solidFill>
          <a:ln w="9525">
            <a:solidFill>
              <a:srgbClr val="E85D04"/>
            </a:solidFill>
            <a:prstDash val="solid"/>
          </a:ln>
        </p:spPr>
      </p:sp>
      <p:sp>
        <p:nvSpPr>
          <p:cNvPr id="32" name="Shape 29"/>
          <p:cNvSpPr/>
          <p:nvPr/>
        </p:nvSpPr>
        <p:spPr>
          <a:xfrm>
            <a:off x="11158423" y="585216"/>
            <a:ext cx="118872" cy="118872"/>
          </a:xfrm>
          <a:prstGeom prst="ellipse">
            <a:avLst/>
          </a:prstGeom>
          <a:solidFill>
            <a:srgbClr val="FFEDE0"/>
          </a:solidFill>
          <a:ln w="9525">
            <a:solidFill>
              <a:srgbClr val="E85D04"/>
            </a:solidFill>
            <a:prstDash val="solid"/>
          </a:ln>
        </p:spPr>
      </p:sp>
      <p:sp>
        <p:nvSpPr>
          <p:cNvPr id="33" name="Shape 30"/>
          <p:cNvSpPr/>
          <p:nvPr/>
        </p:nvSpPr>
        <p:spPr>
          <a:xfrm>
            <a:off x="11341303" y="585216"/>
            <a:ext cx="118872" cy="118872"/>
          </a:xfrm>
          <a:prstGeom prst="ellipse">
            <a:avLst/>
          </a:prstGeom>
          <a:solidFill>
            <a:srgbClr val="FFEDE0"/>
          </a:solidFill>
          <a:ln w="9525">
            <a:solidFill>
              <a:srgbClr val="E85D04"/>
            </a:solidFill>
            <a:prstDash val="solid"/>
          </a:ln>
        </p:spPr>
      </p:sp>
      <p:sp>
        <p:nvSpPr>
          <p:cNvPr id="34" name="Shape 31"/>
          <p:cNvSpPr/>
          <p:nvPr/>
        </p:nvSpPr>
        <p:spPr>
          <a:xfrm>
            <a:off x="11496751" y="557784"/>
            <a:ext cx="173736" cy="173736"/>
          </a:xfrm>
          <a:prstGeom prst="ellipse">
            <a:avLst/>
          </a:prstGeom>
          <a:solidFill>
            <a:srgbClr val="E85D04"/>
          </a:solidFill>
          <a:ln w="9525">
            <a:solidFill>
              <a:srgbClr val="E85D04"/>
            </a:solidFill>
            <a:prstDash val="solid"/>
          </a:ln>
        </p:spPr>
      </p:sp>
      <p:sp>
        <p:nvSpPr>
          <p:cNvPr id="35" name="Text 32"/>
          <p:cNvSpPr txBox="1"/>
          <p:nvPr/>
        </p:nvSpPr>
        <p:spPr>
          <a:xfrm>
            <a:off x="8780983" y="768096"/>
            <a:ext cx="2862072" cy="201168"/>
          </a:xfrm>
          <a:prstGeom prst="rect">
            <a:avLst/>
          </a:prstGeom>
          <a:noFill/>
          <a:ln/>
        </p:spPr>
        <p:txBody>
          <a:bodyPr wrap="square" lIns="0" tIns="0" rIns="0" bIns="0" rtlCol="0" anchor="ctr"/>
          <a:lstStyle/>
          <a:p>
            <a:pPr algn="r" indent="0" marL="0">
              <a:buNone/>
            </a:pPr>
            <a:r>
              <a:rPr lang="en-US" sz="950" dirty="0">
                <a:solidFill>
                  <a:srgbClr val="5E6D7D"/>
                </a:solidFill>
                <a:latin typeface="Calibri" pitchFamily="34" charset="0"/>
                <a:ea typeface="Calibri" pitchFamily="34" charset="-122"/>
                <a:cs typeface="Calibri" pitchFamily="34" charset="-120"/>
              </a:rPr>
              <a:t>Screen 16 of 16</a:t>
            </a:r>
            <a:endParaRPr lang="en-US" sz="950" dirty="0"/>
          </a:p>
        </p:txBody>
      </p:sp>
      <p:sp>
        <p:nvSpPr>
          <p:cNvPr id="36" name="Text 33"/>
          <p:cNvSpPr txBox="1"/>
          <p:nvPr/>
        </p:nvSpPr>
        <p:spPr>
          <a:xfrm>
            <a:off x="4434840" y="1170432"/>
            <a:ext cx="7208215" cy="237744"/>
          </a:xfrm>
          <a:prstGeom prst="rect">
            <a:avLst/>
          </a:prstGeom>
          <a:noFill/>
          <a:ln/>
        </p:spPr>
        <p:txBody>
          <a:bodyPr wrap="square" lIns="0" tIns="0" rIns="0" bIns="0" rtlCol="0" anchor="ctr"/>
          <a:lstStyle/>
          <a:p>
            <a:pPr indent="0" marL="0">
              <a:buNone/>
            </a:pPr>
            <a:r>
              <a:rPr lang="en-US" sz="1100" b="1" spc="200" kern="0" dirty="0">
                <a:solidFill>
                  <a:srgbClr val="E85D04"/>
                </a:solidFill>
                <a:latin typeface="Calibri" pitchFamily="34" charset="0"/>
                <a:ea typeface="Calibri" pitchFamily="34" charset="-122"/>
                <a:cs typeface="Calibri" pitchFamily="34" charset="-120"/>
              </a:rPr>
              <a:t>ALERTS</a:t>
            </a:r>
            <a:endParaRPr lang="en-US" sz="1100" dirty="0"/>
          </a:p>
        </p:txBody>
      </p:sp>
      <p:sp>
        <p:nvSpPr>
          <p:cNvPr id="37" name="Text 34"/>
          <p:cNvSpPr txBox="1"/>
          <p:nvPr/>
        </p:nvSpPr>
        <p:spPr>
          <a:xfrm>
            <a:off x="4434840" y="1463040"/>
            <a:ext cx="7208215" cy="457200"/>
          </a:xfrm>
          <a:prstGeom prst="rect">
            <a:avLst/>
          </a:prstGeom>
          <a:noFill/>
          <a:ln/>
        </p:spPr>
        <p:txBody>
          <a:bodyPr wrap="square" lIns="0" tIns="0" rIns="0" bIns="0" rtlCol="0" anchor="t"/>
          <a:lstStyle/>
          <a:p>
            <a:pPr indent="0" marL="0">
              <a:buNone/>
            </a:pPr>
            <a:r>
              <a:rPr lang="en-US" sz="3000" b="1" dirty="0">
                <a:solidFill>
                  <a:srgbClr val="16202B"/>
                </a:solidFill>
                <a:latin typeface="Calibri" pitchFamily="34" charset="0"/>
                <a:ea typeface="Calibri" pitchFamily="34" charset="-122"/>
                <a:cs typeface="Calibri" pitchFamily="34" charset="-120"/>
              </a:rPr>
              <a:t>Every step, in the rider’s alerts</a:t>
            </a:r>
            <a:endParaRPr lang="en-US" sz="3000" dirty="0"/>
          </a:p>
        </p:txBody>
      </p:sp>
      <p:sp>
        <p:nvSpPr>
          <p:cNvPr id="38" name="Text 35"/>
          <p:cNvSpPr txBox="1"/>
          <p:nvPr/>
        </p:nvSpPr>
        <p:spPr>
          <a:xfrm>
            <a:off x="4434840" y="2048256"/>
            <a:ext cx="7208215" cy="475488"/>
          </a:xfrm>
          <a:prstGeom prst="rect">
            <a:avLst/>
          </a:prstGeom>
          <a:noFill/>
          <a:ln/>
        </p:spPr>
        <p:txBody>
          <a:bodyPr wrap="square" lIns="0" tIns="0" rIns="0" bIns="0" rtlCol="0" anchor="t"/>
          <a:lstStyle/>
          <a:p>
            <a:pPr indent="0" marL="0">
              <a:buNone/>
            </a:pPr>
            <a:r>
              <a:rPr lang="en-US" sz="1500" dirty="0">
                <a:solidFill>
                  <a:srgbClr val="34465A"/>
                </a:solidFill>
                <a:latin typeface="Calibri" pitchFamily="34" charset="0"/>
                <a:ea typeface="Calibri" pitchFamily="34" charset="-122"/>
                <a:cs typeface="Calibri" pitchFamily="34" charset="-120"/>
              </a:rPr>
              <a:t>Notifications record the match, the arrival, the start of the trip, the drop and the charge, as they happen.</a:t>
            </a:r>
            <a:endParaRPr lang="en-US" sz="1500" dirty="0"/>
          </a:p>
        </p:txBody>
      </p:sp>
      <p:sp>
        <p:nvSpPr>
          <p:cNvPr id="39" name="Shape 36"/>
          <p:cNvSpPr/>
          <p:nvPr/>
        </p:nvSpPr>
        <p:spPr>
          <a:xfrm>
            <a:off x="4434840" y="2798064"/>
            <a:ext cx="7208215" cy="649224"/>
          </a:xfrm>
          <a:prstGeom prst="roundRect">
            <a:avLst>
              <a:gd name="adj" fmla="val 11268"/>
            </a:avLst>
          </a:prstGeom>
          <a:solidFill>
            <a:srgbClr val="F3F6F9"/>
          </a:solidFill>
          <a:ln w="6350">
            <a:solidFill>
              <a:srgbClr val="F3F6F9"/>
            </a:solidFill>
            <a:prstDash val="solid"/>
          </a:ln>
        </p:spPr>
      </p:sp>
      <p:sp>
        <p:nvSpPr>
          <p:cNvPr id="40" name="Shape 37"/>
          <p:cNvSpPr/>
          <p:nvPr/>
        </p:nvSpPr>
        <p:spPr>
          <a:xfrm>
            <a:off x="4599432" y="2916936"/>
            <a:ext cx="292608" cy="292608"/>
          </a:xfrm>
          <a:prstGeom prst="ellipse">
            <a:avLst/>
          </a:prstGeom>
          <a:solidFill>
            <a:srgbClr val="E85D04"/>
          </a:solidFill>
          <a:ln w="15875">
            <a:solidFill>
              <a:srgbClr val="FFFFFF"/>
            </a:solidFill>
            <a:prstDash val="solid"/>
          </a:ln>
        </p:spPr>
      </p:sp>
      <p:sp>
        <p:nvSpPr>
          <p:cNvPr id="41" name="Text 38"/>
          <p:cNvSpPr txBox="1"/>
          <p:nvPr/>
        </p:nvSpPr>
        <p:spPr>
          <a:xfrm>
            <a:off x="4599432" y="2916936"/>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42" name="Text 39"/>
          <p:cNvSpPr txBox="1"/>
          <p:nvPr/>
        </p:nvSpPr>
        <p:spPr>
          <a:xfrm>
            <a:off x="5029200" y="2907792"/>
            <a:ext cx="6430975" cy="274320"/>
          </a:xfrm>
          <a:prstGeom prst="rect">
            <a:avLst/>
          </a:prstGeom>
          <a:noFill/>
          <a:ln/>
        </p:spPr>
        <p:txBody>
          <a:bodyPr wrap="square" lIns="0" tIns="0" rIns="0" bIns="0" rtlCol="0" anchor="ctr"/>
          <a:lstStyle/>
          <a:p>
            <a:pPr indent="0" marL="0">
              <a:buNone/>
            </a:pPr>
            <a:r>
              <a:rPr lang="en-US" sz="1400" b="1" dirty="0">
                <a:solidFill>
                  <a:srgbClr val="16202B"/>
                </a:solidFill>
                <a:latin typeface="Calibri" pitchFamily="34" charset="0"/>
                <a:ea typeface="Calibri" pitchFamily="34" charset="-122"/>
                <a:cs typeface="Calibri" pitchFamily="34" charset="-120"/>
              </a:rPr>
              <a:t>Charged ₹22.86 to CC-4471</a:t>
            </a:r>
            <a:endParaRPr lang="en-US" sz="1400" dirty="0"/>
          </a:p>
        </p:txBody>
      </p:sp>
      <p:sp>
        <p:nvSpPr>
          <p:cNvPr id="43" name="Text 40"/>
          <p:cNvSpPr txBox="1"/>
          <p:nvPr/>
        </p:nvSpPr>
        <p:spPr>
          <a:xfrm>
            <a:off x="5029200" y="3182112"/>
            <a:ext cx="6430975" cy="192024"/>
          </a:xfrm>
          <a:prstGeom prst="rect">
            <a:avLst/>
          </a:prstGeom>
          <a:noFill/>
          <a:ln/>
        </p:spPr>
        <p:txBody>
          <a:bodyPr wrap="square" lIns="0" tIns="0" rIns="0" bIns="0" rtlCol="0" anchor="t"/>
          <a:lstStyle/>
          <a:p>
            <a:pPr indent="0" marL="0">
              <a:buNone/>
            </a:pPr>
            <a:r>
              <a:rPr lang="en-US" sz="1200" dirty="0">
                <a:solidFill>
                  <a:srgbClr val="34465A"/>
                </a:solidFill>
                <a:latin typeface="Calibri" pitchFamily="34" charset="0"/>
                <a:ea typeface="Calibri" pitchFamily="34" charset="-122"/>
                <a:cs typeface="Calibri" pitchFamily="34" charset="-120"/>
              </a:rPr>
              <a:t>With the distance and how the cost was split.</a:t>
            </a:r>
            <a:endParaRPr lang="en-US" sz="1200" dirty="0"/>
          </a:p>
        </p:txBody>
      </p:sp>
      <p:sp>
        <p:nvSpPr>
          <p:cNvPr id="44" name="Shape 41"/>
          <p:cNvSpPr/>
          <p:nvPr/>
        </p:nvSpPr>
        <p:spPr>
          <a:xfrm>
            <a:off x="4434840" y="3557016"/>
            <a:ext cx="7208215" cy="649224"/>
          </a:xfrm>
          <a:prstGeom prst="roundRect">
            <a:avLst>
              <a:gd name="adj" fmla="val 11268"/>
            </a:avLst>
          </a:prstGeom>
          <a:solidFill>
            <a:srgbClr val="F3F6F9"/>
          </a:solidFill>
          <a:ln w="6350">
            <a:solidFill>
              <a:srgbClr val="F3F6F9"/>
            </a:solidFill>
            <a:prstDash val="solid"/>
          </a:ln>
        </p:spPr>
      </p:sp>
      <p:sp>
        <p:nvSpPr>
          <p:cNvPr id="45" name="Shape 42"/>
          <p:cNvSpPr/>
          <p:nvPr/>
        </p:nvSpPr>
        <p:spPr>
          <a:xfrm>
            <a:off x="4599432" y="3675888"/>
            <a:ext cx="292608" cy="292608"/>
          </a:xfrm>
          <a:prstGeom prst="ellipse">
            <a:avLst/>
          </a:prstGeom>
          <a:solidFill>
            <a:srgbClr val="E85D04"/>
          </a:solidFill>
          <a:ln w="15875">
            <a:solidFill>
              <a:srgbClr val="FFFFFF"/>
            </a:solidFill>
            <a:prstDash val="solid"/>
          </a:ln>
        </p:spPr>
      </p:sp>
      <p:sp>
        <p:nvSpPr>
          <p:cNvPr id="46" name="Text 43"/>
          <p:cNvSpPr txBox="1"/>
          <p:nvPr/>
        </p:nvSpPr>
        <p:spPr>
          <a:xfrm>
            <a:off x="4599432" y="3675888"/>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47" name="Text 44"/>
          <p:cNvSpPr txBox="1"/>
          <p:nvPr/>
        </p:nvSpPr>
        <p:spPr>
          <a:xfrm>
            <a:off x="5029200" y="3666744"/>
            <a:ext cx="6430975" cy="274320"/>
          </a:xfrm>
          <a:prstGeom prst="rect">
            <a:avLst/>
          </a:prstGeom>
          <a:noFill/>
          <a:ln/>
        </p:spPr>
        <p:txBody>
          <a:bodyPr wrap="square" lIns="0" tIns="0" rIns="0" bIns="0" rtlCol="0" anchor="ctr"/>
          <a:lstStyle/>
          <a:p>
            <a:pPr indent="0" marL="0">
              <a:buNone/>
            </a:pPr>
            <a:r>
              <a:rPr lang="en-US" sz="1400" b="1" dirty="0">
                <a:solidFill>
                  <a:srgbClr val="16202B"/>
                </a:solidFill>
                <a:latin typeface="Calibri" pitchFamily="34" charset="0"/>
                <a:ea typeface="Calibri" pitchFamily="34" charset="-122"/>
                <a:cs typeface="Calibri" pitchFamily="34" charset="-120"/>
              </a:rPr>
              <a:t>Trip started</a:t>
            </a:r>
            <a:endParaRPr lang="en-US" sz="1400" dirty="0"/>
          </a:p>
        </p:txBody>
      </p:sp>
      <p:sp>
        <p:nvSpPr>
          <p:cNvPr id="48" name="Text 45"/>
          <p:cNvSpPr txBox="1"/>
          <p:nvPr/>
        </p:nvSpPr>
        <p:spPr>
          <a:xfrm>
            <a:off x="5029200" y="3941064"/>
            <a:ext cx="6430975" cy="192024"/>
          </a:xfrm>
          <a:prstGeom prst="rect">
            <a:avLst/>
          </a:prstGeom>
          <a:noFill/>
          <a:ln/>
        </p:spPr>
        <p:txBody>
          <a:bodyPr wrap="square" lIns="0" tIns="0" rIns="0" bIns="0" rtlCol="0" anchor="t"/>
          <a:lstStyle/>
          <a:p>
            <a:pPr indent="0" marL="0">
              <a:buNone/>
            </a:pPr>
            <a:r>
              <a:rPr lang="en-US" sz="1200" dirty="0">
                <a:solidFill>
                  <a:srgbClr val="34465A"/>
                </a:solidFill>
                <a:latin typeface="Calibri" pitchFamily="34" charset="0"/>
                <a:ea typeface="Calibri" pitchFamily="34" charset="-122"/>
                <a:cs typeface="Calibri" pitchFamily="34" charset="-120"/>
              </a:rPr>
              <a:t>Drop time at Blast Furnace.</a:t>
            </a:r>
            <a:endParaRPr lang="en-US" sz="1200" dirty="0"/>
          </a:p>
        </p:txBody>
      </p:sp>
      <p:sp>
        <p:nvSpPr>
          <p:cNvPr id="49" name="Shape 46"/>
          <p:cNvSpPr/>
          <p:nvPr/>
        </p:nvSpPr>
        <p:spPr>
          <a:xfrm>
            <a:off x="4434840" y="4315968"/>
            <a:ext cx="7208215" cy="649224"/>
          </a:xfrm>
          <a:prstGeom prst="roundRect">
            <a:avLst>
              <a:gd name="adj" fmla="val 11268"/>
            </a:avLst>
          </a:prstGeom>
          <a:solidFill>
            <a:srgbClr val="F3F6F9"/>
          </a:solidFill>
          <a:ln w="6350">
            <a:solidFill>
              <a:srgbClr val="F3F6F9"/>
            </a:solidFill>
            <a:prstDash val="solid"/>
          </a:ln>
        </p:spPr>
      </p:sp>
      <p:sp>
        <p:nvSpPr>
          <p:cNvPr id="50" name="Shape 47"/>
          <p:cNvSpPr/>
          <p:nvPr/>
        </p:nvSpPr>
        <p:spPr>
          <a:xfrm>
            <a:off x="4599432" y="4434840"/>
            <a:ext cx="292608" cy="292608"/>
          </a:xfrm>
          <a:prstGeom prst="ellipse">
            <a:avLst/>
          </a:prstGeom>
          <a:solidFill>
            <a:srgbClr val="E85D04"/>
          </a:solidFill>
          <a:ln w="15875">
            <a:solidFill>
              <a:srgbClr val="FFFFFF"/>
            </a:solidFill>
            <a:prstDash val="solid"/>
          </a:ln>
        </p:spPr>
      </p:sp>
      <p:sp>
        <p:nvSpPr>
          <p:cNvPr id="51" name="Text 48"/>
          <p:cNvSpPr txBox="1"/>
          <p:nvPr/>
        </p:nvSpPr>
        <p:spPr>
          <a:xfrm>
            <a:off x="4599432" y="443484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52" name="Text 49"/>
          <p:cNvSpPr txBox="1"/>
          <p:nvPr/>
        </p:nvSpPr>
        <p:spPr>
          <a:xfrm>
            <a:off x="5029200" y="4425696"/>
            <a:ext cx="6430975" cy="274320"/>
          </a:xfrm>
          <a:prstGeom prst="rect">
            <a:avLst/>
          </a:prstGeom>
          <a:noFill/>
          <a:ln/>
        </p:spPr>
        <p:txBody>
          <a:bodyPr wrap="square" lIns="0" tIns="0" rIns="0" bIns="0" rtlCol="0" anchor="ctr"/>
          <a:lstStyle/>
          <a:p>
            <a:pPr indent="0" marL="0">
              <a:buNone/>
            </a:pPr>
            <a:r>
              <a:rPr lang="en-US" sz="1400" b="1" dirty="0">
                <a:solidFill>
                  <a:srgbClr val="16202B"/>
                </a:solidFill>
                <a:latin typeface="Calibri" pitchFamily="34" charset="0"/>
                <a:ea typeface="Calibri" pitchFamily="34" charset="-122"/>
                <a:cs typeface="Calibri" pitchFamily="34" charset="-120"/>
              </a:rPr>
              <a:t>Cab C-12 is at Gate 2</a:t>
            </a:r>
            <a:endParaRPr lang="en-US" sz="1400" dirty="0"/>
          </a:p>
        </p:txBody>
      </p:sp>
      <p:sp>
        <p:nvSpPr>
          <p:cNvPr id="53" name="Text 50"/>
          <p:cNvSpPr txBox="1"/>
          <p:nvPr/>
        </p:nvSpPr>
        <p:spPr>
          <a:xfrm>
            <a:off x="5029200" y="4700016"/>
            <a:ext cx="6430975" cy="192024"/>
          </a:xfrm>
          <a:prstGeom prst="rect">
            <a:avLst/>
          </a:prstGeom>
          <a:noFill/>
          <a:ln/>
        </p:spPr>
        <p:txBody>
          <a:bodyPr wrap="square" lIns="0" tIns="0" rIns="0" bIns="0" rtlCol="0" anchor="t"/>
          <a:lstStyle/>
          <a:p>
            <a:pPr indent="0" marL="0">
              <a:buNone/>
            </a:pPr>
            <a:r>
              <a:rPr lang="en-US" sz="1200" dirty="0">
                <a:solidFill>
                  <a:srgbClr val="34465A"/>
                </a:solidFill>
                <a:latin typeface="Calibri" pitchFamily="34" charset="0"/>
                <a:ea typeface="Calibri" pitchFamily="34" charset="-122"/>
                <a:cs typeface="Calibri" pitchFamily="34" charset="-120"/>
              </a:rPr>
              <a:t>The boarding code and the 5-minute wait.</a:t>
            </a:r>
            <a:endParaRPr lang="en-US" sz="1200" dirty="0"/>
          </a:p>
        </p:txBody>
      </p:sp>
      <p:sp>
        <p:nvSpPr>
          <p:cNvPr id="54" name="Text 51"/>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900" dirty="0">
                <a:solidFill>
                  <a:srgbClr val="5E6D7D"/>
                </a:solidFill>
                <a:latin typeface="Calibri" pitchFamily="34" charset="0"/>
                <a:ea typeface="Calibri" pitchFamily="34" charset="-122"/>
                <a:cs typeface="Calibri" pitchFamily="34" charset="-120"/>
              </a:rPr>
              <a:t>Plant Ride · Rider → Driver journey · recorded on the MVP with demo data</a:t>
            </a:r>
            <a:endParaRPr lang="en-US" sz="900" dirty="0"/>
          </a:p>
        </p:txBody>
      </p:sp>
      <p:sp>
        <p:nvSpPr>
          <p:cNvPr id="55" name="Text 52"/>
          <p:cNvSpPr txBox="1"/>
          <p:nvPr/>
        </p:nvSpPr>
        <p:spPr>
          <a:xfrm>
            <a:off x="11185855" y="6473952"/>
            <a:ext cx="457200" cy="228600"/>
          </a:xfrm>
          <a:prstGeom prst="rect">
            <a:avLst/>
          </a:prstGeom>
          <a:noFill/>
          <a:ln/>
        </p:spPr>
        <p:txBody>
          <a:bodyPr wrap="square" lIns="0" tIns="0" rIns="0" bIns="0" rtlCol="0" anchor="ctr"/>
          <a:lstStyle/>
          <a:p>
            <a:pPr algn="r" indent="0" marL="0">
              <a:buNone/>
            </a:pPr>
            <a:r>
              <a:rPr lang="en-US" sz="900" dirty="0">
                <a:solidFill>
                  <a:srgbClr val="5E6D7D"/>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E1520"/>
        </a:solidFill>
      </p:bgPr>
    </p:bg>
    <p:spTree>
      <p:nvGrpSpPr>
        <p:cNvPr id="1" name=""/>
        <p:cNvGrpSpPr/>
        <p:nvPr/>
      </p:nvGrpSpPr>
      <p:grpSpPr>
        <a:xfrm>
          <a:off x="0" y="0"/>
          <a:ext cx="0" cy="0"/>
          <a:chOff x="0" y="0"/>
          <a:chExt cx="0" cy="0"/>
        </a:xfrm>
      </p:grpSpPr>
      <p:sp>
        <p:nvSpPr>
          <p:cNvPr id="2" name="Text 0"/>
          <p:cNvSpPr txBox="1"/>
          <p:nvPr/>
        </p:nvSpPr>
        <p:spPr>
          <a:xfrm>
            <a:off x="731520" y="1051560"/>
            <a:ext cx="6858000" cy="320040"/>
          </a:xfrm>
          <a:prstGeom prst="rect">
            <a:avLst/>
          </a:prstGeom>
          <a:noFill/>
          <a:ln/>
        </p:spPr>
        <p:txBody>
          <a:bodyPr wrap="square" lIns="0" tIns="0" rIns="0" bIns="0" rtlCol="0" anchor="ctr"/>
          <a:lstStyle/>
          <a:p>
            <a:pPr indent="0" marL="0">
              <a:buNone/>
            </a:pPr>
            <a:r>
              <a:rPr lang="en-US" sz="1400" b="1" spc="300" kern="0" dirty="0">
                <a:solidFill>
                  <a:srgbClr val="00A896"/>
                </a:solidFill>
                <a:latin typeface="Calibri" pitchFamily="34" charset="0"/>
                <a:ea typeface="Calibri" pitchFamily="34" charset="-122"/>
                <a:cs typeface="Calibri" pitchFamily="34" charset="-120"/>
              </a:rPr>
              <a:t>PART 2 OF 2 · DRIVER</a:t>
            </a:r>
            <a:endParaRPr lang="en-US" sz="1400" dirty="0"/>
          </a:p>
        </p:txBody>
      </p:sp>
      <p:sp>
        <p:nvSpPr>
          <p:cNvPr id="3" name="Text 1"/>
          <p:cNvSpPr txBox="1"/>
          <p:nvPr/>
        </p:nvSpPr>
        <p:spPr>
          <a:xfrm>
            <a:off x="731520" y="1508760"/>
            <a:ext cx="6949440" cy="1554480"/>
          </a:xfrm>
          <a:prstGeom prst="rect">
            <a:avLst/>
          </a:prstGeom>
          <a:noFill/>
          <a:ln/>
        </p:spPr>
        <p:txBody>
          <a:bodyPr wrap="square" lIns="0" tIns="0" rIns="0" bIns="0" rtlCol="0" anchor="t"/>
          <a:lstStyle/>
          <a:p>
            <a:pPr indent="0" marL="0">
              <a:buNone/>
            </a:pPr>
            <a:r>
              <a:rPr lang="en-US" sz="3800" b="1" dirty="0">
                <a:solidFill>
                  <a:srgbClr val="FFFFFF"/>
                </a:solidFill>
                <a:latin typeface="Calibri" pitchFamily="34" charset="0"/>
                <a:ea typeface="Calibri" pitchFamily="34" charset="-122"/>
                <a:cs typeface="Calibri" pitchFamily="34" charset="-120"/>
              </a:rPr>
              <a:t>S. Kumar signs on, finds the riders and drives the route</a:t>
            </a:r>
            <a:endParaRPr lang="en-US" sz="3800" dirty="0"/>
          </a:p>
        </p:txBody>
      </p:sp>
      <p:sp>
        <p:nvSpPr>
          <p:cNvPr id="4" name="Shape 2"/>
          <p:cNvSpPr/>
          <p:nvPr/>
        </p:nvSpPr>
        <p:spPr>
          <a:xfrm>
            <a:off x="731520" y="3291840"/>
            <a:ext cx="4937760" cy="868680"/>
          </a:xfrm>
          <a:prstGeom prst="roundRect">
            <a:avLst>
              <a:gd name="adj" fmla="val 12632"/>
            </a:avLst>
          </a:prstGeom>
          <a:solidFill>
            <a:srgbClr val="1A2533"/>
          </a:solidFill>
          <a:ln w="6350">
            <a:solidFill>
              <a:srgbClr val="1A2533"/>
            </a:solidFill>
            <a:prstDash val="solid"/>
          </a:ln>
        </p:spPr>
      </p:sp>
      <p:sp>
        <p:nvSpPr>
          <p:cNvPr id="5" name="Shape 3"/>
          <p:cNvSpPr/>
          <p:nvPr/>
        </p:nvSpPr>
        <p:spPr>
          <a:xfrm>
            <a:off x="896112" y="3447288"/>
            <a:ext cx="548640" cy="548640"/>
          </a:xfrm>
          <a:prstGeom prst="ellipse">
            <a:avLst/>
          </a:prstGeom>
          <a:solidFill>
            <a:srgbClr val="00A896"/>
          </a:solidFill>
          <a:ln w="6350">
            <a:solidFill>
              <a:srgbClr val="00A896"/>
            </a:solidFill>
            <a:prstDash val="solid"/>
          </a:ln>
        </p:spPr>
      </p:sp>
      <p:sp>
        <p:nvSpPr>
          <p:cNvPr id="6" name="Text 4"/>
          <p:cNvSpPr txBox="1"/>
          <p:nvPr/>
        </p:nvSpPr>
        <p:spPr>
          <a:xfrm>
            <a:off x="896112" y="3447288"/>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SK</a:t>
            </a:r>
            <a:endParaRPr lang="en-US" sz="1500" dirty="0"/>
          </a:p>
        </p:txBody>
      </p:sp>
      <p:sp>
        <p:nvSpPr>
          <p:cNvPr id="7" name="Text 5"/>
          <p:cNvSpPr txBox="1"/>
          <p:nvPr/>
        </p:nvSpPr>
        <p:spPr>
          <a:xfrm>
            <a:off x="1627632" y="3429000"/>
            <a:ext cx="3840480" cy="3200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S. Kumar</a:t>
            </a:r>
            <a:endParaRPr lang="en-US" sz="1800" dirty="0"/>
          </a:p>
        </p:txBody>
      </p:sp>
      <p:sp>
        <p:nvSpPr>
          <p:cNvPr id="8" name="Text 6"/>
          <p:cNvSpPr txBox="1"/>
          <p:nvPr/>
        </p:nvSpPr>
        <p:spPr>
          <a:xfrm>
            <a:off x="1627632" y="3749040"/>
            <a:ext cx="3931920" cy="274320"/>
          </a:xfrm>
          <a:prstGeom prst="rect">
            <a:avLst/>
          </a:prstGeom>
          <a:noFill/>
          <a:ln/>
        </p:spPr>
        <p:txBody>
          <a:bodyPr wrap="square" lIns="0" tIns="0" rIns="0" bIns="0" rtlCol="0" anchor="ctr"/>
          <a:lstStyle/>
          <a:p>
            <a:pPr indent="0" marL="0">
              <a:buNone/>
            </a:pPr>
            <a:r>
              <a:rPr lang="en-US" sz="1100" dirty="0">
                <a:solidFill>
                  <a:srgbClr val="93A3B8"/>
                </a:solidFill>
                <a:latin typeface="Calibri" pitchFamily="34" charset="0"/>
                <a:ea typeface="Calibri" pitchFamily="34" charset="-122"/>
                <a:cs typeface="Calibri" pitchFamily="34" charset="-120"/>
              </a:rPr>
              <a:t>DRV-2281 · cab C-12 · MH 12 AB 4412</a:t>
            </a:r>
            <a:endParaRPr lang="en-US" sz="1100" dirty="0"/>
          </a:p>
        </p:txBody>
      </p:sp>
      <p:sp>
        <p:nvSpPr>
          <p:cNvPr id="9" name="Text 7"/>
          <p:cNvSpPr txBox="1"/>
          <p:nvPr/>
        </p:nvSpPr>
        <p:spPr>
          <a:xfrm>
            <a:off x="731520" y="4434840"/>
            <a:ext cx="6766560" cy="173736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C9D4E2"/>
                </a:solidFill>
                <a:latin typeface="Calibri" pitchFamily="34" charset="0"/>
                <a:ea typeface="Calibri" pitchFamily="34" charset="-122"/>
                <a:cs typeface="Calibri" pitchFamily="34" charset="-120"/>
              </a:rPr>
              <a:t>Duty check, five vehicle checks and the odometer; riders are matched at sign-on</a:t>
            </a:r>
            <a:endParaRPr lang="en-US" sz="1500" dirty="0"/>
          </a:p>
          <a:p>
            <a:pPr marL="342900" indent="-342900">
              <a:spcAft>
                <a:spcPts val="600"/>
              </a:spcAft>
              <a:buSzPct val="100000"/>
              <a:buChar char="•"/>
            </a:pPr>
            <a:r>
              <a:rPr lang="en-US" sz="1500" dirty="0">
                <a:solidFill>
                  <a:srgbClr val="C9D4E2"/>
                </a:solidFill>
                <a:latin typeface="Calibri" pitchFamily="34" charset="0"/>
                <a:ea typeface="Calibri" pitchFamily="34" charset="-122"/>
                <a:cs typeface="Calibri" pitchFamily="34" charset="-120"/>
              </a:rPr>
              <a:t>Sees every waiting rider on a live map, and their distance from the pickup</a:t>
            </a:r>
            <a:endParaRPr lang="en-US" sz="1500" dirty="0"/>
          </a:p>
          <a:p>
            <a:pPr marL="342900" indent="-342900">
              <a:spcAft>
                <a:spcPts val="600"/>
              </a:spcAft>
              <a:buSzPct val="100000"/>
              <a:buChar char="•"/>
            </a:pPr>
            <a:r>
              <a:rPr lang="en-US" sz="1500" dirty="0">
                <a:solidFill>
                  <a:srgbClr val="C9D4E2"/>
                </a:solidFill>
                <a:latin typeface="Calibri" pitchFamily="34" charset="0"/>
                <a:ea typeface="Calibri" pitchFamily="34" charset="-122"/>
                <a:cs typeface="Calibri" pitchFamily="34" charset="-120"/>
              </a:rPr>
              <a:t>GPS records the arrivals; riders board by OTP, drops go in route order, then sign-off</a:t>
            </a:r>
            <a:endParaRPr lang="en-US" sz="1500" dirty="0"/>
          </a:p>
        </p:txBody>
      </p:sp>
      <p:sp>
        <p:nvSpPr>
          <p:cNvPr id="10" name="Shape 8"/>
          <p:cNvSpPr/>
          <p:nvPr/>
        </p:nvSpPr>
        <p:spPr>
          <a:xfrm>
            <a:off x="8890711" y="493776"/>
            <a:ext cx="2729419" cy="5779008"/>
          </a:xfrm>
          <a:prstGeom prst="roundRect">
            <a:avLst>
              <a:gd name="adj" fmla="val 6030"/>
            </a:avLst>
          </a:prstGeom>
          <a:solidFill>
            <a:srgbClr val="16202B"/>
          </a:solidFill>
          <a:ln w="9525">
            <a:solidFill>
              <a:srgbClr val="16202B"/>
            </a:solidFill>
            <a:prstDash val="solid"/>
          </a:ln>
          <a:effectLst>
            <a:outerShdw sx="100000" sy="100000" kx="0" ky="0" algn="bl" rotWithShape="0" blurRad="127000" dist="38100" dir="5400000">
              <a:srgbClr val="000000">
                <a:alpha val="20000"/>
              </a:srgbClr>
            </a:outerShdw>
          </a:effectLst>
        </p:spPr>
      </p:sp>
      <p:pic>
        <p:nvPicPr>
          <p:cNvPr id="11" name="Image 0" descr="Screenshot: d06-riders-to-pick-up">    </p:cNvPr>
          <p:cNvPicPr>
            <a:picLocks noChangeAspect="1"/>
          </p:cNvPicPr>
          <p:nvPr/>
        </p:nvPicPr>
        <p:blipFill>
          <a:blip r:embed="rId1"/>
          <a:stretch>
            <a:fillRect/>
          </a:stretch>
        </p:blipFill>
        <p:spPr>
          <a:xfrm>
            <a:off x="8945575" y="548640"/>
            <a:ext cx="2619691" cy="5669280"/>
          </a:xfrm>
          <a:prstGeom prst="rect">
            <a:avLst/>
          </a:prstGeom>
        </p:spPr>
      </p:pic>
      <p:sp>
        <p:nvSpPr>
          <p:cNvPr id="12" name="Text 9"/>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900" dirty="0">
                <a:solidFill>
                  <a:srgbClr val="93A3B8"/>
                </a:solidFill>
                <a:latin typeface="Calibri" pitchFamily="34" charset="0"/>
                <a:ea typeface="Calibri" pitchFamily="34" charset="-122"/>
                <a:cs typeface="Calibri" pitchFamily="34" charset="-120"/>
              </a:rPr>
              <a:t>Plant Ride · Rider → Driver journey · recorded on the MVP with demo data</a:t>
            </a:r>
            <a:endParaRPr lang="en-US" sz="900" dirty="0"/>
          </a:p>
        </p:txBody>
      </p:sp>
      <p:sp>
        <p:nvSpPr>
          <p:cNvPr id="13" name="Text 10"/>
          <p:cNvSpPr txBox="1"/>
          <p:nvPr/>
        </p:nvSpPr>
        <p:spPr>
          <a:xfrm>
            <a:off x="11185855" y="6473952"/>
            <a:ext cx="457200" cy="228600"/>
          </a:xfrm>
          <a:prstGeom prst="rect">
            <a:avLst/>
          </a:prstGeom>
          <a:noFill/>
          <a:ln/>
        </p:spPr>
        <p:txBody>
          <a:bodyPr wrap="square" lIns="0" tIns="0" rIns="0" bIns="0" rtlCol="0" anchor="ctr"/>
          <a:lstStyle/>
          <a:p>
            <a:pPr algn="r" indent="0" marL="0">
              <a:buNone/>
            </a:pPr>
            <a:r>
              <a:rPr lang="en-US" sz="900" dirty="0">
                <a:solidFill>
                  <a:srgbClr val="93A3B8"/>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50976" y="402336"/>
            <a:ext cx="2813925" cy="5961888"/>
          </a:xfrm>
          <a:prstGeom prst="roundRect">
            <a:avLst>
              <a:gd name="adj" fmla="val 5849"/>
            </a:avLst>
          </a:prstGeom>
          <a:solidFill>
            <a:srgbClr val="16202B"/>
          </a:solidFill>
          <a:ln w="9525">
            <a:solidFill>
              <a:srgbClr val="16202B"/>
            </a:solidFill>
            <a:prstDash val="solid"/>
          </a:ln>
          <a:effectLst>
            <a:outerShdw sx="100000" sy="100000" kx="0" ky="0" algn="bl" rotWithShape="0" blurRad="127000" dist="38100" dir="5400000">
              <a:srgbClr val="000000">
                <a:alpha val="20000"/>
              </a:srgbClr>
            </a:outerShdw>
          </a:effectLst>
        </p:spPr>
      </p:sp>
      <p:pic>
        <p:nvPicPr>
          <p:cNvPr id="3" name="Image 0" descr="Screenshot: d01-sign-in">    </p:cNvPr>
          <p:cNvPicPr>
            <a:picLocks noChangeAspect="1"/>
          </p:cNvPicPr>
          <p:nvPr/>
        </p:nvPicPr>
        <p:blipFill>
          <a:blip r:embed="rId1"/>
          <a:stretch>
            <a:fillRect/>
          </a:stretch>
        </p:blipFill>
        <p:spPr>
          <a:xfrm>
            <a:off x="1005840" y="457200"/>
            <a:ext cx="2704197" cy="5852160"/>
          </a:xfrm>
          <a:prstGeom prst="rect">
            <a:avLst/>
          </a:prstGeom>
        </p:spPr>
      </p:pic>
      <p:sp>
        <p:nvSpPr>
          <p:cNvPr id="4" name="Shape 1"/>
          <p:cNvSpPr/>
          <p:nvPr/>
        </p:nvSpPr>
        <p:spPr>
          <a:xfrm>
            <a:off x="822960" y="2440278"/>
            <a:ext cx="293821" cy="914"/>
          </a:xfrm>
          <a:prstGeom prst="line">
            <a:avLst/>
          </a:prstGeom>
          <a:noFill/>
          <a:ln w="15875">
            <a:solidFill>
              <a:srgbClr val="00A896"/>
            </a:solidFill>
            <a:prstDash val="solid"/>
          </a:ln>
        </p:spPr>
      </p:sp>
      <p:sp>
        <p:nvSpPr>
          <p:cNvPr id="5" name="Shape 2"/>
          <p:cNvSpPr/>
          <p:nvPr/>
        </p:nvSpPr>
        <p:spPr>
          <a:xfrm>
            <a:off x="1075633" y="2399130"/>
            <a:ext cx="82296" cy="82296"/>
          </a:xfrm>
          <a:prstGeom prst="ellipse">
            <a:avLst/>
          </a:prstGeom>
          <a:solidFill>
            <a:srgbClr val="00A896"/>
          </a:solidFill>
          <a:ln w="9525">
            <a:solidFill>
              <a:srgbClr val="FFFFFF"/>
            </a:solidFill>
            <a:prstDash val="solid"/>
          </a:ln>
        </p:spPr>
      </p:sp>
      <p:sp>
        <p:nvSpPr>
          <p:cNvPr id="6" name="Shape 3"/>
          <p:cNvSpPr/>
          <p:nvPr/>
        </p:nvSpPr>
        <p:spPr>
          <a:xfrm>
            <a:off x="548640" y="2303118"/>
            <a:ext cx="274320" cy="274320"/>
          </a:xfrm>
          <a:prstGeom prst="ellipse">
            <a:avLst/>
          </a:prstGeom>
          <a:solidFill>
            <a:srgbClr val="00A896"/>
          </a:solidFill>
          <a:ln w="15875">
            <a:solidFill>
              <a:srgbClr val="FFFFFF"/>
            </a:solidFill>
            <a:prstDash val="solid"/>
          </a:ln>
        </p:spPr>
      </p:sp>
      <p:sp>
        <p:nvSpPr>
          <p:cNvPr id="7" name="Text 4"/>
          <p:cNvSpPr txBox="1"/>
          <p:nvPr/>
        </p:nvSpPr>
        <p:spPr>
          <a:xfrm>
            <a:off x="548640" y="230311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8" name="Shape 5"/>
          <p:cNvSpPr/>
          <p:nvPr/>
        </p:nvSpPr>
        <p:spPr>
          <a:xfrm>
            <a:off x="822960" y="3521957"/>
            <a:ext cx="293821" cy="914"/>
          </a:xfrm>
          <a:prstGeom prst="line">
            <a:avLst/>
          </a:prstGeom>
          <a:noFill/>
          <a:ln w="15875">
            <a:solidFill>
              <a:srgbClr val="00A896"/>
            </a:solidFill>
            <a:prstDash val="solid"/>
          </a:ln>
        </p:spPr>
      </p:sp>
      <p:sp>
        <p:nvSpPr>
          <p:cNvPr id="9" name="Shape 6"/>
          <p:cNvSpPr/>
          <p:nvPr/>
        </p:nvSpPr>
        <p:spPr>
          <a:xfrm>
            <a:off x="1075633" y="3480809"/>
            <a:ext cx="82296" cy="82296"/>
          </a:xfrm>
          <a:prstGeom prst="ellipse">
            <a:avLst/>
          </a:prstGeom>
          <a:solidFill>
            <a:srgbClr val="00A896"/>
          </a:solidFill>
          <a:ln w="9525">
            <a:solidFill>
              <a:srgbClr val="FFFFFF"/>
            </a:solidFill>
            <a:prstDash val="solid"/>
          </a:ln>
        </p:spPr>
      </p:sp>
      <p:sp>
        <p:nvSpPr>
          <p:cNvPr id="10" name="Shape 7"/>
          <p:cNvSpPr/>
          <p:nvPr/>
        </p:nvSpPr>
        <p:spPr>
          <a:xfrm>
            <a:off x="548640" y="3384797"/>
            <a:ext cx="274320" cy="274320"/>
          </a:xfrm>
          <a:prstGeom prst="ellipse">
            <a:avLst/>
          </a:prstGeom>
          <a:solidFill>
            <a:srgbClr val="00A896"/>
          </a:solidFill>
          <a:ln w="15875">
            <a:solidFill>
              <a:srgbClr val="FFFFFF"/>
            </a:solidFill>
            <a:prstDash val="solid"/>
          </a:ln>
        </p:spPr>
      </p:sp>
      <p:sp>
        <p:nvSpPr>
          <p:cNvPr id="11" name="Text 8"/>
          <p:cNvSpPr txBox="1"/>
          <p:nvPr/>
        </p:nvSpPr>
        <p:spPr>
          <a:xfrm>
            <a:off x="548640" y="3384797"/>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2" name="Shape 9"/>
          <p:cNvSpPr/>
          <p:nvPr/>
        </p:nvSpPr>
        <p:spPr>
          <a:xfrm>
            <a:off x="4434840" y="457200"/>
            <a:ext cx="384048" cy="384048"/>
          </a:xfrm>
          <a:prstGeom prst="ellipse">
            <a:avLst/>
          </a:prstGeom>
          <a:solidFill>
            <a:srgbClr val="00A896"/>
          </a:solidFill>
          <a:ln w="6350">
            <a:solidFill>
              <a:srgbClr val="00A896"/>
            </a:solidFill>
            <a:prstDash val="solid"/>
          </a:ln>
        </p:spPr>
      </p:sp>
      <p:sp>
        <p:nvSpPr>
          <p:cNvPr id="13" name="Text 10"/>
          <p:cNvSpPr txBox="1"/>
          <p:nvPr/>
        </p:nvSpPr>
        <p:spPr>
          <a:xfrm>
            <a:off x="4434840" y="457200"/>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SK</a:t>
            </a:r>
            <a:endParaRPr lang="en-US" sz="1100" dirty="0"/>
          </a:p>
        </p:txBody>
      </p:sp>
      <p:sp>
        <p:nvSpPr>
          <p:cNvPr id="14" name="Text 11"/>
          <p:cNvSpPr txBox="1"/>
          <p:nvPr/>
        </p:nvSpPr>
        <p:spPr>
          <a:xfrm>
            <a:off x="4937760" y="457200"/>
            <a:ext cx="3291840" cy="384048"/>
          </a:xfrm>
          <a:prstGeom prst="rect">
            <a:avLst/>
          </a:prstGeom>
          <a:noFill/>
          <a:ln/>
        </p:spPr>
        <p:txBody>
          <a:bodyPr wrap="square" lIns="0" tIns="0" rIns="0" bIns="0" rtlCol="0" anchor="ctr"/>
          <a:lstStyle/>
          <a:p>
            <a:pPr indent="0" marL="0">
              <a:buNone/>
            </a:pPr>
            <a:r>
              <a:rPr lang="en-US" sz="1300" b="1" dirty="0">
                <a:solidFill>
                  <a:srgbClr val="00A896"/>
                </a:solidFill>
                <a:latin typeface="Calibri" pitchFamily="34" charset="0"/>
                <a:ea typeface="Calibri" pitchFamily="34" charset="-122"/>
                <a:cs typeface="Calibri" pitchFamily="34" charset="-120"/>
              </a:rPr>
              <a:t>Driver  </a:t>
            </a:r>
            <a:pPr indent="0" marL="0">
              <a:buNone/>
            </a:pPr>
            <a:r>
              <a:rPr lang="en-US" sz="1300" b="1" dirty="0">
                <a:solidFill>
                  <a:srgbClr val="16202B"/>
                </a:solidFill>
                <a:latin typeface="Calibri" pitchFamily="34" charset="0"/>
                <a:ea typeface="Calibri" pitchFamily="34" charset="-122"/>
                <a:cs typeface="Calibri" pitchFamily="34" charset="-120"/>
              </a:rPr>
              <a:t>S. Kumar</a:t>
            </a:r>
            <a:endParaRPr lang="en-US" sz="1300" dirty="0"/>
          </a:p>
        </p:txBody>
      </p:sp>
      <p:sp>
        <p:nvSpPr>
          <p:cNvPr id="15" name="Shape 12"/>
          <p:cNvSpPr/>
          <p:nvPr/>
        </p:nvSpPr>
        <p:spPr>
          <a:xfrm>
            <a:off x="9119311" y="557784"/>
            <a:ext cx="173736" cy="173736"/>
          </a:xfrm>
          <a:prstGeom prst="ellipse">
            <a:avLst/>
          </a:prstGeom>
          <a:solidFill>
            <a:srgbClr val="00A896"/>
          </a:solidFill>
          <a:ln w="9525">
            <a:solidFill>
              <a:srgbClr val="00A896"/>
            </a:solidFill>
            <a:prstDash val="solid"/>
          </a:ln>
        </p:spPr>
      </p:sp>
      <p:sp>
        <p:nvSpPr>
          <p:cNvPr id="16" name="Shape 13"/>
          <p:cNvSpPr/>
          <p:nvPr/>
        </p:nvSpPr>
        <p:spPr>
          <a:xfrm>
            <a:off x="9329623" y="585216"/>
            <a:ext cx="118872" cy="118872"/>
          </a:xfrm>
          <a:prstGeom prst="ellipse">
            <a:avLst/>
          </a:prstGeom>
          <a:solidFill>
            <a:srgbClr val="F3F6F9"/>
          </a:solidFill>
          <a:ln w="9525">
            <a:solidFill>
              <a:srgbClr val="DCE4EC"/>
            </a:solidFill>
            <a:prstDash val="solid"/>
          </a:ln>
        </p:spPr>
      </p:sp>
      <p:sp>
        <p:nvSpPr>
          <p:cNvPr id="17" name="Shape 14"/>
          <p:cNvSpPr/>
          <p:nvPr/>
        </p:nvSpPr>
        <p:spPr>
          <a:xfrm>
            <a:off x="9512503" y="585216"/>
            <a:ext cx="118872" cy="118872"/>
          </a:xfrm>
          <a:prstGeom prst="ellipse">
            <a:avLst/>
          </a:prstGeom>
          <a:solidFill>
            <a:srgbClr val="F3F6F9"/>
          </a:solidFill>
          <a:ln w="9525">
            <a:solidFill>
              <a:srgbClr val="DCE4EC"/>
            </a:solidFill>
            <a:prstDash val="solid"/>
          </a:ln>
        </p:spPr>
      </p:sp>
      <p:sp>
        <p:nvSpPr>
          <p:cNvPr id="18" name="Shape 15"/>
          <p:cNvSpPr/>
          <p:nvPr/>
        </p:nvSpPr>
        <p:spPr>
          <a:xfrm>
            <a:off x="9695383" y="585216"/>
            <a:ext cx="118872" cy="118872"/>
          </a:xfrm>
          <a:prstGeom prst="ellipse">
            <a:avLst/>
          </a:prstGeom>
          <a:solidFill>
            <a:srgbClr val="F3F6F9"/>
          </a:solidFill>
          <a:ln w="9525">
            <a:solidFill>
              <a:srgbClr val="DCE4EC"/>
            </a:solidFill>
            <a:prstDash val="solid"/>
          </a:ln>
        </p:spPr>
      </p:sp>
      <p:sp>
        <p:nvSpPr>
          <p:cNvPr id="19" name="Shape 16"/>
          <p:cNvSpPr/>
          <p:nvPr/>
        </p:nvSpPr>
        <p:spPr>
          <a:xfrm>
            <a:off x="9878263" y="585216"/>
            <a:ext cx="118872" cy="118872"/>
          </a:xfrm>
          <a:prstGeom prst="ellipse">
            <a:avLst/>
          </a:prstGeom>
          <a:solidFill>
            <a:srgbClr val="F3F6F9"/>
          </a:solidFill>
          <a:ln w="9525">
            <a:solidFill>
              <a:srgbClr val="DCE4EC"/>
            </a:solidFill>
            <a:prstDash val="solid"/>
          </a:ln>
        </p:spPr>
      </p:sp>
      <p:sp>
        <p:nvSpPr>
          <p:cNvPr id="20" name="Shape 17"/>
          <p:cNvSpPr/>
          <p:nvPr/>
        </p:nvSpPr>
        <p:spPr>
          <a:xfrm>
            <a:off x="10061143" y="585216"/>
            <a:ext cx="118872" cy="118872"/>
          </a:xfrm>
          <a:prstGeom prst="ellipse">
            <a:avLst/>
          </a:prstGeom>
          <a:solidFill>
            <a:srgbClr val="F3F6F9"/>
          </a:solidFill>
          <a:ln w="9525">
            <a:solidFill>
              <a:srgbClr val="DCE4EC"/>
            </a:solidFill>
            <a:prstDash val="solid"/>
          </a:ln>
        </p:spPr>
      </p:sp>
      <p:sp>
        <p:nvSpPr>
          <p:cNvPr id="21" name="Shape 18"/>
          <p:cNvSpPr/>
          <p:nvPr/>
        </p:nvSpPr>
        <p:spPr>
          <a:xfrm>
            <a:off x="10244023" y="585216"/>
            <a:ext cx="118872" cy="118872"/>
          </a:xfrm>
          <a:prstGeom prst="ellipse">
            <a:avLst/>
          </a:prstGeom>
          <a:solidFill>
            <a:srgbClr val="F3F6F9"/>
          </a:solidFill>
          <a:ln w="9525">
            <a:solidFill>
              <a:srgbClr val="DCE4EC"/>
            </a:solidFill>
            <a:prstDash val="solid"/>
          </a:ln>
        </p:spPr>
      </p:sp>
      <p:sp>
        <p:nvSpPr>
          <p:cNvPr id="22" name="Shape 19"/>
          <p:cNvSpPr/>
          <p:nvPr/>
        </p:nvSpPr>
        <p:spPr>
          <a:xfrm>
            <a:off x="10426903" y="585216"/>
            <a:ext cx="118872" cy="118872"/>
          </a:xfrm>
          <a:prstGeom prst="ellipse">
            <a:avLst/>
          </a:prstGeom>
          <a:solidFill>
            <a:srgbClr val="F3F6F9"/>
          </a:solidFill>
          <a:ln w="9525">
            <a:solidFill>
              <a:srgbClr val="DCE4EC"/>
            </a:solidFill>
            <a:prstDash val="solid"/>
          </a:ln>
        </p:spPr>
      </p:sp>
      <p:sp>
        <p:nvSpPr>
          <p:cNvPr id="23" name="Shape 20"/>
          <p:cNvSpPr/>
          <p:nvPr/>
        </p:nvSpPr>
        <p:spPr>
          <a:xfrm>
            <a:off x="10609783" y="585216"/>
            <a:ext cx="118872" cy="118872"/>
          </a:xfrm>
          <a:prstGeom prst="ellipse">
            <a:avLst/>
          </a:prstGeom>
          <a:solidFill>
            <a:srgbClr val="F3F6F9"/>
          </a:solidFill>
          <a:ln w="9525">
            <a:solidFill>
              <a:srgbClr val="DCE4EC"/>
            </a:solidFill>
            <a:prstDash val="solid"/>
          </a:ln>
        </p:spPr>
      </p:sp>
      <p:sp>
        <p:nvSpPr>
          <p:cNvPr id="24" name="Shape 21"/>
          <p:cNvSpPr/>
          <p:nvPr/>
        </p:nvSpPr>
        <p:spPr>
          <a:xfrm>
            <a:off x="10792663" y="585216"/>
            <a:ext cx="118872" cy="118872"/>
          </a:xfrm>
          <a:prstGeom prst="ellipse">
            <a:avLst/>
          </a:prstGeom>
          <a:solidFill>
            <a:srgbClr val="F3F6F9"/>
          </a:solidFill>
          <a:ln w="9525">
            <a:solidFill>
              <a:srgbClr val="DCE4EC"/>
            </a:solidFill>
            <a:prstDash val="solid"/>
          </a:ln>
        </p:spPr>
      </p:sp>
      <p:sp>
        <p:nvSpPr>
          <p:cNvPr id="25" name="Shape 22"/>
          <p:cNvSpPr/>
          <p:nvPr/>
        </p:nvSpPr>
        <p:spPr>
          <a:xfrm>
            <a:off x="10975543" y="585216"/>
            <a:ext cx="118872" cy="118872"/>
          </a:xfrm>
          <a:prstGeom prst="ellipse">
            <a:avLst/>
          </a:prstGeom>
          <a:solidFill>
            <a:srgbClr val="F3F6F9"/>
          </a:solidFill>
          <a:ln w="9525">
            <a:solidFill>
              <a:srgbClr val="DCE4EC"/>
            </a:solidFill>
            <a:prstDash val="solid"/>
          </a:ln>
        </p:spPr>
      </p:sp>
      <p:sp>
        <p:nvSpPr>
          <p:cNvPr id="26" name="Shape 23"/>
          <p:cNvSpPr/>
          <p:nvPr/>
        </p:nvSpPr>
        <p:spPr>
          <a:xfrm>
            <a:off x="11158423" y="585216"/>
            <a:ext cx="118872" cy="118872"/>
          </a:xfrm>
          <a:prstGeom prst="ellipse">
            <a:avLst/>
          </a:prstGeom>
          <a:solidFill>
            <a:srgbClr val="F3F6F9"/>
          </a:solidFill>
          <a:ln w="9525">
            <a:solidFill>
              <a:srgbClr val="DCE4EC"/>
            </a:solidFill>
            <a:prstDash val="solid"/>
          </a:ln>
        </p:spPr>
      </p:sp>
      <p:sp>
        <p:nvSpPr>
          <p:cNvPr id="27" name="Shape 24"/>
          <p:cNvSpPr/>
          <p:nvPr/>
        </p:nvSpPr>
        <p:spPr>
          <a:xfrm>
            <a:off x="11341303" y="585216"/>
            <a:ext cx="118872" cy="118872"/>
          </a:xfrm>
          <a:prstGeom prst="ellipse">
            <a:avLst/>
          </a:prstGeom>
          <a:solidFill>
            <a:srgbClr val="F3F6F9"/>
          </a:solidFill>
          <a:ln w="9525">
            <a:solidFill>
              <a:srgbClr val="DCE4EC"/>
            </a:solidFill>
            <a:prstDash val="solid"/>
          </a:ln>
        </p:spPr>
      </p:sp>
      <p:sp>
        <p:nvSpPr>
          <p:cNvPr id="28" name="Shape 25"/>
          <p:cNvSpPr/>
          <p:nvPr/>
        </p:nvSpPr>
        <p:spPr>
          <a:xfrm>
            <a:off x="11524183" y="585216"/>
            <a:ext cx="118872" cy="118872"/>
          </a:xfrm>
          <a:prstGeom prst="ellipse">
            <a:avLst/>
          </a:prstGeom>
          <a:solidFill>
            <a:srgbClr val="F3F6F9"/>
          </a:solidFill>
          <a:ln w="9525">
            <a:solidFill>
              <a:srgbClr val="DCE4EC"/>
            </a:solidFill>
            <a:prstDash val="solid"/>
          </a:ln>
        </p:spPr>
      </p:sp>
      <p:sp>
        <p:nvSpPr>
          <p:cNvPr id="29" name="Text 26"/>
          <p:cNvSpPr txBox="1"/>
          <p:nvPr/>
        </p:nvSpPr>
        <p:spPr>
          <a:xfrm>
            <a:off x="9146743" y="768096"/>
            <a:ext cx="2496312" cy="201168"/>
          </a:xfrm>
          <a:prstGeom prst="rect">
            <a:avLst/>
          </a:prstGeom>
          <a:noFill/>
          <a:ln/>
        </p:spPr>
        <p:txBody>
          <a:bodyPr wrap="square" lIns="0" tIns="0" rIns="0" bIns="0" rtlCol="0" anchor="ctr"/>
          <a:lstStyle/>
          <a:p>
            <a:pPr algn="r" indent="0" marL="0">
              <a:buNone/>
            </a:pPr>
            <a:r>
              <a:rPr lang="en-US" sz="950" dirty="0">
                <a:solidFill>
                  <a:srgbClr val="5E6D7D"/>
                </a:solidFill>
                <a:latin typeface="Calibri" pitchFamily="34" charset="0"/>
                <a:ea typeface="Calibri" pitchFamily="34" charset="-122"/>
                <a:cs typeface="Calibri" pitchFamily="34" charset="-120"/>
              </a:rPr>
              <a:t>Screen 1 of 14</a:t>
            </a:r>
            <a:endParaRPr lang="en-US" sz="950" dirty="0"/>
          </a:p>
        </p:txBody>
      </p:sp>
      <p:sp>
        <p:nvSpPr>
          <p:cNvPr id="30" name="Text 27"/>
          <p:cNvSpPr txBox="1"/>
          <p:nvPr/>
        </p:nvSpPr>
        <p:spPr>
          <a:xfrm>
            <a:off x="4434840" y="1170432"/>
            <a:ext cx="7208215" cy="237744"/>
          </a:xfrm>
          <a:prstGeom prst="rect">
            <a:avLst/>
          </a:prstGeom>
          <a:noFill/>
          <a:ln/>
        </p:spPr>
        <p:txBody>
          <a:bodyPr wrap="square" lIns="0" tIns="0" rIns="0" bIns="0" rtlCol="0" anchor="ctr"/>
          <a:lstStyle/>
          <a:p>
            <a:pPr indent="0" marL="0">
              <a:buNone/>
            </a:pPr>
            <a:r>
              <a:rPr lang="en-US" sz="1100" b="1" spc="200" kern="0" dirty="0">
                <a:solidFill>
                  <a:srgbClr val="00A896"/>
                </a:solidFill>
                <a:latin typeface="Calibri" pitchFamily="34" charset="0"/>
                <a:ea typeface="Calibri" pitchFamily="34" charset="-122"/>
                <a:cs typeface="Calibri" pitchFamily="34" charset="-120"/>
              </a:rPr>
              <a:t>SIGN IN</a:t>
            </a:r>
            <a:endParaRPr lang="en-US" sz="1100" dirty="0"/>
          </a:p>
        </p:txBody>
      </p:sp>
      <p:sp>
        <p:nvSpPr>
          <p:cNvPr id="31" name="Text 28"/>
          <p:cNvSpPr txBox="1"/>
          <p:nvPr/>
        </p:nvSpPr>
        <p:spPr>
          <a:xfrm>
            <a:off x="4434840" y="1463040"/>
            <a:ext cx="7208215" cy="457200"/>
          </a:xfrm>
          <a:prstGeom prst="rect">
            <a:avLst/>
          </a:prstGeom>
          <a:noFill/>
          <a:ln/>
        </p:spPr>
        <p:txBody>
          <a:bodyPr wrap="square" lIns="0" tIns="0" rIns="0" bIns="0" rtlCol="0" anchor="t"/>
          <a:lstStyle/>
          <a:p>
            <a:pPr indent="0" marL="0">
              <a:buNone/>
            </a:pPr>
            <a:r>
              <a:rPr lang="en-US" sz="3000" b="1" dirty="0">
                <a:solidFill>
                  <a:srgbClr val="16202B"/>
                </a:solidFill>
                <a:latin typeface="Calibri" pitchFamily="34" charset="0"/>
                <a:ea typeface="Calibri" pitchFamily="34" charset="-122"/>
                <a:cs typeface="Calibri" pitchFamily="34" charset="-120"/>
              </a:rPr>
              <a:t>Sign in with the driver ID</a:t>
            </a:r>
            <a:endParaRPr lang="en-US" sz="3000" dirty="0"/>
          </a:p>
        </p:txBody>
      </p:sp>
      <p:sp>
        <p:nvSpPr>
          <p:cNvPr id="32" name="Text 29"/>
          <p:cNvSpPr txBox="1"/>
          <p:nvPr/>
        </p:nvSpPr>
        <p:spPr>
          <a:xfrm>
            <a:off x="4434840" y="2048256"/>
            <a:ext cx="7208215" cy="475488"/>
          </a:xfrm>
          <a:prstGeom prst="rect">
            <a:avLst/>
          </a:prstGeom>
          <a:noFill/>
          <a:ln/>
        </p:spPr>
        <p:txBody>
          <a:bodyPr wrap="square" lIns="0" tIns="0" rIns="0" bIns="0" rtlCol="0" anchor="t"/>
          <a:lstStyle/>
          <a:p>
            <a:pPr indent="0" marL="0">
              <a:buNone/>
            </a:pPr>
            <a:r>
              <a:rPr lang="en-US" sz="1500" dirty="0">
                <a:solidFill>
                  <a:srgbClr val="34465A"/>
                </a:solidFill>
                <a:latin typeface="Calibri" pitchFamily="34" charset="0"/>
                <a:ea typeface="Calibri" pitchFamily="34" charset="-122"/>
                <a:cs typeface="Calibri" pitchFamily="34" charset="-120"/>
              </a:rPr>
              <a:t>S. Kumar signs in with DRV-2281 on the driver’s phone. The same app opens the driver screens.</a:t>
            </a:r>
            <a:endParaRPr lang="en-US" sz="1500" dirty="0"/>
          </a:p>
        </p:txBody>
      </p:sp>
      <p:sp>
        <p:nvSpPr>
          <p:cNvPr id="33" name="Shape 30"/>
          <p:cNvSpPr/>
          <p:nvPr/>
        </p:nvSpPr>
        <p:spPr>
          <a:xfrm>
            <a:off x="4434840" y="2798064"/>
            <a:ext cx="7208215" cy="649224"/>
          </a:xfrm>
          <a:prstGeom prst="roundRect">
            <a:avLst>
              <a:gd name="adj" fmla="val 11268"/>
            </a:avLst>
          </a:prstGeom>
          <a:solidFill>
            <a:srgbClr val="F3F6F9"/>
          </a:solidFill>
          <a:ln w="6350">
            <a:solidFill>
              <a:srgbClr val="F3F6F9"/>
            </a:solidFill>
            <a:prstDash val="solid"/>
          </a:ln>
        </p:spPr>
      </p:sp>
      <p:sp>
        <p:nvSpPr>
          <p:cNvPr id="34" name="Shape 31"/>
          <p:cNvSpPr/>
          <p:nvPr/>
        </p:nvSpPr>
        <p:spPr>
          <a:xfrm>
            <a:off x="4599432" y="2916936"/>
            <a:ext cx="292608" cy="292608"/>
          </a:xfrm>
          <a:prstGeom prst="ellipse">
            <a:avLst/>
          </a:prstGeom>
          <a:solidFill>
            <a:srgbClr val="00A896"/>
          </a:solidFill>
          <a:ln w="15875">
            <a:solidFill>
              <a:srgbClr val="FFFFFF"/>
            </a:solidFill>
            <a:prstDash val="solid"/>
          </a:ln>
        </p:spPr>
      </p:sp>
      <p:sp>
        <p:nvSpPr>
          <p:cNvPr id="35" name="Text 32"/>
          <p:cNvSpPr txBox="1"/>
          <p:nvPr/>
        </p:nvSpPr>
        <p:spPr>
          <a:xfrm>
            <a:off x="4599432" y="2916936"/>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36" name="Text 33"/>
          <p:cNvSpPr txBox="1"/>
          <p:nvPr/>
        </p:nvSpPr>
        <p:spPr>
          <a:xfrm>
            <a:off x="5029200" y="2907792"/>
            <a:ext cx="6430975" cy="274320"/>
          </a:xfrm>
          <a:prstGeom prst="rect">
            <a:avLst/>
          </a:prstGeom>
          <a:noFill/>
          <a:ln/>
        </p:spPr>
        <p:txBody>
          <a:bodyPr wrap="square" lIns="0" tIns="0" rIns="0" bIns="0" rtlCol="0" anchor="ctr"/>
          <a:lstStyle/>
          <a:p>
            <a:pPr indent="0" marL="0">
              <a:buNone/>
            </a:pPr>
            <a:r>
              <a:rPr lang="en-US" sz="1400" b="1" dirty="0">
                <a:solidFill>
                  <a:srgbClr val="16202B"/>
                </a:solidFill>
                <a:latin typeface="Calibri" pitchFamily="34" charset="0"/>
                <a:ea typeface="Calibri" pitchFamily="34" charset="-122"/>
                <a:cs typeface="Calibri" pitchFamily="34" charset="-120"/>
              </a:rPr>
              <a:t>Driver ID DRV-2281</a:t>
            </a:r>
            <a:endParaRPr lang="en-US" sz="1400" dirty="0"/>
          </a:p>
        </p:txBody>
      </p:sp>
      <p:sp>
        <p:nvSpPr>
          <p:cNvPr id="37" name="Text 34"/>
          <p:cNvSpPr txBox="1"/>
          <p:nvPr/>
        </p:nvSpPr>
        <p:spPr>
          <a:xfrm>
            <a:off x="5029200" y="3182112"/>
            <a:ext cx="6430975" cy="192024"/>
          </a:xfrm>
          <a:prstGeom prst="rect">
            <a:avLst/>
          </a:prstGeom>
          <a:noFill/>
          <a:ln/>
        </p:spPr>
        <p:txBody>
          <a:bodyPr wrap="square" lIns="0" tIns="0" rIns="0" bIns="0" rtlCol="0" anchor="t"/>
          <a:lstStyle/>
          <a:p>
            <a:pPr indent="0" marL="0">
              <a:buNone/>
            </a:pPr>
            <a:r>
              <a:rPr lang="en-US" sz="1200" dirty="0">
                <a:solidFill>
                  <a:srgbClr val="34465A"/>
                </a:solidFill>
                <a:latin typeface="Calibri" pitchFamily="34" charset="0"/>
                <a:ea typeface="Calibri" pitchFamily="34" charset="-122"/>
                <a:cs typeface="Calibri" pitchFamily="34" charset="-120"/>
              </a:rPr>
              <a:t>Issued with the gate pass.</a:t>
            </a:r>
            <a:endParaRPr lang="en-US" sz="1200" dirty="0"/>
          </a:p>
        </p:txBody>
      </p:sp>
      <p:sp>
        <p:nvSpPr>
          <p:cNvPr id="38" name="Shape 35"/>
          <p:cNvSpPr/>
          <p:nvPr/>
        </p:nvSpPr>
        <p:spPr>
          <a:xfrm>
            <a:off x="4434840" y="3557016"/>
            <a:ext cx="7208215" cy="649224"/>
          </a:xfrm>
          <a:prstGeom prst="roundRect">
            <a:avLst>
              <a:gd name="adj" fmla="val 11268"/>
            </a:avLst>
          </a:prstGeom>
          <a:solidFill>
            <a:srgbClr val="F3F6F9"/>
          </a:solidFill>
          <a:ln w="6350">
            <a:solidFill>
              <a:srgbClr val="F3F6F9"/>
            </a:solidFill>
            <a:prstDash val="solid"/>
          </a:ln>
        </p:spPr>
      </p:sp>
      <p:sp>
        <p:nvSpPr>
          <p:cNvPr id="39" name="Shape 36"/>
          <p:cNvSpPr/>
          <p:nvPr/>
        </p:nvSpPr>
        <p:spPr>
          <a:xfrm>
            <a:off x="4599432" y="3675888"/>
            <a:ext cx="292608" cy="292608"/>
          </a:xfrm>
          <a:prstGeom prst="ellipse">
            <a:avLst/>
          </a:prstGeom>
          <a:solidFill>
            <a:srgbClr val="00A896"/>
          </a:solidFill>
          <a:ln w="15875">
            <a:solidFill>
              <a:srgbClr val="FFFFFF"/>
            </a:solidFill>
            <a:prstDash val="solid"/>
          </a:ln>
        </p:spPr>
      </p:sp>
      <p:sp>
        <p:nvSpPr>
          <p:cNvPr id="40" name="Text 37"/>
          <p:cNvSpPr txBox="1"/>
          <p:nvPr/>
        </p:nvSpPr>
        <p:spPr>
          <a:xfrm>
            <a:off x="4599432" y="3675888"/>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41" name="Text 38"/>
          <p:cNvSpPr txBox="1"/>
          <p:nvPr/>
        </p:nvSpPr>
        <p:spPr>
          <a:xfrm>
            <a:off x="5029200" y="3666744"/>
            <a:ext cx="6430975" cy="274320"/>
          </a:xfrm>
          <a:prstGeom prst="rect">
            <a:avLst/>
          </a:prstGeom>
          <a:noFill/>
          <a:ln/>
        </p:spPr>
        <p:txBody>
          <a:bodyPr wrap="square" lIns="0" tIns="0" rIns="0" bIns="0" rtlCol="0" anchor="ctr"/>
          <a:lstStyle/>
          <a:p>
            <a:pPr indent="0" marL="0">
              <a:buNone/>
            </a:pPr>
            <a:r>
              <a:rPr lang="en-US" sz="1400" b="1" dirty="0">
                <a:solidFill>
                  <a:srgbClr val="16202B"/>
                </a:solidFill>
                <a:latin typeface="Calibri" pitchFamily="34" charset="0"/>
                <a:ea typeface="Calibri" pitchFamily="34" charset="-122"/>
                <a:cs typeface="Calibri" pitchFamily="34" charset="-120"/>
              </a:rPr>
              <a:t>Sign in</a:t>
            </a:r>
            <a:endParaRPr lang="en-US" sz="1400" dirty="0"/>
          </a:p>
        </p:txBody>
      </p:sp>
      <p:sp>
        <p:nvSpPr>
          <p:cNvPr id="42" name="Text 39"/>
          <p:cNvSpPr txBox="1"/>
          <p:nvPr/>
        </p:nvSpPr>
        <p:spPr>
          <a:xfrm>
            <a:off x="5029200" y="3941064"/>
            <a:ext cx="6430975" cy="192024"/>
          </a:xfrm>
          <a:prstGeom prst="rect">
            <a:avLst/>
          </a:prstGeom>
          <a:noFill/>
          <a:ln/>
        </p:spPr>
        <p:txBody>
          <a:bodyPr wrap="square" lIns="0" tIns="0" rIns="0" bIns="0" rtlCol="0" anchor="t"/>
          <a:lstStyle/>
          <a:p>
            <a:pPr indent="0" marL="0">
              <a:buNone/>
            </a:pPr>
            <a:r>
              <a:rPr lang="en-US" sz="1200" dirty="0">
                <a:solidFill>
                  <a:srgbClr val="34465A"/>
                </a:solidFill>
                <a:latin typeface="Calibri" pitchFamily="34" charset="0"/>
                <a:ea typeface="Calibri" pitchFamily="34" charset="-122"/>
                <a:cs typeface="Calibri" pitchFamily="34" charset="-120"/>
              </a:rPr>
              <a:t>Location permission is asked once, on going on duty.</a:t>
            </a:r>
            <a:endParaRPr lang="en-US" sz="1200" dirty="0"/>
          </a:p>
        </p:txBody>
      </p:sp>
      <p:sp>
        <p:nvSpPr>
          <p:cNvPr id="43" name="Text 40"/>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900" dirty="0">
                <a:solidFill>
                  <a:srgbClr val="5E6D7D"/>
                </a:solidFill>
                <a:latin typeface="Calibri" pitchFamily="34" charset="0"/>
                <a:ea typeface="Calibri" pitchFamily="34" charset="-122"/>
                <a:cs typeface="Calibri" pitchFamily="34" charset="-120"/>
              </a:rPr>
              <a:t>Plant Ride · Rider → Driver journey · recorded on the MVP with demo data</a:t>
            </a:r>
            <a:endParaRPr lang="en-US" sz="900" dirty="0"/>
          </a:p>
        </p:txBody>
      </p:sp>
      <p:sp>
        <p:nvSpPr>
          <p:cNvPr id="44" name="Text 41"/>
          <p:cNvSpPr txBox="1"/>
          <p:nvPr/>
        </p:nvSpPr>
        <p:spPr>
          <a:xfrm>
            <a:off x="11185855" y="6473952"/>
            <a:ext cx="457200" cy="228600"/>
          </a:xfrm>
          <a:prstGeom prst="rect">
            <a:avLst/>
          </a:prstGeom>
          <a:noFill/>
          <a:ln/>
        </p:spPr>
        <p:txBody>
          <a:bodyPr wrap="square" lIns="0" tIns="0" rIns="0" bIns="0" rtlCol="0" anchor="ctr"/>
          <a:lstStyle/>
          <a:p>
            <a:pPr algn="r" indent="0" marL="0">
              <a:buNone/>
            </a:pPr>
            <a:r>
              <a:rPr lang="en-US" sz="900" dirty="0">
                <a:solidFill>
                  <a:srgbClr val="5E6D7D"/>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50976" y="402336"/>
            <a:ext cx="2813925" cy="5961888"/>
          </a:xfrm>
          <a:prstGeom prst="roundRect">
            <a:avLst>
              <a:gd name="adj" fmla="val 5849"/>
            </a:avLst>
          </a:prstGeom>
          <a:solidFill>
            <a:srgbClr val="16202B"/>
          </a:solidFill>
          <a:ln w="9525">
            <a:solidFill>
              <a:srgbClr val="16202B"/>
            </a:solidFill>
            <a:prstDash val="solid"/>
          </a:ln>
          <a:effectLst>
            <a:outerShdw sx="100000" sy="100000" kx="0" ky="0" algn="bl" rotWithShape="0" blurRad="127000" dist="38100" dir="5400000">
              <a:srgbClr val="000000">
                <a:alpha val="20000"/>
              </a:srgbClr>
            </a:outerShdw>
          </a:effectLst>
        </p:spPr>
      </p:sp>
      <p:pic>
        <p:nvPicPr>
          <p:cNvPr id="3" name="Image 0" descr="Screenshot: d02-duty-check">    </p:cNvPr>
          <p:cNvPicPr>
            <a:picLocks noChangeAspect="1"/>
          </p:cNvPicPr>
          <p:nvPr/>
        </p:nvPicPr>
        <p:blipFill>
          <a:blip r:embed="rId1"/>
          <a:stretch>
            <a:fillRect/>
          </a:stretch>
        </p:blipFill>
        <p:spPr>
          <a:xfrm>
            <a:off x="1005840" y="457200"/>
            <a:ext cx="2704197" cy="5852160"/>
          </a:xfrm>
          <a:prstGeom prst="rect">
            <a:avLst/>
          </a:prstGeom>
        </p:spPr>
      </p:pic>
      <p:sp>
        <p:nvSpPr>
          <p:cNvPr id="4" name="Shape 1"/>
          <p:cNvSpPr/>
          <p:nvPr/>
        </p:nvSpPr>
        <p:spPr>
          <a:xfrm>
            <a:off x="822960" y="1344731"/>
            <a:ext cx="238351" cy="914"/>
          </a:xfrm>
          <a:prstGeom prst="line">
            <a:avLst/>
          </a:prstGeom>
          <a:noFill/>
          <a:ln w="15875">
            <a:solidFill>
              <a:srgbClr val="00A896"/>
            </a:solidFill>
            <a:prstDash val="solid"/>
          </a:ln>
        </p:spPr>
      </p:sp>
      <p:sp>
        <p:nvSpPr>
          <p:cNvPr id="5" name="Shape 2"/>
          <p:cNvSpPr/>
          <p:nvPr/>
        </p:nvSpPr>
        <p:spPr>
          <a:xfrm>
            <a:off x="1020163" y="1303583"/>
            <a:ext cx="82296" cy="82296"/>
          </a:xfrm>
          <a:prstGeom prst="ellipse">
            <a:avLst/>
          </a:prstGeom>
          <a:solidFill>
            <a:srgbClr val="00A896"/>
          </a:solidFill>
          <a:ln w="9525">
            <a:solidFill>
              <a:srgbClr val="FFFFFF"/>
            </a:solidFill>
            <a:prstDash val="solid"/>
          </a:ln>
        </p:spPr>
      </p:sp>
      <p:sp>
        <p:nvSpPr>
          <p:cNvPr id="6" name="Shape 3"/>
          <p:cNvSpPr/>
          <p:nvPr/>
        </p:nvSpPr>
        <p:spPr>
          <a:xfrm>
            <a:off x="548640" y="1207571"/>
            <a:ext cx="274320" cy="274320"/>
          </a:xfrm>
          <a:prstGeom prst="ellipse">
            <a:avLst/>
          </a:prstGeom>
          <a:solidFill>
            <a:srgbClr val="00A896"/>
          </a:solidFill>
          <a:ln w="15875">
            <a:solidFill>
              <a:srgbClr val="FFFFFF"/>
            </a:solidFill>
            <a:prstDash val="solid"/>
          </a:ln>
        </p:spPr>
      </p:sp>
      <p:sp>
        <p:nvSpPr>
          <p:cNvPr id="7" name="Text 4"/>
          <p:cNvSpPr txBox="1"/>
          <p:nvPr/>
        </p:nvSpPr>
        <p:spPr>
          <a:xfrm>
            <a:off x="548640" y="1207571"/>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8" name="Shape 5"/>
          <p:cNvSpPr/>
          <p:nvPr/>
        </p:nvSpPr>
        <p:spPr>
          <a:xfrm>
            <a:off x="822960" y="3147529"/>
            <a:ext cx="363160" cy="914"/>
          </a:xfrm>
          <a:prstGeom prst="line">
            <a:avLst/>
          </a:prstGeom>
          <a:noFill/>
          <a:ln w="15875">
            <a:solidFill>
              <a:srgbClr val="00A896"/>
            </a:solidFill>
            <a:prstDash val="solid"/>
          </a:ln>
        </p:spPr>
      </p:sp>
      <p:sp>
        <p:nvSpPr>
          <p:cNvPr id="9" name="Shape 6"/>
          <p:cNvSpPr/>
          <p:nvPr/>
        </p:nvSpPr>
        <p:spPr>
          <a:xfrm>
            <a:off x="1144972" y="3106381"/>
            <a:ext cx="82296" cy="82296"/>
          </a:xfrm>
          <a:prstGeom prst="ellipse">
            <a:avLst/>
          </a:prstGeom>
          <a:solidFill>
            <a:srgbClr val="00A896"/>
          </a:solidFill>
          <a:ln w="9525">
            <a:solidFill>
              <a:srgbClr val="FFFFFF"/>
            </a:solidFill>
            <a:prstDash val="solid"/>
          </a:ln>
        </p:spPr>
      </p:sp>
      <p:sp>
        <p:nvSpPr>
          <p:cNvPr id="10" name="Shape 7"/>
          <p:cNvSpPr/>
          <p:nvPr/>
        </p:nvSpPr>
        <p:spPr>
          <a:xfrm>
            <a:off x="548640" y="3010369"/>
            <a:ext cx="274320" cy="274320"/>
          </a:xfrm>
          <a:prstGeom prst="ellipse">
            <a:avLst/>
          </a:prstGeom>
          <a:solidFill>
            <a:srgbClr val="00A896"/>
          </a:solidFill>
          <a:ln w="15875">
            <a:solidFill>
              <a:srgbClr val="FFFFFF"/>
            </a:solidFill>
            <a:prstDash val="solid"/>
          </a:ln>
        </p:spPr>
      </p:sp>
      <p:sp>
        <p:nvSpPr>
          <p:cNvPr id="11" name="Text 8"/>
          <p:cNvSpPr txBox="1"/>
          <p:nvPr/>
        </p:nvSpPr>
        <p:spPr>
          <a:xfrm>
            <a:off x="548640" y="3010369"/>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2" name="Shape 9"/>
          <p:cNvSpPr/>
          <p:nvPr/>
        </p:nvSpPr>
        <p:spPr>
          <a:xfrm>
            <a:off x="822960" y="3508089"/>
            <a:ext cx="363160" cy="914"/>
          </a:xfrm>
          <a:prstGeom prst="line">
            <a:avLst/>
          </a:prstGeom>
          <a:noFill/>
          <a:ln w="15875">
            <a:solidFill>
              <a:srgbClr val="00A896"/>
            </a:solidFill>
            <a:prstDash val="solid"/>
          </a:ln>
        </p:spPr>
      </p:sp>
      <p:sp>
        <p:nvSpPr>
          <p:cNvPr id="13" name="Shape 10"/>
          <p:cNvSpPr/>
          <p:nvPr/>
        </p:nvSpPr>
        <p:spPr>
          <a:xfrm>
            <a:off x="1144972" y="3466941"/>
            <a:ext cx="82296" cy="82296"/>
          </a:xfrm>
          <a:prstGeom prst="ellipse">
            <a:avLst/>
          </a:prstGeom>
          <a:solidFill>
            <a:srgbClr val="00A896"/>
          </a:solidFill>
          <a:ln w="9525">
            <a:solidFill>
              <a:srgbClr val="FFFFFF"/>
            </a:solidFill>
            <a:prstDash val="solid"/>
          </a:ln>
        </p:spPr>
      </p:sp>
      <p:sp>
        <p:nvSpPr>
          <p:cNvPr id="14" name="Shape 11"/>
          <p:cNvSpPr/>
          <p:nvPr/>
        </p:nvSpPr>
        <p:spPr>
          <a:xfrm>
            <a:off x="548640" y="3370929"/>
            <a:ext cx="274320" cy="274320"/>
          </a:xfrm>
          <a:prstGeom prst="ellipse">
            <a:avLst/>
          </a:prstGeom>
          <a:solidFill>
            <a:srgbClr val="00A896"/>
          </a:solidFill>
          <a:ln w="15875">
            <a:solidFill>
              <a:srgbClr val="FFFFFF"/>
            </a:solidFill>
            <a:prstDash val="solid"/>
          </a:ln>
        </p:spPr>
      </p:sp>
      <p:sp>
        <p:nvSpPr>
          <p:cNvPr id="15" name="Text 12"/>
          <p:cNvSpPr txBox="1"/>
          <p:nvPr/>
        </p:nvSpPr>
        <p:spPr>
          <a:xfrm>
            <a:off x="548640" y="3370929"/>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6" name="Shape 13"/>
          <p:cNvSpPr/>
          <p:nvPr/>
        </p:nvSpPr>
        <p:spPr>
          <a:xfrm>
            <a:off x="4434840" y="457200"/>
            <a:ext cx="384048" cy="384048"/>
          </a:xfrm>
          <a:prstGeom prst="ellipse">
            <a:avLst/>
          </a:prstGeom>
          <a:solidFill>
            <a:srgbClr val="00A896"/>
          </a:solidFill>
          <a:ln w="6350">
            <a:solidFill>
              <a:srgbClr val="00A896"/>
            </a:solidFill>
            <a:prstDash val="solid"/>
          </a:ln>
        </p:spPr>
      </p:sp>
      <p:sp>
        <p:nvSpPr>
          <p:cNvPr id="17" name="Text 14"/>
          <p:cNvSpPr txBox="1"/>
          <p:nvPr/>
        </p:nvSpPr>
        <p:spPr>
          <a:xfrm>
            <a:off x="4434840" y="457200"/>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SK</a:t>
            </a:r>
            <a:endParaRPr lang="en-US" sz="1100" dirty="0"/>
          </a:p>
        </p:txBody>
      </p:sp>
      <p:sp>
        <p:nvSpPr>
          <p:cNvPr id="18" name="Text 15"/>
          <p:cNvSpPr txBox="1"/>
          <p:nvPr/>
        </p:nvSpPr>
        <p:spPr>
          <a:xfrm>
            <a:off x="4937760" y="457200"/>
            <a:ext cx="3291840" cy="384048"/>
          </a:xfrm>
          <a:prstGeom prst="rect">
            <a:avLst/>
          </a:prstGeom>
          <a:noFill/>
          <a:ln/>
        </p:spPr>
        <p:txBody>
          <a:bodyPr wrap="square" lIns="0" tIns="0" rIns="0" bIns="0" rtlCol="0" anchor="ctr"/>
          <a:lstStyle/>
          <a:p>
            <a:pPr indent="0" marL="0">
              <a:buNone/>
            </a:pPr>
            <a:r>
              <a:rPr lang="en-US" sz="1300" b="1" dirty="0">
                <a:solidFill>
                  <a:srgbClr val="00A896"/>
                </a:solidFill>
                <a:latin typeface="Calibri" pitchFamily="34" charset="0"/>
                <a:ea typeface="Calibri" pitchFamily="34" charset="-122"/>
                <a:cs typeface="Calibri" pitchFamily="34" charset="-120"/>
              </a:rPr>
              <a:t>Driver  </a:t>
            </a:r>
            <a:pPr indent="0" marL="0">
              <a:buNone/>
            </a:pPr>
            <a:r>
              <a:rPr lang="en-US" sz="1300" b="1" dirty="0">
                <a:solidFill>
                  <a:srgbClr val="16202B"/>
                </a:solidFill>
                <a:latin typeface="Calibri" pitchFamily="34" charset="0"/>
                <a:ea typeface="Calibri" pitchFamily="34" charset="-122"/>
                <a:cs typeface="Calibri" pitchFamily="34" charset="-120"/>
              </a:rPr>
              <a:t>S. Kumar</a:t>
            </a:r>
            <a:endParaRPr lang="en-US" sz="1300" dirty="0"/>
          </a:p>
        </p:txBody>
      </p:sp>
      <p:sp>
        <p:nvSpPr>
          <p:cNvPr id="19" name="Shape 16"/>
          <p:cNvSpPr/>
          <p:nvPr/>
        </p:nvSpPr>
        <p:spPr>
          <a:xfrm>
            <a:off x="9146743" y="585216"/>
            <a:ext cx="118872" cy="118872"/>
          </a:xfrm>
          <a:prstGeom prst="ellipse">
            <a:avLst/>
          </a:prstGeom>
          <a:solidFill>
            <a:srgbClr val="DDF5F1"/>
          </a:solidFill>
          <a:ln w="9525">
            <a:solidFill>
              <a:srgbClr val="00A896"/>
            </a:solidFill>
            <a:prstDash val="solid"/>
          </a:ln>
        </p:spPr>
      </p:sp>
      <p:sp>
        <p:nvSpPr>
          <p:cNvPr id="20" name="Shape 17"/>
          <p:cNvSpPr/>
          <p:nvPr/>
        </p:nvSpPr>
        <p:spPr>
          <a:xfrm>
            <a:off x="9302191" y="557784"/>
            <a:ext cx="173736" cy="173736"/>
          </a:xfrm>
          <a:prstGeom prst="ellipse">
            <a:avLst/>
          </a:prstGeom>
          <a:solidFill>
            <a:srgbClr val="00A896"/>
          </a:solidFill>
          <a:ln w="9525">
            <a:solidFill>
              <a:srgbClr val="00A896"/>
            </a:solidFill>
            <a:prstDash val="solid"/>
          </a:ln>
        </p:spPr>
      </p:sp>
      <p:sp>
        <p:nvSpPr>
          <p:cNvPr id="21" name="Shape 18"/>
          <p:cNvSpPr/>
          <p:nvPr/>
        </p:nvSpPr>
        <p:spPr>
          <a:xfrm>
            <a:off x="9512503" y="585216"/>
            <a:ext cx="118872" cy="118872"/>
          </a:xfrm>
          <a:prstGeom prst="ellipse">
            <a:avLst/>
          </a:prstGeom>
          <a:solidFill>
            <a:srgbClr val="F3F6F9"/>
          </a:solidFill>
          <a:ln w="9525">
            <a:solidFill>
              <a:srgbClr val="DCE4EC"/>
            </a:solidFill>
            <a:prstDash val="solid"/>
          </a:ln>
        </p:spPr>
      </p:sp>
      <p:sp>
        <p:nvSpPr>
          <p:cNvPr id="22" name="Shape 19"/>
          <p:cNvSpPr/>
          <p:nvPr/>
        </p:nvSpPr>
        <p:spPr>
          <a:xfrm>
            <a:off x="9695383" y="585216"/>
            <a:ext cx="118872" cy="118872"/>
          </a:xfrm>
          <a:prstGeom prst="ellipse">
            <a:avLst/>
          </a:prstGeom>
          <a:solidFill>
            <a:srgbClr val="F3F6F9"/>
          </a:solidFill>
          <a:ln w="9525">
            <a:solidFill>
              <a:srgbClr val="DCE4EC"/>
            </a:solidFill>
            <a:prstDash val="solid"/>
          </a:ln>
        </p:spPr>
      </p:sp>
      <p:sp>
        <p:nvSpPr>
          <p:cNvPr id="23" name="Shape 20"/>
          <p:cNvSpPr/>
          <p:nvPr/>
        </p:nvSpPr>
        <p:spPr>
          <a:xfrm>
            <a:off x="9878263" y="585216"/>
            <a:ext cx="118872" cy="118872"/>
          </a:xfrm>
          <a:prstGeom prst="ellipse">
            <a:avLst/>
          </a:prstGeom>
          <a:solidFill>
            <a:srgbClr val="F3F6F9"/>
          </a:solidFill>
          <a:ln w="9525">
            <a:solidFill>
              <a:srgbClr val="DCE4EC"/>
            </a:solidFill>
            <a:prstDash val="solid"/>
          </a:ln>
        </p:spPr>
      </p:sp>
      <p:sp>
        <p:nvSpPr>
          <p:cNvPr id="24" name="Shape 21"/>
          <p:cNvSpPr/>
          <p:nvPr/>
        </p:nvSpPr>
        <p:spPr>
          <a:xfrm>
            <a:off x="10061143" y="585216"/>
            <a:ext cx="118872" cy="118872"/>
          </a:xfrm>
          <a:prstGeom prst="ellipse">
            <a:avLst/>
          </a:prstGeom>
          <a:solidFill>
            <a:srgbClr val="F3F6F9"/>
          </a:solidFill>
          <a:ln w="9525">
            <a:solidFill>
              <a:srgbClr val="DCE4EC"/>
            </a:solidFill>
            <a:prstDash val="solid"/>
          </a:ln>
        </p:spPr>
      </p:sp>
      <p:sp>
        <p:nvSpPr>
          <p:cNvPr id="25" name="Shape 22"/>
          <p:cNvSpPr/>
          <p:nvPr/>
        </p:nvSpPr>
        <p:spPr>
          <a:xfrm>
            <a:off x="10244023" y="585216"/>
            <a:ext cx="118872" cy="118872"/>
          </a:xfrm>
          <a:prstGeom prst="ellipse">
            <a:avLst/>
          </a:prstGeom>
          <a:solidFill>
            <a:srgbClr val="F3F6F9"/>
          </a:solidFill>
          <a:ln w="9525">
            <a:solidFill>
              <a:srgbClr val="DCE4EC"/>
            </a:solidFill>
            <a:prstDash val="solid"/>
          </a:ln>
        </p:spPr>
      </p:sp>
      <p:sp>
        <p:nvSpPr>
          <p:cNvPr id="26" name="Shape 23"/>
          <p:cNvSpPr/>
          <p:nvPr/>
        </p:nvSpPr>
        <p:spPr>
          <a:xfrm>
            <a:off x="10426903" y="585216"/>
            <a:ext cx="118872" cy="118872"/>
          </a:xfrm>
          <a:prstGeom prst="ellipse">
            <a:avLst/>
          </a:prstGeom>
          <a:solidFill>
            <a:srgbClr val="F3F6F9"/>
          </a:solidFill>
          <a:ln w="9525">
            <a:solidFill>
              <a:srgbClr val="DCE4EC"/>
            </a:solidFill>
            <a:prstDash val="solid"/>
          </a:ln>
        </p:spPr>
      </p:sp>
      <p:sp>
        <p:nvSpPr>
          <p:cNvPr id="27" name="Shape 24"/>
          <p:cNvSpPr/>
          <p:nvPr/>
        </p:nvSpPr>
        <p:spPr>
          <a:xfrm>
            <a:off x="10609783" y="585216"/>
            <a:ext cx="118872" cy="118872"/>
          </a:xfrm>
          <a:prstGeom prst="ellipse">
            <a:avLst/>
          </a:prstGeom>
          <a:solidFill>
            <a:srgbClr val="F3F6F9"/>
          </a:solidFill>
          <a:ln w="9525">
            <a:solidFill>
              <a:srgbClr val="DCE4EC"/>
            </a:solidFill>
            <a:prstDash val="solid"/>
          </a:ln>
        </p:spPr>
      </p:sp>
      <p:sp>
        <p:nvSpPr>
          <p:cNvPr id="28" name="Shape 25"/>
          <p:cNvSpPr/>
          <p:nvPr/>
        </p:nvSpPr>
        <p:spPr>
          <a:xfrm>
            <a:off x="10792663" y="585216"/>
            <a:ext cx="118872" cy="118872"/>
          </a:xfrm>
          <a:prstGeom prst="ellipse">
            <a:avLst/>
          </a:prstGeom>
          <a:solidFill>
            <a:srgbClr val="F3F6F9"/>
          </a:solidFill>
          <a:ln w="9525">
            <a:solidFill>
              <a:srgbClr val="DCE4EC"/>
            </a:solidFill>
            <a:prstDash val="solid"/>
          </a:ln>
        </p:spPr>
      </p:sp>
      <p:sp>
        <p:nvSpPr>
          <p:cNvPr id="29" name="Shape 26"/>
          <p:cNvSpPr/>
          <p:nvPr/>
        </p:nvSpPr>
        <p:spPr>
          <a:xfrm>
            <a:off x="10975543" y="585216"/>
            <a:ext cx="118872" cy="118872"/>
          </a:xfrm>
          <a:prstGeom prst="ellipse">
            <a:avLst/>
          </a:prstGeom>
          <a:solidFill>
            <a:srgbClr val="F3F6F9"/>
          </a:solidFill>
          <a:ln w="9525">
            <a:solidFill>
              <a:srgbClr val="DCE4EC"/>
            </a:solidFill>
            <a:prstDash val="solid"/>
          </a:ln>
        </p:spPr>
      </p:sp>
      <p:sp>
        <p:nvSpPr>
          <p:cNvPr id="30" name="Shape 27"/>
          <p:cNvSpPr/>
          <p:nvPr/>
        </p:nvSpPr>
        <p:spPr>
          <a:xfrm>
            <a:off x="11158423" y="585216"/>
            <a:ext cx="118872" cy="118872"/>
          </a:xfrm>
          <a:prstGeom prst="ellipse">
            <a:avLst/>
          </a:prstGeom>
          <a:solidFill>
            <a:srgbClr val="F3F6F9"/>
          </a:solidFill>
          <a:ln w="9525">
            <a:solidFill>
              <a:srgbClr val="DCE4EC"/>
            </a:solidFill>
            <a:prstDash val="solid"/>
          </a:ln>
        </p:spPr>
      </p:sp>
      <p:sp>
        <p:nvSpPr>
          <p:cNvPr id="31" name="Shape 28"/>
          <p:cNvSpPr/>
          <p:nvPr/>
        </p:nvSpPr>
        <p:spPr>
          <a:xfrm>
            <a:off x="11341303" y="585216"/>
            <a:ext cx="118872" cy="118872"/>
          </a:xfrm>
          <a:prstGeom prst="ellipse">
            <a:avLst/>
          </a:prstGeom>
          <a:solidFill>
            <a:srgbClr val="F3F6F9"/>
          </a:solidFill>
          <a:ln w="9525">
            <a:solidFill>
              <a:srgbClr val="DCE4EC"/>
            </a:solidFill>
            <a:prstDash val="solid"/>
          </a:ln>
        </p:spPr>
      </p:sp>
      <p:sp>
        <p:nvSpPr>
          <p:cNvPr id="32" name="Shape 29"/>
          <p:cNvSpPr/>
          <p:nvPr/>
        </p:nvSpPr>
        <p:spPr>
          <a:xfrm>
            <a:off x="11524183" y="585216"/>
            <a:ext cx="118872" cy="118872"/>
          </a:xfrm>
          <a:prstGeom prst="ellipse">
            <a:avLst/>
          </a:prstGeom>
          <a:solidFill>
            <a:srgbClr val="F3F6F9"/>
          </a:solidFill>
          <a:ln w="9525">
            <a:solidFill>
              <a:srgbClr val="DCE4EC"/>
            </a:solidFill>
            <a:prstDash val="solid"/>
          </a:ln>
        </p:spPr>
      </p:sp>
      <p:sp>
        <p:nvSpPr>
          <p:cNvPr id="33" name="Text 30"/>
          <p:cNvSpPr txBox="1"/>
          <p:nvPr/>
        </p:nvSpPr>
        <p:spPr>
          <a:xfrm>
            <a:off x="9146743" y="768096"/>
            <a:ext cx="2496312" cy="201168"/>
          </a:xfrm>
          <a:prstGeom prst="rect">
            <a:avLst/>
          </a:prstGeom>
          <a:noFill/>
          <a:ln/>
        </p:spPr>
        <p:txBody>
          <a:bodyPr wrap="square" lIns="0" tIns="0" rIns="0" bIns="0" rtlCol="0" anchor="ctr"/>
          <a:lstStyle/>
          <a:p>
            <a:pPr algn="r" indent="0" marL="0">
              <a:buNone/>
            </a:pPr>
            <a:r>
              <a:rPr lang="en-US" sz="950" dirty="0">
                <a:solidFill>
                  <a:srgbClr val="5E6D7D"/>
                </a:solidFill>
                <a:latin typeface="Calibri" pitchFamily="34" charset="0"/>
                <a:ea typeface="Calibri" pitchFamily="34" charset="-122"/>
                <a:cs typeface="Calibri" pitchFamily="34" charset="-120"/>
              </a:rPr>
              <a:t>Screen 2 of 14</a:t>
            </a:r>
            <a:endParaRPr lang="en-US" sz="950" dirty="0"/>
          </a:p>
        </p:txBody>
      </p:sp>
      <p:sp>
        <p:nvSpPr>
          <p:cNvPr id="34" name="Text 31"/>
          <p:cNvSpPr txBox="1"/>
          <p:nvPr/>
        </p:nvSpPr>
        <p:spPr>
          <a:xfrm>
            <a:off x="4434840" y="1170432"/>
            <a:ext cx="7208215" cy="237744"/>
          </a:xfrm>
          <a:prstGeom prst="rect">
            <a:avLst/>
          </a:prstGeom>
          <a:noFill/>
          <a:ln/>
        </p:spPr>
        <p:txBody>
          <a:bodyPr wrap="square" lIns="0" tIns="0" rIns="0" bIns="0" rtlCol="0" anchor="ctr"/>
          <a:lstStyle/>
          <a:p>
            <a:pPr indent="0" marL="0">
              <a:buNone/>
            </a:pPr>
            <a:r>
              <a:rPr lang="en-US" sz="1100" b="1" spc="200" kern="0" dirty="0">
                <a:solidFill>
                  <a:srgbClr val="00A896"/>
                </a:solidFill>
                <a:latin typeface="Calibri" pitchFamily="34" charset="0"/>
                <a:ea typeface="Calibri" pitchFamily="34" charset="-122"/>
                <a:cs typeface="Calibri" pitchFamily="34" charset="-120"/>
              </a:rPr>
              <a:t>START-OF-DUTY CHECK</a:t>
            </a:r>
            <a:endParaRPr lang="en-US" sz="1100" dirty="0"/>
          </a:p>
        </p:txBody>
      </p:sp>
      <p:sp>
        <p:nvSpPr>
          <p:cNvPr id="35" name="Text 32"/>
          <p:cNvSpPr txBox="1"/>
          <p:nvPr/>
        </p:nvSpPr>
        <p:spPr>
          <a:xfrm>
            <a:off x="4434840" y="1463040"/>
            <a:ext cx="7208215" cy="457200"/>
          </a:xfrm>
          <a:prstGeom prst="rect">
            <a:avLst/>
          </a:prstGeom>
          <a:noFill/>
          <a:ln/>
        </p:spPr>
        <p:txBody>
          <a:bodyPr wrap="square" lIns="0" tIns="0" rIns="0" bIns="0" rtlCol="0" anchor="t"/>
          <a:lstStyle/>
          <a:p>
            <a:pPr indent="0" marL="0">
              <a:buNone/>
            </a:pPr>
            <a:r>
              <a:rPr lang="en-US" sz="3000" b="1" dirty="0">
                <a:solidFill>
                  <a:srgbClr val="16202B"/>
                </a:solidFill>
                <a:latin typeface="Calibri" pitchFamily="34" charset="0"/>
                <a:ea typeface="Calibri" pitchFamily="34" charset="-122"/>
                <a:cs typeface="Calibri" pitchFamily="34" charset="-120"/>
              </a:rPr>
              <a:t>Compliance before dispatch</a:t>
            </a:r>
            <a:endParaRPr lang="en-US" sz="3000" dirty="0"/>
          </a:p>
        </p:txBody>
      </p:sp>
      <p:sp>
        <p:nvSpPr>
          <p:cNvPr id="36" name="Text 33"/>
          <p:cNvSpPr txBox="1"/>
          <p:nvPr/>
        </p:nvSpPr>
        <p:spPr>
          <a:xfrm>
            <a:off x="4434840" y="2048256"/>
            <a:ext cx="7208215" cy="237744"/>
          </a:xfrm>
          <a:prstGeom prst="rect">
            <a:avLst/>
          </a:prstGeom>
          <a:noFill/>
          <a:ln/>
        </p:spPr>
        <p:txBody>
          <a:bodyPr wrap="square" lIns="0" tIns="0" rIns="0" bIns="0" rtlCol="0" anchor="t"/>
          <a:lstStyle/>
          <a:p>
            <a:pPr indent="0" marL="0">
              <a:buNone/>
            </a:pPr>
            <a:r>
              <a:rPr lang="en-US" sz="1500" dirty="0">
                <a:solidFill>
                  <a:srgbClr val="34465A"/>
                </a:solidFill>
                <a:latin typeface="Calibri" pitchFamily="34" charset="0"/>
                <a:ea typeface="Calibri" pitchFamily="34" charset="-122"/>
                <a:cs typeface="Calibri" pitchFamily="34" charset="-120"/>
              </a:rPr>
              <a:t>Documents are checked before a cab can be taken, not at the gate.</a:t>
            </a:r>
            <a:endParaRPr lang="en-US" sz="1500" dirty="0"/>
          </a:p>
        </p:txBody>
      </p:sp>
      <p:sp>
        <p:nvSpPr>
          <p:cNvPr id="37" name="Shape 34"/>
          <p:cNvSpPr/>
          <p:nvPr/>
        </p:nvSpPr>
        <p:spPr>
          <a:xfrm>
            <a:off x="4434840" y="2560320"/>
            <a:ext cx="7208215" cy="649224"/>
          </a:xfrm>
          <a:prstGeom prst="roundRect">
            <a:avLst>
              <a:gd name="adj" fmla="val 11268"/>
            </a:avLst>
          </a:prstGeom>
          <a:solidFill>
            <a:srgbClr val="F3F6F9"/>
          </a:solidFill>
          <a:ln w="6350">
            <a:solidFill>
              <a:srgbClr val="F3F6F9"/>
            </a:solidFill>
            <a:prstDash val="solid"/>
          </a:ln>
        </p:spPr>
      </p:sp>
      <p:sp>
        <p:nvSpPr>
          <p:cNvPr id="38" name="Shape 35"/>
          <p:cNvSpPr/>
          <p:nvPr/>
        </p:nvSpPr>
        <p:spPr>
          <a:xfrm>
            <a:off x="4599432" y="2679192"/>
            <a:ext cx="292608" cy="292608"/>
          </a:xfrm>
          <a:prstGeom prst="ellipse">
            <a:avLst/>
          </a:prstGeom>
          <a:solidFill>
            <a:srgbClr val="00A896"/>
          </a:solidFill>
          <a:ln w="15875">
            <a:solidFill>
              <a:srgbClr val="FFFFFF"/>
            </a:solidFill>
            <a:prstDash val="solid"/>
          </a:ln>
        </p:spPr>
      </p:sp>
      <p:sp>
        <p:nvSpPr>
          <p:cNvPr id="39" name="Text 36"/>
          <p:cNvSpPr txBox="1"/>
          <p:nvPr/>
        </p:nvSpPr>
        <p:spPr>
          <a:xfrm>
            <a:off x="4599432" y="2679192"/>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40" name="Text 37"/>
          <p:cNvSpPr txBox="1"/>
          <p:nvPr/>
        </p:nvSpPr>
        <p:spPr>
          <a:xfrm>
            <a:off x="5029200" y="2670048"/>
            <a:ext cx="6430975" cy="274320"/>
          </a:xfrm>
          <a:prstGeom prst="rect">
            <a:avLst/>
          </a:prstGeom>
          <a:noFill/>
          <a:ln/>
        </p:spPr>
        <p:txBody>
          <a:bodyPr wrap="square" lIns="0" tIns="0" rIns="0" bIns="0" rtlCol="0" anchor="ctr"/>
          <a:lstStyle/>
          <a:p>
            <a:pPr indent="0" marL="0">
              <a:buNone/>
            </a:pPr>
            <a:r>
              <a:rPr lang="en-US" sz="1400" b="1" dirty="0">
                <a:solidFill>
                  <a:srgbClr val="16202B"/>
                </a:solidFill>
                <a:latin typeface="Calibri" pitchFamily="34" charset="0"/>
                <a:ea typeface="Calibri" pitchFamily="34" charset="-122"/>
                <a:cs typeface="Calibri" pitchFamily="34" charset="-120"/>
              </a:rPr>
              <a:t>Your documents</a:t>
            </a:r>
            <a:endParaRPr lang="en-US" sz="1400" dirty="0"/>
          </a:p>
        </p:txBody>
      </p:sp>
      <p:sp>
        <p:nvSpPr>
          <p:cNvPr id="41" name="Text 38"/>
          <p:cNvSpPr txBox="1"/>
          <p:nvPr/>
        </p:nvSpPr>
        <p:spPr>
          <a:xfrm>
            <a:off x="5029200" y="2944368"/>
            <a:ext cx="6430975" cy="192024"/>
          </a:xfrm>
          <a:prstGeom prst="rect">
            <a:avLst/>
          </a:prstGeom>
          <a:noFill/>
          <a:ln/>
        </p:spPr>
        <p:txBody>
          <a:bodyPr wrap="square" lIns="0" tIns="0" rIns="0" bIns="0" rtlCol="0" anchor="t"/>
          <a:lstStyle/>
          <a:p>
            <a:pPr indent="0" marL="0">
              <a:buNone/>
            </a:pPr>
            <a:r>
              <a:rPr lang="en-US" sz="1200" dirty="0">
                <a:solidFill>
                  <a:srgbClr val="34465A"/>
                </a:solidFill>
                <a:latin typeface="Calibri" pitchFamily="34" charset="0"/>
                <a:ea typeface="Calibri" pitchFamily="34" charset="-122"/>
                <a:cs typeface="Calibri" pitchFamily="34" charset="-120"/>
              </a:rPr>
              <a:t>Driving licence and gate pass valid.</a:t>
            </a:r>
            <a:endParaRPr lang="en-US" sz="1200" dirty="0"/>
          </a:p>
        </p:txBody>
      </p:sp>
      <p:sp>
        <p:nvSpPr>
          <p:cNvPr id="42" name="Shape 39"/>
          <p:cNvSpPr/>
          <p:nvPr/>
        </p:nvSpPr>
        <p:spPr>
          <a:xfrm>
            <a:off x="4434840" y="3319272"/>
            <a:ext cx="7208215" cy="649224"/>
          </a:xfrm>
          <a:prstGeom prst="roundRect">
            <a:avLst>
              <a:gd name="adj" fmla="val 11268"/>
            </a:avLst>
          </a:prstGeom>
          <a:solidFill>
            <a:srgbClr val="F3F6F9"/>
          </a:solidFill>
          <a:ln w="6350">
            <a:solidFill>
              <a:srgbClr val="F3F6F9"/>
            </a:solidFill>
            <a:prstDash val="solid"/>
          </a:ln>
        </p:spPr>
      </p:sp>
      <p:sp>
        <p:nvSpPr>
          <p:cNvPr id="43" name="Shape 40"/>
          <p:cNvSpPr/>
          <p:nvPr/>
        </p:nvSpPr>
        <p:spPr>
          <a:xfrm>
            <a:off x="4599432" y="3438144"/>
            <a:ext cx="292608" cy="292608"/>
          </a:xfrm>
          <a:prstGeom prst="ellipse">
            <a:avLst/>
          </a:prstGeom>
          <a:solidFill>
            <a:srgbClr val="00A896"/>
          </a:solidFill>
          <a:ln w="15875">
            <a:solidFill>
              <a:srgbClr val="FFFFFF"/>
            </a:solidFill>
            <a:prstDash val="solid"/>
          </a:ln>
        </p:spPr>
      </p:sp>
      <p:sp>
        <p:nvSpPr>
          <p:cNvPr id="44" name="Text 41"/>
          <p:cNvSpPr txBox="1"/>
          <p:nvPr/>
        </p:nvSpPr>
        <p:spPr>
          <a:xfrm>
            <a:off x="4599432" y="3438144"/>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45" name="Text 42"/>
          <p:cNvSpPr txBox="1"/>
          <p:nvPr/>
        </p:nvSpPr>
        <p:spPr>
          <a:xfrm>
            <a:off x="5029200" y="3429000"/>
            <a:ext cx="6430975" cy="274320"/>
          </a:xfrm>
          <a:prstGeom prst="rect">
            <a:avLst/>
          </a:prstGeom>
          <a:noFill/>
          <a:ln/>
        </p:spPr>
        <p:txBody>
          <a:bodyPr wrap="square" lIns="0" tIns="0" rIns="0" bIns="0" rtlCol="0" anchor="ctr"/>
          <a:lstStyle/>
          <a:p>
            <a:pPr indent="0" marL="0">
              <a:buNone/>
            </a:pPr>
            <a:r>
              <a:rPr lang="en-US" sz="1400" b="1" dirty="0">
                <a:solidFill>
                  <a:srgbClr val="16202B"/>
                </a:solidFill>
                <a:latin typeface="Calibri" pitchFamily="34" charset="0"/>
                <a:ea typeface="Calibri" pitchFamily="34" charset="-122"/>
                <a:cs typeface="Calibri" pitchFamily="34" charset="-120"/>
              </a:rPr>
              <a:t>C-12 · MH 12 AB 4412</a:t>
            </a:r>
            <a:endParaRPr lang="en-US" sz="1400" dirty="0"/>
          </a:p>
        </p:txBody>
      </p:sp>
      <p:sp>
        <p:nvSpPr>
          <p:cNvPr id="46" name="Text 43"/>
          <p:cNvSpPr txBox="1"/>
          <p:nvPr/>
        </p:nvSpPr>
        <p:spPr>
          <a:xfrm>
            <a:off x="5029200" y="3703320"/>
            <a:ext cx="6430975" cy="192024"/>
          </a:xfrm>
          <a:prstGeom prst="rect">
            <a:avLst/>
          </a:prstGeom>
          <a:noFill/>
          <a:ln/>
        </p:spPr>
        <p:txBody>
          <a:bodyPr wrap="square" lIns="0" tIns="0" rIns="0" bIns="0" rtlCol="0" anchor="t"/>
          <a:lstStyle/>
          <a:p>
            <a:pPr indent="0" marL="0">
              <a:buNone/>
            </a:pPr>
            <a:r>
              <a:rPr lang="en-US" sz="1200" dirty="0">
                <a:solidFill>
                  <a:srgbClr val="34465A"/>
                </a:solidFill>
                <a:latin typeface="Calibri" pitchFamily="34" charset="0"/>
                <a:ea typeface="Calibri" pitchFamily="34" charset="-122"/>
                <a:cs typeface="Calibri" pitchFamily="34" charset="-120"/>
              </a:rPr>
              <a:t>The driver’s usual cab, preselected: 4 seats, LHS own fleet, at Gate 2.</a:t>
            </a:r>
            <a:endParaRPr lang="en-US" sz="1200" dirty="0"/>
          </a:p>
        </p:txBody>
      </p:sp>
      <p:sp>
        <p:nvSpPr>
          <p:cNvPr id="47" name="Shape 44"/>
          <p:cNvSpPr/>
          <p:nvPr/>
        </p:nvSpPr>
        <p:spPr>
          <a:xfrm>
            <a:off x="4434840" y="4078224"/>
            <a:ext cx="7208215" cy="649224"/>
          </a:xfrm>
          <a:prstGeom prst="roundRect">
            <a:avLst>
              <a:gd name="adj" fmla="val 11268"/>
            </a:avLst>
          </a:prstGeom>
          <a:solidFill>
            <a:srgbClr val="F3F6F9"/>
          </a:solidFill>
          <a:ln w="6350">
            <a:solidFill>
              <a:srgbClr val="F3F6F9"/>
            </a:solidFill>
            <a:prstDash val="solid"/>
          </a:ln>
        </p:spPr>
      </p:sp>
      <p:sp>
        <p:nvSpPr>
          <p:cNvPr id="48" name="Shape 45"/>
          <p:cNvSpPr/>
          <p:nvPr/>
        </p:nvSpPr>
        <p:spPr>
          <a:xfrm>
            <a:off x="4599432" y="4197096"/>
            <a:ext cx="292608" cy="292608"/>
          </a:xfrm>
          <a:prstGeom prst="ellipse">
            <a:avLst/>
          </a:prstGeom>
          <a:solidFill>
            <a:srgbClr val="00A896"/>
          </a:solidFill>
          <a:ln w="15875">
            <a:solidFill>
              <a:srgbClr val="FFFFFF"/>
            </a:solidFill>
            <a:prstDash val="solid"/>
          </a:ln>
        </p:spPr>
      </p:sp>
      <p:sp>
        <p:nvSpPr>
          <p:cNvPr id="49" name="Text 46"/>
          <p:cNvSpPr txBox="1"/>
          <p:nvPr/>
        </p:nvSpPr>
        <p:spPr>
          <a:xfrm>
            <a:off x="4599432" y="4197096"/>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50" name="Text 47"/>
          <p:cNvSpPr txBox="1"/>
          <p:nvPr/>
        </p:nvSpPr>
        <p:spPr>
          <a:xfrm>
            <a:off x="5029200" y="4187952"/>
            <a:ext cx="6430975" cy="274320"/>
          </a:xfrm>
          <a:prstGeom prst="rect">
            <a:avLst/>
          </a:prstGeom>
          <a:noFill/>
          <a:ln/>
        </p:spPr>
        <p:txBody>
          <a:bodyPr wrap="square" lIns="0" tIns="0" rIns="0" bIns="0" rtlCol="0" anchor="ctr"/>
          <a:lstStyle/>
          <a:p>
            <a:pPr indent="0" marL="0">
              <a:buNone/>
            </a:pPr>
            <a:r>
              <a:rPr lang="en-US" sz="1400" b="1" dirty="0">
                <a:solidFill>
                  <a:srgbClr val="16202B"/>
                </a:solidFill>
                <a:latin typeface="Calibri" pitchFamily="34" charset="0"/>
                <a:ea typeface="Calibri" pitchFamily="34" charset="-122"/>
                <a:cs typeface="Calibri" pitchFamily="34" charset="-120"/>
              </a:rPr>
              <a:t>PUC certificate expires in 6 days</a:t>
            </a:r>
            <a:endParaRPr lang="en-US" sz="1400" dirty="0"/>
          </a:p>
        </p:txBody>
      </p:sp>
      <p:sp>
        <p:nvSpPr>
          <p:cNvPr id="51" name="Text 48"/>
          <p:cNvSpPr txBox="1"/>
          <p:nvPr/>
        </p:nvSpPr>
        <p:spPr>
          <a:xfrm>
            <a:off x="5029200" y="4462272"/>
            <a:ext cx="6430975" cy="192024"/>
          </a:xfrm>
          <a:prstGeom prst="rect">
            <a:avLst/>
          </a:prstGeom>
          <a:noFill/>
          <a:ln/>
        </p:spPr>
        <p:txBody>
          <a:bodyPr wrap="square" lIns="0" tIns="0" rIns="0" bIns="0" rtlCol="0" anchor="t"/>
          <a:lstStyle/>
          <a:p>
            <a:pPr indent="0" marL="0">
              <a:buNone/>
            </a:pPr>
            <a:r>
              <a:rPr lang="en-US" sz="1200" dirty="0">
                <a:solidFill>
                  <a:srgbClr val="34465A"/>
                </a:solidFill>
                <a:latin typeface="Calibri" pitchFamily="34" charset="0"/>
                <a:ea typeface="Calibri" pitchFamily="34" charset="-122"/>
                <a:cs typeface="Calibri" pitchFamily="34" charset="-120"/>
              </a:rPr>
              <a:t>A warning, not a block; the desk is alerted too.</a:t>
            </a:r>
            <a:endParaRPr lang="en-US" sz="1200" dirty="0"/>
          </a:p>
        </p:txBody>
      </p:sp>
      <p:sp>
        <p:nvSpPr>
          <p:cNvPr id="52" name="Shape 49"/>
          <p:cNvSpPr/>
          <p:nvPr/>
        </p:nvSpPr>
        <p:spPr>
          <a:xfrm>
            <a:off x="4434840" y="4928616"/>
            <a:ext cx="7208215" cy="576072"/>
          </a:xfrm>
          <a:prstGeom prst="roundRect">
            <a:avLst>
              <a:gd name="adj" fmla="val 12698"/>
            </a:avLst>
          </a:prstGeom>
          <a:solidFill>
            <a:srgbClr val="DDF5F1"/>
          </a:solidFill>
          <a:ln w="6350">
            <a:solidFill>
              <a:srgbClr val="DDF5F1"/>
            </a:solidFill>
            <a:prstDash val="solid"/>
          </a:ln>
        </p:spPr>
      </p:sp>
      <p:sp>
        <p:nvSpPr>
          <p:cNvPr id="53" name="Text 50"/>
          <p:cNvSpPr txBox="1"/>
          <p:nvPr/>
        </p:nvSpPr>
        <p:spPr>
          <a:xfrm>
            <a:off x="4617720" y="5020056"/>
            <a:ext cx="6842455" cy="201168"/>
          </a:xfrm>
          <a:prstGeom prst="rect">
            <a:avLst/>
          </a:prstGeom>
          <a:noFill/>
          <a:ln/>
        </p:spPr>
        <p:txBody>
          <a:bodyPr wrap="square" lIns="0" tIns="0" rIns="0" bIns="0" rtlCol="0" anchor="ctr"/>
          <a:lstStyle/>
          <a:p>
            <a:pPr indent="0" marL="0">
              <a:buNone/>
            </a:pPr>
            <a:r>
              <a:rPr lang="en-US" sz="950" b="1" spc="150" kern="0" dirty="0">
                <a:solidFill>
                  <a:srgbClr val="007A6D"/>
                </a:solidFill>
                <a:latin typeface="Calibri" pitchFamily="34" charset="0"/>
                <a:ea typeface="Calibri" pitchFamily="34" charset="-122"/>
                <a:cs typeface="Calibri" pitchFamily="34" charset="-120"/>
              </a:rPr>
              <a:t>BEHIND THE SCENES</a:t>
            </a:r>
            <a:endParaRPr lang="en-US" sz="950" dirty="0"/>
          </a:p>
        </p:txBody>
      </p:sp>
      <p:sp>
        <p:nvSpPr>
          <p:cNvPr id="54" name="Text 51"/>
          <p:cNvSpPr txBox="1"/>
          <p:nvPr/>
        </p:nvSpPr>
        <p:spPr>
          <a:xfrm>
            <a:off x="4617720" y="5230368"/>
            <a:ext cx="6842455" cy="192024"/>
          </a:xfrm>
          <a:prstGeom prst="rect">
            <a:avLst/>
          </a:prstGeom>
          <a:noFill/>
          <a:ln/>
        </p:spPr>
        <p:txBody>
          <a:bodyPr wrap="square" lIns="0" tIns="0" rIns="0" bIns="0" rtlCol="0" anchor="t"/>
          <a:lstStyle/>
          <a:p>
            <a:pPr indent="0" marL="0">
              <a:buNone/>
            </a:pPr>
            <a:r>
              <a:rPr lang="en-US" sz="1200" dirty="0">
                <a:solidFill>
                  <a:srgbClr val="16202B"/>
                </a:solidFill>
                <a:latin typeface="Calibri" pitchFamily="34" charset="0"/>
                <a:ea typeface="Calibri" pitchFamily="34" charset="-122"/>
                <a:cs typeface="Calibri" pitchFamily="34" charset="-120"/>
              </a:rPr>
              <a:t>Cabs with expired documents, off the road, or on duty with another driver cannot be chosen.</a:t>
            </a:r>
            <a:endParaRPr lang="en-US" sz="1200" dirty="0"/>
          </a:p>
        </p:txBody>
      </p:sp>
      <p:sp>
        <p:nvSpPr>
          <p:cNvPr id="55" name="Text 52"/>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900" dirty="0">
                <a:solidFill>
                  <a:srgbClr val="5E6D7D"/>
                </a:solidFill>
                <a:latin typeface="Calibri" pitchFamily="34" charset="0"/>
                <a:ea typeface="Calibri" pitchFamily="34" charset="-122"/>
                <a:cs typeface="Calibri" pitchFamily="34" charset="-120"/>
              </a:rPr>
              <a:t>Plant Ride · Rider → Driver journey · recorded on the MVP with demo data</a:t>
            </a:r>
            <a:endParaRPr lang="en-US" sz="900" dirty="0"/>
          </a:p>
        </p:txBody>
      </p:sp>
      <p:sp>
        <p:nvSpPr>
          <p:cNvPr id="56" name="Text 53"/>
          <p:cNvSpPr txBox="1"/>
          <p:nvPr/>
        </p:nvSpPr>
        <p:spPr>
          <a:xfrm>
            <a:off x="11185855" y="6473952"/>
            <a:ext cx="457200" cy="228600"/>
          </a:xfrm>
          <a:prstGeom prst="rect">
            <a:avLst/>
          </a:prstGeom>
          <a:noFill/>
          <a:ln/>
        </p:spPr>
        <p:txBody>
          <a:bodyPr wrap="square" lIns="0" tIns="0" rIns="0" bIns="0" rtlCol="0" anchor="ctr"/>
          <a:lstStyle/>
          <a:p>
            <a:pPr algn="r" indent="0" marL="0">
              <a:buNone/>
            </a:pPr>
            <a:r>
              <a:rPr lang="en-US" sz="900" dirty="0">
                <a:solidFill>
                  <a:srgbClr val="5E6D7D"/>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50976" y="402336"/>
            <a:ext cx="2813925" cy="5961888"/>
          </a:xfrm>
          <a:prstGeom prst="roundRect">
            <a:avLst>
              <a:gd name="adj" fmla="val 5849"/>
            </a:avLst>
          </a:prstGeom>
          <a:solidFill>
            <a:srgbClr val="16202B"/>
          </a:solidFill>
          <a:ln w="9525">
            <a:solidFill>
              <a:srgbClr val="16202B"/>
            </a:solidFill>
            <a:prstDash val="solid"/>
          </a:ln>
          <a:effectLst>
            <a:outerShdw sx="100000" sy="100000" kx="0" ky="0" algn="bl" rotWithShape="0" blurRad="127000" dist="38100" dir="5400000">
              <a:srgbClr val="000000">
                <a:alpha val="20000"/>
              </a:srgbClr>
            </a:outerShdw>
          </a:effectLst>
        </p:spPr>
      </p:sp>
      <p:pic>
        <p:nvPicPr>
          <p:cNvPr id="3" name="Image 0" descr="Screenshot: d03-checks">    </p:cNvPr>
          <p:cNvPicPr>
            <a:picLocks noChangeAspect="1"/>
          </p:cNvPicPr>
          <p:nvPr/>
        </p:nvPicPr>
        <p:blipFill>
          <a:blip r:embed="rId1"/>
          <a:stretch>
            <a:fillRect/>
          </a:stretch>
        </p:blipFill>
        <p:spPr>
          <a:xfrm>
            <a:off x="1005840" y="457200"/>
            <a:ext cx="2704197" cy="5852160"/>
          </a:xfrm>
          <a:prstGeom prst="rect">
            <a:avLst/>
          </a:prstGeom>
        </p:spPr>
      </p:pic>
      <p:sp>
        <p:nvSpPr>
          <p:cNvPr id="4" name="Shape 1"/>
          <p:cNvSpPr/>
          <p:nvPr/>
        </p:nvSpPr>
        <p:spPr>
          <a:xfrm>
            <a:off x="822960" y="1982645"/>
            <a:ext cx="238351" cy="914"/>
          </a:xfrm>
          <a:prstGeom prst="line">
            <a:avLst/>
          </a:prstGeom>
          <a:noFill/>
          <a:ln w="15875">
            <a:solidFill>
              <a:srgbClr val="00A896"/>
            </a:solidFill>
            <a:prstDash val="solid"/>
          </a:ln>
        </p:spPr>
      </p:sp>
      <p:sp>
        <p:nvSpPr>
          <p:cNvPr id="5" name="Shape 2"/>
          <p:cNvSpPr/>
          <p:nvPr/>
        </p:nvSpPr>
        <p:spPr>
          <a:xfrm>
            <a:off x="1020163" y="1941497"/>
            <a:ext cx="82296" cy="82296"/>
          </a:xfrm>
          <a:prstGeom prst="ellipse">
            <a:avLst/>
          </a:prstGeom>
          <a:solidFill>
            <a:srgbClr val="00A896"/>
          </a:solidFill>
          <a:ln w="9525">
            <a:solidFill>
              <a:srgbClr val="FFFFFF"/>
            </a:solidFill>
            <a:prstDash val="solid"/>
          </a:ln>
        </p:spPr>
      </p:sp>
      <p:sp>
        <p:nvSpPr>
          <p:cNvPr id="6" name="Shape 3"/>
          <p:cNvSpPr/>
          <p:nvPr/>
        </p:nvSpPr>
        <p:spPr>
          <a:xfrm>
            <a:off x="548640" y="1845485"/>
            <a:ext cx="274320" cy="274320"/>
          </a:xfrm>
          <a:prstGeom prst="ellipse">
            <a:avLst/>
          </a:prstGeom>
          <a:solidFill>
            <a:srgbClr val="00A896"/>
          </a:solidFill>
          <a:ln w="15875">
            <a:solidFill>
              <a:srgbClr val="FFFFFF"/>
            </a:solidFill>
            <a:prstDash val="solid"/>
          </a:ln>
        </p:spPr>
      </p:sp>
      <p:sp>
        <p:nvSpPr>
          <p:cNvPr id="7" name="Text 4"/>
          <p:cNvSpPr txBox="1"/>
          <p:nvPr/>
        </p:nvSpPr>
        <p:spPr>
          <a:xfrm>
            <a:off x="548640" y="184548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8" name="Shape 5"/>
          <p:cNvSpPr/>
          <p:nvPr/>
        </p:nvSpPr>
        <p:spPr>
          <a:xfrm>
            <a:off x="822960" y="4492694"/>
            <a:ext cx="238351" cy="914"/>
          </a:xfrm>
          <a:prstGeom prst="line">
            <a:avLst/>
          </a:prstGeom>
          <a:noFill/>
          <a:ln w="15875">
            <a:solidFill>
              <a:srgbClr val="00A896"/>
            </a:solidFill>
            <a:prstDash val="solid"/>
          </a:ln>
        </p:spPr>
      </p:sp>
      <p:sp>
        <p:nvSpPr>
          <p:cNvPr id="9" name="Shape 6"/>
          <p:cNvSpPr/>
          <p:nvPr/>
        </p:nvSpPr>
        <p:spPr>
          <a:xfrm>
            <a:off x="1020163" y="4451546"/>
            <a:ext cx="82296" cy="82296"/>
          </a:xfrm>
          <a:prstGeom prst="ellipse">
            <a:avLst/>
          </a:prstGeom>
          <a:solidFill>
            <a:srgbClr val="00A896"/>
          </a:solidFill>
          <a:ln w="9525">
            <a:solidFill>
              <a:srgbClr val="FFFFFF"/>
            </a:solidFill>
            <a:prstDash val="solid"/>
          </a:ln>
        </p:spPr>
      </p:sp>
      <p:sp>
        <p:nvSpPr>
          <p:cNvPr id="10" name="Shape 7"/>
          <p:cNvSpPr/>
          <p:nvPr/>
        </p:nvSpPr>
        <p:spPr>
          <a:xfrm>
            <a:off x="548640" y="4355534"/>
            <a:ext cx="274320" cy="274320"/>
          </a:xfrm>
          <a:prstGeom prst="ellipse">
            <a:avLst/>
          </a:prstGeom>
          <a:solidFill>
            <a:srgbClr val="00A896"/>
          </a:solidFill>
          <a:ln w="15875">
            <a:solidFill>
              <a:srgbClr val="FFFFFF"/>
            </a:solidFill>
            <a:prstDash val="solid"/>
          </a:ln>
        </p:spPr>
      </p:sp>
      <p:sp>
        <p:nvSpPr>
          <p:cNvPr id="11" name="Text 8"/>
          <p:cNvSpPr txBox="1"/>
          <p:nvPr/>
        </p:nvSpPr>
        <p:spPr>
          <a:xfrm>
            <a:off x="548640" y="4355534"/>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2" name="Shape 9"/>
          <p:cNvSpPr/>
          <p:nvPr/>
        </p:nvSpPr>
        <p:spPr>
          <a:xfrm>
            <a:off x="822960" y="5602108"/>
            <a:ext cx="238351" cy="914"/>
          </a:xfrm>
          <a:prstGeom prst="line">
            <a:avLst/>
          </a:prstGeom>
          <a:noFill/>
          <a:ln w="15875">
            <a:solidFill>
              <a:srgbClr val="00A896"/>
            </a:solidFill>
            <a:prstDash val="solid"/>
          </a:ln>
        </p:spPr>
      </p:sp>
      <p:sp>
        <p:nvSpPr>
          <p:cNvPr id="13" name="Shape 10"/>
          <p:cNvSpPr/>
          <p:nvPr/>
        </p:nvSpPr>
        <p:spPr>
          <a:xfrm>
            <a:off x="1020163" y="5560960"/>
            <a:ext cx="82296" cy="82296"/>
          </a:xfrm>
          <a:prstGeom prst="ellipse">
            <a:avLst/>
          </a:prstGeom>
          <a:solidFill>
            <a:srgbClr val="00A896"/>
          </a:solidFill>
          <a:ln w="9525">
            <a:solidFill>
              <a:srgbClr val="FFFFFF"/>
            </a:solidFill>
            <a:prstDash val="solid"/>
          </a:ln>
        </p:spPr>
      </p:sp>
      <p:sp>
        <p:nvSpPr>
          <p:cNvPr id="14" name="Shape 11"/>
          <p:cNvSpPr/>
          <p:nvPr/>
        </p:nvSpPr>
        <p:spPr>
          <a:xfrm>
            <a:off x="548640" y="5464948"/>
            <a:ext cx="274320" cy="274320"/>
          </a:xfrm>
          <a:prstGeom prst="ellipse">
            <a:avLst/>
          </a:prstGeom>
          <a:solidFill>
            <a:srgbClr val="00A896"/>
          </a:solidFill>
          <a:ln w="15875">
            <a:solidFill>
              <a:srgbClr val="FFFFFF"/>
            </a:solidFill>
            <a:prstDash val="solid"/>
          </a:ln>
        </p:spPr>
      </p:sp>
      <p:sp>
        <p:nvSpPr>
          <p:cNvPr id="15" name="Text 12"/>
          <p:cNvSpPr txBox="1"/>
          <p:nvPr/>
        </p:nvSpPr>
        <p:spPr>
          <a:xfrm>
            <a:off x="548640" y="546494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6" name="Shape 13"/>
          <p:cNvSpPr/>
          <p:nvPr/>
        </p:nvSpPr>
        <p:spPr>
          <a:xfrm>
            <a:off x="4434840" y="457200"/>
            <a:ext cx="384048" cy="384048"/>
          </a:xfrm>
          <a:prstGeom prst="ellipse">
            <a:avLst/>
          </a:prstGeom>
          <a:solidFill>
            <a:srgbClr val="00A896"/>
          </a:solidFill>
          <a:ln w="6350">
            <a:solidFill>
              <a:srgbClr val="00A896"/>
            </a:solidFill>
            <a:prstDash val="solid"/>
          </a:ln>
        </p:spPr>
      </p:sp>
      <p:sp>
        <p:nvSpPr>
          <p:cNvPr id="17" name="Text 14"/>
          <p:cNvSpPr txBox="1"/>
          <p:nvPr/>
        </p:nvSpPr>
        <p:spPr>
          <a:xfrm>
            <a:off x="4434840" y="457200"/>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SK</a:t>
            </a:r>
            <a:endParaRPr lang="en-US" sz="1100" dirty="0"/>
          </a:p>
        </p:txBody>
      </p:sp>
      <p:sp>
        <p:nvSpPr>
          <p:cNvPr id="18" name="Text 15"/>
          <p:cNvSpPr txBox="1"/>
          <p:nvPr/>
        </p:nvSpPr>
        <p:spPr>
          <a:xfrm>
            <a:off x="4937760" y="457200"/>
            <a:ext cx="3291840" cy="384048"/>
          </a:xfrm>
          <a:prstGeom prst="rect">
            <a:avLst/>
          </a:prstGeom>
          <a:noFill/>
          <a:ln/>
        </p:spPr>
        <p:txBody>
          <a:bodyPr wrap="square" lIns="0" tIns="0" rIns="0" bIns="0" rtlCol="0" anchor="ctr"/>
          <a:lstStyle/>
          <a:p>
            <a:pPr indent="0" marL="0">
              <a:buNone/>
            </a:pPr>
            <a:r>
              <a:rPr lang="en-US" sz="1300" b="1" dirty="0">
                <a:solidFill>
                  <a:srgbClr val="00A896"/>
                </a:solidFill>
                <a:latin typeface="Calibri" pitchFamily="34" charset="0"/>
                <a:ea typeface="Calibri" pitchFamily="34" charset="-122"/>
                <a:cs typeface="Calibri" pitchFamily="34" charset="-120"/>
              </a:rPr>
              <a:t>Driver  </a:t>
            </a:r>
            <a:pPr indent="0" marL="0">
              <a:buNone/>
            </a:pPr>
            <a:r>
              <a:rPr lang="en-US" sz="1300" b="1" dirty="0">
                <a:solidFill>
                  <a:srgbClr val="16202B"/>
                </a:solidFill>
                <a:latin typeface="Calibri" pitchFamily="34" charset="0"/>
                <a:ea typeface="Calibri" pitchFamily="34" charset="-122"/>
                <a:cs typeface="Calibri" pitchFamily="34" charset="-120"/>
              </a:rPr>
              <a:t>S. Kumar</a:t>
            </a:r>
            <a:endParaRPr lang="en-US" sz="1300" dirty="0"/>
          </a:p>
        </p:txBody>
      </p:sp>
      <p:sp>
        <p:nvSpPr>
          <p:cNvPr id="19" name="Shape 16"/>
          <p:cNvSpPr/>
          <p:nvPr/>
        </p:nvSpPr>
        <p:spPr>
          <a:xfrm>
            <a:off x="9146743" y="585216"/>
            <a:ext cx="118872" cy="118872"/>
          </a:xfrm>
          <a:prstGeom prst="ellipse">
            <a:avLst/>
          </a:prstGeom>
          <a:solidFill>
            <a:srgbClr val="DDF5F1"/>
          </a:solidFill>
          <a:ln w="9525">
            <a:solidFill>
              <a:srgbClr val="00A896"/>
            </a:solidFill>
            <a:prstDash val="solid"/>
          </a:ln>
        </p:spPr>
      </p:sp>
      <p:sp>
        <p:nvSpPr>
          <p:cNvPr id="20" name="Shape 17"/>
          <p:cNvSpPr/>
          <p:nvPr/>
        </p:nvSpPr>
        <p:spPr>
          <a:xfrm>
            <a:off x="9329623" y="585216"/>
            <a:ext cx="118872" cy="118872"/>
          </a:xfrm>
          <a:prstGeom prst="ellipse">
            <a:avLst/>
          </a:prstGeom>
          <a:solidFill>
            <a:srgbClr val="DDF5F1"/>
          </a:solidFill>
          <a:ln w="9525">
            <a:solidFill>
              <a:srgbClr val="00A896"/>
            </a:solidFill>
            <a:prstDash val="solid"/>
          </a:ln>
        </p:spPr>
      </p:sp>
      <p:sp>
        <p:nvSpPr>
          <p:cNvPr id="21" name="Shape 18"/>
          <p:cNvSpPr/>
          <p:nvPr/>
        </p:nvSpPr>
        <p:spPr>
          <a:xfrm>
            <a:off x="9485071" y="557784"/>
            <a:ext cx="173736" cy="173736"/>
          </a:xfrm>
          <a:prstGeom prst="ellipse">
            <a:avLst/>
          </a:prstGeom>
          <a:solidFill>
            <a:srgbClr val="00A896"/>
          </a:solidFill>
          <a:ln w="9525">
            <a:solidFill>
              <a:srgbClr val="00A896"/>
            </a:solidFill>
            <a:prstDash val="solid"/>
          </a:ln>
        </p:spPr>
      </p:sp>
      <p:sp>
        <p:nvSpPr>
          <p:cNvPr id="22" name="Shape 19"/>
          <p:cNvSpPr/>
          <p:nvPr/>
        </p:nvSpPr>
        <p:spPr>
          <a:xfrm>
            <a:off x="9695383" y="585216"/>
            <a:ext cx="118872" cy="118872"/>
          </a:xfrm>
          <a:prstGeom prst="ellipse">
            <a:avLst/>
          </a:prstGeom>
          <a:solidFill>
            <a:srgbClr val="F3F6F9"/>
          </a:solidFill>
          <a:ln w="9525">
            <a:solidFill>
              <a:srgbClr val="DCE4EC"/>
            </a:solidFill>
            <a:prstDash val="solid"/>
          </a:ln>
        </p:spPr>
      </p:sp>
      <p:sp>
        <p:nvSpPr>
          <p:cNvPr id="23" name="Shape 20"/>
          <p:cNvSpPr/>
          <p:nvPr/>
        </p:nvSpPr>
        <p:spPr>
          <a:xfrm>
            <a:off x="9878263" y="585216"/>
            <a:ext cx="118872" cy="118872"/>
          </a:xfrm>
          <a:prstGeom prst="ellipse">
            <a:avLst/>
          </a:prstGeom>
          <a:solidFill>
            <a:srgbClr val="F3F6F9"/>
          </a:solidFill>
          <a:ln w="9525">
            <a:solidFill>
              <a:srgbClr val="DCE4EC"/>
            </a:solidFill>
            <a:prstDash val="solid"/>
          </a:ln>
        </p:spPr>
      </p:sp>
      <p:sp>
        <p:nvSpPr>
          <p:cNvPr id="24" name="Shape 21"/>
          <p:cNvSpPr/>
          <p:nvPr/>
        </p:nvSpPr>
        <p:spPr>
          <a:xfrm>
            <a:off x="10061143" y="585216"/>
            <a:ext cx="118872" cy="118872"/>
          </a:xfrm>
          <a:prstGeom prst="ellipse">
            <a:avLst/>
          </a:prstGeom>
          <a:solidFill>
            <a:srgbClr val="F3F6F9"/>
          </a:solidFill>
          <a:ln w="9525">
            <a:solidFill>
              <a:srgbClr val="DCE4EC"/>
            </a:solidFill>
            <a:prstDash val="solid"/>
          </a:ln>
        </p:spPr>
      </p:sp>
      <p:sp>
        <p:nvSpPr>
          <p:cNvPr id="25" name="Shape 22"/>
          <p:cNvSpPr/>
          <p:nvPr/>
        </p:nvSpPr>
        <p:spPr>
          <a:xfrm>
            <a:off x="10244023" y="585216"/>
            <a:ext cx="118872" cy="118872"/>
          </a:xfrm>
          <a:prstGeom prst="ellipse">
            <a:avLst/>
          </a:prstGeom>
          <a:solidFill>
            <a:srgbClr val="F3F6F9"/>
          </a:solidFill>
          <a:ln w="9525">
            <a:solidFill>
              <a:srgbClr val="DCE4EC"/>
            </a:solidFill>
            <a:prstDash val="solid"/>
          </a:ln>
        </p:spPr>
      </p:sp>
      <p:sp>
        <p:nvSpPr>
          <p:cNvPr id="26" name="Shape 23"/>
          <p:cNvSpPr/>
          <p:nvPr/>
        </p:nvSpPr>
        <p:spPr>
          <a:xfrm>
            <a:off x="10426903" y="585216"/>
            <a:ext cx="118872" cy="118872"/>
          </a:xfrm>
          <a:prstGeom prst="ellipse">
            <a:avLst/>
          </a:prstGeom>
          <a:solidFill>
            <a:srgbClr val="F3F6F9"/>
          </a:solidFill>
          <a:ln w="9525">
            <a:solidFill>
              <a:srgbClr val="DCE4EC"/>
            </a:solidFill>
            <a:prstDash val="solid"/>
          </a:ln>
        </p:spPr>
      </p:sp>
      <p:sp>
        <p:nvSpPr>
          <p:cNvPr id="27" name="Shape 24"/>
          <p:cNvSpPr/>
          <p:nvPr/>
        </p:nvSpPr>
        <p:spPr>
          <a:xfrm>
            <a:off x="10609783" y="585216"/>
            <a:ext cx="118872" cy="118872"/>
          </a:xfrm>
          <a:prstGeom prst="ellipse">
            <a:avLst/>
          </a:prstGeom>
          <a:solidFill>
            <a:srgbClr val="F3F6F9"/>
          </a:solidFill>
          <a:ln w="9525">
            <a:solidFill>
              <a:srgbClr val="DCE4EC"/>
            </a:solidFill>
            <a:prstDash val="solid"/>
          </a:ln>
        </p:spPr>
      </p:sp>
      <p:sp>
        <p:nvSpPr>
          <p:cNvPr id="28" name="Shape 25"/>
          <p:cNvSpPr/>
          <p:nvPr/>
        </p:nvSpPr>
        <p:spPr>
          <a:xfrm>
            <a:off x="10792663" y="585216"/>
            <a:ext cx="118872" cy="118872"/>
          </a:xfrm>
          <a:prstGeom prst="ellipse">
            <a:avLst/>
          </a:prstGeom>
          <a:solidFill>
            <a:srgbClr val="F3F6F9"/>
          </a:solidFill>
          <a:ln w="9525">
            <a:solidFill>
              <a:srgbClr val="DCE4EC"/>
            </a:solidFill>
            <a:prstDash val="solid"/>
          </a:ln>
        </p:spPr>
      </p:sp>
      <p:sp>
        <p:nvSpPr>
          <p:cNvPr id="29" name="Shape 26"/>
          <p:cNvSpPr/>
          <p:nvPr/>
        </p:nvSpPr>
        <p:spPr>
          <a:xfrm>
            <a:off x="10975543" y="585216"/>
            <a:ext cx="118872" cy="118872"/>
          </a:xfrm>
          <a:prstGeom prst="ellipse">
            <a:avLst/>
          </a:prstGeom>
          <a:solidFill>
            <a:srgbClr val="F3F6F9"/>
          </a:solidFill>
          <a:ln w="9525">
            <a:solidFill>
              <a:srgbClr val="DCE4EC"/>
            </a:solidFill>
            <a:prstDash val="solid"/>
          </a:ln>
        </p:spPr>
      </p:sp>
      <p:sp>
        <p:nvSpPr>
          <p:cNvPr id="30" name="Shape 27"/>
          <p:cNvSpPr/>
          <p:nvPr/>
        </p:nvSpPr>
        <p:spPr>
          <a:xfrm>
            <a:off x="11158423" y="585216"/>
            <a:ext cx="118872" cy="118872"/>
          </a:xfrm>
          <a:prstGeom prst="ellipse">
            <a:avLst/>
          </a:prstGeom>
          <a:solidFill>
            <a:srgbClr val="F3F6F9"/>
          </a:solidFill>
          <a:ln w="9525">
            <a:solidFill>
              <a:srgbClr val="DCE4EC"/>
            </a:solidFill>
            <a:prstDash val="solid"/>
          </a:ln>
        </p:spPr>
      </p:sp>
      <p:sp>
        <p:nvSpPr>
          <p:cNvPr id="31" name="Shape 28"/>
          <p:cNvSpPr/>
          <p:nvPr/>
        </p:nvSpPr>
        <p:spPr>
          <a:xfrm>
            <a:off x="11341303" y="585216"/>
            <a:ext cx="118872" cy="118872"/>
          </a:xfrm>
          <a:prstGeom prst="ellipse">
            <a:avLst/>
          </a:prstGeom>
          <a:solidFill>
            <a:srgbClr val="F3F6F9"/>
          </a:solidFill>
          <a:ln w="9525">
            <a:solidFill>
              <a:srgbClr val="DCE4EC"/>
            </a:solidFill>
            <a:prstDash val="solid"/>
          </a:ln>
        </p:spPr>
      </p:sp>
      <p:sp>
        <p:nvSpPr>
          <p:cNvPr id="32" name="Shape 29"/>
          <p:cNvSpPr/>
          <p:nvPr/>
        </p:nvSpPr>
        <p:spPr>
          <a:xfrm>
            <a:off x="11524183" y="585216"/>
            <a:ext cx="118872" cy="118872"/>
          </a:xfrm>
          <a:prstGeom prst="ellipse">
            <a:avLst/>
          </a:prstGeom>
          <a:solidFill>
            <a:srgbClr val="F3F6F9"/>
          </a:solidFill>
          <a:ln w="9525">
            <a:solidFill>
              <a:srgbClr val="DCE4EC"/>
            </a:solidFill>
            <a:prstDash val="solid"/>
          </a:ln>
        </p:spPr>
      </p:sp>
      <p:sp>
        <p:nvSpPr>
          <p:cNvPr id="33" name="Text 30"/>
          <p:cNvSpPr txBox="1"/>
          <p:nvPr/>
        </p:nvSpPr>
        <p:spPr>
          <a:xfrm>
            <a:off x="9146743" y="768096"/>
            <a:ext cx="2496312" cy="201168"/>
          </a:xfrm>
          <a:prstGeom prst="rect">
            <a:avLst/>
          </a:prstGeom>
          <a:noFill/>
          <a:ln/>
        </p:spPr>
        <p:txBody>
          <a:bodyPr wrap="square" lIns="0" tIns="0" rIns="0" bIns="0" rtlCol="0" anchor="ctr"/>
          <a:lstStyle/>
          <a:p>
            <a:pPr algn="r" indent="0" marL="0">
              <a:buNone/>
            </a:pPr>
            <a:r>
              <a:rPr lang="en-US" sz="950" dirty="0">
                <a:solidFill>
                  <a:srgbClr val="5E6D7D"/>
                </a:solidFill>
                <a:latin typeface="Calibri" pitchFamily="34" charset="0"/>
                <a:ea typeface="Calibri" pitchFamily="34" charset="-122"/>
                <a:cs typeface="Calibri" pitchFamily="34" charset="-120"/>
              </a:rPr>
              <a:t>Screen 3 of 14</a:t>
            </a:r>
            <a:endParaRPr lang="en-US" sz="950" dirty="0"/>
          </a:p>
        </p:txBody>
      </p:sp>
      <p:sp>
        <p:nvSpPr>
          <p:cNvPr id="34" name="Text 31"/>
          <p:cNvSpPr txBox="1"/>
          <p:nvPr/>
        </p:nvSpPr>
        <p:spPr>
          <a:xfrm>
            <a:off x="4434840" y="1170432"/>
            <a:ext cx="7208215" cy="237744"/>
          </a:xfrm>
          <a:prstGeom prst="rect">
            <a:avLst/>
          </a:prstGeom>
          <a:noFill/>
          <a:ln/>
        </p:spPr>
        <p:txBody>
          <a:bodyPr wrap="square" lIns="0" tIns="0" rIns="0" bIns="0" rtlCol="0" anchor="ctr"/>
          <a:lstStyle/>
          <a:p>
            <a:pPr indent="0" marL="0">
              <a:buNone/>
            </a:pPr>
            <a:r>
              <a:rPr lang="en-US" sz="1100" b="1" spc="200" kern="0" dirty="0">
                <a:solidFill>
                  <a:srgbClr val="00A896"/>
                </a:solidFill>
                <a:latin typeface="Calibri" pitchFamily="34" charset="0"/>
                <a:ea typeface="Calibri" pitchFamily="34" charset="-122"/>
                <a:cs typeface="Calibri" pitchFamily="34" charset="-120"/>
              </a:rPr>
              <a:t>VEHICLE CHECK</a:t>
            </a:r>
            <a:endParaRPr lang="en-US" sz="1100" dirty="0"/>
          </a:p>
        </p:txBody>
      </p:sp>
      <p:sp>
        <p:nvSpPr>
          <p:cNvPr id="35" name="Text 32"/>
          <p:cNvSpPr txBox="1"/>
          <p:nvPr/>
        </p:nvSpPr>
        <p:spPr>
          <a:xfrm>
            <a:off x="4434840" y="1463040"/>
            <a:ext cx="7208215" cy="457200"/>
          </a:xfrm>
          <a:prstGeom prst="rect">
            <a:avLst/>
          </a:prstGeom>
          <a:noFill/>
          <a:ln/>
        </p:spPr>
        <p:txBody>
          <a:bodyPr wrap="square" lIns="0" tIns="0" rIns="0" bIns="0" rtlCol="0" anchor="t"/>
          <a:lstStyle/>
          <a:p>
            <a:pPr indent="0" marL="0">
              <a:buNone/>
            </a:pPr>
            <a:r>
              <a:rPr lang="en-US" sz="3000" b="1" dirty="0">
                <a:solidFill>
                  <a:srgbClr val="16202B"/>
                </a:solidFill>
                <a:latin typeface="Calibri" pitchFamily="34" charset="0"/>
                <a:ea typeface="Calibri" pitchFamily="34" charset="-122"/>
                <a:cs typeface="Calibri" pitchFamily="34" charset="-120"/>
              </a:rPr>
              <a:t>Five checks and the odometer</a:t>
            </a:r>
            <a:endParaRPr lang="en-US" sz="3000" dirty="0"/>
          </a:p>
        </p:txBody>
      </p:sp>
      <p:sp>
        <p:nvSpPr>
          <p:cNvPr id="36" name="Text 33"/>
          <p:cNvSpPr txBox="1"/>
          <p:nvPr/>
        </p:nvSpPr>
        <p:spPr>
          <a:xfrm>
            <a:off x="4434840" y="2048256"/>
            <a:ext cx="7208215" cy="475488"/>
          </a:xfrm>
          <a:prstGeom prst="rect">
            <a:avLst/>
          </a:prstGeom>
          <a:noFill/>
          <a:ln/>
        </p:spPr>
        <p:txBody>
          <a:bodyPr wrap="square" lIns="0" tIns="0" rIns="0" bIns="0" rtlCol="0" anchor="t"/>
          <a:lstStyle/>
          <a:p>
            <a:pPr indent="0" marL="0">
              <a:buNone/>
            </a:pPr>
            <a:r>
              <a:rPr lang="en-US" sz="1500" dirty="0">
                <a:solidFill>
                  <a:srgbClr val="34465A"/>
                </a:solidFill>
                <a:latin typeface="Calibri" pitchFamily="34" charset="0"/>
                <a:ea typeface="Calibri" pitchFamily="34" charset="-122"/>
                <a:cs typeface="Calibri" pitchFamily="34" charset="-120"/>
              </a:rPr>
              <a:t>Big tick boxes for the vehicle check, and the opening odometer that starts the day’s distance log.</a:t>
            </a:r>
            <a:endParaRPr lang="en-US" sz="1500" dirty="0"/>
          </a:p>
        </p:txBody>
      </p:sp>
      <p:sp>
        <p:nvSpPr>
          <p:cNvPr id="37" name="Shape 34"/>
          <p:cNvSpPr/>
          <p:nvPr/>
        </p:nvSpPr>
        <p:spPr>
          <a:xfrm>
            <a:off x="4434840" y="2798064"/>
            <a:ext cx="7208215" cy="649224"/>
          </a:xfrm>
          <a:prstGeom prst="roundRect">
            <a:avLst>
              <a:gd name="adj" fmla="val 11268"/>
            </a:avLst>
          </a:prstGeom>
          <a:solidFill>
            <a:srgbClr val="F3F6F9"/>
          </a:solidFill>
          <a:ln w="6350">
            <a:solidFill>
              <a:srgbClr val="F3F6F9"/>
            </a:solidFill>
            <a:prstDash val="solid"/>
          </a:ln>
        </p:spPr>
      </p:sp>
      <p:sp>
        <p:nvSpPr>
          <p:cNvPr id="38" name="Shape 35"/>
          <p:cNvSpPr/>
          <p:nvPr/>
        </p:nvSpPr>
        <p:spPr>
          <a:xfrm>
            <a:off x="4599432" y="2916936"/>
            <a:ext cx="292608" cy="292608"/>
          </a:xfrm>
          <a:prstGeom prst="ellipse">
            <a:avLst/>
          </a:prstGeom>
          <a:solidFill>
            <a:srgbClr val="00A896"/>
          </a:solidFill>
          <a:ln w="15875">
            <a:solidFill>
              <a:srgbClr val="FFFFFF"/>
            </a:solidFill>
            <a:prstDash val="solid"/>
          </a:ln>
        </p:spPr>
      </p:sp>
      <p:sp>
        <p:nvSpPr>
          <p:cNvPr id="39" name="Text 36"/>
          <p:cNvSpPr txBox="1"/>
          <p:nvPr/>
        </p:nvSpPr>
        <p:spPr>
          <a:xfrm>
            <a:off x="4599432" y="2916936"/>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40" name="Text 37"/>
          <p:cNvSpPr txBox="1"/>
          <p:nvPr/>
        </p:nvSpPr>
        <p:spPr>
          <a:xfrm>
            <a:off x="5029200" y="2907792"/>
            <a:ext cx="6430975" cy="274320"/>
          </a:xfrm>
          <a:prstGeom prst="rect">
            <a:avLst/>
          </a:prstGeom>
          <a:noFill/>
          <a:ln/>
        </p:spPr>
        <p:txBody>
          <a:bodyPr wrap="square" lIns="0" tIns="0" rIns="0" bIns="0" rtlCol="0" anchor="ctr"/>
          <a:lstStyle/>
          <a:p>
            <a:pPr indent="0" marL="0">
              <a:buNone/>
            </a:pPr>
            <a:r>
              <a:rPr lang="en-US" sz="1400" b="1" dirty="0">
                <a:solidFill>
                  <a:srgbClr val="16202B"/>
                </a:solidFill>
                <a:latin typeface="Calibri" pitchFamily="34" charset="0"/>
                <a:ea typeface="Calibri" pitchFamily="34" charset="-122"/>
                <a:cs typeface="Calibri" pitchFamily="34" charset="-120"/>
              </a:rPr>
              <a:t>Vehicle check (5 of 5)</a:t>
            </a:r>
            <a:endParaRPr lang="en-US" sz="1400" dirty="0"/>
          </a:p>
        </p:txBody>
      </p:sp>
      <p:sp>
        <p:nvSpPr>
          <p:cNvPr id="41" name="Text 38"/>
          <p:cNvSpPr txBox="1"/>
          <p:nvPr/>
        </p:nvSpPr>
        <p:spPr>
          <a:xfrm>
            <a:off x="5029200" y="3182112"/>
            <a:ext cx="6430975" cy="192024"/>
          </a:xfrm>
          <a:prstGeom prst="rect">
            <a:avLst/>
          </a:prstGeom>
          <a:noFill/>
          <a:ln/>
        </p:spPr>
        <p:txBody>
          <a:bodyPr wrap="square" lIns="0" tIns="0" rIns="0" bIns="0" rtlCol="0" anchor="t"/>
          <a:lstStyle/>
          <a:p>
            <a:pPr indent="0" marL="0">
              <a:buNone/>
            </a:pPr>
            <a:r>
              <a:rPr lang="en-US" sz="1200" dirty="0">
                <a:solidFill>
                  <a:srgbClr val="34465A"/>
                </a:solidFill>
                <a:latin typeface="Calibri" pitchFamily="34" charset="0"/>
                <a:ea typeface="Calibri" pitchFamily="34" charset="-122"/>
                <a:cs typeface="Calibri" pitchFamily="34" charset="-120"/>
              </a:rPr>
              <a:t>Tyres, lights, seat belts, fuel, first aid.</a:t>
            </a:r>
            <a:endParaRPr lang="en-US" sz="1200" dirty="0"/>
          </a:p>
        </p:txBody>
      </p:sp>
      <p:sp>
        <p:nvSpPr>
          <p:cNvPr id="42" name="Shape 39"/>
          <p:cNvSpPr/>
          <p:nvPr/>
        </p:nvSpPr>
        <p:spPr>
          <a:xfrm>
            <a:off x="4434840" y="3557016"/>
            <a:ext cx="7208215" cy="649224"/>
          </a:xfrm>
          <a:prstGeom prst="roundRect">
            <a:avLst>
              <a:gd name="adj" fmla="val 11268"/>
            </a:avLst>
          </a:prstGeom>
          <a:solidFill>
            <a:srgbClr val="F3F6F9"/>
          </a:solidFill>
          <a:ln w="6350">
            <a:solidFill>
              <a:srgbClr val="F3F6F9"/>
            </a:solidFill>
            <a:prstDash val="solid"/>
          </a:ln>
        </p:spPr>
      </p:sp>
      <p:sp>
        <p:nvSpPr>
          <p:cNvPr id="43" name="Shape 40"/>
          <p:cNvSpPr/>
          <p:nvPr/>
        </p:nvSpPr>
        <p:spPr>
          <a:xfrm>
            <a:off x="4599432" y="3675888"/>
            <a:ext cx="292608" cy="292608"/>
          </a:xfrm>
          <a:prstGeom prst="ellipse">
            <a:avLst/>
          </a:prstGeom>
          <a:solidFill>
            <a:srgbClr val="00A896"/>
          </a:solidFill>
          <a:ln w="15875">
            <a:solidFill>
              <a:srgbClr val="FFFFFF"/>
            </a:solidFill>
            <a:prstDash val="solid"/>
          </a:ln>
        </p:spPr>
      </p:sp>
      <p:sp>
        <p:nvSpPr>
          <p:cNvPr id="44" name="Text 41"/>
          <p:cNvSpPr txBox="1"/>
          <p:nvPr/>
        </p:nvSpPr>
        <p:spPr>
          <a:xfrm>
            <a:off x="4599432" y="3675888"/>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45" name="Text 42"/>
          <p:cNvSpPr txBox="1"/>
          <p:nvPr/>
        </p:nvSpPr>
        <p:spPr>
          <a:xfrm>
            <a:off x="5029200" y="3666744"/>
            <a:ext cx="6430975" cy="274320"/>
          </a:xfrm>
          <a:prstGeom prst="rect">
            <a:avLst/>
          </a:prstGeom>
          <a:noFill/>
          <a:ln/>
        </p:spPr>
        <p:txBody>
          <a:bodyPr wrap="square" lIns="0" tIns="0" rIns="0" bIns="0" rtlCol="0" anchor="ctr"/>
          <a:lstStyle/>
          <a:p>
            <a:pPr indent="0" marL="0">
              <a:buNone/>
            </a:pPr>
            <a:r>
              <a:rPr lang="en-US" sz="1400" b="1" dirty="0">
                <a:solidFill>
                  <a:srgbClr val="16202B"/>
                </a:solidFill>
                <a:latin typeface="Calibri" pitchFamily="34" charset="0"/>
                <a:ea typeface="Calibri" pitchFamily="34" charset="-122"/>
                <a:cs typeface="Calibri" pitchFamily="34" charset="-120"/>
              </a:rPr>
              <a:t>Opening reading 41,208 km</a:t>
            </a:r>
            <a:endParaRPr lang="en-US" sz="1400" dirty="0"/>
          </a:p>
        </p:txBody>
      </p:sp>
      <p:sp>
        <p:nvSpPr>
          <p:cNvPr id="46" name="Text 43"/>
          <p:cNvSpPr txBox="1"/>
          <p:nvPr/>
        </p:nvSpPr>
        <p:spPr>
          <a:xfrm>
            <a:off x="5029200" y="3941064"/>
            <a:ext cx="6430975" cy="192024"/>
          </a:xfrm>
          <a:prstGeom prst="rect">
            <a:avLst/>
          </a:prstGeom>
          <a:noFill/>
          <a:ln/>
        </p:spPr>
        <p:txBody>
          <a:bodyPr wrap="square" lIns="0" tIns="0" rIns="0" bIns="0" rtlCol="0" anchor="t"/>
          <a:lstStyle/>
          <a:p>
            <a:pPr indent="0" marL="0">
              <a:buNone/>
            </a:pPr>
            <a:r>
              <a:rPr lang="en-US" sz="1200" dirty="0">
                <a:solidFill>
                  <a:srgbClr val="34465A"/>
                </a:solidFill>
                <a:latin typeface="Calibri" pitchFamily="34" charset="0"/>
                <a:ea typeface="Calibri" pitchFamily="34" charset="-122"/>
                <a:cs typeface="Calibri" pitchFamily="34" charset="-120"/>
              </a:rPr>
              <a:t>Filled in from the last record; it cannot go below it.</a:t>
            </a:r>
            <a:endParaRPr lang="en-US" sz="1200" dirty="0"/>
          </a:p>
        </p:txBody>
      </p:sp>
      <p:sp>
        <p:nvSpPr>
          <p:cNvPr id="47" name="Shape 44"/>
          <p:cNvSpPr/>
          <p:nvPr/>
        </p:nvSpPr>
        <p:spPr>
          <a:xfrm>
            <a:off x="4434840" y="4315968"/>
            <a:ext cx="7208215" cy="649224"/>
          </a:xfrm>
          <a:prstGeom prst="roundRect">
            <a:avLst>
              <a:gd name="adj" fmla="val 11268"/>
            </a:avLst>
          </a:prstGeom>
          <a:solidFill>
            <a:srgbClr val="F3F6F9"/>
          </a:solidFill>
          <a:ln w="6350">
            <a:solidFill>
              <a:srgbClr val="F3F6F9"/>
            </a:solidFill>
            <a:prstDash val="solid"/>
          </a:ln>
        </p:spPr>
      </p:sp>
      <p:sp>
        <p:nvSpPr>
          <p:cNvPr id="48" name="Shape 45"/>
          <p:cNvSpPr/>
          <p:nvPr/>
        </p:nvSpPr>
        <p:spPr>
          <a:xfrm>
            <a:off x="4599432" y="4434840"/>
            <a:ext cx="292608" cy="292608"/>
          </a:xfrm>
          <a:prstGeom prst="ellipse">
            <a:avLst/>
          </a:prstGeom>
          <a:solidFill>
            <a:srgbClr val="00A896"/>
          </a:solidFill>
          <a:ln w="15875">
            <a:solidFill>
              <a:srgbClr val="FFFFFF"/>
            </a:solidFill>
            <a:prstDash val="solid"/>
          </a:ln>
        </p:spPr>
      </p:sp>
      <p:sp>
        <p:nvSpPr>
          <p:cNvPr id="49" name="Text 46"/>
          <p:cNvSpPr txBox="1"/>
          <p:nvPr/>
        </p:nvSpPr>
        <p:spPr>
          <a:xfrm>
            <a:off x="4599432" y="443484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50" name="Text 47"/>
          <p:cNvSpPr txBox="1"/>
          <p:nvPr/>
        </p:nvSpPr>
        <p:spPr>
          <a:xfrm>
            <a:off x="5029200" y="4425696"/>
            <a:ext cx="6430975" cy="274320"/>
          </a:xfrm>
          <a:prstGeom prst="rect">
            <a:avLst/>
          </a:prstGeom>
          <a:noFill/>
          <a:ln/>
        </p:spPr>
        <p:txBody>
          <a:bodyPr wrap="square" lIns="0" tIns="0" rIns="0" bIns="0" rtlCol="0" anchor="ctr"/>
          <a:lstStyle/>
          <a:p>
            <a:pPr indent="0" marL="0">
              <a:buNone/>
            </a:pPr>
            <a:r>
              <a:rPr lang="en-US" sz="1400" b="1" dirty="0">
                <a:solidFill>
                  <a:srgbClr val="16202B"/>
                </a:solidFill>
                <a:latin typeface="Calibri" pitchFamily="34" charset="0"/>
                <a:ea typeface="Calibri" pitchFamily="34" charset="-122"/>
                <a:cs typeface="Calibri" pitchFamily="34" charset="-120"/>
              </a:rPr>
              <a:t>Sign on for duty</a:t>
            </a:r>
            <a:endParaRPr lang="en-US" sz="1400" dirty="0"/>
          </a:p>
        </p:txBody>
      </p:sp>
      <p:sp>
        <p:nvSpPr>
          <p:cNvPr id="51" name="Text 48"/>
          <p:cNvSpPr txBox="1"/>
          <p:nvPr/>
        </p:nvSpPr>
        <p:spPr>
          <a:xfrm>
            <a:off x="5029200" y="4700016"/>
            <a:ext cx="6430975" cy="192024"/>
          </a:xfrm>
          <a:prstGeom prst="rect">
            <a:avLst/>
          </a:prstGeom>
          <a:noFill/>
          <a:ln/>
        </p:spPr>
        <p:txBody>
          <a:bodyPr wrap="square" lIns="0" tIns="0" rIns="0" bIns="0" rtlCol="0" anchor="t"/>
          <a:lstStyle/>
          <a:p>
            <a:pPr indent="0" marL="0">
              <a:buNone/>
            </a:pPr>
            <a:r>
              <a:rPr lang="en-US" sz="1200" dirty="0">
                <a:solidFill>
                  <a:srgbClr val="34465A"/>
                </a:solidFill>
                <a:latin typeface="Calibri" pitchFamily="34" charset="0"/>
                <a:ea typeface="Calibri" pitchFamily="34" charset="-122"/>
                <a:cs typeface="Calibri" pitchFamily="34" charset="-120"/>
              </a:rPr>
              <a:t>Enabled only when every check is ticked.</a:t>
            </a:r>
            <a:endParaRPr lang="en-US" sz="1200" dirty="0"/>
          </a:p>
        </p:txBody>
      </p:sp>
      <p:sp>
        <p:nvSpPr>
          <p:cNvPr id="52" name="Text 49"/>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900" dirty="0">
                <a:solidFill>
                  <a:srgbClr val="5E6D7D"/>
                </a:solidFill>
                <a:latin typeface="Calibri" pitchFamily="34" charset="0"/>
                <a:ea typeface="Calibri" pitchFamily="34" charset="-122"/>
                <a:cs typeface="Calibri" pitchFamily="34" charset="-120"/>
              </a:rPr>
              <a:t>Plant Ride · Rider → Driver journey · recorded on the MVP with demo data</a:t>
            </a:r>
            <a:endParaRPr lang="en-US" sz="900" dirty="0"/>
          </a:p>
        </p:txBody>
      </p:sp>
      <p:sp>
        <p:nvSpPr>
          <p:cNvPr id="53" name="Text 50"/>
          <p:cNvSpPr txBox="1"/>
          <p:nvPr/>
        </p:nvSpPr>
        <p:spPr>
          <a:xfrm>
            <a:off x="11185855" y="6473952"/>
            <a:ext cx="457200" cy="228600"/>
          </a:xfrm>
          <a:prstGeom prst="rect">
            <a:avLst/>
          </a:prstGeom>
          <a:noFill/>
          <a:ln/>
        </p:spPr>
        <p:txBody>
          <a:bodyPr wrap="square" lIns="0" tIns="0" rIns="0" bIns="0" rtlCol="0" anchor="ctr"/>
          <a:lstStyle/>
          <a:p>
            <a:pPr algn="r" indent="0" marL="0">
              <a:buNone/>
            </a:pPr>
            <a:r>
              <a:rPr lang="en-US" sz="900" dirty="0">
                <a:solidFill>
                  <a:srgbClr val="5E6D7D"/>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50976" y="402336"/>
            <a:ext cx="2813925" cy="5961888"/>
          </a:xfrm>
          <a:prstGeom prst="roundRect">
            <a:avLst>
              <a:gd name="adj" fmla="val 5849"/>
            </a:avLst>
          </a:prstGeom>
          <a:solidFill>
            <a:srgbClr val="16202B"/>
          </a:solidFill>
          <a:ln w="9525">
            <a:solidFill>
              <a:srgbClr val="16202B"/>
            </a:solidFill>
            <a:prstDash val="solid"/>
          </a:ln>
          <a:effectLst>
            <a:outerShdw sx="100000" sy="100000" kx="0" ky="0" algn="bl" rotWithShape="0" blurRad="127000" dist="38100" dir="5400000">
              <a:srgbClr val="000000">
                <a:alpha val="20000"/>
              </a:srgbClr>
            </a:outerShdw>
          </a:effectLst>
        </p:spPr>
      </p:sp>
      <p:pic>
        <p:nvPicPr>
          <p:cNvPr id="3" name="Image 0" descr="Screenshot: d04-on-duty">    </p:cNvPr>
          <p:cNvPicPr>
            <a:picLocks noChangeAspect="1"/>
          </p:cNvPicPr>
          <p:nvPr/>
        </p:nvPicPr>
        <p:blipFill>
          <a:blip r:embed="rId1"/>
          <a:stretch>
            <a:fillRect/>
          </a:stretch>
        </p:blipFill>
        <p:spPr>
          <a:xfrm>
            <a:off x="1005840" y="457200"/>
            <a:ext cx="2704197" cy="5852160"/>
          </a:xfrm>
          <a:prstGeom prst="rect">
            <a:avLst/>
          </a:prstGeom>
        </p:spPr>
      </p:pic>
      <p:sp>
        <p:nvSpPr>
          <p:cNvPr id="4" name="Shape 1"/>
          <p:cNvSpPr/>
          <p:nvPr/>
        </p:nvSpPr>
        <p:spPr>
          <a:xfrm>
            <a:off x="822960" y="1871703"/>
            <a:ext cx="481035" cy="914"/>
          </a:xfrm>
          <a:prstGeom prst="line">
            <a:avLst/>
          </a:prstGeom>
          <a:noFill/>
          <a:ln w="15875">
            <a:solidFill>
              <a:srgbClr val="00A896"/>
            </a:solidFill>
            <a:prstDash val="solid"/>
          </a:ln>
        </p:spPr>
      </p:sp>
      <p:sp>
        <p:nvSpPr>
          <p:cNvPr id="5" name="Shape 2"/>
          <p:cNvSpPr/>
          <p:nvPr/>
        </p:nvSpPr>
        <p:spPr>
          <a:xfrm>
            <a:off x="1262847" y="1830555"/>
            <a:ext cx="82296" cy="82296"/>
          </a:xfrm>
          <a:prstGeom prst="ellipse">
            <a:avLst/>
          </a:prstGeom>
          <a:solidFill>
            <a:srgbClr val="00A896"/>
          </a:solidFill>
          <a:ln w="9525">
            <a:solidFill>
              <a:srgbClr val="FFFFFF"/>
            </a:solidFill>
            <a:prstDash val="solid"/>
          </a:ln>
        </p:spPr>
      </p:sp>
      <p:sp>
        <p:nvSpPr>
          <p:cNvPr id="6" name="Shape 3"/>
          <p:cNvSpPr/>
          <p:nvPr/>
        </p:nvSpPr>
        <p:spPr>
          <a:xfrm>
            <a:off x="548640" y="1734543"/>
            <a:ext cx="274320" cy="274320"/>
          </a:xfrm>
          <a:prstGeom prst="ellipse">
            <a:avLst/>
          </a:prstGeom>
          <a:solidFill>
            <a:srgbClr val="00A896"/>
          </a:solidFill>
          <a:ln w="15875">
            <a:solidFill>
              <a:srgbClr val="FFFFFF"/>
            </a:solidFill>
            <a:prstDash val="solid"/>
          </a:ln>
        </p:spPr>
      </p:sp>
      <p:sp>
        <p:nvSpPr>
          <p:cNvPr id="7" name="Text 4"/>
          <p:cNvSpPr txBox="1"/>
          <p:nvPr/>
        </p:nvSpPr>
        <p:spPr>
          <a:xfrm>
            <a:off x="548640" y="1734543"/>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8" name="Shape 5"/>
          <p:cNvSpPr/>
          <p:nvPr/>
        </p:nvSpPr>
        <p:spPr>
          <a:xfrm>
            <a:off x="822960" y="2364006"/>
            <a:ext cx="238351" cy="914"/>
          </a:xfrm>
          <a:prstGeom prst="line">
            <a:avLst/>
          </a:prstGeom>
          <a:noFill/>
          <a:ln w="15875">
            <a:solidFill>
              <a:srgbClr val="00A896"/>
            </a:solidFill>
            <a:prstDash val="solid"/>
          </a:ln>
        </p:spPr>
      </p:sp>
      <p:sp>
        <p:nvSpPr>
          <p:cNvPr id="9" name="Shape 6"/>
          <p:cNvSpPr/>
          <p:nvPr/>
        </p:nvSpPr>
        <p:spPr>
          <a:xfrm>
            <a:off x="1020163" y="2322858"/>
            <a:ext cx="82296" cy="82296"/>
          </a:xfrm>
          <a:prstGeom prst="ellipse">
            <a:avLst/>
          </a:prstGeom>
          <a:solidFill>
            <a:srgbClr val="00A896"/>
          </a:solidFill>
          <a:ln w="9525">
            <a:solidFill>
              <a:srgbClr val="FFFFFF"/>
            </a:solidFill>
            <a:prstDash val="solid"/>
          </a:ln>
        </p:spPr>
      </p:sp>
      <p:sp>
        <p:nvSpPr>
          <p:cNvPr id="10" name="Shape 7"/>
          <p:cNvSpPr/>
          <p:nvPr/>
        </p:nvSpPr>
        <p:spPr>
          <a:xfrm>
            <a:off x="548640" y="2226846"/>
            <a:ext cx="274320" cy="274320"/>
          </a:xfrm>
          <a:prstGeom prst="ellipse">
            <a:avLst/>
          </a:prstGeom>
          <a:solidFill>
            <a:srgbClr val="00A896"/>
          </a:solidFill>
          <a:ln w="15875">
            <a:solidFill>
              <a:srgbClr val="FFFFFF"/>
            </a:solidFill>
            <a:prstDash val="solid"/>
          </a:ln>
        </p:spPr>
      </p:sp>
      <p:sp>
        <p:nvSpPr>
          <p:cNvPr id="11" name="Text 8"/>
          <p:cNvSpPr txBox="1"/>
          <p:nvPr/>
        </p:nvSpPr>
        <p:spPr>
          <a:xfrm>
            <a:off x="548640" y="222684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2" name="Shape 9"/>
          <p:cNvSpPr/>
          <p:nvPr/>
        </p:nvSpPr>
        <p:spPr>
          <a:xfrm flipV="1">
            <a:off x="822960" y="2696830"/>
            <a:ext cx="238351" cy="14648"/>
          </a:xfrm>
          <a:prstGeom prst="line">
            <a:avLst/>
          </a:prstGeom>
          <a:noFill/>
          <a:ln w="15875">
            <a:solidFill>
              <a:srgbClr val="00A896"/>
            </a:solidFill>
            <a:prstDash val="solid"/>
          </a:ln>
        </p:spPr>
      </p:sp>
      <p:sp>
        <p:nvSpPr>
          <p:cNvPr id="13" name="Shape 10"/>
          <p:cNvSpPr/>
          <p:nvPr/>
        </p:nvSpPr>
        <p:spPr>
          <a:xfrm>
            <a:off x="1020163" y="2655682"/>
            <a:ext cx="82296" cy="82296"/>
          </a:xfrm>
          <a:prstGeom prst="ellipse">
            <a:avLst/>
          </a:prstGeom>
          <a:solidFill>
            <a:srgbClr val="00A896"/>
          </a:solidFill>
          <a:ln w="9525">
            <a:solidFill>
              <a:srgbClr val="FFFFFF"/>
            </a:solidFill>
            <a:prstDash val="solid"/>
          </a:ln>
        </p:spPr>
      </p:sp>
      <p:sp>
        <p:nvSpPr>
          <p:cNvPr id="14" name="Shape 11"/>
          <p:cNvSpPr/>
          <p:nvPr/>
        </p:nvSpPr>
        <p:spPr>
          <a:xfrm>
            <a:off x="548640" y="2574318"/>
            <a:ext cx="274320" cy="274320"/>
          </a:xfrm>
          <a:prstGeom prst="ellipse">
            <a:avLst/>
          </a:prstGeom>
          <a:solidFill>
            <a:srgbClr val="00A896"/>
          </a:solidFill>
          <a:ln w="15875">
            <a:solidFill>
              <a:srgbClr val="FFFFFF"/>
            </a:solidFill>
            <a:prstDash val="solid"/>
          </a:ln>
        </p:spPr>
      </p:sp>
      <p:sp>
        <p:nvSpPr>
          <p:cNvPr id="15" name="Text 12"/>
          <p:cNvSpPr txBox="1"/>
          <p:nvPr/>
        </p:nvSpPr>
        <p:spPr>
          <a:xfrm>
            <a:off x="548640" y="257431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6" name="Shape 13"/>
          <p:cNvSpPr/>
          <p:nvPr/>
        </p:nvSpPr>
        <p:spPr>
          <a:xfrm>
            <a:off x="4434840" y="457200"/>
            <a:ext cx="384048" cy="384048"/>
          </a:xfrm>
          <a:prstGeom prst="ellipse">
            <a:avLst/>
          </a:prstGeom>
          <a:solidFill>
            <a:srgbClr val="00A896"/>
          </a:solidFill>
          <a:ln w="6350">
            <a:solidFill>
              <a:srgbClr val="00A896"/>
            </a:solidFill>
            <a:prstDash val="solid"/>
          </a:ln>
        </p:spPr>
      </p:sp>
      <p:sp>
        <p:nvSpPr>
          <p:cNvPr id="17" name="Text 14"/>
          <p:cNvSpPr txBox="1"/>
          <p:nvPr/>
        </p:nvSpPr>
        <p:spPr>
          <a:xfrm>
            <a:off x="4434840" y="457200"/>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SK</a:t>
            </a:r>
            <a:endParaRPr lang="en-US" sz="1100" dirty="0"/>
          </a:p>
        </p:txBody>
      </p:sp>
      <p:sp>
        <p:nvSpPr>
          <p:cNvPr id="18" name="Text 15"/>
          <p:cNvSpPr txBox="1"/>
          <p:nvPr/>
        </p:nvSpPr>
        <p:spPr>
          <a:xfrm>
            <a:off x="4937760" y="457200"/>
            <a:ext cx="3291840" cy="384048"/>
          </a:xfrm>
          <a:prstGeom prst="rect">
            <a:avLst/>
          </a:prstGeom>
          <a:noFill/>
          <a:ln/>
        </p:spPr>
        <p:txBody>
          <a:bodyPr wrap="square" lIns="0" tIns="0" rIns="0" bIns="0" rtlCol="0" anchor="ctr"/>
          <a:lstStyle/>
          <a:p>
            <a:pPr indent="0" marL="0">
              <a:buNone/>
            </a:pPr>
            <a:r>
              <a:rPr lang="en-US" sz="1300" b="1" dirty="0">
                <a:solidFill>
                  <a:srgbClr val="00A896"/>
                </a:solidFill>
                <a:latin typeface="Calibri" pitchFamily="34" charset="0"/>
                <a:ea typeface="Calibri" pitchFamily="34" charset="-122"/>
                <a:cs typeface="Calibri" pitchFamily="34" charset="-120"/>
              </a:rPr>
              <a:t>Driver  </a:t>
            </a:r>
            <a:pPr indent="0" marL="0">
              <a:buNone/>
            </a:pPr>
            <a:r>
              <a:rPr lang="en-US" sz="1300" b="1" dirty="0">
                <a:solidFill>
                  <a:srgbClr val="16202B"/>
                </a:solidFill>
                <a:latin typeface="Calibri" pitchFamily="34" charset="0"/>
                <a:ea typeface="Calibri" pitchFamily="34" charset="-122"/>
                <a:cs typeface="Calibri" pitchFamily="34" charset="-120"/>
              </a:rPr>
              <a:t>S. Kumar</a:t>
            </a:r>
            <a:endParaRPr lang="en-US" sz="1300" dirty="0"/>
          </a:p>
        </p:txBody>
      </p:sp>
      <p:sp>
        <p:nvSpPr>
          <p:cNvPr id="19" name="Shape 16"/>
          <p:cNvSpPr/>
          <p:nvPr/>
        </p:nvSpPr>
        <p:spPr>
          <a:xfrm>
            <a:off x="9146743" y="585216"/>
            <a:ext cx="118872" cy="118872"/>
          </a:xfrm>
          <a:prstGeom prst="ellipse">
            <a:avLst/>
          </a:prstGeom>
          <a:solidFill>
            <a:srgbClr val="DDF5F1"/>
          </a:solidFill>
          <a:ln w="9525">
            <a:solidFill>
              <a:srgbClr val="00A896"/>
            </a:solidFill>
            <a:prstDash val="solid"/>
          </a:ln>
        </p:spPr>
      </p:sp>
      <p:sp>
        <p:nvSpPr>
          <p:cNvPr id="20" name="Shape 17"/>
          <p:cNvSpPr/>
          <p:nvPr/>
        </p:nvSpPr>
        <p:spPr>
          <a:xfrm>
            <a:off x="9329623" y="585216"/>
            <a:ext cx="118872" cy="118872"/>
          </a:xfrm>
          <a:prstGeom prst="ellipse">
            <a:avLst/>
          </a:prstGeom>
          <a:solidFill>
            <a:srgbClr val="DDF5F1"/>
          </a:solidFill>
          <a:ln w="9525">
            <a:solidFill>
              <a:srgbClr val="00A896"/>
            </a:solidFill>
            <a:prstDash val="solid"/>
          </a:ln>
        </p:spPr>
      </p:sp>
      <p:sp>
        <p:nvSpPr>
          <p:cNvPr id="21" name="Shape 18"/>
          <p:cNvSpPr/>
          <p:nvPr/>
        </p:nvSpPr>
        <p:spPr>
          <a:xfrm>
            <a:off x="9512503" y="585216"/>
            <a:ext cx="118872" cy="118872"/>
          </a:xfrm>
          <a:prstGeom prst="ellipse">
            <a:avLst/>
          </a:prstGeom>
          <a:solidFill>
            <a:srgbClr val="DDF5F1"/>
          </a:solidFill>
          <a:ln w="9525">
            <a:solidFill>
              <a:srgbClr val="00A896"/>
            </a:solidFill>
            <a:prstDash val="solid"/>
          </a:ln>
        </p:spPr>
      </p:sp>
      <p:sp>
        <p:nvSpPr>
          <p:cNvPr id="22" name="Shape 19"/>
          <p:cNvSpPr/>
          <p:nvPr/>
        </p:nvSpPr>
        <p:spPr>
          <a:xfrm>
            <a:off x="9667951" y="557784"/>
            <a:ext cx="173736" cy="173736"/>
          </a:xfrm>
          <a:prstGeom prst="ellipse">
            <a:avLst/>
          </a:prstGeom>
          <a:solidFill>
            <a:srgbClr val="00A896"/>
          </a:solidFill>
          <a:ln w="9525">
            <a:solidFill>
              <a:srgbClr val="00A896"/>
            </a:solidFill>
            <a:prstDash val="solid"/>
          </a:ln>
        </p:spPr>
      </p:sp>
      <p:sp>
        <p:nvSpPr>
          <p:cNvPr id="23" name="Shape 20"/>
          <p:cNvSpPr/>
          <p:nvPr/>
        </p:nvSpPr>
        <p:spPr>
          <a:xfrm>
            <a:off x="9878263" y="585216"/>
            <a:ext cx="118872" cy="118872"/>
          </a:xfrm>
          <a:prstGeom prst="ellipse">
            <a:avLst/>
          </a:prstGeom>
          <a:solidFill>
            <a:srgbClr val="F3F6F9"/>
          </a:solidFill>
          <a:ln w="9525">
            <a:solidFill>
              <a:srgbClr val="DCE4EC"/>
            </a:solidFill>
            <a:prstDash val="solid"/>
          </a:ln>
        </p:spPr>
      </p:sp>
      <p:sp>
        <p:nvSpPr>
          <p:cNvPr id="24" name="Shape 21"/>
          <p:cNvSpPr/>
          <p:nvPr/>
        </p:nvSpPr>
        <p:spPr>
          <a:xfrm>
            <a:off x="10061143" y="585216"/>
            <a:ext cx="118872" cy="118872"/>
          </a:xfrm>
          <a:prstGeom prst="ellipse">
            <a:avLst/>
          </a:prstGeom>
          <a:solidFill>
            <a:srgbClr val="F3F6F9"/>
          </a:solidFill>
          <a:ln w="9525">
            <a:solidFill>
              <a:srgbClr val="DCE4EC"/>
            </a:solidFill>
            <a:prstDash val="solid"/>
          </a:ln>
        </p:spPr>
      </p:sp>
      <p:sp>
        <p:nvSpPr>
          <p:cNvPr id="25" name="Shape 22"/>
          <p:cNvSpPr/>
          <p:nvPr/>
        </p:nvSpPr>
        <p:spPr>
          <a:xfrm>
            <a:off x="10244023" y="585216"/>
            <a:ext cx="118872" cy="118872"/>
          </a:xfrm>
          <a:prstGeom prst="ellipse">
            <a:avLst/>
          </a:prstGeom>
          <a:solidFill>
            <a:srgbClr val="F3F6F9"/>
          </a:solidFill>
          <a:ln w="9525">
            <a:solidFill>
              <a:srgbClr val="DCE4EC"/>
            </a:solidFill>
            <a:prstDash val="solid"/>
          </a:ln>
        </p:spPr>
      </p:sp>
      <p:sp>
        <p:nvSpPr>
          <p:cNvPr id="26" name="Shape 23"/>
          <p:cNvSpPr/>
          <p:nvPr/>
        </p:nvSpPr>
        <p:spPr>
          <a:xfrm>
            <a:off x="10426903" y="585216"/>
            <a:ext cx="118872" cy="118872"/>
          </a:xfrm>
          <a:prstGeom prst="ellipse">
            <a:avLst/>
          </a:prstGeom>
          <a:solidFill>
            <a:srgbClr val="F3F6F9"/>
          </a:solidFill>
          <a:ln w="9525">
            <a:solidFill>
              <a:srgbClr val="DCE4EC"/>
            </a:solidFill>
            <a:prstDash val="solid"/>
          </a:ln>
        </p:spPr>
      </p:sp>
      <p:sp>
        <p:nvSpPr>
          <p:cNvPr id="27" name="Shape 24"/>
          <p:cNvSpPr/>
          <p:nvPr/>
        </p:nvSpPr>
        <p:spPr>
          <a:xfrm>
            <a:off x="10609783" y="585216"/>
            <a:ext cx="118872" cy="118872"/>
          </a:xfrm>
          <a:prstGeom prst="ellipse">
            <a:avLst/>
          </a:prstGeom>
          <a:solidFill>
            <a:srgbClr val="F3F6F9"/>
          </a:solidFill>
          <a:ln w="9525">
            <a:solidFill>
              <a:srgbClr val="DCE4EC"/>
            </a:solidFill>
            <a:prstDash val="solid"/>
          </a:ln>
        </p:spPr>
      </p:sp>
      <p:sp>
        <p:nvSpPr>
          <p:cNvPr id="28" name="Shape 25"/>
          <p:cNvSpPr/>
          <p:nvPr/>
        </p:nvSpPr>
        <p:spPr>
          <a:xfrm>
            <a:off x="10792663" y="585216"/>
            <a:ext cx="118872" cy="118872"/>
          </a:xfrm>
          <a:prstGeom prst="ellipse">
            <a:avLst/>
          </a:prstGeom>
          <a:solidFill>
            <a:srgbClr val="F3F6F9"/>
          </a:solidFill>
          <a:ln w="9525">
            <a:solidFill>
              <a:srgbClr val="DCE4EC"/>
            </a:solidFill>
            <a:prstDash val="solid"/>
          </a:ln>
        </p:spPr>
      </p:sp>
      <p:sp>
        <p:nvSpPr>
          <p:cNvPr id="29" name="Shape 26"/>
          <p:cNvSpPr/>
          <p:nvPr/>
        </p:nvSpPr>
        <p:spPr>
          <a:xfrm>
            <a:off x="10975543" y="585216"/>
            <a:ext cx="118872" cy="118872"/>
          </a:xfrm>
          <a:prstGeom prst="ellipse">
            <a:avLst/>
          </a:prstGeom>
          <a:solidFill>
            <a:srgbClr val="F3F6F9"/>
          </a:solidFill>
          <a:ln w="9525">
            <a:solidFill>
              <a:srgbClr val="DCE4EC"/>
            </a:solidFill>
            <a:prstDash val="solid"/>
          </a:ln>
        </p:spPr>
      </p:sp>
      <p:sp>
        <p:nvSpPr>
          <p:cNvPr id="30" name="Shape 27"/>
          <p:cNvSpPr/>
          <p:nvPr/>
        </p:nvSpPr>
        <p:spPr>
          <a:xfrm>
            <a:off x="11158423" y="585216"/>
            <a:ext cx="118872" cy="118872"/>
          </a:xfrm>
          <a:prstGeom prst="ellipse">
            <a:avLst/>
          </a:prstGeom>
          <a:solidFill>
            <a:srgbClr val="F3F6F9"/>
          </a:solidFill>
          <a:ln w="9525">
            <a:solidFill>
              <a:srgbClr val="DCE4EC"/>
            </a:solidFill>
            <a:prstDash val="solid"/>
          </a:ln>
        </p:spPr>
      </p:sp>
      <p:sp>
        <p:nvSpPr>
          <p:cNvPr id="31" name="Shape 28"/>
          <p:cNvSpPr/>
          <p:nvPr/>
        </p:nvSpPr>
        <p:spPr>
          <a:xfrm>
            <a:off x="11341303" y="585216"/>
            <a:ext cx="118872" cy="118872"/>
          </a:xfrm>
          <a:prstGeom prst="ellipse">
            <a:avLst/>
          </a:prstGeom>
          <a:solidFill>
            <a:srgbClr val="F3F6F9"/>
          </a:solidFill>
          <a:ln w="9525">
            <a:solidFill>
              <a:srgbClr val="DCE4EC"/>
            </a:solidFill>
            <a:prstDash val="solid"/>
          </a:ln>
        </p:spPr>
      </p:sp>
      <p:sp>
        <p:nvSpPr>
          <p:cNvPr id="32" name="Shape 29"/>
          <p:cNvSpPr/>
          <p:nvPr/>
        </p:nvSpPr>
        <p:spPr>
          <a:xfrm>
            <a:off x="11524183" y="585216"/>
            <a:ext cx="118872" cy="118872"/>
          </a:xfrm>
          <a:prstGeom prst="ellipse">
            <a:avLst/>
          </a:prstGeom>
          <a:solidFill>
            <a:srgbClr val="F3F6F9"/>
          </a:solidFill>
          <a:ln w="9525">
            <a:solidFill>
              <a:srgbClr val="DCE4EC"/>
            </a:solidFill>
            <a:prstDash val="solid"/>
          </a:ln>
        </p:spPr>
      </p:sp>
      <p:sp>
        <p:nvSpPr>
          <p:cNvPr id="33" name="Text 30"/>
          <p:cNvSpPr txBox="1"/>
          <p:nvPr/>
        </p:nvSpPr>
        <p:spPr>
          <a:xfrm>
            <a:off x="9146743" y="768096"/>
            <a:ext cx="2496312" cy="201168"/>
          </a:xfrm>
          <a:prstGeom prst="rect">
            <a:avLst/>
          </a:prstGeom>
          <a:noFill/>
          <a:ln/>
        </p:spPr>
        <p:txBody>
          <a:bodyPr wrap="square" lIns="0" tIns="0" rIns="0" bIns="0" rtlCol="0" anchor="ctr"/>
          <a:lstStyle/>
          <a:p>
            <a:pPr algn="r" indent="0" marL="0">
              <a:buNone/>
            </a:pPr>
            <a:r>
              <a:rPr lang="en-US" sz="950" dirty="0">
                <a:solidFill>
                  <a:srgbClr val="5E6D7D"/>
                </a:solidFill>
                <a:latin typeface="Calibri" pitchFamily="34" charset="0"/>
                <a:ea typeface="Calibri" pitchFamily="34" charset="-122"/>
                <a:cs typeface="Calibri" pitchFamily="34" charset="-120"/>
              </a:rPr>
              <a:t>Screen 4 of 14</a:t>
            </a:r>
            <a:endParaRPr lang="en-US" sz="950" dirty="0"/>
          </a:p>
        </p:txBody>
      </p:sp>
      <p:sp>
        <p:nvSpPr>
          <p:cNvPr id="34" name="Text 31"/>
          <p:cNvSpPr txBox="1"/>
          <p:nvPr/>
        </p:nvSpPr>
        <p:spPr>
          <a:xfrm>
            <a:off x="4434840" y="1170432"/>
            <a:ext cx="7208215" cy="237744"/>
          </a:xfrm>
          <a:prstGeom prst="rect">
            <a:avLst/>
          </a:prstGeom>
          <a:noFill/>
          <a:ln/>
        </p:spPr>
        <p:txBody>
          <a:bodyPr wrap="square" lIns="0" tIns="0" rIns="0" bIns="0" rtlCol="0" anchor="ctr"/>
          <a:lstStyle/>
          <a:p>
            <a:pPr indent="0" marL="0">
              <a:buNone/>
            </a:pPr>
            <a:r>
              <a:rPr lang="en-US" sz="1100" b="1" spc="200" kern="0" dirty="0">
                <a:solidFill>
                  <a:srgbClr val="00A896"/>
                </a:solidFill>
                <a:latin typeface="Calibri" pitchFamily="34" charset="0"/>
                <a:ea typeface="Calibri" pitchFamily="34" charset="-122"/>
                <a:cs typeface="Calibri" pitchFamily="34" charset="-120"/>
              </a:rPr>
              <a:t>ON DUTY</a:t>
            </a:r>
            <a:endParaRPr lang="en-US" sz="1100" dirty="0"/>
          </a:p>
        </p:txBody>
      </p:sp>
      <p:sp>
        <p:nvSpPr>
          <p:cNvPr id="35" name="Text 32"/>
          <p:cNvSpPr txBox="1"/>
          <p:nvPr/>
        </p:nvSpPr>
        <p:spPr>
          <a:xfrm>
            <a:off x="4434840" y="1463040"/>
            <a:ext cx="7208215" cy="457200"/>
          </a:xfrm>
          <a:prstGeom prst="rect">
            <a:avLst/>
          </a:prstGeom>
          <a:noFill/>
          <a:ln/>
        </p:spPr>
        <p:txBody>
          <a:bodyPr wrap="square" lIns="0" tIns="0" rIns="0" bIns="0" rtlCol="0" anchor="t"/>
          <a:lstStyle/>
          <a:p>
            <a:pPr indent="0" marL="0">
              <a:buNone/>
            </a:pPr>
            <a:r>
              <a:rPr lang="en-US" sz="3000" b="1" dirty="0">
                <a:solidFill>
                  <a:srgbClr val="16202B"/>
                </a:solidFill>
                <a:latin typeface="Calibri" pitchFamily="34" charset="0"/>
                <a:ea typeface="Calibri" pitchFamily="34" charset="-122"/>
                <a:cs typeface="Calibri" pitchFamily="34" charset="-120"/>
              </a:rPr>
              <a:t>Two riders waiting at sign-on</a:t>
            </a:r>
            <a:endParaRPr lang="en-US" sz="3000" dirty="0"/>
          </a:p>
        </p:txBody>
      </p:sp>
      <p:sp>
        <p:nvSpPr>
          <p:cNvPr id="36" name="Text 33"/>
          <p:cNvSpPr txBox="1"/>
          <p:nvPr/>
        </p:nvSpPr>
        <p:spPr>
          <a:xfrm>
            <a:off x="4434840" y="2048256"/>
            <a:ext cx="7208215" cy="475488"/>
          </a:xfrm>
          <a:prstGeom prst="rect">
            <a:avLst/>
          </a:prstGeom>
          <a:noFill/>
          <a:ln/>
        </p:spPr>
        <p:txBody>
          <a:bodyPr wrap="square" lIns="0" tIns="0" rIns="0" bIns="0" rtlCol="0" anchor="t"/>
          <a:lstStyle/>
          <a:p>
            <a:pPr indent="0" marL="0">
              <a:buNone/>
            </a:pPr>
            <a:r>
              <a:rPr lang="en-US" sz="1500" dirty="0">
                <a:solidFill>
                  <a:srgbClr val="34465A"/>
                </a:solidFill>
                <a:latin typeface="Calibri" pitchFamily="34" charset="0"/>
                <a:ea typeface="Calibri" pitchFamily="34" charset="-122"/>
                <a:cs typeface="Calibri" pitchFamily="34" charset="-120"/>
              </a:rPr>
              <a:t>The engine gives C-12 the two riders already waiting at Gate 2, and the driver’s phone starts sharing the cab’s position.</a:t>
            </a:r>
            <a:endParaRPr lang="en-US" sz="1500" dirty="0"/>
          </a:p>
        </p:txBody>
      </p:sp>
      <p:sp>
        <p:nvSpPr>
          <p:cNvPr id="37" name="Shape 34"/>
          <p:cNvSpPr/>
          <p:nvPr/>
        </p:nvSpPr>
        <p:spPr>
          <a:xfrm>
            <a:off x="4434840" y="2798064"/>
            <a:ext cx="7208215" cy="649224"/>
          </a:xfrm>
          <a:prstGeom prst="roundRect">
            <a:avLst>
              <a:gd name="adj" fmla="val 11268"/>
            </a:avLst>
          </a:prstGeom>
          <a:solidFill>
            <a:srgbClr val="F3F6F9"/>
          </a:solidFill>
          <a:ln w="6350">
            <a:solidFill>
              <a:srgbClr val="F3F6F9"/>
            </a:solidFill>
            <a:prstDash val="solid"/>
          </a:ln>
        </p:spPr>
      </p:sp>
      <p:sp>
        <p:nvSpPr>
          <p:cNvPr id="38" name="Shape 35"/>
          <p:cNvSpPr/>
          <p:nvPr/>
        </p:nvSpPr>
        <p:spPr>
          <a:xfrm>
            <a:off x="4599432" y="2916936"/>
            <a:ext cx="292608" cy="292608"/>
          </a:xfrm>
          <a:prstGeom prst="ellipse">
            <a:avLst/>
          </a:prstGeom>
          <a:solidFill>
            <a:srgbClr val="00A896"/>
          </a:solidFill>
          <a:ln w="15875">
            <a:solidFill>
              <a:srgbClr val="FFFFFF"/>
            </a:solidFill>
            <a:prstDash val="solid"/>
          </a:ln>
        </p:spPr>
      </p:sp>
      <p:sp>
        <p:nvSpPr>
          <p:cNvPr id="39" name="Text 36"/>
          <p:cNvSpPr txBox="1"/>
          <p:nvPr/>
        </p:nvSpPr>
        <p:spPr>
          <a:xfrm>
            <a:off x="4599432" y="2916936"/>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40" name="Text 37"/>
          <p:cNvSpPr txBox="1"/>
          <p:nvPr/>
        </p:nvSpPr>
        <p:spPr>
          <a:xfrm>
            <a:off x="5029200" y="2907792"/>
            <a:ext cx="6430975" cy="274320"/>
          </a:xfrm>
          <a:prstGeom prst="rect">
            <a:avLst/>
          </a:prstGeom>
          <a:noFill/>
          <a:ln/>
        </p:spPr>
        <p:txBody>
          <a:bodyPr wrap="square" lIns="0" tIns="0" rIns="0" bIns="0" rtlCol="0" anchor="ctr"/>
          <a:lstStyle/>
          <a:p>
            <a:pPr indent="0" marL="0">
              <a:buNone/>
            </a:pPr>
            <a:r>
              <a:rPr lang="en-US" sz="1400" b="1" dirty="0">
                <a:solidFill>
                  <a:srgbClr val="16202B"/>
                </a:solidFill>
                <a:latin typeface="Calibri" pitchFamily="34" charset="0"/>
                <a:ea typeface="Calibri" pitchFamily="34" charset="-122"/>
                <a:cs typeface="Calibri" pitchFamily="34" charset="-120"/>
              </a:rPr>
              <a:t>Sharing your location with riders</a:t>
            </a:r>
            <a:endParaRPr lang="en-US" sz="1400" dirty="0"/>
          </a:p>
        </p:txBody>
      </p:sp>
      <p:sp>
        <p:nvSpPr>
          <p:cNvPr id="41" name="Text 38"/>
          <p:cNvSpPr txBox="1"/>
          <p:nvPr/>
        </p:nvSpPr>
        <p:spPr>
          <a:xfrm>
            <a:off x="5029200" y="3182112"/>
            <a:ext cx="6430975" cy="192024"/>
          </a:xfrm>
          <a:prstGeom prst="rect">
            <a:avLst/>
          </a:prstGeom>
          <a:noFill/>
          <a:ln/>
        </p:spPr>
        <p:txBody>
          <a:bodyPr wrap="square" lIns="0" tIns="0" rIns="0" bIns="0" rtlCol="0" anchor="t"/>
          <a:lstStyle/>
          <a:p>
            <a:pPr indent="0" marL="0">
              <a:buNone/>
            </a:pPr>
            <a:r>
              <a:rPr lang="en-US" sz="1200" dirty="0">
                <a:solidFill>
                  <a:srgbClr val="34465A"/>
                </a:solidFill>
                <a:latin typeface="Calibri" pitchFamily="34" charset="0"/>
                <a:ea typeface="Calibri" pitchFamily="34" charset="-122"/>
                <a:cs typeface="Calibri" pitchFamily="34" charset="-120"/>
              </a:rPr>
              <a:t>About every 10 seconds, and at least every 30 seconds while parked.</a:t>
            </a:r>
            <a:endParaRPr lang="en-US" sz="1200" dirty="0"/>
          </a:p>
        </p:txBody>
      </p:sp>
      <p:sp>
        <p:nvSpPr>
          <p:cNvPr id="42" name="Shape 39"/>
          <p:cNvSpPr/>
          <p:nvPr/>
        </p:nvSpPr>
        <p:spPr>
          <a:xfrm>
            <a:off x="4434840" y="3557016"/>
            <a:ext cx="7208215" cy="649224"/>
          </a:xfrm>
          <a:prstGeom prst="roundRect">
            <a:avLst>
              <a:gd name="adj" fmla="val 11268"/>
            </a:avLst>
          </a:prstGeom>
          <a:solidFill>
            <a:srgbClr val="F3F6F9"/>
          </a:solidFill>
          <a:ln w="6350">
            <a:solidFill>
              <a:srgbClr val="F3F6F9"/>
            </a:solidFill>
            <a:prstDash val="solid"/>
          </a:ln>
        </p:spPr>
      </p:sp>
      <p:sp>
        <p:nvSpPr>
          <p:cNvPr id="43" name="Shape 40"/>
          <p:cNvSpPr/>
          <p:nvPr/>
        </p:nvSpPr>
        <p:spPr>
          <a:xfrm>
            <a:off x="4599432" y="3675888"/>
            <a:ext cx="292608" cy="292608"/>
          </a:xfrm>
          <a:prstGeom prst="ellipse">
            <a:avLst/>
          </a:prstGeom>
          <a:solidFill>
            <a:srgbClr val="00A896"/>
          </a:solidFill>
          <a:ln w="15875">
            <a:solidFill>
              <a:srgbClr val="FFFFFF"/>
            </a:solidFill>
            <a:prstDash val="solid"/>
          </a:ln>
        </p:spPr>
      </p:sp>
      <p:sp>
        <p:nvSpPr>
          <p:cNvPr id="44" name="Text 41"/>
          <p:cNvSpPr txBox="1"/>
          <p:nvPr/>
        </p:nvSpPr>
        <p:spPr>
          <a:xfrm>
            <a:off x="4599432" y="3675888"/>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45" name="Text 42"/>
          <p:cNvSpPr txBox="1"/>
          <p:nvPr/>
        </p:nvSpPr>
        <p:spPr>
          <a:xfrm>
            <a:off x="5029200" y="3666744"/>
            <a:ext cx="6430975" cy="274320"/>
          </a:xfrm>
          <a:prstGeom prst="rect">
            <a:avLst/>
          </a:prstGeom>
          <a:noFill/>
          <a:ln/>
        </p:spPr>
        <p:txBody>
          <a:bodyPr wrap="square" lIns="0" tIns="0" rIns="0" bIns="0" rtlCol="0" anchor="ctr"/>
          <a:lstStyle/>
          <a:p>
            <a:pPr indent="0" marL="0">
              <a:buNone/>
            </a:pPr>
            <a:r>
              <a:rPr lang="en-US" sz="1400" b="1" dirty="0">
                <a:solidFill>
                  <a:srgbClr val="16202B"/>
                </a:solidFill>
                <a:latin typeface="Calibri" pitchFamily="34" charset="0"/>
                <a:ea typeface="Calibri" pitchFamily="34" charset="-122"/>
                <a:cs typeface="Calibri" pitchFamily="34" charset="-120"/>
              </a:rPr>
              <a:t>Arrived at Gate 2</a:t>
            </a:r>
            <a:endParaRPr lang="en-US" sz="1400" dirty="0"/>
          </a:p>
        </p:txBody>
      </p:sp>
      <p:sp>
        <p:nvSpPr>
          <p:cNvPr id="46" name="Text 43"/>
          <p:cNvSpPr txBox="1"/>
          <p:nvPr/>
        </p:nvSpPr>
        <p:spPr>
          <a:xfrm>
            <a:off x="5029200" y="3941064"/>
            <a:ext cx="6430975" cy="192024"/>
          </a:xfrm>
          <a:prstGeom prst="rect">
            <a:avLst/>
          </a:prstGeom>
          <a:noFill/>
          <a:ln/>
        </p:spPr>
        <p:txBody>
          <a:bodyPr wrap="square" lIns="0" tIns="0" rIns="0" bIns="0" rtlCol="0" anchor="t"/>
          <a:lstStyle/>
          <a:p>
            <a:pPr indent="0" marL="0">
              <a:buNone/>
            </a:pPr>
            <a:r>
              <a:rPr lang="en-US" sz="1200" dirty="0">
                <a:solidFill>
                  <a:srgbClr val="34465A"/>
                </a:solidFill>
                <a:latin typeface="Calibri" pitchFamily="34" charset="0"/>
                <a:ea typeface="Calibri" pitchFamily="34" charset="-122"/>
                <a:cs typeface="Calibri" pitchFamily="34" charset="-120"/>
              </a:rPr>
              <a:t>The next stop. GPS can record the arrival by itself.</a:t>
            </a:r>
            <a:endParaRPr lang="en-US" sz="1200" dirty="0"/>
          </a:p>
        </p:txBody>
      </p:sp>
      <p:sp>
        <p:nvSpPr>
          <p:cNvPr id="47" name="Shape 44"/>
          <p:cNvSpPr/>
          <p:nvPr/>
        </p:nvSpPr>
        <p:spPr>
          <a:xfrm>
            <a:off x="4434840" y="4315968"/>
            <a:ext cx="7208215" cy="649224"/>
          </a:xfrm>
          <a:prstGeom prst="roundRect">
            <a:avLst>
              <a:gd name="adj" fmla="val 11268"/>
            </a:avLst>
          </a:prstGeom>
          <a:solidFill>
            <a:srgbClr val="F3F6F9"/>
          </a:solidFill>
          <a:ln w="6350">
            <a:solidFill>
              <a:srgbClr val="F3F6F9"/>
            </a:solidFill>
            <a:prstDash val="solid"/>
          </a:ln>
        </p:spPr>
      </p:sp>
      <p:sp>
        <p:nvSpPr>
          <p:cNvPr id="48" name="Shape 45"/>
          <p:cNvSpPr/>
          <p:nvPr/>
        </p:nvSpPr>
        <p:spPr>
          <a:xfrm>
            <a:off x="4599432" y="4434840"/>
            <a:ext cx="292608" cy="292608"/>
          </a:xfrm>
          <a:prstGeom prst="ellipse">
            <a:avLst/>
          </a:prstGeom>
          <a:solidFill>
            <a:srgbClr val="00A896"/>
          </a:solidFill>
          <a:ln w="15875">
            <a:solidFill>
              <a:srgbClr val="FFFFFF"/>
            </a:solidFill>
            <a:prstDash val="solid"/>
          </a:ln>
        </p:spPr>
      </p:sp>
      <p:sp>
        <p:nvSpPr>
          <p:cNvPr id="49" name="Text 46"/>
          <p:cNvSpPr txBox="1"/>
          <p:nvPr/>
        </p:nvSpPr>
        <p:spPr>
          <a:xfrm>
            <a:off x="4599432" y="443484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50" name="Text 47"/>
          <p:cNvSpPr txBox="1"/>
          <p:nvPr/>
        </p:nvSpPr>
        <p:spPr>
          <a:xfrm>
            <a:off x="5029200" y="4425696"/>
            <a:ext cx="6430975" cy="274320"/>
          </a:xfrm>
          <a:prstGeom prst="rect">
            <a:avLst/>
          </a:prstGeom>
          <a:noFill/>
          <a:ln/>
        </p:spPr>
        <p:txBody>
          <a:bodyPr wrap="square" lIns="0" tIns="0" rIns="0" bIns="0" rtlCol="0" anchor="ctr"/>
          <a:lstStyle/>
          <a:p>
            <a:pPr indent="0" marL="0">
              <a:buNone/>
            </a:pPr>
            <a:r>
              <a:rPr lang="en-US" sz="1400" b="1" dirty="0">
                <a:solidFill>
                  <a:srgbClr val="16202B"/>
                </a:solidFill>
                <a:latin typeface="Calibri" pitchFamily="34" charset="0"/>
                <a:ea typeface="Calibri" pitchFamily="34" charset="-122"/>
                <a:cs typeface="Calibri" pitchFamily="34" charset="-120"/>
              </a:rPr>
              <a:t>Pick up 2 riders · about 4 min away</a:t>
            </a:r>
            <a:endParaRPr lang="en-US" sz="1400" dirty="0"/>
          </a:p>
        </p:txBody>
      </p:sp>
      <p:sp>
        <p:nvSpPr>
          <p:cNvPr id="51" name="Text 48"/>
          <p:cNvSpPr txBox="1"/>
          <p:nvPr/>
        </p:nvSpPr>
        <p:spPr>
          <a:xfrm>
            <a:off x="5029200" y="4700016"/>
            <a:ext cx="6430975" cy="192024"/>
          </a:xfrm>
          <a:prstGeom prst="rect">
            <a:avLst/>
          </a:prstGeom>
          <a:noFill/>
          <a:ln/>
        </p:spPr>
        <p:txBody>
          <a:bodyPr wrap="square" lIns="0" tIns="0" rIns="0" bIns="0" rtlCol="0" anchor="t"/>
          <a:lstStyle/>
          <a:p>
            <a:pPr indent="0" marL="0">
              <a:buNone/>
            </a:pPr>
            <a:r>
              <a:rPr lang="en-US" sz="1200" dirty="0">
                <a:solidFill>
                  <a:srgbClr val="34465A"/>
                </a:solidFill>
                <a:latin typeface="Calibri" pitchFamily="34" charset="0"/>
                <a:ea typeface="Calibri" pitchFamily="34" charset="-122"/>
                <a:cs typeface="Calibri" pitchFamily="34" charset="-120"/>
              </a:rPr>
              <a:t>Worked out from where the cab really is.</a:t>
            </a:r>
            <a:endParaRPr lang="en-US" sz="1200" dirty="0"/>
          </a:p>
        </p:txBody>
      </p:sp>
      <p:sp>
        <p:nvSpPr>
          <p:cNvPr id="52" name="Shape 49"/>
          <p:cNvSpPr/>
          <p:nvPr/>
        </p:nvSpPr>
        <p:spPr>
          <a:xfrm>
            <a:off x="4434840" y="5166360"/>
            <a:ext cx="7208215" cy="576072"/>
          </a:xfrm>
          <a:prstGeom prst="roundRect">
            <a:avLst>
              <a:gd name="adj" fmla="val 12698"/>
            </a:avLst>
          </a:prstGeom>
          <a:solidFill>
            <a:srgbClr val="DDF5F1"/>
          </a:solidFill>
          <a:ln w="6350">
            <a:solidFill>
              <a:srgbClr val="DDF5F1"/>
            </a:solidFill>
            <a:prstDash val="solid"/>
          </a:ln>
        </p:spPr>
      </p:sp>
      <p:sp>
        <p:nvSpPr>
          <p:cNvPr id="53" name="Text 50"/>
          <p:cNvSpPr txBox="1"/>
          <p:nvPr/>
        </p:nvSpPr>
        <p:spPr>
          <a:xfrm>
            <a:off x="4617720" y="5257800"/>
            <a:ext cx="6842455" cy="201168"/>
          </a:xfrm>
          <a:prstGeom prst="rect">
            <a:avLst/>
          </a:prstGeom>
          <a:noFill/>
          <a:ln/>
        </p:spPr>
        <p:txBody>
          <a:bodyPr wrap="square" lIns="0" tIns="0" rIns="0" bIns="0" rtlCol="0" anchor="ctr"/>
          <a:lstStyle/>
          <a:p>
            <a:pPr indent="0" marL="0">
              <a:buNone/>
            </a:pPr>
            <a:r>
              <a:rPr lang="en-US" sz="950" b="1" spc="150" kern="0" dirty="0">
                <a:solidFill>
                  <a:srgbClr val="007A6D"/>
                </a:solidFill>
                <a:latin typeface="Calibri" pitchFamily="34" charset="0"/>
                <a:ea typeface="Calibri" pitchFamily="34" charset="-122"/>
                <a:cs typeface="Calibri" pitchFamily="34" charset="-120"/>
              </a:rPr>
              <a:t>BEHIND THE SCENES</a:t>
            </a:r>
            <a:endParaRPr lang="en-US" sz="950" dirty="0"/>
          </a:p>
        </p:txBody>
      </p:sp>
      <p:sp>
        <p:nvSpPr>
          <p:cNvPr id="54" name="Text 51"/>
          <p:cNvSpPr txBox="1"/>
          <p:nvPr/>
        </p:nvSpPr>
        <p:spPr>
          <a:xfrm>
            <a:off x="4617720" y="5468112"/>
            <a:ext cx="6842455" cy="192024"/>
          </a:xfrm>
          <a:prstGeom prst="rect">
            <a:avLst/>
          </a:prstGeom>
          <a:noFill/>
          <a:ln/>
        </p:spPr>
        <p:txBody>
          <a:bodyPr wrap="square" lIns="0" tIns="0" rIns="0" bIns="0" rtlCol="0" anchor="t"/>
          <a:lstStyle/>
          <a:p>
            <a:pPr indent="0" marL="0">
              <a:buNone/>
            </a:pPr>
            <a:r>
              <a:rPr lang="en-US" sz="1200" dirty="0">
                <a:solidFill>
                  <a:srgbClr val="16202B"/>
                </a:solidFill>
                <a:latin typeface="Calibri" pitchFamily="34" charset="0"/>
                <a:ea typeface="Calibri" pitchFamily="34" charset="-122"/>
                <a:cs typeface="Calibri" pitchFamily="34" charset="-120"/>
              </a:rPr>
              <a:t>Fixes more than 5 km from every pickup point are ignored, so a GPS glitch never moves the cab.</a:t>
            </a:r>
            <a:endParaRPr lang="en-US" sz="1200" dirty="0"/>
          </a:p>
        </p:txBody>
      </p:sp>
      <p:sp>
        <p:nvSpPr>
          <p:cNvPr id="55" name="Text 52"/>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900" dirty="0">
                <a:solidFill>
                  <a:srgbClr val="5E6D7D"/>
                </a:solidFill>
                <a:latin typeface="Calibri" pitchFamily="34" charset="0"/>
                <a:ea typeface="Calibri" pitchFamily="34" charset="-122"/>
                <a:cs typeface="Calibri" pitchFamily="34" charset="-120"/>
              </a:rPr>
              <a:t>Plant Ride · Rider → Driver journey · recorded on the MVP with demo data</a:t>
            </a:r>
            <a:endParaRPr lang="en-US" sz="900" dirty="0"/>
          </a:p>
        </p:txBody>
      </p:sp>
      <p:sp>
        <p:nvSpPr>
          <p:cNvPr id="56" name="Text 53"/>
          <p:cNvSpPr txBox="1"/>
          <p:nvPr/>
        </p:nvSpPr>
        <p:spPr>
          <a:xfrm>
            <a:off x="11185855" y="6473952"/>
            <a:ext cx="457200" cy="228600"/>
          </a:xfrm>
          <a:prstGeom prst="rect">
            <a:avLst/>
          </a:prstGeom>
          <a:noFill/>
          <a:ln/>
        </p:spPr>
        <p:txBody>
          <a:bodyPr wrap="square" lIns="0" tIns="0" rIns="0" bIns="0" rtlCol="0" anchor="ctr"/>
          <a:lstStyle/>
          <a:p>
            <a:pPr algn="r" indent="0" marL="0">
              <a:buNone/>
            </a:pPr>
            <a:r>
              <a:rPr lang="en-US" sz="900" dirty="0">
                <a:solidFill>
                  <a:srgbClr val="5E6D7D"/>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50976" y="402336"/>
            <a:ext cx="2813925" cy="5961888"/>
          </a:xfrm>
          <a:prstGeom prst="roundRect">
            <a:avLst>
              <a:gd name="adj" fmla="val 5849"/>
            </a:avLst>
          </a:prstGeom>
          <a:solidFill>
            <a:srgbClr val="16202B"/>
          </a:solidFill>
          <a:ln w="9525">
            <a:solidFill>
              <a:srgbClr val="16202B"/>
            </a:solidFill>
            <a:prstDash val="solid"/>
          </a:ln>
          <a:effectLst>
            <a:outerShdw sx="100000" sy="100000" kx="0" ky="0" algn="bl" rotWithShape="0" blurRad="127000" dist="38100" dir="5400000">
              <a:srgbClr val="000000">
                <a:alpha val="20000"/>
              </a:srgbClr>
            </a:outerShdw>
          </a:effectLst>
        </p:spPr>
      </p:sp>
      <p:pic>
        <p:nvPicPr>
          <p:cNvPr id="3" name="Image 0" descr="Screenshot: d05-live-map">    </p:cNvPr>
          <p:cNvPicPr>
            <a:picLocks noChangeAspect="1"/>
          </p:cNvPicPr>
          <p:nvPr/>
        </p:nvPicPr>
        <p:blipFill>
          <a:blip r:embed="rId1"/>
          <a:stretch>
            <a:fillRect/>
          </a:stretch>
        </p:blipFill>
        <p:spPr>
          <a:xfrm>
            <a:off x="1005840" y="457200"/>
            <a:ext cx="2704197" cy="5852160"/>
          </a:xfrm>
          <a:prstGeom prst="rect">
            <a:avLst/>
          </a:prstGeom>
        </p:spPr>
      </p:pic>
      <p:sp>
        <p:nvSpPr>
          <p:cNvPr id="4" name="Shape 1"/>
          <p:cNvSpPr/>
          <p:nvPr/>
        </p:nvSpPr>
        <p:spPr>
          <a:xfrm>
            <a:off x="822960" y="1642886"/>
            <a:ext cx="356226" cy="914"/>
          </a:xfrm>
          <a:prstGeom prst="line">
            <a:avLst/>
          </a:prstGeom>
          <a:noFill/>
          <a:ln w="15875">
            <a:solidFill>
              <a:srgbClr val="00A896"/>
            </a:solidFill>
            <a:prstDash val="solid"/>
          </a:ln>
        </p:spPr>
      </p:sp>
      <p:sp>
        <p:nvSpPr>
          <p:cNvPr id="5" name="Shape 2"/>
          <p:cNvSpPr/>
          <p:nvPr/>
        </p:nvSpPr>
        <p:spPr>
          <a:xfrm>
            <a:off x="1138038" y="1601738"/>
            <a:ext cx="82296" cy="82296"/>
          </a:xfrm>
          <a:prstGeom prst="ellipse">
            <a:avLst/>
          </a:prstGeom>
          <a:solidFill>
            <a:srgbClr val="00A896"/>
          </a:solidFill>
          <a:ln w="9525">
            <a:solidFill>
              <a:srgbClr val="FFFFFF"/>
            </a:solidFill>
            <a:prstDash val="solid"/>
          </a:ln>
        </p:spPr>
      </p:sp>
      <p:sp>
        <p:nvSpPr>
          <p:cNvPr id="6" name="Shape 3"/>
          <p:cNvSpPr/>
          <p:nvPr/>
        </p:nvSpPr>
        <p:spPr>
          <a:xfrm>
            <a:off x="548640" y="1505726"/>
            <a:ext cx="274320" cy="274320"/>
          </a:xfrm>
          <a:prstGeom prst="ellipse">
            <a:avLst/>
          </a:prstGeom>
          <a:solidFill>
            <a:srgbClr val="00A896"/>
          </a:solidFill>
          <a:ln w="15875">
            <a:solidFill>
              <a:srgbClr val="FFFFFF"/>
            </a:solidFill>
            <a:prstDash val="solid"/>
          </a:ln>
        </p:spPr>
      </p:sp>
      <p:sp>
        <p:nvSpPr>
          <p:cNvPr id="7" name="Text 4"/>
          <p:cNvSpPr txBox="1"/>
          <p:nvPr/>
        </p:nvSpPr>
        <p:spPr>
          <a:xfrm>
            <a:off x="548640" y="150572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8" name="Shape 5"/>
          <p:cNvSpPr/>
          <p:nvPr/>
        </p:nvSpPr>
        <p:spPr>
          <a:xfrm>
            <a:off x="822960" y="2599756"/>
            <a:ext cx="383961" cy="914"/>
          </a:xfrm>
          <a:prstGeom prst="line">
            <a:avLst/>
          </a:prstGeom>
          <a:noFill/>
          <a:ln w="15875">
            <a:solidFill>
              <a:srgbClr val="00A896"/>
            </a:solidFill>
            <a:prstDash val="solid"/>
          </a:ln>
        </p:spPr>
      </p:sp>
      <p:sp>
        <p:nvSpPr>
          <p:cNvPr id="9" name="Shape 6"/>
          <p:cNvSpPr/>
          <p:nvPr/>
        </p:nvSpPr>
        <p:spPr>
          <a:xfrm>
            <a:off x="1165773" y="2558608"/>
            <a:ext cx="82296" cy="82296"/>
          </a:xfrm>
          <a:prstGeom prst="ellipse">
            <a:avLst/>
          </a:prstGeom>
          <a:solidFill>
            <a:srgbClr val="00A896"/>
          </a:solidFill>
          <a:ln w="9525">
            <a:solidFill>
              <a:srgbClr val="FFFFFF"/>
            </a:solidFill>
            <a:prstDash val="solid"/>
          </a:ln>
        </p:spPr>
      </p:sp>
      <p:sp>
        <p:nvSpPr>
          <p:cNvPr id="10" name="Shape 7"/>
          <p:cNvSpPr/>
          <p:nvPr/>
        </p:nvSpPr>
        <p:spPr>
          <a:xfrm>
            <a:off x="548640" y="2462596"/>
            <a:ext cx="274320" cy="274320"/>
          </a:xfrm>
          <a:prstGeom prst="ellipse">
            <a:avLst/>
          </a:prstGeom>
          <a:solidFill>
            <a:srgbClr val="00A896"/>
          </a:solidFill>
          <a:ln w="15875">
            <a:solidFill>
              <a:srgbClr val="FFFFFF"/>
            </a:solidFill>
            <a:prstDash val="solid"/>
          </a:ln>
        </p:spPr>
      </p:sp>
      <p:sp>
        <p:nvSpPr>
          <p:cNvPr id="11" name="Text 8"/>
          <p:cNvSpPr txBox="1"/>
          <p:nvPr/>
        </p:nvSpPr>
        <p:spPr>
          <a:xfrm>
            <a:off x="548640" y="246259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2" name="Shape 9"/>
          <p:cNvSpPr/>
          <p:nvPr/>
        </p:nvSpPr>
        <p:spPr>
          <a:xfrm flipV="1">
            <a:off x="822960" y="2738433"/>
            <a:ext cx="383961" cy="208795"/>
          </a:xfrm>
          <a:prstGeom prst="line">
            <a:avLst/>
          </a:prstGeom>
          <a:noFill/>
          <a:ln w="15875">
            <a:solidFill>
              <a:srgbClr val="00A896"/>
            </a:solidFill>
            <a:prstDash val="solid"/>
          </a:ln>
        </p:spPr>
      </p:sp>
      <p:sp>
        <p:nvSpPr>
          <p:cNvPr id="13" name="Shape 10"/>
          <p:cNvSpPr/>
          <p:nvPr/>
        </p:nvSpPr>
        <p:spPr>
          <a:xfrm>
            <a:off x="1165773" y="2697285"/>
            <a:ext cx="82296" cy="82296"/>
          </a:xfrm>
          <a:prstGeom prst="ellipse">
            <a:avLst/>
          </a:prstGeom>
          <a:solidFill>
            <a:srgbClr val="00A896"/>
          </a:solidFill>
          <a:ln w="9525">
            <a:solidFill>
              <a:srgbClr val="FFFFFF"/>
            </a:solidFill>
            <a:prstDash val="solid"/>
          </a:ln>
        </p:spPr>
      </p:sp>
      <p:sp>
        <p:nvSpPr>
          <p:cNvPr id="14" name="Shape 11"/>
          <p:cNvSpPr/>
          <p:nvPr/>
        </p:nvSpPr>
        <p:spPr>
          <a:xfrm>
            <a:off x="548640" y="2810068"/>
            <a:ext cx="274320" cy="274320"/>
          </a:xfrm>
          <a:prstGeom prst="ellipse">
            <a:avLst/>
          </a:prstGeom>
          <a:solidFill>
            <a:srgbClr val="00A896"/>
          </a:solidFill>
          <a:ln w="15875">
            <a:solidFill>
              <a:srgbClr val="FFFFFF"/>
            </a:solidFill>
            <a:prstDash val="solid"/>
          </a:ln>
        </p:spPr>
      </p:sp>
      <p:sp>
        <p:nvSpPr>
          <p:cNvPr id="15" name="Text 12"/>
          <p:cNvSpPr txBox="1"/>
          <p:nvPr/>
        </p:nvSpPr>
        <p:spPr>
          <a:xfrm>
            <a:off x="548640" y="281006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6" name="Shape 13"/>
          <p:cNvSpPr/>
          <p:nvPr/>
        </p:nvSpPr>
        <p:spPr>
          <a:xfrm>
            <a:off x="4434840" y="457200"/>
            <a:ext cx="384048" cy="384048"/>
          </a:xfrm>
          <a:prstGeom prst="ellipse">
            <a:avLst/>
          </a:prstGeom>
          <a:solidFill>
            <a:srgbClr val="00A896"/>
          </a:solidFill>
          <a:ln w="6350">
            <a:solidFill>
              <a:srgbClr val="00A896"/>
            </a:solidFill>
            <a:prstDash val="solid"/>
          </a:ln>
        </p:spPr>
      </p:sp>
      <p:sp>
        <p:nvSpPr>
          <p:cNvPr id="17" name="Text 14"/>
          <p:cNvSpPr txBox="1"/>
          <p:nvPr/>
        </p:nvSpPr>
        <p:spPr>
          <a:xfrm>
            <a:off x="4434840" y="457200"/>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SK</a:t>
            </a:r>
            <a:endParaRPr lang="en-US" sz="1100" dirty="0"/>
          </a:p>
        </p:txBody>
      </p:sp>
      <p:sp>
        <p:nvSpPr>
          <p:cNvPr id="18" name="Text 15"/>
          <p:cNvSpPr txBox="1"/>
          <p:nvPr/>
        </p:nvSpPr>
        <p:spPr>
          <a:xfrm>
            <a:off x="4937760" y="457200"/>
            <a:ext cx="3291840" cy="384048"/>
          </a:xfrm>
          <a:prstGeom prst="rect">
            <a:avLst/>
          </a:prstGeom>
          <a:noFill/>
          <a:ln/>
        </p:spPr>
        <p:txBody>
          <a:bodyPr wrap="square" lIns="0" tIns="0" rIns="0" bIns="0" rtlCol="0" anchor="ctr"/>
          <a:lstStyle/>
          <a:p>
            <a:pPr indent="0" marL="0">
              <a:buNone/>
            </a:pPr>
            <a:r>
              <a:rPr lang="en-US" sz="1300" b="1" dirty="0">
                <a:solidFill>
                  <a:srgbClr val="00A896"/>
                </a:solidFill>
                <a:latin typeface="Calibri" pitchFamily="34" charset="0"/>
                <a:ea typeface="Calibri" pitchFamily="34" charset="-122"/>
                <a:cs typeface="Calibri" pitchFamily="34" charset="-120"/>
              </a:rPr>
              <a:t>Driver  </a:t>
            </a:r>
            <a:pPr indent="0" marL="0">
              <a:buNone/>
            </a:pPr>
            <a:r>
              <a:rPr lang="en-US" sz="1300" b="1" dirty="0">
                <a:solidFill>
                  <a:srgbClr val="16202B"/>
                </a:solidFill>
                <a:latin typeface="Calibri" pitchFamily="34" charset="0"/>
                <a:ea typeface="Calibri" pitchFamily="34" charset="-122"/>
                <a:cs typeface="Calibri" pitchFamily="34" charset="-120"/>
              </a:rPr>
              <a:t>S. Kumar</a:t>
            </a:r>
            <a:endParaRPr lang="en-US" sz="1300" dirty="0"/>
          </a:p>
        </p:txBody>
      </p:sp>
      <p:sp>
        <p:nvSpPr>
          <p:cNvPr id="19" name="Shape 16"/>
          <p:cNvSpPr/>
          <p:nvPr/>
        </p:nvSpPr>
        <p:spPr>
          <a:xfrm>
            <a:off x="9146743" y="585216"/>
            <a:ext cx="118872" cy="118872"/>
          </a:xfrm>
          <a:prstGeom prst="ellipse">
            <a:avLst/>
          </a:prstGeom>
          <a:solidFill>
            <a:srgbClr val="DDF5F1"/>
          </a:solidFill>
          <a:ln w="9525">
            <a:solidFill>
              <a:srgbClr val="00A896"/>
            </a:solidFill>
            <a:prstDash val="solid"/>
          </a:ln>
        </p:spPr>
      </p:sp>
      <p:sp>
        <p:nvSpPr>
          <p:cNvPr id="20" name="Shape 17"/>
          <p:cNvSpPr/>
          <p:nvPr/>
        </p:nvSpPr>
        <p:spPr>
          <a:xfrm>
            <a:off x="9329623" y="585216"/>
            <a:ext cx="118872" cy="118872"/>
          </a:xfrm>
          <a:prstGeom prst="ellipse">
            <a:avLst/>
          </a:prstGeom>
          <a:solidFill>
            <a:srgbClr val="DDF5F1"/>
          </a:solidFill>
          <a:ln w="9525">
            <a:solidFill>
              <a:srgbClr val="00A896"/>
            </a:solidFill>
            <a:prstDash val="solid"/>
          </a:ln>
        </p:spPr>
      </p:sp>
      <p:sp>
        <p:nvSpPr>
          <p:cNvPr id="21" name="Shape 18"/>
          <p:cNvSpPr/>
          <p:nvPr/>
        </p:nvSpPr>
        <p:spPr>
          <a:xfrm>
            <a:off x="9512503" y="585216"/>
            <a:ext cx="118872" cy="118872"/>
          </a:xfrm>
          <a:prstGeom prst="ellipse">
            <a:avLst/>
          </a:prstGeom>
          <a:solidFill>
            <a:srgbClr val="DDF5F1"/>
          </a:solidFill>
          <a:ln w="9525">
            <a:solidFill>
              <a:srgbClr val="00A896"/>
            </a:solidFill>
            <a:prstDash val="solid"/>
          </a:ln>
        </p:spPr>
      </p:sp>
      <p:sp>
        <p:nvSpPr>
          <p:cNvPr id="22" name="Shape 19"/>
          <p:cNvSpPr/>
          <p:nvPr/>
        </p:nvSpPr>
        <p:spPr>
          <a:xfrm>
            <a:off x="9695383" y="585216"/>
            <a:ext cx="118872" cy="118872"/>
          </a:xfrm>
          <a:prstGeom prst="ellipse">
            <a:avLst/>
          </a:prstGeom>
          <a:solidFill>
            <a:srgbClr val="DDF5F1"/>
          </a:solidFill>
          <a:ln w="9525">
            <a:solidFill>
              <a:srgbClr val="00A896"/>
            </a:solidFill>
            <a:prstDash val="solid"/>
          </a:ln>
        </p:spPr>
      </p:sp>
      <p:sp>
        <p:nvSpPr>
          <p:cNvPr id="23" name="Shape 20"/>
          <p:cNvSpPr/>
          <p:nvPr/>
        </p:nvSpPr>
        <p:spPr>
          <a:xfrm>
            <a:off x="9850831" y="557784"/>
            <a:ext cx="173736" cy="173736"/>
          </a:xfrm>
          <a:prstGeom prst="ellipse">
            <a:avLst/>
          </a:prstGeom>
          <a:solidFill>
            <a:srgbClr val="00A896"/>
          </a:solidFill>
          <a:ln w="9525">
            <a:solidFill>
              <a:srgbClr val="00A896"/>
            </a:solidFill>
            <a:prstDash val="solid"/>
          </a:ln>
        </p:spPr>
      </p:sp>
      <p:sp>
        <p:nvSpPr>
          <p:cNvPr id="24" name="Shape 21"/>
          <p:cNvSpPr/>
          <p:nvPr/>
        </p:nvSpPr>
        <p:spPr>
          <a:xfrm>
            <a:off x="10061143" y="585216"/>
            <a:ext cx="118872" cy="118872"/>
          </a:xfrm>
          <a:prstGeom prst="ellipse">
            <a:avLst/>
          </a:prstGeom>
          <a:solidFill>
            <a:srgbClr val="F3F6F9"/>
          </a:solidFill>
          <a:ln w="9525">
            <a:solidFill>
              <a:srgbClr val="DCE4EC"/>
            </a:solidFill>
            <a:prstDash val="solid"/>
          </a:ln>
        </p:spPr>
      </p:sp>
      <p:sp>
        <p:nvSpPr>
          <p:cNvPr id="25" name="Shape 22"/>
          <p:cNvSpPr/>
          <p:nvPr/>
        </p:nvSpPr>
        <p:spPr>
          <a:xfrm>
            <a:off x="10244023" y="585216"/>
            <a:ext cx="118872" cy="118872"/>
          </a:xfrm>
          <a:prstGeom prst="ellipse">
            <a:avLst/>
          </a:prstGeom>
          <a:solidFill>
            <a:srgbClr val="F3F6F9"/>
          </a:solidFill>
          <a:ln w="9525">
            <a:solidFill>
              <a:srgbClr val="DCE4EC"/>
            </a:solidFill>
            <a:prstDash val="solid"/>
          </a:ln>
        </p:spPr>
      </p:sp>
      <p:sp>
        <p:nvSpPr>
          <p:cNvPr id="26" name="Shape 23"/>
          <p:cNvSpPr/>
          <p:nvPr/>
        </p:nvSpPr>
        <p:spPr>
          <a:xfrm>
            <a:off x="10426903" y="585216"/>
            <a:ext cx="118872" cy="118872"/>
          </a:xfrm>
          <a:prstGeom prst="ellipse">
            <a:avLst/>
          </a:prstGeom>
          <a:solidFill>
            <a:srgbClr val="F3F6F9"/>
          </a:solidFill>
          <a:ln w="9525">
            <a:solidFill>
              <a:srgbClr val="DCE4EC"/>
            </a:solidFill>
            <a:prstDash val="solid"/>
          </a:ln>
        </p:spPr>
      </p:sp>
      <p:sp>
        <p:nvSpPr>
          <p:cNvPr id="27" name="Shape 24"/>
          <p:cNvSpPr/>
          <p:nvPr/>
        </p:nvSpPr>
        <p:spPr>
          <a:xfrm>
            <a:off x="10609783" y="585216"/>
            <a:ext cx="118872" cy="118872"/>
          </a:xfrm>
          <a:prstGeom prst="ellipse">
            <a:avLst/>
          </a:prstGeom>
          <a:solidFill>
            <a:srgbClr val="F3F6F9"/>
          </a:solidFill>
          <a:ln w="9525">
            <a:solidFill>
              <a:srgbClr val="DCE4EC"/>
            </a:solidFill>
            <a:prstDash val="solid"/>
          </a:ln>
        </p:spPr>
      </p:sp>
      <p:sp>
        <p:nvSpPr>
          <p:cNvPr id="28" name="Shape 25"/>
          <p:cNvSpPr/>
          <p:nvPr/>
        </p:nvSpPr>
        <p:spPr>
          <a:xfrm>
            <a:off x="10792663" y="585216"/>
            <a:ext cx="118872" cy="118872"/>
          </a:xfrm>
          <a:prstGeom prst="ellipse">
            <a:avLst/>
          </a:prstGeom>
          <a:solidFill>
            <a:srgbClr val="F3F6F9"/>
          </a:solidFill>
          <a:ln w="9525">
            <a:solidFill>
              <a:srgbClr val="DCE4EC"/>
            </a:solidFill>
            <a:prstDash val="solid"/>
          </a:ln>
        </p:spPr>
      </p:sp>
      <p:sp>
        <p:nvSpPr>
          <p:cNvPr id="29" name="Shape 26"/>
          <p:cNvSpPr/>
          <p:nvPr/>
        </p:nvSpPr>
        <p:spPr>
          <a:xfrm>
            <a:off x="10975543" y="585216"/>
            <a:ext cx="118872" cy="118872"/>
          </a:xfrm>
          <a:prstGeom prst="ellipse">
            <a:avLst/>
          </a:prstGeom>
          <a:solidFill>
            <a:srgbClr val="F3F6F9"/>
          </a:solidFill>
          <a:ln w="9525">
            <a:solidFill>
              <a:srgbClr val="DCE4EC"/>
            </a:solidFill>
            <a:prstDash val="solid"/>
          </a:ln>
        </p:spPr>
      </p:sp>
      <p:sp>
        <p:nvSpPr>
          <p:cNvPr id="30" name="Shape 27"/>
          <p:cNvSpPr/>
          <p:nvPr/>
        </p:nvSpPr>
        <p:spPr>
          <a:xfrm>
            <a:off x="11158423" y="585216"/>
            <a:ext cx="118872" cy="118872"/>
          </a:xfrm>
          <a:prstGeom prst="ellipse">
            <a:avLst/>
          </a:prstGeom>
          <a:solidFill>
            <a:srgbClr val="F3F6F9"/>
          </a:solidFill>
          <a:ln w="9525">
            <a:solidFill>
              <a:srgbClr val="DCE4EC"/>
            </a:solidFill>
            <a:prstDash val="solid"/>
          </a:ln>
        </p:spPr>
      </p:sp>
      <p:sp>
        <p:nvSpPr>
          <p:cNvPr id="31" name="Shape 28"/>
          <p:cNvSpPr/>
          <p:nvPr/>
        </p:nvSpPr>
        <p:spPr>
          <a:xfrm>
            <a:off x="11341303" y="585216"/>
            <a:ext cx="118872" cy="118872"/>
          </a:xfrm>
          <a:prstGeom prst="ellipse">
            <a:avLst/>
          </a:prstGeom>
          <a:solidFill>
            <a:srgbClr val="F3F6F9"/>
          </a:solidFill>
          <a:ln w="9525">
            <a:solidFill>
              <a:srgbClr val="DCE4EC"/>
            </a:solidFill>
            <a:prstDash val="solid"/>
          </a:ln>
        </p:spPr>
      </p:sp>
      <p:sp>
        <p:nvSpPr>
          <p:cNvPr id="32" name="Shape 29"/>
          <p:cNvSpPr/>
          <p:nvPr/>
        </p:nvSpPr>
        <p:spPr>
          <a:xfrm>
            <a:off x="11524183" y="585216"/>
            <a:ext cx="118872" cy="118872"/>
          </a:xfrm>
          <a:prstGeom prst="ellipse">
            <a:avLst/>
          </a:prstGeom>
          <a:solidFill>
            <a:srgbClr val="F3F6F9"/>
          </a:solidFill>
          <a:ln w="9525">
            <a:solidFill>
              <a:srgbClr val="DCE4EC"/>
            </a:solidFill>
            <a:prstDash val="solid"/>
          </a:ln>
        </p:spPr>
      </p:sp>
      <p:sp>
        <p:nvSpPr>
          <p:cNvPr id="33" name="Text 30"/>
          <p:cNvSpPr txBox="1"/>
          <p:nvPr/>
        </p:nvSpPr>
        <p:spPr>
          <a:xfrm>
            <a:off x="9146743" y="768096"/>
            <a:ext cx="2496312" cy="201168"/>
          </a:xfrm>
          <a:prstGeom prst="rect">
            <a:avLst/>
          </a:prstGeom>
          <a:noFill/>
          <a:ln/>
        </p:spPr>
        <p:txBody>
          <a:bodyPr wrap="square" lIns="0" tIns="0" rIns="0" bIns="0" rtlCol="0" anchor="ctr"/>
          <a:lstStyle/>
          <a:p>
            <a:pPr algn="r" indent="0" marL="0">
              <a:buNone/>
            </a:pPr>
            <a:r>
              <a:rPr lang="en-US" sz="950" dirty="0">
                <a:solidFill>
                  <a:srgbClr val="5E6D7D"/>
                </a:solidFill>
                <a:latin typeface="Calibri" pitchFamily="34" charset="0"/>
                <a:ea typeface="Calibri" pitchFamily="34" charset="-122"/>
                <a:cs typeface="Calibri" pitchFamily="34" charset="-120"/>
              </a:rPr>
              <a:t>Screen 5 of 14</a:t>
            </a:r>
            <a:endParaRPr lang="en-US" sz="950" dirty="0"/>
          </a:p>
        </p:txBody>
      </p:sp>
      <p:sp>
        <p:nvSpPr>
          <p:cNvPr id="34" name="Text 31"/>
          <p:cNvSpPr txBox="1"/>
          <p:nvPr/>
        </p:nvSpPr>
        <p:spPr>
          <a:xfrm>
            <a:off x="4434840" y="1170432"/>
            <a:ext cx="7208215" cy="237744"/>
          </a:xfrm>
          <a:prstGeom prst="rect">
            <a:avLst/>
          </a:prstGeom>
          <a:noFill/>
          <a:ln/>
        </p:spPr>
        <p:txBody>
          <a:bodyPr wrap="square" lIns="0" tIns="0" rIns="0" bIns="0" rtlCol="0" anchor="ctr"/>
          <a:lstStyle/>
          <a:p>
            <a:pPr indent="0" marL="0">
              <a:buNone/>
            </a:pPr>
            <a:r>
              <a:rPr lang="en-US" sz="1100" b="1" spc="200" kern="0" dirty="0">
                <a:solidFill>
                  <a:srgbClr val="00A896"/>
                </a:solidFill>
                <a:latin typeface="Calibri" pitchFamily="34" charset="0"/>
                <a:ea typeface="Calibri" pitchFamily="34" charset="-122"/>
                <a:cs typeface="Calibri" pitchFamily="34" charset="-120"/>
              </a:rPr>
              <a:t>LIVE MAP</a:t>
            </a:r>
            <a:endParaRPr lang="en-US" sz="1100" dirty="0"/>
          </a:p>
        </p:txBody>
      </p:sp>
      <p:sp>
        <p:nvSpPr>
          <p:cNvPr id="35" name="Text 32"/>
          <p:cNvSpPr txBox="1"/>
          <p:nvPr/>
        </p:nvSpPr>
        <p:spPr>
          <a:xfrm>
            <a:off x="4434840" y="1463040"/>
            <a:ext cx="7208215" cy="457200"/>
          </a:xfrm>
          <a:prstGeom prst="rect">
            <a:avLst/>
          </a:prstGeom>
          <a:noFill/>
          <a:ln/>
        </p:spPr>
        <p:txBody>
          <a:bodyPr wrap="square" lIns="0" tIns="0" rIns="0" bIns="0" rtlCol="0" anchor="t"/>
          <a:lstStyle/>
          <a:p>
            <a:pPr indent="0" marL="0">
              <a:buNone/>
            </a:pPr>
            <a:r>
              <a:rPr lang="en-US" sz="3000" b="1" dirty="0">
                <a:solidFill>
                  <a:srgbClr val="16202B"/>
                </a:solidFill>
                <a:latin typeface="Calibri" pitchFamily="34" charset="0"/>
                <a:ea typeface="Calibri" pitchFamily="34" charset="-122"/>
                <a:cs typeface="Calibri" pitchFamily="34" charset="-120"/>
              </a:rPr>
              <a:t>The cab and every rider waiting for it</a:t>
            </a:r>
            <a:endParaRPr lang="en-US" sz="3000" dirty="0"/>
          </a:p>
        </p:txBody>
      </p:sp>
      <p:sp>
        <p:nvSpPr>
          <p:cNvPr id="36" name="Text 33"/>
          <p:cNvSpPr txBox="1"/>
          <p:nvPr/>
        </p:nvSpPr>
        <p:spPr>
          <a:xfrm>
            <a:off x="4434840" y="2048256"/>
            <a:ext cx="7208215" cy="237744"/>
          </a:xfrm>
          <a:prstGeom prst="rect">
            <a:avLst/>
          </a:prstGeom>
          <a:noFill/>
          <a:ln/>
        </p:spPr>
        <p:txBody>
          <a:bodyPr wrap="square" lIns="0" tIns="0" rIns="0" bIns="0" rtlCol="0" anchor="t"/>
          <a:lstStyle/>
          <a:p>
            <a:pPr indent="0" marL="0">
              <a:buNone/>
            </a:pPr>
            <a:r>
              <a:rPr lang="en-US" sz="1500" dirty="0">
                <a:solidFill>
                  <a:srgbClr val="34465A"/>
                </a:solidFill>
                <a:latin typeface="Calibri" pitchFamily="34" charset="0"/>
                <a:ea typeface="Calibri" pitchFamily="34" charset="-122"/>
                <a:cs typeface="Calibri" pitchFamily="34" charset="-120"/>
              </a:rPr>
              <a:t>A. Raghavan has booked too. Three riders now, and all three share where they are.</a:t>
            </a:r>
            <a:endParaRPr lang="en-US" sz="1500" dirty="0"/>
          </a:p>
        </p:txBody>
      </p:sp>
      <p:sp>
        <p:nvSpPr>
          <p:cNvPr id="37" name="Shape 34"/>
          <p:cNvSpPr/>
          <p:nvPr/>
        </p:nvSpPr>
        <p:spPr>
          <a:xfrm>
            <a:off x="4434840" y="2560320"/>
            <a:ext cx="7208215" cy="649224"/>
          </a:xfrm>
          <a:prstGeom prst="roundRect">
            <a:avLst>
              <a:gd name="adj" fmla="val 11268"/>
            </a:avLst>
          </a:prstGeom>
          <a:solidFill>
            <a:srgbClr val="F3F6F9"/>
          </a:solidFill>
          <a:ln w="6350">
            <a:solidFill>
              <a:srgbClr val="F3F6F9"/>
            </a:solidFill>
            <a:prstDash val="solid"/>
          </a:ln>
        </p:spPr>
      </p:sp>
      <p:sp>
        <p:nvSpPr>
          <p:cNvPr id="38" name="Shape 35"/>
          <p:cNvSpPr/>
          <p:nvPr/>
        </p:nvSpPr>
        <p:spPr>
          <a:xfrm>
            <a:off x="4599432" y="2679192"/>
            <a:ext cx="292608" cy="292608"/>
          </a:xfrm>
          <a:prstGeom prst="ellipse">
            <a:avLst/>
          </a:prstGeom>
          <a:solidFill>
            <a:srgbClr val="00A896"/>
          </a:solidFill>
          <a:ln w="15875">
            <a:solidFill>
              <a:srgbClr val="FFFFFF"/>
            </a:solidFill>
            <a:prstDash val="solid"/>
          </a:ln>
        </p:spPr>
      </p:sp>
      <p:sp>
        <p:nvSpPr>
          <p:cNvPr id="39" name="Text 36"/>
          <p:cNvSpPr txBox="1"/>
          <p:nvPr/>
        </p:nvSpPr>
        <p:spPr>
          <a:xfrm>
            <a:off x="4599432" y="2679192"/>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40" name="Text 37"/>
          <p:cNvSpPr txBox="1"/>
          <p:nvPr/>
        </p:nvSpPr>
        <p:spPr>
          <a:xfrm>
            <a:off x="5029200" y="2670048"/>
            <a:ext cx="6430975" cy="274320"/>
          </a:xfrm>
          <a:prstGeom prst="rect">
            <a:avLst/>
          </a:prstGeom>
          <a:noFill/>
          <a:ln/>
        </p:spPr>
        <p:txBody>
          <a:bodyPr wrap="square" lIns="0" tIns="0" rIns="0" bIns="0" rtlCol="0" anchor="ctr"/>
          <a:lstStyle/>
          <a:p>
            <a:pPr indent="0" marL="0">
              <a:buNone/>
            </a:pPr>
            <a:r>
              <a:rPr lang="en-US" sz="1400" b="1" dirty="0">
                <a:solidFill>
                  <a:srgbClr val="16202B"/>
                </a:solidFill>
                <a:latin typeface="Calibri" pitchFamily="34" charset="0"/>
                <a:ea typeface="Calibri" pitchFamily="34" charset="-122"/>
                <a:cs typeface="Calibri" pitchFamily="34" charset="-120"/>
              </a:rPr>
              <a:t>Live map</a:t>
            </a:r>
            <a:endParaRPr lang="en-US" sz="1400" dirty="0"/>
          </a:p>
        </p:txBody>
      </p:sp>
      <p:sp>
        <p:nvSpPr>
          <p:cNvPr id="41" name="Text 38"/>
          <p:cNvSpPr txBox="1"/>
          <p:nvPr/>
        </p:nvSpPr>
        <p:spPr>
          <a:xfrm>
            <a:off x="5029200" y="2944368"/>
            <a:ext cx="6430975" cy="192024"/>
          </a:xfrm>
          <a:prstGeom prst="rect">
            <a:avLst/>
          </a:prstGeom>
          <a:noFill/>
          <a:ln/>
        </p:spPr>
        <p:txBody>
          <a:bodyPr wrap="square" lIns="0" tIns="0" rIns="0" bIns="0" rtlCol="0" anchor="t"/>
          <a:lstStyle/>
          <a:p>
            <a:pPr indent="0" marL="0">
              <a:buNone/>
            </a:pPr>
            <a:r>
              <a:rPr lang="en-US" sz="1200" dirty="0">
                <a:solidFill>
                  <a:srgbClr val="34465A"/>
                </a:solidFill>
                <a:latin typeface="Calibri" pitchFamily="34" charset="0"/>
                <a:ea typeface="Calibri" pitchFamily="34" charset="-122"/>
                <a:cs typeface="Calibri" pitchFamily="34" charset="-120"/>
              </a:rPr>
              <a:t>The cab, the next stop (orange) and each waiting rider by name.</a:t>
            </a:r>
            <a:endParaRPr lang="en-US" sz="1200" dirty="0"/>
          </a:p>
        </p:txBody>
      </p:sp>
      <p:sp>
        <p:nvSpPr>
          <p:cNvPr id="42" name="Shape 39"/>
          <p:cNvSpPr/>
          <p:nvPr/>
        </p:nvSpPr>
        <p:spPr>
          <a:xfrm>
            <a:off x="4434840" y="3319272"/>
            <a:ext cx="7208215" cy="649224"/>
          </a:xfrm>
          <a:prstGeom prst="roundRect">
            <a:avLst>
              <a:gd name="adj" fmla="val 11268"/>
            </a:avLst>
          </a:prstGeom>
          <a:solidFill>
            <a:srgbClr val="F3F6F9"/>
          </a:solidFill>
          <a:ln w="6350">
            <a:solidFill>
              <a:srgbClr val="F3F6F9"/>
            </a:solidFill>
            <a:prstDash val="solid"/>
          </a:ln>
        </p:spPr>
      </p:sp>
      <p:sp>
        <p:nvSpPr>
          <p:cNvPr id="43" name="Shape 40"/>
          <p:cNvSpPr/>
          <p:nvPr/>
        </p:nvSpPr>
        <p:spPr>
          <a:xfrm>
            <a:off x="4599432" y="3438144"/>
            <a:ext cx="292608" cy="292608"/>
          </a:xfrm>
          <a:prstGeom prst="ellipse">
            <a:avLst/>
          </a:prstGeom>
          <a:solidFill>
            <a:srgbClr val="00A896"/>
          </a:solidFill>
          <a:ln w="15875">
            <a:solidFill>
              <a:srgbClr val="FFFFFF"/>
            </a:solidFill>
            <a:prstDash val="solid"/>
          </a:ln>
        </p:spPr>
      </p:sp>
      <p:sp>
        <p:nvSpPr>
          <p:cNvPr id="44" name="Text 41"/>
          <p:cNvSpPr txBox="1"/>
          <p:nvPr/>
        </p:nvSpPr>
        <p:spPr>
          <a:xfrm>
            <a:off x="4599432" y="3438144"/>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45" name="Text 42"/>
          <p:cNvSpPr txBox="1"/>
          <p:nvPr/>
        </p:nvSpPr>
        <p:spPr>
          <a:xfrm>
            <a:off x="5029200" y="3429000"/>
            <a:ext cx="6430975" cy="274320"/>
          </a:xfrm>
          <a:prstGeom prst="rect">
            <a:avLst/>
          </a:prstGeom>
          <a:noFill/>
          <a:ln/>
        </p:spPr>
        <p:txBody>
          <a:bodyPr wrap="square" lIns="0" tIns="0" rIns="0" bIns="0" rtlCol="0" anchor="ctr"/>
          <a:lstStyle/>
          <a:p>
            <a:pPr indent="0" marL="0">
              <a:buNone/>
            </a:pPr>
            <a:r>
              <a:rPr lang="en-US" sz="1400" b="1" dirty="0">
                <a:solidFill>
                  <a:srgbClr val="16202B"/>
                </a:solidFill>
                <a:latin typeface="Calibri" pitchFamily="34" charset="0"/>
                <a:ea typeface="Calibri" pitchFamily="34" charset="-122"/>
                <a:cs typeface="Calibri" pitchFamily="34" charset="-120"/>
              </a:rPr>
              <a:t>C-12 · 480 m to Gate 2</a:t>
            </a:r>
            <a:endParaRPr lang="en-US" sz="1400" dirty="0"/>
          </a:p>
        </p:txBody>
      </p:sp>
      <p:sp>
        <p:nvSpPr>
          <p:cNvPr id="46" name="Text 43"/>
          <p:cNvSpPr txBox="1"/>
          <p:nvPr/>
        </p:nvSpPr>
        <p:spPr>
          <a:xfrm>
            <a:off x="5029200" y="3703320"/>
            <a:ext cx="6430975" cy="192024"/>
          </a:xfrm>
          <a:prstGeom prst="rect">
            <a:avLst/>
          </a:prstGeom>
          <a:noFill/>
          <a:ln/>
        </p:spPr>
        <p:txBody>
          <a:bodyPr wrap="square" lIns="0" tIns="0" rIns="0" bIns="0" rtlCol="0" anchor="t"/>
          <a:lstStyle/>
          <a:p>
            <a:pPr indent="0" marL="0">
              <a:buNone/>
            </a:pPr>
            <a:r>
              <a:rPr lang="en-US" sz="1200" dirty="0">
                <a:solidFill>
                  <a:srgbClr val="34465A"/>
                </a:solidFill>
                <a:latin typeface="Calibri" pitchFamily="34" charset="0"/>
                <a:ea typeface="Calibri" pitchFamily="34" charset="-122"/>
                <a:cs typeface="Calibri" pitchFamily="34" charset="-120"/>
              </a:rPr>
              <a:t>The cab’s distance to the next stop, and how fresh the fix is.</a:t>
            </a:r>
            <a:endParaRPr lang="en-US" sz="1200" dirty="0"/>
          </a:p>
        </p:txBody>
      </p:sp>
      <p:sp>
        <p:nvSpPr>
          <p:cNvPr id="47" name="Shape 44"/>
          <p:cNvSpPr/>
          <p:nvPr/>
        </p:nvSpPr>
        <p:spPr>
          <a:xfrm>
            <a:off x="4434840" y="4078224"/>
            <a:ext cx="7208215" cy="649224"/>
          </a:xfrm>
          <a:prstGeom prst="roundRect">
            <a:avLst>
              <a:gd name="adj" fmla="val 11268"/>
            </a:avLst>
          </a:prstGeom>
          <a:solidFill>
            <a:srgbClr val="F3F6F9"/>
          </a:solidFill>
          <a:ln w="6350">
            <a:solidFill>
              <a:srgbClr val="F3F6F9"/>
            </a:solidFill>
            <a:prstDash val="solid"/>
          </a:ln>
        </p:spPr>
      </p:sp>
      <p:sp>
        <p:nvSpPr>
          <p:cNvPr id="48" name="Shape 45"/>
          <p:cNvSpPr/>
          <p:nvPr/>
        </p:nvSpPr>
        <p:spPr>
          <a:xfrm>
            <a:off x="4599432" y="4197096"/>
            <a:ext cx="292608" cy="292608"/>
          </a:xfrm>
          <a:prstGeom prst="ellipse">
            <a:avLst/>
          </a:prstGeom>
          <a:solidFill>
            <a:srgbClr val="00A896"/>
          </a:solidFill>
          <a:ln w="15875">
            <a:solidFill>
              <a:srgbClr val="FFFFFF"/>
            </a:solidFill>
            <a:prstDash val="solid"/>
          </a:ln>
        </p:spPr>
      </p:sp>
      <p:sp>
        <p:nvSpPr>
          <p:cNvPr id="49" name="Text 46"/>
          <p:cNvSpPr txBox="1"/>
          <p:nvPr/>
        </p:nvSpPr>
        <p:spPr>
          <a:xfrm>
            <a:off x="4599432" y="4197096"/>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50" name="Text 47"/>
          <p:cNvSpPr txBox="1"/>
          <p:nvPr/>
        </p:nvSpPr>
        <p:spPr>
          <a:xfrm>
            <a:off x="5029200" y="4187952"/>
            <a:ext cx="6430975" cy="274320"/>
          </a:xfrm>
          <a:prstGeom prst="rect">
            <a:avLst/>
          </a:prstGeom>
          <a:noFill/>
          <a:ln/>
        </p:spPr>
        <p:txBody>
          <a:bodyPr wrap="square" lIns="0" tIns="0" rIns="0" bIns="0" rtlCol="0" anchor="ctr"/>
          <a:lstStyle/>
          <a:p>
            <a:pPr indent="0" marL="0">
              <a:buNone/>
            </a:pPr>
            <a:r>
              <a:rPr lang="en-US" sz="1400" b="1" dirty="0">
                <a:solidFill>
                  <a:srgbClr val="16202B"/>
                </a:solidFill>
                <a:latin typeface="Calibri" pitchFamily="34" charset="0"/>
                <a:ea typeface="Calibri" pitchFamily="34" charset="-122"/>
                <a:cs typeface="Calibri" pitchFamily="34" charset="-120"/>
              </a:rPr>
              <a:t>3 of 3 waiting riders share their location</a:t>
            </a:r>
            <a:endParaRPr lang="en-US" sz="1400" dirty="0"/>
          </a:p>
        </p:txBody>
      </p:sp>
      <p:sp>
        <p:nvSpPr>
          <p:cNvPr id="51" name="Text 48"/>
          <p:cNvSpPr txBox="1"/>
          <p:nvPr/>
        </p:nvSpPr>
        <p:spPr>
          <a:xfrm>
            <a:off x="5029200" y="4462272"/>
            <a:ext cx="6430975" cy="192024"/>
          </a:xfrm>
          <a:prstGeom prst="rect">
            <a:avLst/>
          </a:prstGeom>
          <a:noFill/>
          <a:ln/>
        </p:spPr>
        <p:txBody>
          <a:bodyPr wrap="square" lIns="0" tIns="0" rIns="0" bIns="0" rtlCol="0" anchor="t"/>
          <a:lstStyle/>
          <a:p>
            <a:pPr indent="0" marL="0">
              <a:buNone/>
            </a:pPr>
            <a:r>
              <a:rPr lang="en-US" sz="1200" dirty="0">
                <a:solidFill>
                  <a:srgbClr val="34465A"/>
                </a:solidFill>
                <a:latin typeface="Calibri" pitchFamily="34" charset="0"/>
                <a:ea typeface="Calibri" pitchFamily="34" charset="-122"/>
                <a:cs typeface="Calibri" pitchFamily="34" charset="-120"/>
              </a:rPr>
              <a:t>Riders who do not share are still listed, at their pickup point.</a:t>
            </a:r>
            <a:endParaRPr lang="en-US" sz="1200" dirty="0"/>
          </a:p>
        </p:txBody>
      </p:sp>
      <p:sp>
        <p:nvSpPr>
          <p:cNvPr id="52" name="Text 49"/>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900" dirty="0">
                <a:solidFill>
                  <a:srgbClr val="5E6D7D"/>
                </a:solidFill>
                <a:latin typeface="Calibri" pitchFamily="34" charset="0"/>
                <a:ea typeface="Calibri" pitchFamily="34" charset="-122"/>
                <a:cs typeface="Calibri" pitchFamily="34" charset="-120"/>
              </a:rPr>
              <a:t>Plant Ride · Rider → Driver journey · recorded on the MVP with demo data</a:t>
            </a:r>
            <a:endParaRPr lang="en-US" sz="900" dirty="0"/>
          </a:p>
        </p:txBody>
      </p:sp>
      <p:sp>
        <p:nvSpPr>
          <p:cNvPr id="53" name="Text 50"/>
          <p:cNvSpPr txBox="1"/>
          <p:nvPr/>
        </p:nvSpPr>
        <p:spPr>
          <a:xfrm>
            <a:off x="11185855" y="6473952"/>
            <a:ext cx="457200" cy="228600"/>
          </a:xfrm>
          <a:prstGeom prst="rect">
            <a:avLst/>
          </a:prstGeom>
          <a:noFill/>
          <a:ln/>
        </p:spPr>
        <p:txBody>
          <a:bodyPr wrap="square" lIns="0" tIns="0" rIns="0" bIns="0" rtlCol="0" anchor="ctr"/>
          <a:lstStyle/>
          <a:p>
            <a:pPr algn="r" indent="0" marL="0">
              <a:buNone/>
            </a:pPr>
            <a:r>
              <a:rPr lang="en-US" sz="900" dirty="0">
                <a:solidFill>
                  <a:srgbClr val="5E6D7D"/>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50976" y="402336"/>
            <a:ext cx="2813925" cy="5961888"/>
          </a:xfrm>
          <a:prstGeom prst="roundRect">
            <a:avLst>
              <a:gd name="adj" fmla="val 5849"/>
            </a:avLst>
          </a:prstGeom>
          <a:solidFill>
            <a:srgbClr val="16202B"/>
          </a:solidFill>
          <a:ln w="9525">
            <a:solidFill>
              <a:srgbClr val="16202B"/>
            </a:solidFill>
            <a:prstDash val="solid"/>
          </a:ln>
          <a:effectLst>
            <a:outerShdw sx="100000" sy="100000" kx="0" ky="0" algn="bl" rotWithShape="0" blurRad="127000" dist="38100" dir="5400000">
              <a:srgbClr val="000000">
                <a:alpha val="20000"/>
              </a:srgbClr>
            </a:outerShdw>
          </a:effectLst>
        </p:spPr>
      </p:sp>
      <p:pic>
        <p:nvPicPr>
          <p:cNvPr id="3" name="Image 0" descr="Screenshot: d06-riders-to-pick-up">    </p:cNvPr>
          <p:cNvPicPr>
            <a:picLocks noChangeAspect="1"/>
          </p:cNvPicPr>
          <p:nvPr/>
        </p:nvPicPr>
        <p:blipFill>
          <a:blip r:embed="rId1"/>
          <a:stretch>
            <a:fillRect/>
          </a:stretch>
        </p:blipFill>
        <p:spPr>
          <a:xfrm>
            <a:off x="1005840" y="457200"/>
            <a:ext cx="2704197" cy="5852160"/>
          </a:xfrm>
          <a:prstGeom prst="rect">
            <a:avLst/>
          </a:prstGeom>
        </p:spPr>
      </p:pic>
      <p:sp>
        <p:nvSpPr>
          <p:cNvPr id="4" name="Shape 1"/>
          <p:cNvSpPr/>
          <p:nvPr/>
        </p:nvSpPr>
        <p:spPr>
          <a:xfrm>
            <a:off x="3536691" y="977238"/>
            <a:ext cx="356226" cy="914"/>
          </a:xfrm>
          <a:prstGeom prst="line">
            <a:avLst/>
          </a:prstGeom>
          <a:noFill/>
          <a:ln w="15875">
            <a:solidFill>
              <a:srgbClr val="00A896"/>
            </a:solidFill>
            <a:prstDash val="solid"/>
          </a:ln>
        </p:spPr>
      </p:sp>
      <p:sp>
        <p:nvSpPr>
          <p:cNvPr id="5" name="Shape 2"/>
          <p:cNvSpPr/>
          <p:nvPr/>
        </p:nvSpPr>
        <p:spPr>
          <a:xfrm>
            <a:off x="3495543" y="936090"/>
            <a:ext cx="82296" cy="82296"/>
          </a:xfrm>
          <a:prstGeom prst="ellipse">
            <a:avLst/>
          </a:prstGeom>
          <a:solidFill>
            <a:srgbClr val="00A896"/>
          </a:solidFill>
          <a:ln w="9525">
            <a:solidFill>
              <a:srgbClr val="FFFFFF"/>
            </a:solidFill>
            <a:prstDash val="solid"/>
          </a:ln>
        </p:spPr>
      </p:sp>
      <p:sp>
        <p:nvSpPr>
          <p:cNvPr id="6" name="Shape 3"/>
          <p:cNvSpPr/>
          <p:nvPr/>
        </p:nvSpPr>
        <p:spPr>
          <a:xfrm>
            <a:off x="3892917" y="840078"/>
            <a:ext cx="274320" cy="274320"/>
          </a:xfrm>
          <a:prstGeom prst="ellipse">
            <a:avLst/>
          </a:prstGeom>
          <a:solidFill>
            <a:srgbClr val="00A896"/>
          </a:solidFill>
          <a:ln w="15875">
            <a:solidFill>
              <a:srgbClr val="FFFFFF"/>
            </a:solidFill>
            <a:prstDash val="solid"/>
          </a:ln>
        </p:spPr>
      </p:sp>
      <p:sp>
        <p:nvSpPr>
          <p:cNvPr id="7" name="Text 4"/>
          <p:cNvSpPr txBox="1"/>
          <p:nvPr/>
        </p:nvSpPr>
        <p:spPr>
          <a:xfrm>
            <a:off x="3892917" y="84007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8" name="Shape 5"/>
          <p:cNvSpPr/>
          <p:nvPr/>
        </p:nvSpPr>
        <p:spPr>
          <a:xfrm>
            <a:off x="822960" y="1282327"/>
            <a:ext cx="522638" cy="914"/>
          </a:xfrm>
          <a:prstGeom prst="line">
            <a:avLst/>
          </a:prstGeom>
          <a:noFill/>
          <a:ln w="15875">
            <a:solidFill>
              <a:srgbClr val="00A896"/>
            </a:solidFill>
            <a:prstDash val="solid"/>
          </a:ln>
        </p:spPr>
      </p:sp>
      <p:sp>
        <p:nvSpPr>
          <p:cNvPr id="9" name="Shape 6"/>
          <p:cNvSpPr/>
          <p:nvPr/>
        </p:nvSpPr>
        <p:spPr>
          <a:xfrm>
            <a:off x="1304450" y="1241179"/>
            <a:ext cx="82296" cy="82296"/>
          </a:xfrm>
          <a:prstGeom prst="ellipse">
            <a:avLst/>
          </a:prstGeom>
          <a:solidFill>
            <a:srgbClr val="00A896"/>
          </a:solidFill>
          <a:ln w="9525">
            <a:solidFill>
              <a:srgbClr val="FFFFFF"/>
            </a:solidFill>
            <a:prstDash val="solid"/>
          </a:ln>
        </p:spPr>
      </p:sp>
      <p:sp>
        <p:nvSpPr>
          <p:cNvPr id="10" name="Shape 7"/>
          <p:cNvSpPr/>
          <p:nvPr/>
        </p:nvSpPr>
        <p:spPr>
          <a:xfrm>
            <a:off x="548640" y="1145167"/>
            <a:ext cx="274320" cy="274320"/>
          </a:xfrm>
          <a:prstGeom prst="ellipse">
            <a:avLst/>
          </a:prstGeom>
          <a:solidFill>
            <a:srgbClr val="00A896"/>
          </a:solidFill>
          <a:ln w="15875">
            <a:solidFill>
              <a:srgbClr val="FFFFFF"/>
            </a:solidFill>
            <a:prstDash val="solid"/>
          </a:ln>
        </p:spPr>
      </p:sp>
      <p:sp>
        <p:nvSpPr>
          <p:cNvPr id="11" name="Text 8"/>
          <p:cNvSpPr txBox="1"/>
          <p:nvPr/>
        </p:nvSpPr>
        <p:spPr>
          <a:xfrm>
            <a:off x="548640" y="1145167"/>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2" name="Shape 9"/>
          <p:cNvSpPr/>
          <p:nvPr/>
        </p:nvSpPr>
        <p:spPr>
          <a:xfrm>
            <a:off x="3536691" y="2405609"/>
            <a:ext cx="356226" cy="914"/>
          </a:xfrm>
          <a:prstGeom prst="line">
            <a:avLst/>
          </a:prstGeom>
          <a:noFill/>
          <a:ln w="15875">
            <a:solidFill>
              <a:srgbClr val="00A896"/>
            </a:solidFill>
            <a:prstDash val="solid"/>
          </a:ln>
        </p:spPr>
      </p:sp>
      <p:sp>
        <p:nvSpPr>
          <p:cNvPr id="13" name="Shape 10"/>
          <p:cNvSpPr/>
          <p:nvPr/>
        </p:nvSpPr>
        <p:spPr>
          <a:xfrm>
            <a:off x="3495543" y="2364461"/>
            <a:ext cx="82296" cy="82296"/>
          </a:xfrm>
          <a:prstGeom prst="ellipse">
            <a:avLst/>
          </a:prstGeom>
          <a:solidFill>
            <a:srgbClr val="00A896"/>
          </a:solidFill>
          <a:ln w="9525">
            <a:solidFill>
              <a:srgbClr val="FFFFFF"/>
            </a:solidFill>
            <a:prstDash val="solid"/>
          </a:ln>
        </p:spPr>
      </p:sp>
      <p:sp>
        <p:nvSpPr>
          <p:cNvPr id="14" name="Shape 11"/>
          <p:cNvSpPr/>
          <p:nvPr/>
        </p:nvSpPr>
        <p:spPr>
          <a:xfrm>
            <a:off x="3892917" y="2268449"/>
            <a:ext cx="274320" cy="274320"/>
          </a:xfrm>
          <a:prstGeom prst="ellipse">
            <a:avLst/>
          </a:prstGeom>
          <a:solidFill>
            <a:srgbClr val="00A896"/>
          </a:solidFill>
          <a:ln w="15875">
            <a:solidFill>
              <a:srgbClr val="FFFFFF"/>
            </a:solidFill>
            <a:prstDash val="solid"/>
          </a:ln>
        </p:spPr>
      </p:sp>
      <p:sp>
        <p:nvSpPr>
          <p:cNvPr id="15" name="Text 12"/>
          <p:cNvSpPr txBox="1"/>
          <p:nvPr/>
        </p:nvSpPr>
        <p:spPr>
          <a:xfrm>
            <a:off x="3892917" y="2268449"/>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6" name="Shape 13"/>
          <p:cNvSpPr/>
          <p:nvPr/>
        </p:nvSpPr>
        <p:spPr>
          <a:xfrm>
            <a:off x="4434840" y="457200"/>
            <a:ext cx="384048" cy="384048"/>
          </a:xfrm>
          <a:prstGeom prst="ellipse">
            <a:avLst/>
          </a:prstGeom>
          <a:solidFill>
            <a:srgbClr val="00A896"/>
          </a:solidFill>
          <a:ln w="6350">
            <a:solidFill>
              <a:srgbClr val="00A896"/>
            </a:solidFill>
            <a:prstDash val="solid"/>
          </a:ln>
        </p:spPr>
      </p:sp>
      <p:sp>
        <p:nvSpPr>
          <p:cNvPr id="17" name="Text 14"/>
          <p:cNvSpPr txBox="1"/>
          <p:nvPr/>
        </p:nvSpPr>
        <p:spPr>
          <a:xfrm>
            <a:off x="4434840" y="457200"/>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SK</a:t>
            </a:r>
            <a:endParaRPr lang="en-US" sz="1100" dirty="0"/>
          </a:p>
        </p:txBody>
      </p:sp>
      <p:sp>
        <p:nvSpPr>
          <p:cNvPr id="18" name="Text 15"/>
          <p:cNvSpPr txBox="1"/>
          <p:nvPr/>
        </p:nvSpPr>
        <p:spPr>
          <a:xfrm>
            <a:off x="4937760" y="457200"/>
            <a:ext cx="3291840" cy="384048"/>
          </a:xfrm>
          <a:prstGeom prst="rect">
            <a:avLst/>
          </a:prstGeom>
          <a:noFill/>
          <a:ln/>
        </p:spPr>
        <p:txBody>
          <a:bodyPr wrap="square" lIns="0" tIns="0" rIns="0" bIns="0" rtlCol="0" anchor="ctr"/>
          <a:lstStyle/>
          <a:p>
            <a:pPr indent="0" marL="0">
              <a:buNone/>
            </a:pPr>
            <a:r>
              <a:rPr lang="en-US" sz="1300" b="1" dirty="0">
                <a:solidFill>
                  <a:srgbClr val="00A896"/>
                </a:solidFill>
                <a:latin typeface="Calibri" pitchFamily="34" charset="0"/>
                <a:ea typeface="Calibri" pitchFamily="34" charset="-122"/>
                <a:cs typeface="Calibri" pitchFamily="34" charset="-120"/>
              </a:rPr>
              <a:t>Driver  </a:t>
            </a:r>
            <a:pPr indent="0" marL="0">
              <a:buNone/>
            </a:pPr>
            <a:r>
              <a:rPr lang="en-US" sz="1300" b="1" dirty="0">
                <a:solidFill>
                  <a:srgbClr val="16202B"/>
                </a:solidFill>
                <a:latin typeface="Calibri" pitchFamily="34" charset="0"/>
                <a:ea typeface="Calibri" pitchFamily="34" charset="-122"/>
                <a:cs typeface="Calibri" pitchFamily="34" charset="-120"/>
              </a:rPr>
              <a:t>S. Kumar</a:t>
            </a:r>
            <a:endParaRPr lang="en-US" sz="1300" dirty="0"/>
          </a:p>
        </p:txBody>
      </p:sp>
      <p:sp>
        <p:nvSpPr>
          <p:cNvPr id="19" name="Shape 16"/>
          <p:cNvSpPr/>
          <p:nvPr/>
        </p:nvSpPr>
        <p:spPr>
          <a:xfrm>
            <a:off x="9146743" y="585216"/>
            <a:ext cx="118872" cy="118872"/>
          </a:xfrm>
          <a:prstGeom prst="ellipse">
            <a:avLst/>
          </a:prstGeom>
          <a:solidFill>
            <a:srgbClr val="DDF5F1"/>
          </a:solidFill>
          <a:ln w="9525">
            <a:solidFill>
              <a:srgbClr val="00A896"/>
            </a:solidFill>
            <a:prstDash val="solid"/>
          </a:ln>
        </p:spPr>
      </p:sp>
      <p:sp>
        <p:nvSpPr>
          <p:cNvPr id="20" name="Shape 17"/>
          <p:cNvSpPr/>
          <p:nvPr/>
        </p:nvSpPr>
        <p:spPr>
          <a:xfrm>
            <a:off x="9329623" y="585216"/>
            <a:ext cx="118872" cy="118872"/>
          </a:xfrm>
          <a:prstGeom prst="ellipse">
            <a:avLst/>
          </a:prstGeom>
          <a:solidFill>
            <a:srgbClr val="DDF5F1"/>
          </a:solidFill>
          <a:ln w="9525">
            <a:solidFill>
              <a:srgbClr val="00A896"/>
            </a:solidFill>
            <a:prstDash val="solid"/>
          </a:ln>
        </p:spPr>
      </p:sp>
      <p:sp>
        <p:nvSpPr>
          <p:cNvPr id="21" name="Shape 18"/>
          <p:cNvSpPr/>
          <p:nvPr/>
        </p:nvSpPr>
        <p:spPr>
          <a:xfrm>
            <a:off x="9512503" y="585216"/>
            <a:ext cx="118872" cy="118872"/>
          </a:xfrm>
          <a:prstGeom prst="ellipse">
            <a:avLst/>
          </a:prstGeom>
          <a:solidFill>
            <a:srgbClr val="DDF5F1"/>
          </a:solidFill>
          <a:ln w="9525">
            <a:solidFill>
              <a:srgbClr val="00A896"/>
            </a:solidFill>
            <a:prstDash val="solid"/>
          </a:ln>
        </p:spPr>
      </p:sp>
      <p:sp>
        <p:nvSpPr>
          <p:cNvPr id="22" name="Shape 19"/>
          <p:cNvSpPr/>
          <p:nvPr/>
        </p:nvSpPr>
        <p:spPr>
          <a:xfrm>
            <a:off x="9695383" y="585216"/>
            <a:ext cx="118872" cy="118872"/>
          </a:xfrm>
          <a:prstGeom prst="ellipse">
            <a:avLst/>
          </a:prstGeom>
          <a:solidFill>
            <a:srgbClr val="DDF5F1"/>
          </a:solidFill>
          <a:ln w="9525">
            <a:solidFill>
              <a:srgbClr val="00A896"/>
            </a:solidFill>
            <a:prstDash val="solid"/>
          </a:ln>
        </p:spPr>
      </p:sp>
      <p:sp>
        <p:nvSpPr>
          <p:cNvPr id="23" name="Shape 20"/>
          <p:cNvSpPr/>
          <p:nvPr/>
        </p:nvSpPr>
        <p:spPr>
          <a:xfrm>
            <a:off x="9878263" y="585216"/>
            <a:ext cx="118872" cy="118872"/>
          </a:xfrm>
          <a:prstGeom prst="ellipse">
            <a:avLst/>
          </a:prstGeom>
          <a:solidFill>
            <a:srgbClr val="DDF5F1"/>
          </a:solidFill>
          <a:ln w="9525">
            <a:solidFill>
              <a:srgbClr val="00A896"/>
            </a:solidFill>
            <a:prstDash val="solid"/>
          </a:ln>
        </p:spPr>
      </p:sp>
      <p:sp>
        <p:nvSpPr>
          <p:cNvPr id="24" name="Shape 21"/>
          <p:cNvSpPr/>
          <p:nvPr/>
        </p:nvSpPr>
        <p:spPr>
          <a:xfrm>
            <a:off x="10033711" y="557784"/>
            <a:ext cx="173736" cy="173736"/>
          </a:xfrm>
          <a:prstGeom prst="ellipse">
            <a:avLst/>
          </a:prstGeom>
          <a:solidFill>
            <a:srgbClr val="00A896"/>
          </a:solidFill>
          <a:ln w="9525">
            <a:solidFill>
              <a:srgbClr val="00A896"/>
            </a:solidFill>
            <a:prstDash val="solid"/>
          </a:ln>
        </p:spPr>
      </p:sp>
      <p:sp>
        <p:nvSpPr>
          <p:cNvPr id="25" name="Shape 22"/>
          <p:cNvSpPr/>
          <p:nvPr/>
        </p:nvSpPr>
        <p:spPr>
          <a:xfrm>
            <a:off x="10244023" y="585216"/>
            <a:ext cx="118872" cy="118872"/>
          </a:xfrm>
          <a:prstGeom prst="ellipse">
            <a:avLst/>
          </a:prstGeom>
          <a:solidFill>
            <a:srgbClr val="F3F6F9"/>
          </a:solidFill>
          <a:ln w="9525">
            <a:solidFill>
              <a:srgbClr val="DCE4EC"/>
            </a:solidFill>
            <a:prstDash val="solid"/>
          </a:ln>
        </p:spPr>
      </p:sp>
      <p:sp>
        <p:nvSpPr>
          <p:cNvPr id="26" name="Shape 23"/>
          <p:cNvSpPr/>
          <p:nvPr/>
        </p:nvSpPr>
        <p:spPr>
          <a:xfrm>
            <a:off x="10426903" y="585216"/>
            <a:ext cx="118872" cy="118872"/>
          </a:xfrm>
          <a:prstGeom prst="ellipse">
            <a:avLst/>
          </a:prstGeom>
          <a:solidFill>
            <a:srgbClr val="F3F6F9"/>
          </a:solidFill>
          <a:ln w="9525">
            <a:solidFill>
              <a:srgbClr val="DCE4EC"/>
            </a:solidFill>
            <a:prstDash val="solid"/>
          </a:ln>
        </p:spPr>
      </p:sp>
      <p:sp>
        <p:nvSpPr>
          <p:cNvPr id="27" name="Shape 24"/>
          <p:cNvSpPr/>
          <p:nvPr/>
        </p:nvSpPr>
        <p:spPr>
          <a:xfrm>
            <a:off x="10609783" y="585216"/>
            <a:ext cx="118872" cy="118872"/>
          </a:xfrm>
          <a:prstGeom prst="ellipse">
            <a:avLst/>
          </a:prstGeom>
          <a:solidFill>
            <a:srgbClr val="F3F6F9"/>
          </a:solidFill>
          <a:ln w="9525">
            <a:solidFill>
              <a:srgbClr val="DCE4EC"/>
            </a:solidFill>
            <a:prstDash val="solid"/>
          </a:ln>
        </p:spPr>
      </p:sp>
      <p:sp>
        <p:nvSpPr>
          <p:cNvPr id="28" name="Shape 25"/>
          <p:cNvSpPr/>
          <p:nvPr/>
        </p:nvSpPr>
        <p:spPr>
          <a:xfrm>
            <a:off x="10792663" y="585216"/>
            <a:ext cx="118872" cy="118872"/>
          </a:xfrm>
          <a:prstGeom prst="ellipse">
            <a:avLst/>
          </a:prstGeom>
          <a:solidFill>
            <a:srgbClr val="F3F6F9"/>
          </a:solidFill>
          <a:ln w="9525">
            <a:solidFill>
              <a:srgbClr val="DCE4EC"/>
            </a:solidFill>
            <a:prstDash val="solid"/>
          </a:ln>
        </p:spPr>
      </p:sp>
      <p:sp>
        <p:nvSpPr>
          <p:cNvPr id="29" name="Shape 26"/>
          <p:cNvSpPr/>
          <p:nvPr/>
        </p:nvSpPr>
        <p:spPr>
          <a:xfrm>
            <a:off x="10975543" y="585216"/>
            <a:ext cx="118872" cy="118872"/>
          </a:xfrm>
          <a:prstGeom prst="ellipse">
            <a:avLst/>
          </a:prstGeom>
          <a:solidFill>
            <a:srgbClr val="F3F6F9"/>
          </a:solidFill>
          <a:ln w="9525">
            <a:solidFill>
              <a:srgbClr val="DCE4EC"/>
            </a:solidFill>
            <a:prstDash val="solid"/>
          </a:ln>
        </p:spPr>
      </p:sp>
      <p:sp>
        <p:nvSpPr>
          <p:cNvPr id="30" name="Shape 27"/>
          <p:cNvSpPr/>
          <p:nvPr/>
        </p:nvSpPr>
        <p:spPr>
          <a:xfrm>
            <a:off x="11158423" y="585216"/>
            <a:ext cx="118872" cy="118872"/>
          </a:xfrm>
          <a:prstGeom prst="ellipse">
            <a:avLst/>
          </a:prstGeom>
          <a:solidFill>
            <a:srgbClr val="F3F6F9"/>
          </a:solidFill>
          <a:ln w="9525">
            <a:solidFill>
              <a:srgbClr val="DCE4EC"/>
            </a:solidFill>
            <a:prstDash val="solid"/>
          </a:ln>
        </p:spPr>
      </p:sp>
      <p:sp>
        <p:nvSpPr>
          <p:cNvPr id="31" name="Shape 28"/>
          <p:cNvSpPr/>
          <p:nvPr/>
        </p:nvSpPr>
        <p:spPr>
          <a:xfrm>
            <a:off x="11341303" y="585216"/>
            <a:ext cx="118872" cy="118872"/>
          </a:xfrm>
          <a:prstGeom prst="ellipse">
            <a:avLst/>
          </a:prstGeom>
          <a:solidFill>
            <a:srgbClr val="F3F6F9"/>
          </a:solidFill>
          <a:ln w="9525">
            <a:solidFill>
              <a:srgbClr val="DCE4EC"/>
            </a:solidFill>
            <a:prstDash val="solid"/>
          </a:ln>
        </p:spPr>
      </p:sp>
      <p:sp>
        <p:nvSpPr>
          <p:cNvPr id="32" name="Shape 29"/>
          <p:cNvSpPr/>
          <p:nvPr/>
        </p:nvSpPr>
        <p:spPr>
          <a:xfrm>
            <a:off x="11524183" y="585216"/>
            <a:ext cx="118872" cy="118872"/>
          </a:xfrm>
          <a:prstGeom prst="ellipse">
            <a:avLst/>
          </a:prstGeom>
          <a:solidFill>
            <a:srgbClr val="F3F6F9"/>
          </a:solidFill>
          <a:ln w="9525">
            <a:solidFill>
              <a:srgbClr val="DCE4EC"/>
            </a:solidFill>
            <a:prstDash val="solid"/>
          </a:ln>
        </p:spPr>
      </p:sp>
      <p:sp>
        <p:nvSpPr>
          <p:cNvPr id="33" name="Text 30"/>
          <p:cNvSpPr txBox="1"/>
          <p:nvPr/>
        </p:nvSpPr>
        <p:spPr>
          <a:xfrm>
            <a:off x="9146743" y="768096"/>
            <a:ext cx="2496312" cy="201168"/>
          </a:xfrm>
          <a:prstGeom prst="rect">
            <a:avLst/>
          </a:prstGeom>
          <a:noFill/>
          <a:ln/>
        </p:spPr>
        <p:txBody>
          <a:bodyPr wrap="square" lIns="0" tIns="0" rIns="0" bIns="0" rtlCol="0" anchor="ctr"/>
          <a:lstStyle/>
          <a:p>
            <a:pPr algn="r" indent="0" marL="0">
              <a:buNone/>
            </a:pPr>
            <a:r>
              <a:rPr lang="en-US" sz="950" dirty="0">
                <a:solidFill>
                  <a:srgbClr val="5E6D7D"/>
                </a:solidFill>
                <a:latin typeface="Calibri" pitchFamily="34" charset="0"/>
                <a:ea typeface="Calibri" pitchFamily="34" charset="-122"/>
                <a:cs typeface="Calibri" pitchFamily="34" charset="-120"/>
              </a:rPr>
              <a:t>Screen 6 of 14</a:t>
            </a:r>
            <a:endParaRPr lang="en-US" sz="950" dirty="0"/>
          </a:p>
        </p:txBody>
      </p:sp>
      <p:sp>
        <p:nvSpPr>
          <p:cNvPr id="34" name="Text 31"/>
          <p:cNvSpPr txBox="1"/>
          <p:nvPr/>
        </p:nvSpPr>
        <p:spPr>
          <a:xfrm>
            <a:off x="4434840" y="1170432"/>
            <a:ext cx="7208215" cy="237744"/>
          </a:xfrm>
          <a:prstGeom prst="rect">
            <a:avLst/>
          </a:prstGeom>
          <a:noFill/>
          <a:ln/>
        </p:spPr>
        <p:txBody>
          <a:bodyPr wrap="square" lIns="0" tIns="0" rIns="0" bIns="0" rtlCol="0" anchor="ctr"/>
          <a:lstStyle/>
          <a:p>
            <a:pPr indent="0" marL="0">
              <a:buNone/>
            </a:pPr>
            <a:r>
              <a:rPr lang="en-US" sz="1100" b="1" spc="200" kern="0" dirty="0">
                <a:solidFill>
                  <a:srgbClr val="00A896"/>
                </a:solidFill>
                <a:latin typeface="Calibri" pitchFamily="34" charset="0"/>
                <a:ea typeface="Calibri" pitchFamily="34" charset="-122"/>
                <a:cs typeface="Calibri" pitchFamily="34" charset="-120"/>
              </a:rPr>
              <a:t>RIDERS TO PICK UP</a:t>
            </a:r>
            <a:endParaRPr lang="en-US" sz="1100" dirty="0"/>
          </a:p>
        </p:txBody>
      </p:sp>
      <p:sp>
        <p:nvSpPr>
          <p:cNvPr id="35" name="Text 32"/>
          <p:cNvSpPr txBox="1"/>
          <p:nvPr/>
        </p:nvSpPr>
        <p:spPr>
          <a:xfrm>
            <a:off x="4434840" y="1463040"/>
            <a:ext cx="7208215" cy="457200"/>
          </a:xfrm>
          <a:prstGeom prst="rect">
            <a:avLst/>
          </a:prstGeom>
          <a:noFill/>
          <a:ln/>
        </p:spPr>
        <p:txBody>
          <a:bodyPr wrap="square" lIns="0" tIns="0" rIns="0" bIns="0" rtlCol="0" anchor="t"/>
          <a:lstStyle/>
          <a:p>
            <a:pPr indent="0" marL="0">
              <a:buNone/>
            </a:pPr>
            <a:r>
              <a:rPr lang="en-US" sz="3000" b="1" dirty="0">
                <a:solidFill>
                  <a:srgbClr val="16202B"/>
                </a:solidFill>
                <a:latin typeface="Calibri" pitchFamily="34" charset="0"/>
                <a:ea typeface="Calibri" pitchFamily="34" charset="-122"/>
                <a:cs typeface="Calibri" pitchFamily="34" charset="-120"/>
              </a:rPr>
              <a:t>Who is waiting, and where they are now</a:t>
            </a:r>
            <a:endParaRPr lang="en-US" sz="3000" dirty="0"/>
          </a:p>
        </p:txBody>
      </p:sp>
      <p:sp>
        <p:nvSpPr>
          <p:cNvPr id="36" name="Text 33"/>
          <p:cNvSpPr txBox="1"/>
          <p:nvPr/>
        </p:nvSpPr>
        <p:spPr>
          <a:xfrm>
            <a:off x="4434840" y="2048256"/>
            <a:ext cx="7208215" cy="475488"/>
          </a:xfrm>
          <a:prstGeom prst="rect">
            <a:avLst/>
          </a:prstGeom>
          <a:noFill/>
          <a:ln/>
        </p:spPr>
        <p:txBody>
          <a:bodyPr wrap="square" lIns="0" tIns="0" rIns="0" bIns="0" rtlCol="0" anchor="t"/>
          <a:lstStyle/>
          <a:p>
            <a:pPr indent="0" marL="0">
              <a:buNone/>
            </a:pPr>
            <a:r>
              <a:rPr lang="en-US" sz="1500" dirty="0">
                <a:solidFill>
                  <a:srgbClr val="34465A"/>
                </a:solidFill>
                <a:latin typeface="Calibri" pitchFamily="34" charset="0"/>
                <a:ea typeface="Calibri" pitchFamily="34" charset="-122"/>
                <a:cs typeface="Calibri" pitchFamily="34" charset="-120"/>
              </a:rPr>
              <a:t>One card per rider: name, staff number, pickup and drop, and where their phone says they are.</a:t>
            </a:r>
            <a:endParaRPr lang="en-US" sz="1500" dirty="0"/>
          </a:p>
        </p:txBody>
      </p:sp>
      <p:sp>
        <p:nvSpPr>
          <p:cNvPr id="37" name="Shape 34"/>
          <p:cNvSpPr/>
          <p:nvPr/>
        </p:nvSpPr>
        <p:spPr>
          <a:xfrm>
            <a:off x="4434840" y="2798064"/>
            <a:ext cx="7208215" cy="649224"/>
          </a:xfrm>
          <a:prstGeom prst="roundRect">
            <a:avLst>
              <a:gd name="adj" fmla="val 11268"/>
            </a:avLst>
          </a:prstGeom>
          <a:solidFill>
            <a:srgbClr val="F3F6F9"/>
          </a:solidFill>
          <a:ln w="6350">
            <a:solidFill>
              <a:srgbClr val="F3F6F9"/>
            </a:solidFill>
            <a:prstDash val="solid"/>
          </a:ln>
        </p:spPr>
      </p:sp>
      <p:sp>
        <p:nvSpPr>
          <p:cNvPr id="38" name="Shape 35"/>
          <p:cNvSpPr/>
          <p:nvPr/>
        </p:nvSpPr>
        <p:spPr>
          <a:xfrm>
            <a:off x="4599432" y="2916936"/>
            <a:ext cx="292608" cy="292608"/>
          </a:xfrm>
          <a:prstGeom prst="ellipse">
            <a:avLst/>
          </a:prstGeom>
          <a:solidFill>
            <a:srgbClr val="00A896"/>
          </a:solidFill>
          <a:ln w="15875">
            <a:solidFill>
              <a:srgbClr val="FFFFFF"/>
            </a:solidFill>
            <a:prstDash val="solid"/>
          </a:ln>
        </p:spPr>
      </p:sp>
      <p:sp>
        <p:nvSpPr>
          <p:cNvPr id="39" name="Text 36"/>
          <p:cNvSpPr txBox="1"/>
          <p:nvPr/>
        </p:nvSpPr>
        <p:spPr>
          <a:xfrm>
            <a:off x="4599432" y="2916936"/>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40" name="Text 37"/>
          <p:cNvSpPr txBox="1"/>
          <p:nvPr/>
        </p:nvSpPr>
        <p:spPr>
          <a:xfrm>
            <a:off x="5029200" y="2907792"/>
            <a:ext cx="6430975" cy="274320"/>
          </a:xfrm>
          <a:prstGeom prst="rect">
            <a:avLst/>
          </a:prstGeom>
          <a:noFill/>
          <a:ln/>
        </p:spPr>
        <p:txBody>
          <a:bodyPr wrap="square" lIns="0" tIns="0" rIns="0" bIns="0" rtlCol="0" anchor="ctr"/>
          <a:lstStyle/>
          <a:p>
            <a:pPr indent="0" marL="0">
              <a:buNone/>
            </a:pPr>
            <a:r>
              <a:rPr lang="en-US" sz="1400" b="1" dirty="0">
                <a:solidFill>
                  <a:srgbClr val="16202B"/>
                </a:solidFill>
                <a:latin typeface="Calibri" pitchFamily="34" charset="0"/>
                <a:ea typeface="Calibri" pitchFamily="34" charset="-122"/>
                <a:cs typeface="Calibri" pitchFamily="34" charset="-120"/>
              </a:rPr>
              <a:t>Call</a:t>
            </a:r>
            <a:endParaRPr lang="en-US" sz="1400" dirty="0"/>
          </a:p>
        </p:txBody>
      </p:sp>
      <p:sp>
        <p:nvSpPr>
          <p:cNvPr id="41" name="Text 38"/>
          <p:cNvSpPr txBox="1"/>
          <p:nvPr/>
        </p:nvSpPr>
        <p:spPr>
          <a:xfrm>
            <a:off x="5029200" y="3182112"/>
            <a:ext cx="6430975" cy="192024"/>
          </a:xfrm>
          <a:prstGeom prst="rect">
            <a:avLst/>
          </a:prstGeom>
          <a:noFill/>
          <a:ln/>
        </p:spPr>
        <p:txBody>
          <a:bodyPr wrap="square" lIns="0" tIns="0" rIns="0" bIns="0" rtlCol="0" anchor="t"/>
          <a:lstStyle/>
          <a:p>
            <a:pPr indent="0" marL="0">
              <a:buNone/>
            </a:pPr>
            <a:r>
              <a:rPr lang="en-US" sz="1200" dirty="0">
                <a:solidFill>
                  <a:srgbClr val="34465A"/>
                </a:solidFill>
                <a:latin typeface="Calibri" pitchFamily="34" charset="0"/>
                <a:ea typeface="Calibri" pitchFamily="34" charset="-122"/>
                <a:cs typeface="Calibri" pitchFamily="34" charset="-120"/>
              </a:rPr>
              <a:t>One tap to phone the rider.</a:t>
            </a:r>
            <a:endParaRPr lang="en-US" sz="1200" dirty="0"/>
          </a:p>
        </p:txBody>
      </p:sp>
      <p:sp>
        <p:nvSpPr>
          <p:cNvPr id="42" name="Shape 39"/>
          <p:cNvSpPr/>
          <p:nvPr/>
        </p:nvSpPr>
        <p:spPr>
          <a:xfrm>
            <a:off x="4434840" y="3557016"/>
            <a:ext cx="7208215" cy="649224"/>
          </a:xfrm>
          <a:prstGeom prst="roundRect">
            <a:avLst>
              <a:gd name="adj" fmla="val 11268"/>
            </a:avLst>
          </a:prstGeom>
          <a:solidFill>
            <a:srgbClr val="F3F6F9"/>
          </a:solidFill>
          <a:ln w="6350">
            <a:solidFill>
              <a:srgbClr val="F3F6F9"/>
            </a:solidFill>
            <a:prstDash val="solid"/>
          </a:ln>
        </p:spPr>
      </p:sp>
      <p:sp>
        <p:nvSpPr>
          <p:cNvPr id="43" name="Shape 40"/>
          <p:cNvSpPr/>
          <p:nvPr/>
        </p:nvSpPr>
        <p:spPr>
          <a:xfrm>
            <a:off x="4599432" y="3675888"/>
            <a:ext cx="292608" cy="292608"/>
          </a:xfrm>
          <a:prstGeom prst="ellipse">
            <a:avLst/>
          </a:prstGeom>
          <a:solidFill>
            <a:srgbClr val="00A896"/>
          </a:solidFill>
          <a:ln w="15875">
            <a:solidFill>
              <a:srgbClr val="FFFFFF"/>
            </a:solidFill>
            <a:prstDash val="solid"/>
          </a:ln>
        </p:spPr>
      </p:sp>
      <p:sp>
        <p:nvSpPr>
          <p:cNvPr id="44" name="Text 41"/>
          <p:cNvSpPr txBox="1"/>
          <p:nvPr/>
        </p:nvSpPr>
        <p:spPr>
          <a:xfrm>
            <a:off x="4599432" y="3675888"/>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45" name="Text 42"/>
          <p:cNvSpPr txBox="1"/>
          <p:nvPr/>
        </p:nvSpPr>
        <p:spPr>
          <a:xfrm>
            <a:off x="5029200" y="3666744"/>
            <a:ext cx="6430975" cy="274320"/>
          </a:xfrm>
          <a:prstGeom prst="rect">
            <a:avLst/>
          </a:prstGeom>
          <a:noFill/>
          <a:ln/>
        </p:spPr>
        <p:txBody>
          <a:bodyPr wrap="square" lIns="0" tIns="0" rIns="0" bIns="0" rtlCol="0" anchor="ctr"/>
          <a:lstStyle/>
          <a:p>
            <a:pPr indent="0" marL="0">
              <a:buNone/>
            </a:pPr>
            <a:r>
              <a:rPr lang="en-US" sz="1400" b="1" dirty="0">
                <a:solidFill>
                  <a:srgbClr val="16202B"/>
                </a:solidFill>
                <a:latin typeface="Calibri" pitchFamily="34" charset="0"/>
                <a:ea typeface="Calibri" pitchFamily="34" charset="-122"/>
                <a:cs typeface="Calibri" pitchFamily="34" charset="-120"/>
              </a:rPr>
              <a:t>At the Gate 2 pickup point</a:t>
            </a:r>
            <a:endParaRPr lang="en-US" sz="1400" dirty="0"/>
          </a:p>
        </p:txBody>
      </p:sp>
      <p:sp>
        <p:nvSpPr>
          <p:cNvPr id="46" name="Text 43"/>
          <p:cNvSpPr txBox="1"/>
          <p:nvPr/>
        </p:nvSpPr>
        <p:spPr>
          <a:xfrm>
            <a:off x="5029200" y="3941064"/>
            <a:ext cx="6430975" cy="192024"/>
          </a:xfrm>
          <a:prstGeom prst="rect">
            <a:avLst/>
          </a:prstGeom>
          <a:noFill/>
          <a:ln/>
        </p:spPr>
        <p:txBody>
          <a:bodyPr wrap="square" lIns="0" tIns="0" rIns="0" bIns="0" rtlCol="0" anchor="t"/>
          <a:lstStyle/>
          <a:p>
            <a:pPr indent="0" marL="0">
              <a:buNone/>
            </a:pPr>
            <a:r>
              <a:rPr lang="en-US" sz="1200" dirty="0">
                <a:solidFill>
                  <a:srgbClr val="34465A"/>
                </a:solidFill>
                <a:latin typeface="Calibri" pitchFamily="34" charset="0"/>
                <a:ea typeface="Calibri" pitchFamily="34" charset="-122"/>
                <a:cs typeface="Calibri" pitchFamily="34" charset="-120"/>
              </a:rPr>
              <a:t>M. Iyer is inside the pickup radius, 450 m from the cab.</a:t>
            </a:r>
            <a:endParaRPr lang="en-US" sz="1200" dirty="0"/>
          </a:p>
        </p:txBody>
      </p:sp>
      <p:sp>
        <p:nvSpPr>
          <p:cNvPr id="47" name="Shape 44"/>
          <p:cNvSpPr/>
          <p:nvPr/>
        </p:nvSpPr>
        <p:spPr>
          <a:xfrm>
            <a:off x="4434840" y="4315968"/>
            <a:ext cx="7208215" cy="649224"/>
          </a:xfrm>
          <a:prstGeom prst="roundRect">
            <a:avLst>
              <a:gd name="adj" fmla="val 11268"/>
            </a:avLst>
          </a:prstGeom>
          <a:solidFill>
            <a:srgbClr val="F3F6F9"/>
          </a:solidFill>
          <a:ln w="6350">
            <a:solidFill>
              <a:srgbClr val="F3F6F9"/>
            </a:solidFill>
            <a:prstDash val="solid"/>
          </a:ln>
        </p:spPr>
      </p:sp>
      <p:sp>
        <p:nvSpPr>
          <p:cNvPr id="48" name="Shape 45"/>
          <p:cNvSpPr/>
          <p:nvPr/>
        </p:nvSpPr>
        <p:spPr>
          <a:xfrm>
            <a:off x="4599432" y="4434840"/>
            <a:ext cx="292608" cy="292608"/>
          </a:xfrm>
          <a:prstGeom prst="ellipse">
            <a:avLst/>
          </a:prstGeom>
          <a:solidFill>
            <a:srgbClr val="00A896"/>
          </a:solidFill>
          <a:ln w="15875">
            <a:solidFill>
              <a:srgbClr val="FFFFFF"/>
            </a:solidFill>
            <a:prstDash val="solid"/>
          </a:ln>
        </p:spPr>
      </p:sp>
      <p:sp>
        <p:nvSpPr>
          <p:cNvPr id="49" name="Text 46"/>
          <p:cNvSpPr txBox="1"/>
          <p:nvPr/>
        </p:nvSpPr>
        <p:spPr>
          <a:xfrm>
            <a:off x="4599432" y="443484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50" name="Text 47"/>
          <p:cNvSpPr txBox="1"/>
          <p:nvPr/>
        </p:nvSpPr>
        <p:spPr>
          <a:xfrm>
            <a:off x="5029200" y="4425696"/>
            <a:ext cx="6430975" cy="274320"/>
          </a:xfrm>
          <a:prstGeom prst="rect">
            <a:avLst/>
          </a:prstGeom>
          <a:noFill/>
          <a:ln/>
        </p:spPr>
        <p:txBody>
          <a:bodyPr wrap="square" lIns="0" tIns="0" rIns="0" bIns="0" rtlCol="0" anchor="ctr"/>
          <a:lstStyle/>
          <a:p>
            <a:pPr indent="0" marL="0">
              <a:buNone/>
            </a:pPr>
            <a:r>
              <a:rPr lang="en-US" sz="1400" b="1" dirty="0">
                <a:solidFill>
                  <a:srgbClr val="16202B"/>
                </a:solidFill>
                <a:latin typeface="Calibri" pitchFamily="34" charset="0"/>
                <a:ea typeface="Calibri" pitchFamily="34" charset="-122"/>
                <a:cs typeface="Calibri" pitchFamily="34" charset="-120"/>
              </a:rPr>
              <a:t>110 m from Gate 2 · Directions</a:t>
            </a:r>
            <a:endParaRPr lang="en-US" sz="1400" dirty="0"/>
          </a:p>
        </p:txBody>
      </p:sp>
      <p:sp>
        <p:nvSpPr>
          <p:cNvPr id="51" name="Text 48"/>
          <p:cNvSpPr txBox="1"/>
          <p:nvPr/>
        </p:nvSpPr>
        <p:spPr>
          <a:xfrm>
            <a:off x="5029200" y="4700016"/>
            <a:ext cx="6430975" cy="192024"/>
          </a:xfrm>
          <a:prstGeom prst="rect">
            <a:avLst/>
          </a:prstGeom>
          <a:noFill/>
          <a:ln/>
        </p:spPr>
        <p:txBody>
          <a:bodyPr wrap="square" lIns="0" tIns="0" rIns="0" bIns="0" rtlCol="0" anchor="t"/>
          <a:lstStyle/>
          <a:p>
            <a:pPr indent="0" marL="0">
              <a:buNone/>
            </a:pPr>
            <a:r>
              <a:rPr lang="en-US" sz="1200" dirty="0">
                <a:solidFill>
                  <a:srgbClr val="34465A"/>
                </a:solidFill>
                <a:latin typeface="Calibri" pitchFamily="34" charset="0"/>
                <a:ea typeface="Calibri" pitchFamily="34" charset="-122"/>
                <a:cs typeface="Calibri" pitchFamily="34" charset="-120"/>
              </a:rPr>
              <a:t>S. Banerjee is still walking up; Directions opens Google Maps.</a:t>
            </a:r>
            <a:endParaRPr lang="en-US" sz="1200" dirty="0"/>
          </a:p>
        </p:txBody>
      </p:sp>
      <p:sp>
        <p:nvSpPr>
          <p:cNvPr id="52" name="Text 49"/>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900" dirty="0">
                <a:solidFill>
                  <a:srgbClr val="5E6D7D"/>
                </a:solidFill>
                <a:latin typeface="Calibri" pitchFamily="34" charset="0"/>
                <a:ea typeface="Calibri" pitchFamily="34" charset="-122"/>
                <a:cs typeface="Calibri" pitchFamily="34" charset="-120"/>
              </a:rPr>
              <a:t>Plant Ride · Rider → Driver journey · recorded on the MVP with demo data</a:t>
            </a:r>
            <a:endParaRPr lang="en-US" sz="900" dirty="0"/>
          </a:p>
        </p:txBody>
      </p:sp>
      <p:sp>
        <p:nvSpPr>
          <p:cNvPr id="53" name="Text 50"/>
          <p:cNvSpPr txBox="1"/>
          <p:nvPr/>
        </p:nvSpPr>
        <p:spPr>
          <a:xfrm>
            <a:off x="11185855" y="6473952"/>
            <a:ext cx="457200" cy="228600"/>
          </a:xfrm>
          <a:prstGeom prst="rect">
            <a:avLst/>
          </a:prstGeom>
          <a:noFill/>
          <a:ln/>
        </p:spPr>
        <p:txBody>
          <a:bodyPr wrap="square" lIns="0" tIns="0" rIns="0" bIns="0" rtlCol="0" anchor="ctr"/>
          <a:lstStyle/>
          <a:p>
            <a:pPr algn="r" indent="0" marL="0">
              <a:buNone/>
            </a:pPr>
            <a:r>
              <a:rPr lang="en-US" sz="900" dirty="0">
                <a:solidFill>
                  <a:srgbClr val="5E6D7D"/>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50976" y="402336"/>
            <a:ext cx="2813925" cy="5961888"/>
          </a:xfrm>
          <a:prstGeom prst="roundRect">
            <a:avLst>
              <a:gd name="adj" fmla="val 5849"/>
            </a:avLst>
          </a:prstGeom>
          <a:solidFill>
            <a:srgbClr val="16202B"/>
          </a:solidFill>
          <a:ln w="9525">
            <a:solidFill>
              <a:srgbClr val="16202B"/>
            </a:solidFill>
            <a:prstDash val="solid"/>
          </a:ln>
          <a:effectLst>
            <a:outerShdw sx="100000" sy="100000" kx="0" ky="0" algn="bl" rotWithShape="0" blurRad="127000" dist="38100" dir="5400000">
              <a:srgbClr val="000000">
                <a:alpha val="20000"/>
              </a:srgbClr>
            </a:outerShdw>
          </a:effectLst>
        </p:spPr>
      </p:sp>
      <p:pic>
        <p:nvPicPr>
          <p:cNvPr id="3" name="Image 0" descr="Screenshot: d07-at-gate2">    </p:cNvPr>
          <p:cNvPicPr>
            <a:picLocks noChangeAspect="1"/>
          </p:cNvPicPr>
          <p:nvPr/>
        </p:nvPicPr>
        <p:blipFill>
          <a:blip r:embed="rId1"/>
          <a:stretch>
            <a:fillRect/>
          </a:stretch>
        </p:blipFill>
        <p:spPr>
          <a:xfrm>
            <a:off x="1005840" y="457200"/>
            <a:ext cx="2704197" cy="5852160"/>
          </a:xfrm>
          <a:prstGeom prst="rect">
            <a:avLst/>
          </a:prstGeom>
        </p:spPr>
      </p:pic>
      <p:sp>
        <p:nvSpPr>
          <p:cNvPr id="4" name="Shape 1"/>
          <p:cNvSpPr/>
          <p:nvPr/>
        </p:nvSpPr>
        <p:spPr>
          <a:xfrm>
            <a:off x="822960" y="1282327"/>
            <a:ext cx="522638" cy="914"/>
          </a:xfrm>
          <a:prstGeom prst="line">
            <a:avLst/>
          </a:prstGeom>
          <a:noFill/>
          <a:ln w="15875">
            <a:solidFill>
              <a:srgbClr val="00A896"/>
            </a:solidFill>
            <a:prstDash val="solid"/>
          </a:ln>
        </p:spPr>
      </p:sp>
      <p:sp>
        <p:nvSpPr>
          <p:cNvPr id="5" name="Shape 2"/>
          <p:cNvSpPr/>
          <p:nvPr/>
        </p:nvSpPr>
        <p:spPr>
          <a:xfrm>
            <a:off x="1304450" y="1241179"/>
            <a:ext cx="82296" cy="82296"/>
          </a:xfrm>
          <a:prstGeom prst="ellipse">
            <a:avLst/>
          </a:prstGeom>
          <a:solidFill>
            <a:srgbClr val="00A896"/>
          </a:solidFill>
          <a:ln w="9525">
            <a:solidFill>
              <a:srgbClr val="FFFFFF"/>
            </a:solidFill>
            <a:prstDash val="solid"/>
          </a:ln>
        </p:spPr>
      </p:sp>
      <p:sp>
        <p:nvSpPr>
          <p:cNvPr id="6" name="Shape 3"/>
          <p:cNvSpPr/>
          <p:nvPr/>
        </p:nvSpPr>
        <p:spPr>
          <a:xfrm>
            <a:off x="548640" y="1145167"/>
            <a:ext cx="274320" cy="274320"/>
          </a:xfrm>
          <a:prstGeom prst="ellipse">
            <a:avLst/>
          </a:prstGeom>
          <a:solidFill>
            <a:srgbClr val="00A896"/>
          </a:solidFill>
          <a:ln w="15875">
            <a:solidFill>
              <a:srgbClr val="FFFFFF"/>
            </a:solidFill>
            <a:prstDash val="solid"/>
          </a:ln>
        </p:spPr>
      </p:sp>
      <p:sp>
        <p:nvSpPr>
          <p:cNvPr id="7" name="Text 4"/>
          <p:cNvSpPr txBox="1"/>
          <p:nvPr/>
        </p:nvSpPr>
        <p:spPr>
          <a:xfrm>
            <a:off x="548640" y="1145167"/>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8" name="Shape 5"/>
          <p:cNvSpPr/>
          <p:nvPr/>
        </p:nvSpPr>
        <p:spPr>
          <a:xfrm>
            <a:off x="822960" y="1795431"/>
            <a:ext cx="356226" cy="914"/>
          </a:xfrm>
          <a:prstGeom prst="line">
            <a:avLst/>
          </a:prstGeom>
          <a:noFill/>
          <a:ln w="15875">
            <a:solidFill>
              <a:srgbClr val="00A896"/>
            </a:solidFill>
            <a:prstDash val="solid"/>
          </a:ln>
        </p:spPr>
      </p:sp>
      <p:sp>
        <p:nvSpPr>
          <p:cNvPr id="9" name="Shape 6"/>
          <p:cNvSpPr/>
          <p:nvPr/>
        </p:nvSpPr>
        <p:spPr>
          <a:xfrm>
            <a:off x="1138038" y="1754283"/>
            <a:ext cx="82296" cy="82296"/>
          </a:xfrm>
          <a:prstGeom prst="ellipse">
            <a:avLst/>
          </a:prstGeom>
          <a:solidFill>
            <a:srgbClr val="00A896"/>
          </a:solidFill>
          <a:ln w="9525">
            <a:solidFill>
              <a:srgbClr val="FFFFFF"/>
            </a:solidFill>
            <a:prstDash val="solid"/>
          </a:ln>
        </p:spPr>
      </p:sp>
      <p:sp>
        <p:nvSpPr>
          <p:cNvPr id="10" name="Shape 7"/>
          <p:cNvSpPr/>
          <p:nvPr/>
        </p:nvSpPr>
        <p:spPr>
          <a:xfrm>
            <a:off x="548640" y="1658271"/>
            <a:ext cx="274320" cy="274320"/>
          </a:xfrm>
          <a:prstGeom prst="ellipse">
            <a:avLst/>
          </a:prstGeom>
          <a:solidFill>
            <a:srgbClr val="00A896"/>
          </a:solidFill>
          <a:ln w="15875">
            <a:solidFill>
              <a:srgbClr val="FFFFFF"/>
            </a:solidFill>
            <a:prstDash val="solid"/>
          </a:ln>
        </p:spPr>
      </p:sp>
      <p:sp>
        <p:nvSpPr>
          <p:cNvPr id="11" name="Text 8"/>
          <p:cNvSpPr txBox="1"/>
          <p:nvPr/>
        </p:nvSpPr>
        <p:spPr>
          <a:xfrm>
            <a:off x="548640" y="1658271"/>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2" name="Shape 9"/>
          <p:cNvSpPr/>
          <p:nvPr/>
        </p:nvSpPr>
        <p:spPr>
          <a:xfrm>
            <a:off x="822960" y="2183726"/>
            <a:ext cx="1149717" cy="914"/>
          </a:xfrm>
          <a:prstGeom prst="line">
            <a:avLst/>
          </a:prstGeom>
          <a:noFill/>
          <a:ln w="15875">
            <a:solidFill>
              <a:srgbClr val="00A896"/>
            </a:solidFill>
            <a:prstDash val="solid"/>
          </a:ln>
        </p:spPr>
      </p:sp>
      <p:sp>
        <p:nvSpPr>
          <p:cNvPr id="13" name="Shape 10"/>
          <p:cNvSpPr/>
          <p:nvPr/>
        </p:nvSpPr>
        <p:spPr>
          <a:xfrm>
            <a:off x="1931529" y="2142578"/>
            <a:ext cx="82296" cy="82296"/>
          </a:xfrm>
          <a:prstGeom prst="ellipse">
            <a:avLst/>
          </a:prstGeom>
          <a:solidFill>
            <a:srgbClr val="00A896"/>
          </a:solidFill>
          <a:ln w="9525">
            <a:solidFill>
              <a:srgbClr val="FFFFFF"/>
            </a:solidFill>
            <a:prstDash val="solid"/>
          </a:ln>
        </p:spPr>
      </p:sp>
      <p:sp>
        <p:nvSpPr>
          <p:cNvPr id="14" name="Shape 11"/>
          <p:cNvSpPr/>
          <p:nvPr/>
        </p:nvSpPr>
        <p:spPr>
          <a:xfrm>
            <a:off x="548640" y="2046566"/>
            <a:ext cx="274320" cy="274320"/>
          </a:xfrm>
          <a:prstGeom prst="ellipse">
            <a:avLst/>
          </a:prstGeom>
          <a:solidFill>
            <a:srgbClr val="00A896"/>
          </a:solidFill>
          <a:ln w="15875">
            <a:solidFill>
              <a:srgbClr val="FFFFFF"/>
            </a:solidFill>
            <a:prstDash val="solid"/>
          </a:ln>
        </p:spPr>
      </p:sp>
      <p:sp>
        <p:nvSpPr>
          <p:cNvPr id="15" name="Text 12"/>
          <p:cNvSpPr txBox="1"/>
          <p:nvPr/>
        </p:nvSpPr>
        <p:spPr>
          <a:xfrm>
            <a:off x="548640" y="204656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6" name="Shape 13"/>
          <p:cNvSpPr/>
          <p:nvPr/>
        </p:nvSpPr>
        <p:spPr>
          <a:xfrm>
            <a:off x="4434840" y="457200"/>
            <a:ext cx="384048" cy="384048"/>
          </a:xfrm>
          <a:prstGeom prst="ellipse">
            <a:avLst/>
          </a:prstGeom>
          <a:solidFill>
            <a:srgbClr val="00A896"/>
          </a:solidFill>
          <a:ln w="6350">
            <a:solidFill>
              <a:srgbClr val="00A896"/>
            </a:solidFill>
            <a:prstDash val="solid"/>
          </a:ln>
        </p:spPr>
      </p:sp>
      <p:sp>
        <p:nvSpPr>
          <p:cNvPr id="17" name="Text 14"/>
          <p:cNvSpPr txBox="1"/>
          <p:nvPr/>
        </p:nvSpPr>
        <p:spPr>
          <a:xfrm>
            <a:off x="4434840" y="457200"/>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SK</a:t>
            </a:r>
            <a:endParaRPr lang="en-US" sz="1100" dirty="0"/>
          </a:p>
        </p:txBody>
      </p:sp>
      <p:sp>
        <p:nvSpPr>
          <p:cNvPr id="18" name="Text 15"/>
          <p:cNvSpPr txBox="1"/>
          <p:nvPr/>
        </p:nvSpPr>
        <p:spPr>
          <a:xfrm>
            <a:off x="4937760" y="457200"/>
            <a:ext cx="3291840" cy="384048"/>
          </a:xfrm>
          <a:prstGeom prst="rect">
            <a:avLst/>
          </a:prstGeom>
          <a:noFill/>
          <a:ln/>
        </p:spPr>
        <p:txBody>
          <a:bodyPr wrap="square" lIns="0" tIns="0" rIns="0" bIns="0" rtlCol="0" anchor="ctr"/>
          <a:lstStyle/>
          <a:p>
            <a:pPr indent="0" marL="0">
              <a:buNone/>
            </a:pPr>
            <a:r>
              <a:rPr lang="en-US" sz="1300" b="1" dirty="0">
                <a:solidFill>
                  <a:srgbClr val="00A896"/>
                </a:solidFill>
                <a:latin typeface="Calibri" pitchFamily="34" charset="0"/>
                <a:ea typeface="Calibri" pitchFamily="34" charset="-122"/>
                <a:cs typeface="Calibri" pitchFamily="34" charset="-120"/>
              </a:rPr>
              <a:t>Driver  </a:t>
            </a:r>
            <a:pPr indent="0" marL="0">
              <a:buNone/>
            </a:pPr>
            <a:r>
              <a:rPr lang="en-US" sz="1300" b="1" dirty="0">
                <a:solidFill>
                  <a:srgbClr val="16202B"/>
                </a:solidFill>
                <a:latin typeface="Calibri" pitchFamily="34" charset="0"/>
                <a:ea typeface="Calibri" pitchFamily="34" charset="-122"/>
                <a:cs typeface="Calibri" pitchFamily="34" charset="-120"/>
              </a:rPr>
              <a:t>S. Kumar</a:t>
            </a:r>
            <a:endParaRPr lang="en-US" sz="1300" dirty="0"/>
          </a:p>
        </p:txBody>
      </p:sp>
      <p:sp>
        <p:nvSpPr>
          <p:cNvPr id="19" name="Shape 16"/>
          <p:cNvSpPr/>
          <p:nvPr/>
        </p:nvSpPr>
        <p:spPr>
          <a:xfrm>
            <a:off x="9146743" y="585216"/>
            <a:ext cx="118872" cy="118872"/>
          </a:xfrm>
          <a:prstGeom prst="ellipse">
            <a:avLst/>
          </a:prstGeom>
          <a:solidFill>
            <a:srgbClr val="DDF5F1"/>
          </a:solidFill>
          <a:ln w="9525">
            <a:solidFill>
              <a:srgbClr val="00A896"/>
            </a:solidFill>
            <a:prstDash val="solid"/>
          </a:ln>
        </p:spPr>
      </p:sp>
      <p:sp>
        <p:nvSpPr>
          <p:cNvPr id="20" name="Shape 17"/>
          <p:cNvSpPr/>
          <p:nvPr/>
        </p:nvSpPr>
        <p:spPr>
          <a:xfrm>
            <a:off x="9329623" y="585216"/>
            <a:ext cx="118872" cy="118872"/>
          </a:xfrm>
          <a:prstGeom prst="ellipse">
            <a:avLst/>
          </a:prstGeom>
          <a:solidFill>
            <a:srgbClr val="DDF5F1"/>
          </a:solidFill>
          <a:ln w="9525">
            <a:solidFill>
              <a:srgbClr val="00A896"/>
            </a:solidFill>
            <a:prstDash val="solid"/>
          </a:ln>
        </p:spPr>
      </p:sp>
      <p:sp>
        <p:nvSpPr>
          <p:cNvPr id="21" name="Shape 18"/>
          <p:cNvSpPr/>
          <p:nvPr/>
        </p:nvSpPr>
        <p:spPr>
          <a:xfrm>
            <a:off x="9512503" y="585216"/>
            <a:ext cx="118872" cy="118872"/>
          </a:xfrm>
          <a:prstGeom prst="ellipse">
            <a:avLst/>
          </a:prstGeom>
          <a:solidFill>
            <a:srgbClr val="DDF5F1"/>
          </a:solidFill>
          <a:ln w="9525">
            <a:solidFill>
              <a:srgbClr val="00A896"/>
            </a:solidFill>
            <a:prstDash val="solid"/>
          </a:ln>
        </p:spPr>
      </p:sp>
      <p:sp>
        <p:nvSpPr>
          <p:cNvPr id="22" name="Shape 19"/>
          <p:cNvSpPr/>
          <p:nvPr/>
        </p:nvSpPr>
        <p:spPr>
          <a:xfrm>
            <a:off x="9695383" y="585216"/>
            <a:ext cx="118872" cy="118872"/>
          </a:xfrm>
          <a:prstGeom prst="ellipse">
            <a:avLst/>
          </a:prstGeom>
          <a:solidFill>
            <a:srgbClr val="DDF5F1"/>
          </a:solidFill>
          <a:ln w="9525">
            <a:solidFill>
              <a:srgbClr val="00A896"/>
            </a:solidFill>
            <a:prstDash val="solid"/>
          </a:ln>
        </p:spPr>
      </p:sp>
      <p:sp>
        <p:nvSpPr>
          <p:cNvPr id="23" name="Shape 20"/>
          <p:cNvSpPr/>
          <p:nvPr/>
        </p:nvSpPr>
        <p:spPr>
          <a:xfrm>
            <a:off x="9878263" y="585216"/>
            <a:ext cx="118872" cy="118872"/>
          </a:xfrm>
          <a:prstGeom prst="ellipse">
            <a:avLst/>
          </a:prstGeom>
          <a:solidFill>
            <a:srgbClr val="DDF5F1"/>
          </a:solidFill>
          <a:ln w="9525">
            <a:solidFill>
              <a:srgbClr val="00A896"/>
            </a:solidFill>
            <a:prstDash val="solid"/>
          </a:ln>
        </p:spPr>
      </p:sp>
      <p:sp>
        <p:nvSpPr>
          <p:cNvPr id="24" name="Shape 21"/>
          <p:cNvSpPr/>
          <p:nvPr/>
        </p:nvSpPr>
        <p:spPr>
          <a:xfrm>
            <a:off x="10061143" y="585216"/>
            <a:ext cx="118872" cy="118872"/>
          </a:xfrm>
          <a:prstGeom prst="ellipse">
            <a:avLst/>
          </a:prstGeom>
          <a:solidFill>
            <a:srgbClr val="DDF5F1"/>
          </a:solidFill>
          <a:ln w="9525">
            <a:solidFill>
              <a:srgbClr val="00A896"/>
            </a:solidFill>
            <a:prstDash val="solid"/>
          </a:ln>
        </p:spPr>
      </p:sp>
      <p:sp>
        <p:nvSpPr>
          <p:cNvPr id="25" name="Shape 22"/>
          <p:cNvSpPr/>
          <p:nvPr/>
        </p:nvSpPr>
        <p:spPr>
          <a:xfrm>
            <a:off x="10216591" y="557784"/>
            <a:ext cx="173736" cy="173736"/>
          </a:xfrm>
          <a:prstGeom prst="ellipse">
            <a:avLst/>
          </a:prstGeom>
          <a:solidFill>
            <a:srgbClr val="00A896"/>
          </a:solidFill>
          <a:ln w="9525">
            <a:solidFill>
              <a:srgbClr val="00A896"/>
            </a:solidFill>
            <a:prstDash val="solid"/>
          </a:ln>
        </p:spPr>
      </p:sp>
      <p:sp>
        <p:nvSpPr>
          <p:cNvPr id="26" name="Shape 23"/>
          <p:cNvSpPr/>
          <p:nvPr/>
        </p:nvSpPr>
        <p:spPr>
          <a:xfrm>
            <a:off x="10426903" y="585216"/>
            <a:ext cx="118872" cy="118872"/>
          </a:xfrm>
          <a:prstGeom prst="ellipse">
            <a:avLst/>
          </a:prstGeom>
          <a:solidFill>
            <a:srgbClr val="F3F6F9"/>
          </a:solidFill>
          <a:ln w="9525">
            <a:solidFill>
              <a:srgbClr val="DCE4EC"/>
            </a:solidFill>
            <a:prstDash val="solid"/>
          </a:ln>
        </p:spPr>
      </p:sp>
      <p:sp>
        <p:nvSpPr>
          <p:cNvPr id="27" name="Shape 24"/>
          <p:cNvSpPr/>
          <p:nvPr/>
        </p:nvSpPr>
        <p:spPr>
          <a:xfrm>
            <a:off x="10609783" y="585216"/>
            <a:ext cx="118872" cy="118872"/>
          </a:xfrm>
          <a:prstGeom prst="ellipse">
            <a:avLst/>
          </a:prstGeom>
          <a:solidFill>
            <a:srgbClr val="F3F6F9"/>
          </a:solidFill>
          <a:ln w="9525">
            <a:solidFill>
              <a:srgbClr val="DCE4EC"/>
            </a:solidFill>
            <a:prstDash val="solid"/>
          </a:ln>
        </p:spPr>
      </p:sp>
      <p:sp>
        <p:nvSpPr>
          <p:cNvPr id="28" name="Shape 25"/>
          <p:cNvSpPr/>
          <p:nvPr/>
        </p:nvSpPr>
        <p:spPr>
          <a:xfrm>
            <a:off x="10792663" y="585216"/>
            <a:ext cx="118872" cy="118872"/>
          </a:xfrm>
          <a:prstGeom prst="ellipse">
            <a:avLst/>
          </a:prstGeom>
          <a:solidFill>
            <a:srgbClr val="F3F6F9"/>
          </a:solidFill>
          <a:ln w="9525">
            <a:solidFill>
              <a:srgbClr val="DCE4EC"/>
            </a:solidFill>
            <a:prstDash val="solid"/>
          </a:ln>
        </p:spPr>
      </p:sp>
      <p:sp>
        <p:nvSpPr>
          <p:cNvPr id="29" name="Shape 26"/>
          <p:cNvSpPr/>
          <p:nvPr/>
        </p:nvSpPr>
        <p:spPr>
          <a:xfrm>
            <a:off x="10975543" y="585216"/>
            <a:ext cx="118872" cy="118872"/>
          </a:xfrm>
          <a:prstGeom prst="ellipse">
            <a:avLst/>
          </a:prstGeom>
          <a:solidFill>
            <a:srgbClr val="F3F6F9"/>
          </a:solidFill>
          <a:ln w="9525">
            <a:solidFill>
              <a:srgbClr val="DCE4EC"/>
            </a:solidFill>
            <a:prstDash val="solid"/>
          </a:ln>
        </p:spPr>
      </p:sp>
      <p:sp>
        <p:nvSpPr>
          <p:cNvPr id="30" name="Shape 27"/>
          <p:cNvSpPr/>
          <p:nvPr/>
        </p:nvSpPr>
        <p:spPr>
          <a:xfrm>
            <a:off x="11158423" y="585216"/>
            <a:ext cx="118872" cy="118872"/>
          </a:xfrm>
          <a:prstGeom prst="ellipse">
            <a:avLst/>
          </a:prstGeom>
          <a:solidFill>
            <a:srgbClr val="F3F6F9"/>
          </a:solidFill>
          <a:ln w="9525">
            <a:solidFill>
              <a:srgbClr val="DCE4EC"/>
            </a:solidFill>
            <a:prstDash val="solid"/>
          </a:ln>
        </p:spPr>
      </p:sp>
      <p:sp>
        <p:nvSpPr>
          <p:cNvPr id="31" name="Shape 28"/>
          <p:cNvSpPr/>
          <p:nvPr/>
        </p:nvSpPr>
        <p:spPr>
          <a:xfrm>
            <a:off x="11341303" y="585216"/>
            <a:ext cx="118872" cy="118872"/>
          </a:xfrm>
          <a:prstGeom prst="ellipse">
            <a:avLst/>
          </a:prstGeom>
          <a:solidFill>
            <a:srgbClr val="F3F6F9"/>
          </a:solidFill>
          <a:ln w="9525">
            <a:solidFill>
              <a:srgbClr val="DCE4EC"/>
            </a:solidFill>
            <a:prstDash val="solid"/>
          </a:ln>
        </p:spPr>
      </p:sp>
      <p:sp>
        <p:nvSpPr>
          <p:cNvPr id="32" name="Shape 29"/>
          <p:cNvSpPr/>
          <p:nvPr/>
        </p:nvSpPr>
        <p:spPr>
          <a:xfrm>
            <a:off x="11524183" y="585216"/>
            <a:ext cx="118872" cy="118872"/>
          </a:xfrm>
          <a:prstGeom prst="ellipse">
            <a:avLst/>
          </a:prstGeom>
          <a:solidFill>
            <a:srgbClr val="F3F6F9"/>
          </a:solidFill>
          <a:ln w="9525">
            <a:solidFill>
              <a:srgbClr val="DCE4EC"/>
            </a:solidFill>
            <a:prstDash val="solid"/>
          </a:ln>
        </p:spPr>
      </p:sp>
      <p:sp>
        <p:nvSpPr>
          <p:cNvPr id="33" name="Text 30"/>
          <p:cNvSpPr txBox="1"/>
          <p:nvPr/>
        </p:nvSpPr>
        <p:spPr>
          <a:xfrm>
            <a:off x="9146743" y="768096"/>
            <a:ext cx="2496312" cy="201168"/>
          </a:xfrm>
          <a:prstGeom prst="rect">
            <a:avLst/>
          </a:prstGeom>
          <a:noFill/>
          <a:ln/>
        </p:spPr>
        <p:txBody>
          <a:bodyPr wrap="square" lIns="0" tIns="0" rIns="0" bIns="0" rtlCol="0" anchor="ctr"/>
          <a:lstStyle/>
          <a:p>
            <a:pPr algn="r" indent="0" marL="0">
              <a:buNone/>
            </a:pPr>
            <a:r>
              <a:rPr lang="en-US" sz="950" dirty="0">
                <a:solidFill>
                  <a:srgbClr val="5E6D7D"/>
                </a:solidFill>
                <a:latin typeface="Calibri" pitchFamily="34" charset="0"/>
                <a:ea typeface="Calibri" pitchFamily="34" charset="-122"/>
                <a:cs typeface="Calibri" pitchFamily="34" charset="-120"/>
              </a:rPr>
              <a:t>Screen 7 of 14</a:t>
            </a:r>
            <a:endParaRPr lang="en-US" sz="950" dirty="0"/>
          </a:p>
        </p:txBody>
      </p:sp>
      <p:sp>
        <p:nvSpPr>
          <p:cNvPr id="34" name="Text 31"/>
          <p:cNvSpPr txBox="1"/>
          <p:nvPr/>
        </p:nvSpPr>
        <p:spPr>
          <a:xfrm>
            <a:off x="4434840" y="1170432"/>
            <a:ext cx="7208215" cy="237744"/>
          </a:xfrm>
          <a:prstGeom prst="rect">
            <a:avLst/>
          </a:prstGeom>
          <a:noFill/>
          <a:ln/>
        </p:spPr>
        <p:txBody>
          <a:bodyPr wrap="square" lIns="0" tIns="0" rIns="0" bIns="0" rtlCol="0" anchor="ctr"/>
          <a:lstStyle/>
          <a:p>
            <a:pPr indent="0" marL="0">
              <a:buNone/>
            </a:pPr>
            <a:r>
              <a:rPr lang="en-US" sz="1100" b="1" spc="200" kern="0" dirty="0">
                <a:solidFill>
                  <a:srgbClr val="00A896"/>
                </a:solidFill>
                <a:latin typeface="Calibri" pitchFamily="34" charset="0"/>
                <a:ea typeface="Calibri" pitchFamily="34" charset="-122"/>
                <a:cs typeface="Calibri" pitchFamily="34" charset="-120"/>
              </a:rPr>
              <a:t>AT GATE 2</a:t>
            </a:r>
            <a:endParaRPr lang="en-US" sz="1100" dirty="0"/>
          </a:p>
        </p:txBody>
      </p:sp>
      <p:sp>
        <p:nvSpPr>
          <p:cNvPr id="35" name="Text 32"/>
          <p:cNvSpPr txBox="1"/>
          <p:nvPr/>
        </p:nvSpPr>
        <p:spPr>
          <a:xfrm>
            <a:off x="4434840" y="1463040"/>
            <a:ext cx="7208215" cy="457200"/>
          </a:xfrm>
          <a:prstGeom prst="rect">
            <a:avLst/>
          </a:prstGeom>
          <a:noFill/>
          <a:ln/>
        </p:spPr>
        <p:txBody>
          <a:bodyPr wrap="square" lIns="0" tIns="0" rIns="0" bIns="0" rtlCol="0" anchor="t"/>
          <a:lstStyle/>
          <a:p>
            <a:pPr indent="0" marL="0">
              <a:buNone/>
            </a:pPr>
            <a:r>
              <a:rPr lang="en-US" sz="3000" b="1" dirty="0">
                <a:solidFill>
                  <a:srgbClr val="16202B"/>
                </a:solidFill>
                <a:latin typeface="Calibri" pitchFamily="34" charset="0"/>
                <a:ea typeface="Calibri" pitchFamily="34" charset="-122"/>
                <a:cs typeface="Calibri" pitchFamily="34" charset="-120"/>
              </a:rPr>
              <a:t>Arrival recorded by GPS</a:t>
            </a:r>
            <a:endParaRPr lang="en-US" sz="3000" dirty="0"/>
          </a:p>
        </p:txBody>
      </p:sp>
      <p:sp>
        <p:nvSpPr>
          <p:cNvPr id="36" name="Text 33"/>
          <p:cNvSpPr txBox="1"/>
          <p:nvPr/>
        </p:nvSpPr>
        <p:spPr>
          <a:xfrm>
            <a:off x="4434840" y="2048256"/>
            <a:ext cx="7208215" cy="475488"/>
          </a:xfrm>
          <a:prstGeom prst="rect">
            <a:avLst/>
          </a:prstGeom>
          <a:noFill/>
          <a:ln/>
        </p:spPr>
        <p:txBody>
          <a:bodyPr wrap="square" lIns="0" tIns="0" rIns="0" bIns="0" rtlCol="0" anchor="t"/>
          <a:lstStyle/>
          <a:p>
            <a:pPr indent="0" marL="0">
              <a:buNone/>
            </a:pPr>
            <a:r>
              <a:rPr lang="en-US" sz="1500" dirty="0">
                <a:solidFill>
                  <a:srgbClr val="34465A"/>
                </a:solidFill>
                <a:latin typeface="Calibri" pitchFamily="34" charset="0"/>
                <a:ea typeface="Calibri" pitchFamily="34" charset="-122"/>
                <a:cs typeface="Calibri" pitchFamily="34" charset="-120"/>
              </a:rPr>
              <a:t>C-12 enters Gate 2’s 40 m arrival radius and the arrival is recorded by itself. The riders are told the cab is here.</a:t>
            </a:r>
            <a:endParaRPr lang="en-US" sz="1500" dirty="0"/>
          </a:p>
        </p:txBody>
      </p:sp>
      <p:sp>
        <p:nvSpPr>
          <p:cNvPr id="37" name="Shape 34"/>
          <p:cNvSpPr/>
          <p:nvPr/>
        </p:nvSpPr>
        <p:spPr>
          <a:xfrm>
            <a:off x="4434840" y="2798064"/>
            <a:ext cx="7208215" cy="649224"/>
          </a:xfrm>
          <a:prstGeom prst="roundRect">
            <a:avLst>
              <a:gd name="adj" fmla="val 11268"/>
            </a:avLst>
          </a:prstGeom>
          <a:solidFill>
            <a:srgbClr val="F3F6F9"/>
          </a:solidFill>
          <a:ln w="6350">
            <a:solidFill>
              <a:srgbClr val="F3F6F9"/>
            </a:solidFill>
            <a:prstDash val="solid"/>
          </a:ln>
        </p:spPr>
      </p:sp>
      <p:sp>
        <p:nvSpPr>
          <p:cNvPr id="38" name="Shape 35"/>
          <p:cNvSpPr/>
          <p:nvPr/>
        </p:nvSpPr>
        <p:spPr>
          <a:xfrm>
            <a:off x="4599432" y="2916936"/>
            <a:ext cx="292608" cy="292608"/>
          </a:xfrm>
          <a:prstGeom prst="ellipse">
            <a:avLst/>
          </a:prstGeom>
          <a:solidFill>
            <a:srgbClr val="00A896"/>
          </a:solidFill>
          <a:ln w="15875">
            <a:solidFill>
              <a:srgbClr val="FFFFFF"/>
            </a:solidFill>
            <a:prstDash val="solid"/>
          </a:ln>
        </p:spPr>
      </p:sp>
      <p:sp>
        <p:nvSpPr>
          <p:cNvPr id="39" name="Text 36"/>
          <p:cNvSpPr txBox="1"/>
          <p:nvPr/>
        </p:nvSpPr>
        <p:spPr>
          <a:xfrm>
            <a:off x="4599432" y="2916936"/>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40" name="Text 37"/>
          <p:cNvSpPr txBox="1"/>
          <p:nvPr/>
        </p:nvSpPr>
        <p:spPr>
          <a:xfrm>
            <a:off x="5029200" y="2907792"/>
            <a:ext cx="6430975" cy="274320"/>
          </a:xfrm>
          <a:prstGeom prst="rect">
            <a:avLst/>
          </a:prstGeom>
          <a:noFill/>
          <a:ln/>
        </p:spPr>
        <p:txBody>
          <a:bodyPr wrap="square" lIns="0" tIns="0" rIns="0" bIns="0" rtlCol="0" anchor="ctr"/>
          <a:lstStyle/>
          <a:p>
            <a:pPr indent="0" marL="0">
              <a:buNone/>
            </a:pPr>
            <a:r>
              <a:rPr lang="en-US" sz="1400" b="1" dirty="0">
                <a:solidFill>
                  <a:srgbClr val="16202B"/>
                </a:solidFill>
                <a:latin typeface="Calibri" pitchFamily="34" charset="0"/>
                <a:ea typeface="Calibri" pitchFamily="34" charset="-122"/>
                <a:cs typeface="Calibri" pitchFamily="34" charset="-120"/>
              </a:rPr>
              <a:t>At the Gate 2 pickup point · 30 m from you</a:t>
            </a:r>
            <a:endParaRPr lang="en-US" sz="1400" dirty="0"/>
          </a:p>
        </p:txBody>
      </p:sp>
      <p:sp>
        <p:nvSpPr>
          <p:cNvPr id="41" name="Text 38"/>
          <p:cNvSpPr txBox="1"/>
          <p:nvPr/>
        </p:nvSpPr>
        <p:spPr>
          <a:xfrm>
            <a:off x="5029200" y="3182112"/>
            <a:ext cx="6430975" cy="192024"/>
          </a:xfrm>
          <a:prstGeom prst="rect">
            <a:avLst/>
          </a:prstGeom>
          <a:noFill/>
          <a:ln/>
        </p:spPr>
        <p:txBody>
          <a:bodyPr wrap="square" lIns="0" tIns="0" rIns="0" bIns="0" rtlCol="0" anchor="t"/>
          <a:lstStyle/>
          <a:p>
            <a:pPr indent="0" marL="0">
              <a:buNone/>
            </a:pPr>
            <a:r>
              <a:rPr lang="en-US" sz="1200" dirty="0">
                <a:solidFill>
                  <a:srgbClr val="34465A"/>
                </a:solidFill>
                <a:latin typeface="Calibri" pitchFamily="34" charset="0"/>
                <a:ea typeface="Calibri" pitchFamily="34" charset="-122"/>
                <a:cs typeface="Calibri" pitchFamily="34" charset="-120"/>
              </a:rPr>
              <a:t>M. Iyer is right there.</a:t>
            </a:r>
            <a:endParaRPr lang="en-US" sz="1200" dirty="0"/>
          </a:p>
        </p:txBody>
      </p:sp>
      <p:sp>
        <p:nvSpPr>
          <p:cNvPr id="42" name="Shape 39"/>
          <p:cNvSpPr/>
          <p:nvPr/>
        </p:nvSpPr>
        <p:spPr>
          <a:xfrm>
            <a:off x="4434840" y="3557016"/>
            <a:ext cx="7208215" cy="649224"/>
          </a:xfrm>
          <a:prstGeom prst="roundRect">
            <a:avLst>
              <a:gd name="adj" fmla="val 11268"/>
            </a:avLst>
          </a:prstGeom>
          <a:solidFill>
            <a:srgbClr val="F3F6F9"/>
          </a:solidFill>
          <a:ln w="6350">
            <a:solidFill>
              <a:srgbClr val="F3F6F9"/>
            </a:solidFill>
            <a:prstDash val="solid"/>
          </a:ln>
        </p:spPr>
      </p:sp>
      <p:sp>
        <p:nvSpPr>
          <p:cNvPr id="43" name="Shape 40"/>
          <p:cNvSpPr/>
          <p:nvPr/>
        </p:nvSpPr>
        <p:spPr>
          <a:xfrm>
            <a:off x="4599432" y="3675888"/>
            <a:ext cx="292608" cy="292608"/>
          </a:xfrm>
          <a:prstGeom prst="ellipse">
            <a:avLst/>
          </a:prstGeom>
          <a:solidFill>
            <a:srgbClr val="00A896"/>
          </a:solidFill>
          <a:ln w="15875">
            <a:solidFill>
              <a:srgbClr val="FFFFFF"/>
            </a:solidFill>
            <a:prstDash val="solid"/>
          </a:ln>
        </p:spPr>
      </p:sp>
      <p:sp>
        <p:nvSpPr>
          <p:cNvPr id="44" name="Text 41"/>
          <p:cNvSpPr txBox="1"/>
          <p:nvPr/>
        </p:nvSpPr>
        <p:spPr>
          <a:xfrm>
            <a:off x="4599432" y="3675888"/>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45" name="Text 42"/>
          <p:cNvSpPr txBox="1"/>
          <p:nvPr/>
        </p:nvSpPr>
        <p:spPr>
          <a:xfrm>
            <a:off x="5029200" y="3666744"/>
            <a:ext cx="6430975" cy="274320"/>
          </a:xfrm>
          <a:prstGeom prst="rect">
            <a:avLst/>
          </a:prstGeom>
          <a:noFill/>
          <a:ln/>
        </p:spPr>
        <p:txBody>
          <a:bodyPr wrap="square" lIns="0" tIns="0" rIns="0" bIns="0" rtlCol="0" anchor="ctr"/>
          <a:lstStyle/>
          <a:p>
            <a:pPr indent="0" marL="0">
              <a:buNone/>
            </a:pPr>
            <a:r>
              <a:rPr lang="en-US" sz="1400" b="1" dirty="0">
                <a:solidFill>
                  <a:srgbClr val="16202B"/>
                </a:solidFill>
                <a:latin typeface="Calibri" pitchFamily="34" charset="0"/>
                <a:ea typeface="Calibri" pitchFamily="34" charset="-122"/>
                <a:cs typeface="Calibri" pitchFamily="34" charset="-120"/>
              </a:rPr>
              <a:t>OTP box</a:t>
            </a:r>
            <a:endParaRPr lang="en-US" sz="1400" dirty="0"/>
          </a:p>
        </p:txBody>
      </p:sp>
      <p:sp>
        <p:nvSpPr>
          <p:cNvPr id="46" name="Text 43"/>
          <p:cNvSpPr txBox="1"/>
          <p:nvPr/>
        </p:nvSpPr>
        <p:spPr>
          <a:xfrm>
            <a:off x="5029200" y="3941064"/>
            <a:ext cx="6430975" cy="192024"/>
          </a:xfrm>
          <a:prstGeom prst="rect">
            <a:avLst/>
          </a:prstGeom>
          <a:noFill/>
          <a:ln/>
        </p:spPr>
        <p:txBody>
          <a:bodyPr wrap="square" lIns="0" tIns="0" rIns="0" bIns="0" rtlCol="0" anchor="t"/>
          <a:lstStyle/>
          <a:p>
            <a:pPr indent="0" marL="0">
              <a:buNone/>
            </a:pPr>
            <a:r>
              <a:rPr lang="en-US" sz="1200" dirty="0">
                <a:solidFill>
                  <a:srgbClr val="34465A"/>
                </a:solidFill>
                <a:latin typeface="Calibri" pitchFamily="34" charset="0"/>
                <a:ea typeface="Calibri" pitchFamily="34" charset="-122"/>
                <a:cs typeface="Calibri" pitchFamily="34" charset="-120"/>
              </a:rPr>
              <a:t>For the code each rider shows.</a:t>
            </a:r>
            <a:endParaRPr lang="en-US" sz="1200" dirty="0"/>
          </a:p>
        </p:txBody>
      </p:sp>
      <p:sp>
        <p:nvSpPr>
          <p:cNvPr id="47" name="Shape 44"/>
          <p:cNvSpPr/>
          <p:nvPr/>
        </p:nvSpPr>
        <p:spPr>
          <a:xfrm>
            <a:off x="4434840" y="4315968"/>
            <a:ext cx="7208215" cy="649224"/>
          </a:xfrm>
          <a:prstGeom prst="roundRect">
            <a:avLst>
              <a:gd name="adj" fmla="val 11268"/>
            </a:avLst>
          </a:prstGeom>
          <a:solidFill>
            <a:srgbClr val="F3F6F9"/>
          </a:solidFill>
          <a:ln w="6350">
            <a:solidFill>
              <a:srgbClr val="F3F6F9"/>
            </a:solidFill>
            <a:prstDash val="solid"/>
          </a:ln>
        </p:spPr>
      </p:sp>
      <p:sp>
        <p:nvSpPr>
          <p:cNvPr id="48" name="Shape 45"/>
          <p:cNvSpPr/>
          <p:nvPr/>
        </p:nvSpPr>
        <p:spPr>
          <a:xfrm>
            <a:off x="4599432" y="4434840"/>
            <a:ext cx="292608" cy="292608"/>
          </a:xfrm>
          <a:prstGeom prst="ellipse">
            <a:avLst/>
          </a:prstGeom>
          <a:solidFill>
            <a:srgbClr val="00A896"/>
          </a:solidFill>
          <a:ln w="15875">
            <a:solidFill>
              <a:srgbClr val="FFFFFF"/>
            </a:solidFill>
            <a:prstDash val="solid"/>
          </a:ln>
        </p:spPr>
      </p:sp>
      <p:sp>
        <p:nvSpPr>
          <p:cNvPr id="49" name="Text 46"/>
          <p:cNvSpPr txBox="1"/>
          <p:nvPr/>
        </p:nvSpPr>
        <p:spPr>
          <a:xfrm>
            <a:off x="4599432" y="443484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50" name="Text 47"/>
          <p:cNvSpPr txBox="1"/>
          <p:nvPr/>
        </p:nvSpPr>
        <p:spPr>
          <a:xfrm>
            <a:off x="5029200" y="4425696"/>
            <a:ext cx="6430975" cy="274320"/>
          </a:xfrm>
          <a:prstGeom prst="rect">
            <a:avLst/>
          </a:prstGeom>
          <a:noFill/>
          <a:ln/>
        </p:spPr>
        <p:txBody>
          <a:bodyPr wrap="square" lIns="0" tIns="0" rIns="0" bIns="0" rtlCol="0" anchor="ctr"/>
          <a:lstStyle/>
          <a:p>
            <a:pPr indent="0" marL="0">
              <a:buNone/>
            </a:pPr>
            <a:r>
              <a:rPr lang="en-US" sz="1400" b="1" dirty="0">
                <a:solidFill>
                  <a:srgbClr val="16202B"/>
                </a:solidFill>
                <a:latin typeface="Calibri" pitchFamily="34" charset="0"/>
                <a:ea typeface="Calibri" pitchFamily="34" charset="-122"/>
                <a:cs typeface="Calibri" pitchFamily="34" charset="-120"/>
              </a:rPr>
              <a:t>No-show in 4:54</a:t>
            </a:r>
            <a:endParaRPr lang="en-US" sz="1400" dirty="0"/>
          </a:p>
        </p:txBody>
      </p:sp>
      <p:sp>
        <p:nvSpPr>
          <p:cNvPr id="51" name="Text 48"/>
          <p:cNvSpPr txBox="1"/>
          <p:nvPr/>
        </p:nvSpPr>
        <p:spPr>
          <a:xfrm>
            <a:off x="5029200" y="4700016"/>
            <a:ext cx="6430975" cy="192024"/>
          </a:xfrm>
          <a:prstGeom prst="rect">
            <a:avLst/>
          </a:prstGeom>
          <a:noFill/>
          <a:ln/>
        </p:spPr>
        <p:txBody>
          <a:bodyPr wrap="square" lIns="0" tIns="0" rIns="0" bIns="0" rtlCol="0" anchor="t"/>
          <a:lstStyle/>
          <a:p>
            <a:pPr indent="0" marL="0">
              <a:buNone/>
            </a:pPr>
            <a:r>
              <a:rPr lang="en-US" sz="1200" dirty="0">
                <a:solidFill>
                  <a:srgbClr val="34465A"/>
                </a:solidFill>
                <a:latin typeface="Calibri" pitchFamily="34" charset="0"/>
                <a:ea typeface="Calibri" pitchFamily="34" charset="-122"/>
                <a:cs typeface="Calibri" pitchFamily="34" charset="-120"/>
              </a:rPr>
              <a:t>Allowed only after the route’s 5-minute wait.</a:t>
            </a:r>
            <a:endParaRPr lang="en-US" sz="1200" dirty="0"/>
          </a:p>
        </p:txBody>
      </p:sp>
      <p:sp>
        <p:nvSpPr>
          <p:cNvPr id="52" name="Text 49"/>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900" dirty="0">
                <a:solidFill>
                  <a:srgbClr val="5E6D7D"/>
                </a:solidFill>
                <a:latin typeface="Calibri" pitchFamily="34" charset="0"/>
                <a:ea typeface="Calibri" pitchFamily="34" charset="-122"/>
                <a:cs typeface="Calibri" pitchFamily="34" charset="-120"/>
              </a:rPr>
              <a:t>Plant Ride · Rider → Driver journey · recorded on the MVP with demo data</a:t>
            </a:r>
            <a:endParaRPr lang="en-US" sz="900" dirty="0"/>
          </a:p>
        </p:txBody>
      </p:sp>
      <p:sp>
        <p:nvSpPr>
          <p:cNvPr id="53" name="Text 50"/>
          <p:cNvSpPr txBox="1"/>
          <p:nvPr/>
        </p:nvSpPr>
        <p:spPr>
          <a:xfrm>
            <a:off x="11185855" y="6473952"/>
            <a:ext cx="457200" cy="228600"/>
          </a:xfrm>
          <a:prstGeom prst="rect">
            <a:avLst/>
          </a:prstGeom>
          <a:noFill/>
          <a:ln/>
        </p:spPr>
        <p:txBody>
          <a:bodyPr wrap="square" lIns="0" tIns="0" rIns="0" bIns="0" rtlCol="0" anchor="ctr"/>
          <a:lstStyle/>
          <a:p>
            <a:pPr algn="r" indent="0" marL="0">
              <a:buNone/>
            </a:pPr>
            <a:r>
              <a:rPr lang="en-US" sz="900" dirty="0">
                <a:solidFill>
                  <a:srgbClr val="5E6D7D"/>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50976" y="402336"/>
            <a:ext cx="2813925" cy="5961888"/>
          </a:xfrm>
          <a:prstGeom prst="roundRect">
            <a:avLst>
              <a:gd name="adj" fmla="val 5849"/>
            </a:avLst>
          </a:prstGeom>
          <a:solidFill>
            <a:srgbClr val="16202B"/>
          </a:solidFill>
          <a:ln w="9525">
            <a:solidFill>
              <a:srgbClr val="16202B"/>
            </a:solidFill>
            <a:prstDash val="solid"/>
          </a:ln>
          <a:effectLst>
            <a:outerShdw sx="100000" sy="100000" kx="0" ky="0" algn="bl" rotWithShape="0" blurRad="127000" dist="38100" dir="5400000">
              <a:srgbClr val="000000">
                <a:alpha val="20000"/>
              </a:srgbClr>
            </a:outerShdw>
          </a:effectLst>
        </p:spPr>
      </p:sp>
      <p:pic>
        <p:nvPicPr>
          <p:cNvPr id="3" name="Image 0" descr="Screenshot: d08-otp">    </p:cNvPr>
          <p:cNvPicPr>
            <a:picLocks noChangeAspect="1"/>
          </p:cNvPicPr>
          <p:nvPr/>
        </p:nvPicPr>
        <p:blipFill>
          <a:blip r:embed="rId1"/>
          <a:stretch>
            <a:fillRect/>
          </a:stretch>
        </p:blipFill>
        <p:spPr>
          <a:xfrm>
            <a:off x="1005840" y="457200"/>
            <a:ext cx="2704197" cy="5852160"/>
          </a:xfrm>
          <a:prstGeom prst="rect">
            <a:avLst/>
          </a:prstGeom>
        </p:spPr>
      </p:pic>
      <p:sp>
        <p:nvSpPr>
          <p:cNvPr id="4" name="Shape 1"/>
          <p:cNvSpPr/>
          <p:nvPr/>
        </p:nvSpPr>
        <p:spPr>
          <a:xfrm>
            <a:off x="822960" y="2003446"/>
            <a:ext cx="356226" cy="914"/>
          </a:xfrm>
          <a:prstGeom prst="line">
            <a:avLst/>
          </a:prstGeom>
          <a:noFill/>
          <a:ln w="15875">
            <a:solidFill>
              <a:srgbClr val="00A896"/>
            </a:solidFill>
            <a:prstDash val="solid"/>
          </a:ln>
        </p:spPr>
      </p:sp>
      <p:sp>
        <p:nvSpPr>
          <p:cNvPr id="5" name="Shape 2"/>
          <p:cNvSpPr/>
          <p:nvPr/>
        </p:nvSpPr>
        <p:spPr>
          <a:xfrm>
            <a:off x="1138038" y="1962298"/>
            <a:ext cx="82296" cy="82296"/>
          </a:xfrm>
          <a:prstGeom prst="ellipse">
            <a:avLst/>
          </a:prstGeom>
          <a:solidFill>
            <a:srgbClr val="00A896"/>
          </a:solidFill>
          <a:ln w="9525">
            <a:solidFill>
              <a:srgbClr val="FFFFFF"/>
            </a:solidFill>
            <a:prstDash val="solid"/>
          </a:ln>
        </p:spPr>
      </p:sp>
      <p:sp>
        <p:nvSpPr>
          <p:cNvPr id="6" name="Shape 3"/>
          <p:cNvSpPr/>
          <p:nvPr/>
        </p:nvSpPr>
        <p:spPr>
          <a:xfrm>
            <a:off x="548640" y="1866286"/>
            <a:ext cx="274320" cy="274320"/>
          </a:xfrm>
          <a:prstGeom prst="ellipse">
            <a:avLst/>
          </a:prstGeom>
          <a:solidFill>
            <a:srgbClr val="00A896"/>
          </a:solidFill>
          <a:ln w="15875">
            <a:solidFill>
              <a:srgbClr val="FFFFFF"/>
            </a:solidFill>
            <a:prstDash val="solid"/>
          </a:ln>
        </p:spPr>
      </p:sp>
      <p:sp>
        <p:nvSpPr>
          <p:cNvPr id="7" name="Text 4"/>
          <p:cNvSpPr txBox="1"/>
          <p:nvPr/>
        </p:nvSpPr>
        <p:spPr>
          <a:xfrm>
            <a:off x="548640" y="186628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8" name="Shape 5"/>
          <p:cNvSpPr/>
          <p:nvPr/>
        </p:nvSpPr>
        <p:spPr>
          <a:xfrm>
            <a:off x="822960" y="2890977"/>
            <a:ext cx="356226" cy="914"/>
          </a:xfrm>
          <a:prstGeom prst="line">
            <a:avLst/>
          </a:prstGeom>
          <a:noFill/>
          <a:ln w="15875">
            <a:solidFill>
              <a:srgbClr val="00A896"/>
            </a:solidFill>
            <a:prstDash val="solid"/>
          </a:ln>
        </p:spPr>
      </p:sp>
      <p:sp>
        <p:nvSpPr>
          <p:cNvPr id="9" name="Shape 6"/>
          <p:cNvSpPr/>
          <p:nvPr/>
        </p:nvSpPr>
        <p:spPr>
          <a:xfrm>
            <a:off x="1138038" y="2849829"/>
            <a:ext cx="82296" cy="82296"/>
          </a:xfrm>
          <a:prstGeom prst="ellipse">
            <a:avLst/>
          </a:prstGeom>
          <a:solidFill>
            <a:srgbClr val="00A896"/>
          </a:solidFill>
          <a:ln w="9525">
            <a:solidFill>
              <a:srgbClr val="FFFFFF"/>
            </a:solidFill>
            <a:prstDash val="solid"/>
          </a:ln>
        </p:spPr>
      </p:sp>
      <p:sp>
        <p:nvSpPr>
          <p:cNvPr id="10" name="Shape 7"/>
          <p:cNvSpPr/>
          <p:nvPr/>
        </p:nvSpPr>
        <p:spPr>
          <a:xfrm>
            <a:off x="548640" y="2753817"/>
            <a:ext cx="274320" cy="274320"/>
          </a:xfrm>
          <a:prstGeom prst="ellipse">
            <a:avLst/>
          </a:prstGeom>
          <a:solidFill>
            <a:srgbClr val="00A896"/>
          </a:solidFill>
          <a:ln w="15875">
            <a:solidFill>
              <a:srgbClr val="FFFFFF"/>
            </a:solidFill>
            <a:prstDash val="solid"/>
          </a:ln>
        </p:spPr>
      </p:sp>
      <p:sp>
        <p:nvSpPr>
          <p:cNvPr id="11" name="Text 8"/>
          <p:cNvSpPr txBox="1"/>
          <p:nvPr/>
        </p:nvSpPr>
        <p:spPr>
          <a:xfrm>
            <a:off x="548640" y="2753817"/>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2" name="Shape 9"/>
          <p:cNvSpPr/>
          <p:nvPr/>
        </p:nvSpPr>
        <p:spPr>
          <a:xfrm>
            <a:off x="3536691" y="2890977"/>
            <a:ext cx="356226" cy="914"/>
          </a:xfrm>
          <a:prstGeom prst="line">
            <a:avLst/>
          </a:prstGeom>
          <a:noFill/>
          <a:ln w="15875">
            <a:solidFill>
              <a:srgbClr val="00A896"/>
            </a:solidFill>
            <a:prstDash val="solid"/>
          </a:ln>
        </p:spPr>
      </p:sp>
      <p:sp>
        <p:nvSpPr>
          <p:cNvPr id="13" name="Shape 10"/>
          <p:cNvSpPr/>
          <p:nvPr/>
        </p:nvSpPr>
        <p:spPr>
          <a:xfrm>
            <a:off x="3495543" y="2849829"/>
            <a:ext cx="82296" cy="82296"/>
          </a:xfrm>
          <a:prstGeom prst="ellipse">
            <a:avLst/>
          </a:prstGeom>
          <a:solidFill>
            <a:srgbClr val="00A896"/>
          </a:solidFill>
          <a:ln w="9525">
            <a:solidFill>
              <a:srgbClr val="FFFFFF"/>
            </a:solidFill>
            <a:prstDash val="solid"/>
          </a:ln>
        </p:spPr>
      </p:sp>
      <p:sp>
        <p:nvSpPr>
          <p:cNvPr id="14" name="Shape 11"/>
          <p:cNvSpPr/>
          <p:nvPr/>
        </p:nvSpPr>
        <p:spPr>
          <a:xfrm>
            <a:off x="3892917" y="2753817"/>
            <a:ext cx="274320" cy="274320"/>
          </a:xfrm>
          <a:prstGeom prst="ellipse">
            <a:avLst/>
          </a:prstGeom>
          <a:solidFill>
            <a:srgbClr val="00A896"/>
          </a:solidFill>
          <a:ln w="15875">
            <a:solidFill>
              <a:srgbClr val="FFFFFF"/>
            </a:solidFill>
            <a:prstDash val="solid"/>
          </a:ln>
        </p:spPr>
      </p:sp>
      <p:sp>
        <p:nvSpPr>
          <p:cNvPr id="15" name="Text 12"/>
          <p:cNvSpPr txBox="1"/>
          <p:nvPr/>
        </p:nvSpPr>
        <p:spPr>
          <a:xfrm>
            <a:off x="3892917" y="2753817"/>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6" name="Shape 13"/>
          <p:cNvSpPr/>
          <p:nvPr/>
        </p:nvSpPr>
        <p:spPr>
          <a:xfrm>
            <a:off x="4434840" y="457200"/>
            <a:ext cx="384048" cy="384048"/>
          </a:xfrm>
          <a:prstGeom prst="ellipse">
            <a:avLst/>
          </a:prstGeom>
          <a:solidFill>
            <a:srgbClr val="00A896"/>
          </a:solidFill>
          <a:ln w="6350">
            <a:solidFill>
              <a:srgbClr val="00A896"/>
            </a:solidFill>
            <a:prstDash val="solid"/>
          </a:ln>
        </p:spPr>
      </p:sp>
      <p:sp>
        <p:nvSpPr>
          <p:cNvPr id="17" name="Text 14"/>
          <p:cNvSpPr txBox="1"/>
          <p:nvPr/>
        </p:nvSpPr>
        <p:spPr>
          <a:xfrm>
            <a:off x="4434840" y="457200"/>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SK</a:t>
            </a:r>
            <a:endParaRPr lang="en-US" sz="1100" dirty="0"/>
          </a:p>
        </p:txBody>
      </p:sp>
      <p:sp>
        <p:nvSpPr>
          <p:cNvPr id="18" name="Text 15"/>
          <p:cNvSpPr txBox="1"/>
          <p:nvPr/>
        </p:nvSpPr>
        <p:spPr>
          <a:xfrm>
            <a:off x="4937760" y="457200"/>
            <a:ext cx="3291840" cy="384048"/>
          </a:xfrm>
          <a:prstGeom prst="rect">
            <a:avLst/>
          </a:prstGeom>
          <a:noFill/>
          <a:ln/>
        </p:spPr>
        <p:txBody>
          <a:bodyPr wrap="square" lIns="0" tIns="0" rIns="0" bIns="0" rtlCol="0" anchor="ctr"/>
          <a:lstStyle/>
          <a:p>
            <a:pPr indent="0" marL="0">
              <a:buNone/>
            </a:pPr>
            <a:r>
              <a:rPr lang="en-US" sz="1300" b="1" dirty="0">
                <a:solidFill>
                  <a:srgbClr val="00A896"/>
                </a:solidFill>
                <a:latin typeface="Calibri" pitchFamily="34" charset="0"/>
                <a:ea typeface="Calibri" pitchFamily="34" charset="-122"/>
                <a:cs typeface="Calibri" pitchFamily="34" charset="-120"/>
              </a:rPr>
              <a:t>Driver  </a:t>
            </a:r>
            <a:pPr indent="0" marL="0">
              <a:buNone/>
            </a:pPr>
            <a:r>
              <a:rPr lang="en-US" sz="1300" b="1" dirty="0">
                <a:solidFill>
                  <a:srgbClr val="16202B"/>
                </a:solidFill>
                <a:latin typeface="Calibri" pitchFamily="34" charset="0"/>
                <a:ea typeface="Calibri" pitchFamily="34" charset="-122"/>
                <a:cs typeface="Calibri" pitchFamily="34" charset="-120"/>
              </a:rPr>
              <a:t>S. Kumar</a:t>
            </a:r>
            <a:endParaRPr lang="en-US" sz="1300" dirty="0"/>
          </a:p>
        </p:txBody>
      </p:sp>
      <p:sp>
        <p:nvSpPr>
          <p:cNvPr id="19" name="Shape 16"/>
          <p:cNvSpPr/>
          <p:nvPr/>
        </p:nvSpPr>
        <p:spPr>
          <a:xfrm>
            <a:off x="9146743" y="585216"/>
            <a:ext cx="118872" cy="118872"/>
          </a:xfrm>
          <a:prstGeom prst="ellipse">
            <a:avLst/>
          </a:prstGeom>
          <a:solidFill>
            <a:srgbClr val="DDF5F1"/>
          </a:solidFill>
          <a:ln w="9525">
            <a:solidFill>
              <a:srgbClr val="00A896"/>
            </a:solidFill>
            <a:prstDash val="solid"/>
          </a:ln>
        </p:spPr>
      </p:sp>
      <p:sp>
        <p:nvSpPr>
          <p:cNvPr id="20" name="Shape 17"/>
          <p:cNvSpPr/>
          <p:nvPr/>
        </p:nvSpPr>
        <p:spPr>
          <a:xfrm>
            <a:off x="9329623" y="585216"/>
            <a:ext cx="118872" cy="118872"/>
          </a:xfrm>
          <a:prstGeom prst="ellipse">
            <a:avLst/>
          </a:prstGeom>
          <a:solidFill>
            <a:srgbClr val="DDF5F1"/>
          </a:solidFill>
          <a:ln w="9525">
            <a:solidFill>
              <a:srgbClr val="00A896"/>
            </a:solidFill>
            <a:prstDash val="solid"/>
          </a:ln>
        </p:spPr>
      </p:sp>
      <p:sp>
        <p:nvSpPr>
          <p:cNvPr id="21" name="Shape 18"/>
          <p:cNvSpPr/>
          <p:nvPr/>
        </p:nvSpPr>
        <p:spPr>
          <a:xfrm>
            <a:off x="9512503" y="585216"/>
            <a:ext cx="118872" cy="118872"/>
          </a:xfrm>
          <a:prstGeom prst="ellipse">
            <a:avLst/>
          </a:prstGeom>
          <a:solidFill>
            <a:srgbClr val="DDF5F1"/>
          </a:solidFill>
          <a:ln w="9525">
            <a:solidFill>
              <a:srgbClr val="00A896"/>
            </a:solidFill>
            <a:prstDash val="solid"/>
          </a:ln>
        </p:spPr>
      </p:sp>
      <p:sp>
        <p:nvSpPr>
          <p:cNvPr id="22" name="Shape 19"/>
          <p:cNvSpPr/>
          <p:nvPr/>
        </p:nvSpPr>
        <p:spPr>
          <a:xfrm>
            <a:off x="9695383" y="585216"/>
            <a:ext cx="118872" cy="118872"/>
          </a:xfrm>
          <a:prstGeom prst="ellipse">
            <a:avLst/>
          </a:prstGeom>
          <a:solidFill>
            <a:srgbClr val="DDF5F1"/>
          </a:solidFill>
          <a:ln w="9525">
            <a:solidFill>
              <a:srgbClr val="00A896"/>
            </a:solidFill>
            <a:prstDash val="solid"/>
          </a:ln>
        </p:spPr>
      </p:sp>
      <p:sp>
        <p:nvSpPr>
          <p:cNvPr id="23" name="Shape 20"/>
          <p:cNvSpPr/>
          <p:nvPr/>
        </p:nvSpPr>
        <p:spPr>
          <a:xfrm>
            <a:off x="9878263" y="585216"/>
            <a:ext cx="118872" cy="118872"/>
          </a:xfrm>
          <a:prstGeom prst="ellipse">
            <a:avLst/>
          </a:prstGeom>
          <a:solidFill>
            <a:srgbClr val="DDF5F1"/>
          </a:solidFill>
          <a:ln w="9525">
            <a:solidFill>
              <a:srgbClr val="00A896"/>
            </a:solidFill>
            <a:prstDash val="solid"/>
          </a:ln>
        </p:spPr>
      </p:sp>
      <p:sp>
        <p:nvSpPr>
          <p:cNvPr id="24" name="Shape 21"/>
          <p:cNvSpPr/>
          <p:nvPr/>
        </p:nvSpPr>
        <p:spPr>
          <a:xfrm>
            <a:off x="10061143" y="585216"/>
            <a:ext cx="118872" cy="118872"/>
          </a:xfrm>
          <a:prstGeom prst="ellipse">
            <a:avLst/>
          </a:prstGeom>
          <a:solidFill>
            <a:srgbClr val="DDF5F1"/>
          </a:solidFill>
          <a:ln w="9525">
            <a:solidFill>
              <a:srgbClr val="00A896"/>
            </a:solidFill>
            <a:prstDash val="solid"/>
          </a:ln>
        </p:spPr>
      </p:sp>
      <p:sp>
        <p:nvSpPr>
          <p:cNvPr id="25" name="Shape 22"/>
          <p:cNvSpPr/>
          <p:nvPr/>
        </p:nvSpPr>
        <p:spPr>
          <a:xfrm>
            <a:off x="10244023" y="585216"/>
            <a:ext cx="118872" cy="118872"/>
          </a:xfrm>
          <a:prstGeom prst="ellipse">
            <a:avLst/>
          </a:prstGeom>
          <a:solidFill>
            <a:srgbClr val="DDF5F1"/>
          </a:solidFill>
          <a:ln w="9525">
            <a:solidFill>
              <a:srgbClr val="00A896"/>
            </a:solidFill>
            <a:prstDash val="solid"/>
          </a:ln>
        </p:spPr>
      </p:sp>
      <p:sp>
        <p:nvSpPr>
          <p:cNvPr id="26" name="Shape 23"/>
          <p:cNvSpPr/>
          <p:nvPr/>
        </p:nvSpPr>
        <p:spPr>
          <a:xfrm>
            <a:off x="10399471" y="557784"/>
            <a:ext cx="173736" cy="173736"/>
          </a:xfrm>
          <a:prstGeom prst="ellipse">
            <a:avLst/>
          </a:prstGeom>
          <a:solidFill>
            <a:srgbClr val="00A896"/>
          </a:solidFill>
          <a:ln w="9525">
            <a:solidFill>
              <a:srgbClr val="00A896"/>
            </a:solidFill>
            <a:prstDash val="solid"/>
          </a:ln>
        </p:spPr>
      </p:sp>
      <p:sp>
        <p:nvSpPr>
          <p:cNvPr id="27" name="Shape 24"/>
          <p:cNvSpPr/>
          <p:nvPr/>
        </p:nvSpPr>
        <p:spPr>
          <a:xfrm>
            <a:off x="10609783" y="585216"/>
            <a:ext cx="118872" cy="118872"/>
          </a:xfrm>
          <a:prstGeom prst="ellipse">
            <a:avLst/>
          </a:prstGeom>
          <a:solidFill>
            <a:srgbClr val="F3F6F9"/>
          </a:solidFill>
          <a:ln w="9525">
            <a:solidFill>
              <a:srgbClr val="DCE4EC"/>
            </a:solidFill>
            <a:prstDash val="solid"/>
          </a:ln>
        </p:spPr>
      </p:sp>
      <p:sp>
        <p:nvSpPr>
          <p:cNvPr id="28" name="Shape 25"/>
          <p:cNvSpPr/>
          <p:nvPr/>
        </p:nvSpPr>
        <p:spPr>
          <a:xfrm>
            <a:off x="10792663" y="585216"/>
            <a:ext cx="118872" cy="118872"/>
          </a:xfrm>
          <a:prstGeom prst="ellipse">
            <a:avLst/>
          </a:prstGeom>
          <a:solidFill>
            <a:srgbClr val="F3F6F9"/>
          </a:solidFill>
          <a:ln w="9525">
            <a:solidFill>
              <a:srgbClr val="DCE4EC"/>
            </a:solidFill>
            <a:prstDash val="solid"/>
          </a:ln>
        </p:spPr>
      </p:sp>
      <p:sp>
        <p:nvSpPr>
          <p:cNvPr id="29" name="Shape 26"/>
          <p:cNvSpPr/>
          <p:nvPr/>
        </p:nvSpPr>
        <p:spPr>
          <a:xfrm>
            <a:off x="10975543" y="585216"/>
            <a:ext cx="118872" cy="118872"/>
          </a:xfrm>
          <a:prstGeom prst="ellipse">
            <a:avLst/>
          </a:prstGeom>
          <a:solidFill>
            <a:srgbClr val="F3F6F9"/>
          </a:solidFill>
          <a:ln w="9525">
            <a:solidFill>
              <a:srgbClr val="DCE4EC"/>
            </a:solidFill>
            <a:prstDash val="solid"/>
          </a:ln>
        </p:spPr>
      </p:sp>
      <p:sp>
        <p:nvSpPr>
          <p:cNvPr id="30" name="Shape 27"/>
          <p:cNvSpPr/>
          <p:nvPr/>
        </p:nvSpPr>
        <p:spPr>
          <a:xfrm>
            <a:off x="11158423" y="585216"/>
            <a:ext cx="118872" cy="118872"/>
          </a:xfrm>
          <a:prstGeom prst="ellipse">
            <a:avLst/>
          </a:prstGeom>
          <a:solidFill>
            <a:srgbClr val="F3F6F9"/>
          </a:solidFill>
          <a:ln w="9525">
            <a:solidFill>
              <a:srgbClr val="DCE4EC"/>
            </a:solidFill>
            <a:prstDash val="solid"/>
          </a:ln>
        </p:spPr>
      </p:sp>
      <p:sp>
        <p:nvSpPr>
          <p:cNvPr id="31" name="Shape 28"/>
          <p:cNvSpPr/>
          <p:nvPr/>
        </p:nvSpPr>
        <p:spPr>
          <a:xfrm>
            <a:off x="11341303" y="585216"/>
            <a:ext cx="118872" cy="118872"/>
          </a:xfrm>
          <a:prstGeom prst="ellipse">
            <a:avLst/>
          </a:prstGeom>
          <a:solidFill>
            <a:srgbClr val="F3F6F9"/>
          </a:solidFill>
          <a:ln w="9525">
            <a:solidFill>
              <a:srgbClr val="DCE4EC"/>
            </a:solidFill>
            <a:prstDash val="solid"/>
          </a:ln>
        </p:spPr>
      </p:sp>
      <p:sp>
        <p:nvSpPr>
          <p:cNvPr id="32" name="Shape 29"/>
          <p:cNvSpPr/>
          <p:nvPr/>
        </p:nvSpPr>
        <p:spPr>
          <a:xfrm>
            <a:off x="11524183" y="585216"/>
            <a:ext cx="118872" cy="118872"/>
          </a:xfrm>
          <a:prstGeom prst="ellipse">
            <a:avLst/>
          </a:prstGeom>
          <a:solidFill>
            <a:srgbClr val="F3F6F9"/>
          </a:solidFill>
          <a:ln w="9525">
            <a:solidFill>
              <a:srgbClr val="DCE4EC"/>
            </a:solidFill>
            <a:prstDash val="solid"/>
          </a:ln>
        </p:spPr>
      </p:sp>
      <p:sp>
        <p:nvSpPr>
          <p:cNvPr id="33" name="Text 30"/>
          <p:cNvSpPr txBox="1"/>
          <p:nvPr/>
        </p:nvSpPr>
        <p:spPr>
          <a:xfrm>
            <a:off x="9146743" y="768096"/>
            <a:ext cx="2496312" cy="201168"/>
          </a:xfrm>
          <a:prstGeom prst="rect">
            <a:avLst/>
          </a:prstGeom>
          <a:noFill/>
          <a:ln/>
        </p:spPr>
        <p:txBody>
          <a:bodyPr wrap="square" lIns="0" tIns="0" rIns="0" bIns="0" rtlCol="0" anchor="ctr"/>
          <a:lstStyle/>
          <a:p>
            <a:pPr algn="r" indent="0" marL="0">
              <a:buNone/>
            </a:pPr>
            <a:r>
              <a:rPr lang="en-US" sz="950" dirty="0">
                <a:solidFill>
                  <a:srgbClr val="5E6D7D"/>
                </a:solidFill>
                <a:latin typeface="Calibri" pitchFamily="34" charset="0"/>
                <a:ea typeface="Calibri" pitchFamily="34" charset="-122"/>
                <a:cs typeface="Calibri" pitchFamily="34" charset="-120"/>
              </a:rPr>
              <a:t>Screen 8 of 14</a:t>
            </a:r>
            <a:endParaRPr lang="en-US" sz="950" dirty="0"/>
          </a:p>
        </p:txBody>
      </p:sp>
      <p:sp>
        <p:nvSpPr>
          <p:cNvPr id="34" name="Text 31"/>
          <p:cNvSpPr txBox="1"/>
          <p:nvPr/>
        </p:nvSpPr>
        <p:spPr>
          <a:xfrm>
            <a:off x="4434840" y="1170432"/>
            <a:ext cx="7208215" cy="237744"/>
          </a:xfrm>
          <a:prstGeom prst="rect">
            <a:avLst/>
          </a:prstGeom>
          <a:noFill/>
          <a:ln/>
        </p:spPr>
        <p:txBody>
          <a:bodyPr wrap="square" lIns="0" tIns="0" rIns="0" bIns="0" rtlCol="0" anchor="ctr"/>
          <a:lstStyle/>
          <a:p>
            <a:pPr indent="0" marL="0">
              <a:buNone/>
            </a:pPr>
            <a:r>
              <a:rPr lang="en-US" sz="1100" b="1" spc="200" kern="0" dirty="0">
                <a:solidFill>
                  <a:srgbClr val="00A896"/>
                </a:solidFill>
                <a:latin typeface="Calibri" pitchFamily="34" charset="0"/>
                <a:ea typeface="Calibri" pitchFamily="34" charset="-122"/>
                <a:cs typeface="Calibri" pitchFamily="34" charset="-120"/>
              </a:rPr>
              <a:t>BOARDING</a:t>
            </a:r>
            <a:endParaRPr lang="en-US" sz="1100" dirty="0"/>
          </a:p>
        </p:txBody>
      </p:sp>
      <p:sp>
        <p:nvSpPr>
          <p:cNvPr id="35" name="Text 32"/>
          <p:cNvSpPr txBox="1"/>
          <p:nvPr/>
        </p:nvSpPr>
        <p:spPr>
          <a:xfrm>
            <a:off x="4434840" y="1463040"/>
            <a:ext cx="7208215" cy="457200"/>
          </a:xfrm>
          <a:prstGeom prst="rect">
            <a:avLst/>
          </a:prstGeom>
          <a:noFill/>
          <a:ln/>
        </p:spPr>
        <p:txBody>
          <a:bodyPr wrap="square" lIns="0" tIns="0" rIns="0" bIns="0" rtlCol="0" anchor="t"/>
          <a:lstStyle/>
          <a:p>
            <a:pPr indent="0" marL="0">
              <a:buNone/>
            </a:pPr>
            <a:r>
              <a:rPr lang="en-US" sz="3000" b="1" dirty="0">
                <a:solidFill>
                  <a:srgbClr val="16202B"/>
                </a:solidFill>
                <a:latin typeface="Calibri" pitchFamily="34" charset="0"/>
                <a:ea typeface="Calibri" pitchFamily="34" charset="-122"/>
                <a:cs typeface="Calibri" pitchFamily="34" charset="-120"/>
              </a:rPr>
              <a:t>Board each rider by OTP</a:t>
            </a:r>
            <a:endParaRPr lang="en-US" sz="3000" dirty="0"/>
          </a:p>
        </p:txBody>
      </p:sp>
      <p:sp>
        <p:nvSpPr>
          <p:cNvPr id="36" name="Text 33"/>
          <p:cNvSpPr txBox="1"/>
          <p:nvPr/>
        </p:nvSpPr>
        <p:spPr>
          <a:xfrm>
            <a:off x="4434840" y="2048256"/>
            <a:ext cx="7208215" cy="475488"/>
          </a:xfrm>
          <a:prstGeom prst="rect">
            <a:avLst/>
          </a:prstGeom>
          <a:noFill/>
          <a:ln/>
        </p:spPr>
        <p:txBody>
          <a:bodyPr wrap="square" lIns="0" tIns="0" rIns="0" bIns="0" rtlCol="0" anchor="t"/>
          <a:lstStyle/>
          <a:p>
            <a:pPr indent="0" marL="0">
              <a:buNone/>
            </a:pPr>
            <a:r>
              <a:rPr lang="en-US" sz="1500" dirty="0">
                <a:solidFill>
                  <a:srgbClr val="34465A"/>
                </a:solidFill>
                <a:latin typeface="Calibri" pitchFamily="34" charset="0"/>
                <a:ea typeface="Calibri" pitchFamily="34" charset="-122"/>
                <a:cs typeface="Calibri" pitchFamily="34" charset="-120"/>
              </a:rPr>
              <a:t>A. Raghavan shows 0416. The driver types it and taps Board. A wrong code is refused; after 5, boarding locks for the desk.</a:t>
            </a:r>
            <a:endParaRPr lang="en-US" sz="1500" dirty="0"/>
          </a:p>
        </p:txBody>
      </p:sp>
      <p:sp>
        <p:nvSpPr>
          <p:cNvPr id="37" name="Shape 34"/>
          <p:cNvSpPr/>
          <p:nvPr/>
        </p:nvSpPr>
        <p:spPr>
          <a:xfrm>
            <a:off x="4434840" y="2798064"/>
            <a:ext cx="7208215" cy="649224"/>
          </a:xfrm>
          <a:prstGeom prst="roundRect">
            <a:avLst>
              <a:gd name="adj" fmla="val 11268"/>
            </a:avLst>
          </a:prstGeom>
          <a:solidFill>
            <a:srgbClr val="F3F6F9"/>
          </a:solidFill>
          <a:ln w="6350">
            <a:solidFill>
              <a:srgbClr val="F3F6F9"/>
            </a:solidFill>
            <a:prstDash val="solid"/>
          </a:ln>
        </p:spPr>
      </p:sp>
      <p:sp>
        <p:nvSpPr>
          <p:cNvPr id="38" name="Shape 35"/>
          <p:cNvSpPr/>
          <p:nvPr/>
        </p:nvSpPr>
        <p:spPr>
          <a:xfrm>
            <a:off x="4599432" y="2916936"/>
            <a:ext cx="292608" cy="292608"/>
          </a:xfrm>
          <a:prstGeom prst="ellipse">
            <a:avLst/>
          </a:prstGeom>
          <a:solidFill>
            <a:srgbClr val="00A896"/>
          </a:solidFill>
          <a:ln w="15875">
            <a:solidFill>
              <a:srgbClr val="FFFFFF"/>
            </a:solidFill>
            <a:prstDash val="solid"/>
          </a:ln>
        </p:spPr>
      </p:sp>
      <p:sp>
        <p:nvSpPr>
          <p:cNvPr id="39" name="Text 36"/>
          <p:cNvSpPr txBox="1"/>
          <p:nvPr/>
        </p:nvSpPr>
        <p:spPr>
          <a:xfrm>
            <a:off x="4599432" y="2916936"/>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40" name="Text 37"/>
          <p:cNvSpPr txBox="1"/>
          <p:nvPr/>
        </p:nvSpPr>
        <p:spPr>
          <a:xfrm>
            <a:off x="5029200" y="2907792"/>
            <a:ext cx="6430975" cy="274320"/>
          </a:xfrm>
          <a:prstGeom prst="rect">
            <a:avLst/>
          </a:prstGeom>
          <a:noFill/>
          <a:ln/>
        </p:spPr>
        <p:txBody>
          <a:bodyPr wrap="square" lIns="0" tIns="0" rIns="0" bIns="0" rtlCol="0" anchor="ctr"/>
          <a:lstStyle/>
          <a:p>
            <a:pPr indent="0" marL="0">
              <a:buNone/>
            </a:pPr>
            <a:r>
              <a:rPr lang="en-US" sz="1400" b="1" dirty="0">
                <a:solidFill>
                  <a:srgbClr val="16202B"/>
                </a:solidFill>
                <a:latin typeface="Calibri" pitchFamily="34" charset="0"/>
                <a:ea typeface="Calibri" pitchFamily="34" charset="-122"/>
                <a:cs typeface="Calibri" pitchFamily="34" charset="-120"/>
              </a:rPr>
              <a:t>A. Raghavan · to Blast Furnace</a:t>
            </a:r>
            <a:endParaRPr lang="en-US" sz="1400" dirty="0"/>
          </a:p>
        </p:txBody>
      </p:sp>
      <p:sp>
        <p:nvSpPr>
          <p:cNvPr id="41" name="Text 38"/>
          <p:cNvSpPr txBox="1"/>
          <p:nvPr/>
        </p:nvSpPr>
        <p:spPr>
          <a:xfrm>
            <a:off x="5029200" y="3182112"/>
            <a:ext cx="6430975" cy="192024"/>
          </a:xfrm>
          <a:prstGeom prst="rect">
            <a:avLst/>
          </a:prstGeom>
          <a:noFill/>
          <a:ln/>
        </p:spPr>
        <p:txBody>
          <a:bodyPr wrap="square" lIns="0" tIns="0" rIns="0" bIns="0" rtlCol="0" anchor="t"/>
          <a:lstStyle/>
          <a:p>
            <a:pPr indent="0" marL="0">
              <a:buNone/>
            </a:pPr>
            <a:r>
              <a:rPr lang="en-US" sz="1200" dirty="0">
                <a:solidFill>
                  <a:srgbClr val="34465A"/>
                </a:solidFill>
                <a:latin typeface="Calibri" pitchFamily="34" charset="0"/>
                <a:ea typeface="Calibri" pitchFamily="34" charset="-122"/>
                <a:cs typeface="Calibri" pitchFamily="34" charset="-120"/>
              </a:rPr>
              <a:t>At the Gate 2 pickup point, 20 m from the cab.</a:t>
            </a:r>
            <a:endParaRPr lang="en-US" sz="1200" dirty="0"/>
          </a:p>
        </p:txBody>
      </p:sp>
      <p:sp>
        <p:nvSpPr>
          <p:cNvPr id="42" name="Shape 39"/>
          <p:cNvSpPr/>
          <p:nvPr/>
        </p:nvSpPr>
        <p:spPr>
          <a:xfrm>
            <a:off x="4434840" y="3557016"/>
            <a:ext cx="7208215" cy="649224"/>
          </a:xfrm>
          <a:prstGeom prst="roundRect">
            <a:avLst>
              <a:gd name="adj" fmla="val 11268"/>
            </a:avLst>
          </a:prstGeom>
          <a:solidFill>
            <a:srgbClr val="F3F6F9"/>
          </a:solidFill>
          <a:ln w="6350">
            <a:solidFill>
              <a:srgbClr val="F3F6F9"/>
            </a:solidFill>
            <a:prstDash val="solid"/>
          </a:ln>
        </p:spPr>
      </p:sp>
      <p:sp>
        <p:nvSpPr>
          <p:cNvPr id="43" name="Shape 40"/>
          <p:cNvSpPr/>
          <p:nvPr/>
        </p:nvSpPr>
        <p:spPr>
          <a:xfrm>
            <a:off x="4599432" y="3675888"/>
            <a:ext cx="292608" cy="292608"/>
          </a:xfrm>
          <a:prstGeom prst="ellipse">
            <a:avLst/>
          </a:prstGeom>
          <a:solidFill>
            <a:srgbClr val="00A896"/>
          </a:solidFill>
          <a:ln w="15875">
            <a:solidFill>
              <a:srgbClr val="FFFFFF"/>
            </a:solidFill>
            <a:prstDash val="solid"/>
          </a:ln>
        </p:spPr>
      </p:sp>
      <p:sp>
        <p:nvSpPr>
          <p:cNvPr id="44" name="Text 41"/>
          <p:cNvSpPr txBox="1"/>
          <p:nvPr/>
        </p:nvSpPr>
        <p:spPr>
          <a:xfrm>
            <a:off x="4599432" y="3675888"/>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45" name="Text 42"/>
          <p:cNvSpPr txBox="1"/>
          <p:nvPr/>
        </p:nvSpPr>
        <p:spPr>
          <a:xfrm>
            <a:off x="5029200" y="3666744"/>
            <a:ext cx="6430975" cy="274320"/>
          </a:xfrm>
          <a:prstGeom prst="rect">
            <a:avLst/>
          </a:prstGeom>
          <a:noFill/>
          <a:ln/>
        </p:spPr>
        <p:txBody>
          <a:bodyPr wrap="square" lIns="0" tIns="0" rIns="0" bIns="0" rtlCol="0" anchor="ctr"/>
          <a:lstStyle/>
          <a:p>
            <a:pPr indent="0" marL="0">
              <a:buNone/>
            </a:pPr>
            <a:r>
              <a:rPr lang="en-US" sz="1400" b="1" dirty="0">
                <a:solidFill>
                  <a:srgbClr val="16202B"/>
                </a:solidFill>
                <a:latin typeface="Calibri" pitchFamily="34" charset="0"/>
                <a:ea typeface="Calibri" pitchFamily="34" charset="-122"/>
                <a:cs typeface="Calibri" pitchFamily="34" charset="-120"/>
              </a:rPr>
              <a:t>0 4 1 6</a:t>
            </a:r>
            <a:endParaRPr lang="en-US" sz="1400" dirty="0"/>
          </a:p>
        </p:txBody>
      </p:sp>
      <p:sp>
        <p:nvSpPr>
          <p:cNvPr id="46" name="Text 43"/>
          <p:cNvSpPr txBox="1"/>
          <p:nvPr/>
        </p:nvSpPr>
        <p:spPr>
          <a:xfrm>
            <a:off x="5029200" y="3941064"/>
            <a:ext cx="6430975" cy="192024"/>
          </a:xfrm>
          <a:prstGeom prst="rect">
            <a:avLst/>
          </a:prstGeom>
          <a:noFill/>
          <a:ln/>
        </p:spPr>
        <p:txBody>
          <a:bodyPr wrap="square" lIns="0" tIns="0" rIns="0" bIns="0" rtlCol="0" anchor="t"/>
          <a:lstStyle/>
          <a:p>
            <a:pPr indent="0" marL="0">
              <a:buNone/>
            </a:pPr>
            <a:r>
              <a:rPr lang="en-US" sz="1200" dirty="0">
                <a:solidFill>
                  <a:srgbClr val="34465A"/>
                </a:solidFill>
                <a:latin typeface="Calibri" pitchFamily="34" charset="0"/>
                <a:ea typeface="Calibri" pitchFamily="34" charset="-122"/>
                <a:cs typeface="Calibri" pitchFamily="34" charset="-120"/>
              </a:rPr>
              <a:t>The code from the rider’s screen.</a:t>
            </a:r>
            <a:endParaRPr lang="en-US" sz="1200" dirty="0"/>
          </a:p>
        </p:txBody>
      </p:sp>
      <p:sp>
        <p:nvSpPr>
          <p:cNvPr id="47" name="Shape 44"/>
          <p:cNvSpPr/>
          <p:nvPr/>
        </p:nvSpPr>
        <p:spPr>
          <a:xfrm>
            <a:off x="4434840" y="4315968"/>
            <a:ext cx="7208215" cy="649224"/>
          </a:xfrm>
          <a:prstGeom prst="roundRect">
            <a:avLst>
              <a:gd name="adj" fmla="val 11268"/>
            </a:avLst>
          </a:prstGeom>
          <a:solidFill>
            <a:srgbClr val="F3F6F9"/>
          </a:solidFill>
          <a:ln w="6350">
            <a:solidFill>
              <a:srgbClr val="F3F6F9"/>
            </a:solidFill>
            <a:prstDash val="solid"/>
          </a:ln>
        </p:spPr>
      </p:sp>
      <p:sp>
        <p:nvSpPr>
          <p:cNvPr id="48" name="Shape 45"/>
          <p:cNvSpPr/>
          <p:nvPr/>
        </p:nvSpPr>
        <p:spPr>
          <a:xfrm>
            <a:off x="4599432" y="4434840"/>
            <a:ext cx="292608" cy="292608"/>
          </a:xfrm>
          <a:prstGeom prst="ellipse">
            <a:avLst/>
          </a:prstGeom>
          <a:solidFill>
            <a:srgbClr val="00A896"/>
          </a:solidFill>
          <a:ln w="15875">
            <a:solidFill>
              <a:srgbClr val="FFFFFF"/>
            </a:solidFill>
            <a:prstDash val="solid"/>
          </a:ln>
        </p:spPr>
      </p:sp>
      <p:sp>
        <p:nvSpPr>
          <p:cNvPr id="49" name="Text 46"/>
          <p:cNvSpPr txBox="1"/>
          <p:nvPr/>
        </p:nvSpPr>
        <p:spPr>
          <a:xfrm>
            <a:off x="4599432" y="443484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50" name="Text 47"/>
          <p:cNvSpPr txBox="1"/>
          <p:nvPr/>
        </p:nvSpPr>
        <p:spPr>
          <a:xfrm>
            <a:off x="5029200" y="4425696"/>
            <a:ext cx="6430975" cy="274320"/>
          </a:xfrm>
          <a:prstGeom prst="rect">
            <a:avLst/>
          </a:prstGeom>
          <a:noFill/>
          <a:ln/>
        </p:spPr>
        <p:txBody>
          <a:bodyPr wrap="square" lIns="0" tIns="0" rIns="0" bIns="0" rtlCol="0" anchor="ctr"/>
          <a:lstStyle/>
          <a:p>
            <a:pPr indent="0" marL="0">
              <a:buNone/>
            </a:pPr>
            <a:r>
              <a:rPr lang="en-US" sz="1400" b="1" dirty="0">
                <a:solidFill>
                  <a:srgbClr val="16202B"/>
                </a:solidFill>
                <a:latin typeface="Calibri" pitchFamily="34" charset="0"/>
                <a:ea typeface="Calibri" pitchFamily="34" charset="-122"/>
                <a:cs typeface="Calibri" pitchFamily="34" charset="-120"/>
              </a:rPr>
              <a:t>Board</a:t>
            </a:r>
            <a:endParaRPr lang="en-US" sz="1400" dirty="0"/>
          </a:p>
        </p:txBody>
      </p:sp>
      <p:sp>
        <p:nvSpPr>
          <p:cNvPr id="51" name="Text 48"/>
          <p:cNvSpPr txBox="1"/>
          <p:nvPr/>
        </p:nvSpPr>
        <p:spPr>
          <a:xfrm>
            <a:off x="5029200" y="4700016"/>
            <a:ext cx="6430975" cy="192024"/>
          </a:xfrm>
          <a:prstGeom prst="rect">
            <a:avLst/>
          </a:prstGeom>
          <a:noFill/>
          <a:ln/>
        </p:spPr>
        <p:txBody>
          <a:bodyPr wrap="square" lIns="0" tIns="0" rIns="0" bIns="0" rtlCol="0" anchor="t"/>
          <a:lstStyle/>
          <a:p>
            <a:pPr indent="0" marL="0">
              <a:buNone/>
            </a:pPr>
            <a:r>
              <a:rPr lang="en-US" sz="1200" dirty="0">
                <a:solidFill>
                  <a:srgbClr val="34465A"/>
                </a:solidFill>
                <a:latin typeface="Calibri" pitchFamily="34" charset="0"/>
                <a:ea typeface="Calibri" pitchFamily="34" charset="-122"/>
                <a:cs typeface="Calibri" pitchFamily="34" charset="-120"/>
              </a:rPr>
              <a:t>The right rider, in the right cab.</a:t>
            </a:r>
            <a:endParaRPr lang="en-US" sz="1200" dirty="0"/>
          </a:p>
        </p:txBody>
      </p:sp>
      <p:sp>
        <p:nvSpPr>
          <p:cNvPr id="52" name="Text 49"/>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900" dirty="0">
                <a:solidFill>
                  <a:srgbClr val="5E6D7D"/>
                </a:solidFill>
                <a:latin typeface="Calibri" pitchFamily="34" charset="0"/>
                <a:ea typeface="Calibri" pitchFamily="34" charset="-122"/>
                <a:cs typeface="Calibri" pitchFamily="34" charset="-120"/>
              </a:rPr>
              <a:t>Plant Ride · Rider → Driver journey · recorded on the MVP with demo data</a:t>
            </a:r>
            <a:endParaRPr lang="en-US" sz="900" dirty="0"/>
          </a:p>
        </p:txBody>
      </p:sp>
      <p:sp>
        <p:nvSpPr>
          <p:cNvPr id="53" name="Text 50"/>
          <p:cNvSpPr txBox="1"/>
          <p:nvPr/>
        </p:nvSpPr>
        <p:spPr>
          <a:xfrm>
            <a:off x="11185855" y="6473952"/>
            <a:ext cx="457200" cy="228600"/>
          </a:xfrm>
          <a:prstGeom prst="rect">
            <a:avLst/>
          </a:prstGeom>
          <a:noFill/>
          <a:ln/>
        </p:spPr>
        <p:txBody>
          <a:bodyPr wrap="square" lIns="0" tIns="0" rIns="0" bIns="0" rtlCol="0" anchor="ctr"/>
          <a:lstStyle/>
          <a:p>
            <a:pPr algn="r" indent="0" marL="0">
              <a:buNone/>
            </a:pPr>
            <a:r>
              <a:rPr lang="en-US" sz="900" dirty="0">
                <a:solidFill>
                  <a:srgbClr val="5E6D7D"/>
                </a:solidFill>
                <a:latin typeface="Calibri" pitchFamily="34" charset="0"/>
                <a:ea typeface="Calibri" pitchFamily="34" charset="-122"/>
                <a:cs typeface="Calibri"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50976" y="402336"/>
            <a:ext cx="2813925" cy="5961888"/>
          </a:xfrm>
          <a:prstGeom prst="roundRect">
            <a:avLst>
              <a:gd name="adj" fmla="val 5849"/>
            </a:avLst>
          </a:prstGeom>
          <a:solidFill>
            <a:srgbClr val="16202B"/>
          </a:solidFill>
          <a:ln w="9525">
            <a:solidFill>
              <a:srgbClr val="16202B"/>
            </a:solidFill>
            <a:prstDash val="solid"/>
          </a:ln>
          <a:effectLst>
            <a:outerShdw sx="100000" sy="100000" kx="0" ky="0" algn="bl" rotWithShape="0" blurRad="127000" dist="38100" dir="5400000">
              <a:srgbClr val="000000">
                <a:alpha val="20000"/>
              </a:srgbClr>
            </a:outerShdw>
          </a:effectLst>
        </p:spPr>
      </p:sp>
      <p:pic>
        <p:nvPicPr>
          <p:cNvPr id="3" name="Image 0" descr="Screenshot: d09-on-board">    </p:cNvPr>
          <p:cNvPicPr>
            <a:picLocks noChangeAspect="1"/>
          </p:cNvPicPr>
          <p:nvPr/>
        </p:nvPicPr>
        <p:blipFill>
          <a:blip r:embed="rId1"/>
          <a:stretch>
            <a:fillRect/>
          </a:stretch>
        </p:blipFill>
        <p:spPr>
          <a:xfrm>
            <a:off x="1005840" y="457200"/>
            <a:ext cx="2704197" cy="5852160"/>
          </a:xfrm>
          <a:prstGeom prst="rect">
            <a:avLst/>
          </a:prstGeom>
        </p:spPr>
      </p:pic>
      <p:sp>
        <p:nvSpPr>
          <p:cNvPr id="4" name="Shape 1"/>
          <p:cNvSpPr/>
          <p:nvPr/>
        </p:nvSpPr>
        <p:spPr>
          <a:xfrm>
            <a:off x="3467353" y="741487"/>
            <a:ext cx="425564" cy="914"/>
          </a:xfrm>
          <a:prstGeom prst="line">
            <a:avLst/>
          </a:prstGeom>
          <a:noFill/>
          <a:ln w="15875">
            <a:solidFill>
              <a:srgbClr val="00A896"/>
            </a:solidFill>
            <a:prstDash val="solid"/>
          </a:ln>
        </p:spPr>
      </p:sp>
      <p:sp>
        <p:nvSpPr>
          <p:cNvPr id="5" name="Shape 2"/>
          <p:cNvSpPr/>
          <p:nvPr/>
        </p:nvSpPr>
        <p:spPr>
          <a:xfrm>
            <a:off x="3426205" y="700339"/>
            <a:ext cx="82296" cy="82296"/>
          </a:xfrm>
          <a:prstGeom prst="ellipse">
            <a:avLst/>
          </a:prstGeom>
          <a:solidFill>
            <a:srgbClr val="00A896"/>
          </a:solidFill>
          <a:ln w="9525">
            <a:solidFill>
              <a:srgbClr val="FFFFFF"/>
            </a:solidFill>
            <a:prstDash val="solid"/>
          </a:ln>
        </p:spPr>
      </p:sp>
      <p:sp>
        <p:nvSpPr>
          <p:cNvPr id="6" name="Shape 3"/>
          <p:cNvSpPr/>
          <p:nvPr/>
        </p:nvSpPr>
        <p:spPr>
          <a:xfrm>
            <a:off x="3892917" y="604327"/>
            <a:ext cx="274320" cy="274320"/>
          </a:xfrm>
          <a:prstGeom prst="ellipse">
            <a:avLst/>
          </a:prstGeom>
          <a:solidFill>
            <a:srgbClr val="00A896"/>
          </a:solidFill>
          <a:ln w="15875">
            <a:solidFill>
              <a:srgbClr val="FFFFFF"/>
            </a:solidFill>
            <a:prstDash val="solid"/>
          </a:ln>
        </p:spPr>
      </p:sp>
      <p:sp>
        <p:nvSpPr>
          <p:cNvPr id="7" name="Text 4"/>
          <p:cNvSpPr txBox="1"/>
          <p:nvPr/>
        </p:nvSpPr>
        <p:spPr>
          <a:xfrm>
            <a:off x="3892917" y="604327"/>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8" name="Shape 5"/>
          <p:cNvSpPr/>
          <p:nvPr/>
        </p:nvSpPr>
        <p:spPr>
          <a:xfrm>
            <a:off x="822960" y="1573548"/>
            <a:ext cx="356226" cy="914"/>
          </a:xfrm>
          <a:prstGeom prst="line">
            <a:avLst/>
          </a:prstGeom>
          <a:noFill/>
          <a:ln w="15875">
            <a:solidFill>
              <a:srgbClr val="00A896"/>
            </a:solidFill>
            <a:prstDash val="solid"/>
          </a:ln>
        </p:spPr>
      </p:sp>
      <p:sp>
        <p:nvSpPr>
          <p:cNvPr id="9" name="Shape 6"/>
          <p:cNvSpPr/>
          <p:nvPr/>
        </p:nvSpPr>
        <p:spPr>
          <a:xfrm>
            <a:off x="1138038" y="1532400"/>
            <a:ext cx="82296" cy="82296"/>
          </a:xfrm>
          <a:prstGeom prst="ellipse">
            <a:avLst/>
          </a:prstGeom>
          <a:solidFill>
            <a:srgbClr val="00A896"/>
          </a:solidFill>
          <a:ln w="9525">
            <a:solidFill>
              <a:srgbClr val="FFFFFF"/>
            </a:solidFill>
            <a:prstDash val="solid"/>
          </a:ln>
        </p:spPr>
      </p:sp>
      <p:sp>
        <p:nvSpPr>
          <p:cNvPr id="10" name="Shape 7"/>
          <p:cNvSpPr/>
          <p:nvPr/>
        </p:nvSpPr>
        <p:spPr>
          <a:xfrm>
            <a:off x="548640" y="1436388"/>
            <a:ext cx="274320" cy="274320"/>
          </a:xfrm>
          <a:prstGeom prst="ellipse">
            <a:avLst/>
          </a:prstGeom>
          <a:solidFill>
            <a:srgbClr val="00A896"/>
          </a:solidFill>
          <a:ln w="15875">
            <a:solidFill>
              <a:srgbClr val="FFFFFF"/>
            </a:solidFill>
            <a:prstDash val="solid"/>
          </a:ln>
        </p:spPr>
      </p:sp>
      <p:sp>
        <p:nvSpPr>
          <p:cNvPr id="11" name="Text 8"/>
          <p:cNvSpPr txBox="1"/>
          <p:nvPr/>
        </p:nvSpPr>
        <p:spPr>
          <a:xfrm>
            <a:off x="548640" y="143638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2" name="Shape 9"/>
          <p:cNvSpPr/>
          <p:nvPr/>
        </p:nvSpPr>
        <p:spPr>
          <a:xfrm>
            <a:off x="822960" y="3736906"/>
            <a:ext cx="238351" cy="914"/>
          </a:xfrm>
          <a:prstGeom prst="line">
            <a:avLst/>
          </a:prstGeom>
          <a:noFill/>
          <a:ln w="15875">
            <a:solidFill>
              <a:srgbClr val="00A896"/>
            </a:solidFill>
            <a:prstDash val="solid"/>
          </a:ln>
        </p:spPr>
      </p:sp>
      <p:sp>
        <p:nvSpPr>
          <p:cNvPr id="13" name="Shape 10"/>
          <p:cNvSpPr/>
          <p:nvPr/>
        </p:nvSpPr>
        <p:spPr>
          <a:xfrm>
            <a:off x="1020163" y="3695758"/>
            <a:ext cx="82296" cy="82296"/>
          </a:xfrm>
          <a:prstGeom prst="ellipse">
            <a:avLst/>
          </a:prstGeom>
          <a:solidFill>
            <a:srgbClr val="00A896"/>
          </a:solidFill>
          <a:ln w="9525">
            <a:solidFill>
              <a:srgbClr val="FFFFFF"/>
            </a:solidFill>
            <a:prstDash val="solid"/>
          </a:ln>
        </p:spPr>
      </p:sp>
      <p:sp>
        <p:nvSpPr>
          <p:cNvPr id="14" name="Shape 11"/>
          <p:cNvSpPr/>
          <p:nvPr/>
        </p:nvSpPr>
        <p:spPr>
          <a:xfrm>
            <a:off x="548640" y="3599746"/>
            <a:ext cx="274320" cy="274320"/>
          </a:xfrm>
          <a:prstGeom prst="ellipse">
            <a:avLst/>
          </a:prstGeom>
          <a:solidFill>
            <a:srgbClr val="00A896"/>
          </a:solidFill>
          <a:ln w="15875">
            <a:solidFill>
              <a:srgbClr val="FFFFFF"/>
            </a:solidFill>
            <a:prstDash val="solid"/>
          </a:ln>
        </p:spPr>
      </p:sp>
      <p:sp>
        <p:nvSpPr>
          <p:cNvPr id="15" name="Text 12"/>
          <p:cNvSpPr txBox="1"/>
          <p:nvPr/>
        </p:nvSpPr>
        <p:spPr>
          <a:xfrm>
            <a:off x="548640" y="359974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6" name="Shape 13"/>
          <p:cNvSpPr/>
          <p:nvPr/>
        </p:nvSpPr>
        <p:spPr>
          <a:xfrm>
            <a:off x="4434840" y="457200"/>
            <a:ext cx="384048" cy="384048"/>
          </a:xfrm>
          <a:prstGeom prst="ellipse">
            <a:avLst/>
          </a:prstGeom>
          <a:solidFill>
            <a:srgbClr val="00A896"/>
          </a:solidFill>
          <a:ln w="6350">
            <a:solidFill>
              <a:srgbClr val="00A896"/>
            </a:solidFill>
            <a:prstDash val="solid"/>
          </a:ln>
        </p:spPr>
      </p:sp>
      <p:sp>
        <p:nvSpPr>
          <p:cNvPr id="17" name="Text 14"/>
          <p:cNvSpPr txBox="1"/>
          <p:nvPr/>
        </p:nvSpPr>
        <p:spPr>
          <a:xfrm>
            <a:off x="4434840" y="457200"/>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SK</a:t>
            </a:r>
            <a:endParaRPr lang="en-US" sz="1100" dirty="0"/>
          </a:p>
        </p:txBody>
      </p:sp>
      <p:sp>
        <p:nvSpPr>
          <p:cNvPr id="18" name="Text 15"/>
          <p:cNvSpPr txBox="1"/>
          <p:nvPr/>
        </p:nvSpPr>
        <p:spPr>
          <a:xfrm>
            <a:off x="4937760" y="457200"/>
            <a:ext cx="3291840" cy="384048"/>
          </a:xfrm>
          <a:prstGeom prst="rect">
            <a:avLst/>
          </a:prstGeom>
          <a:noFill/>
          <a:ln/>
        </p:spPr>
        <p:txBody>
          <a:bodyPr wrap="square" lIns="0" tIns="0" rIns="0" bIns="0" rtlCol="0" anchor="ctr"/>
          <a:lstStyle/>
          <a:p>
            <a:pPr indent="0" marL="0">
              <a:buNone/>
            </a:pPr>
            <a:r>
              <a:rPr lang="en-US" sz="1300" b="1" dirty="0">
                <a:solidFill>
                  <a:srgbClr val="00A896"/>
                </a:solidFill>
                <a:latin typeface="Calibri" pitchFamily="34" charset="0"/>
                <a:ea typeface="Calibri" pitchFamily="34" charset="-122"/>
                <a:cs typeface="Calibri" pitchFamily="34" charset="-120"/>
              </a:rPr>
              <a:t>Driver  </a:t>
            </a:r>
            <a:pPr indent="0" marL="0">
              <a:buNone/>
            </a:pPr>
            <a:r>
              <a:rPr lang="en-US" sz="1300" b="1" dirty="0">
                <a:solidFill>
                  <a:srgbClr val="16202B"/>
                </a:solidFill>
                <a:latin typeface="Calibri" pitchFamily="34" charset="0"/>
                <a:ea typeface="Calibri" pitchFamily="34" charset="-122"/>
                <a:cs typeface="Calibri" pitchFamily="34" charset="-120"/>
              </a:rPr>
              <a:t>S. Kumar</a:t>
            </a:r>
            <a:endParaRPr lang="en-US" sz="1300" dirty="0"/>
          </a:p>
        </p:txBody>
      </p:sp>
      <p:sp>
        <p:nvSpPr>
          <p:cNvPr id="19" name="Shape 16"/>
          <p:cNvSpPr/>
          <p:nvPr/>
        </p:nvSpPr>
        <p:spPr>
          <a:xfrm>
            <a:off x="9146743" y="585216"/>
            <a:ext cx="118872" cy="118872"/>
          </a:xfrm>
          <a:prstGeom prst="ellipse">
            <a:avLst/>
          </a:prstGeom>
          <a:solidFill>
            <a:srgbClr val="DDF5F1"/>
          </a:solidFill>
          <a:ln w="9525">
            <a:solidFill>
              <a:srgbClr val="00A896"/>
            </a:solidFill>
            <a:prstDash val="solid"/>
          </a:ln>
        </p:spPr>
      </p:sp>
      <p:sp>
        <p:nvSpPr>
          <p:cNvPr id="20" name="Shape 17"/>
          <p:cNvSpPr/>
          <p:nvPr/>
        </p:nvSpPr>
        <p:spPr>
          <a:xfrm>
            <a:off x="9329623" y="585216"/>
            <a:ext cx="118872" cy="118872"/>
          </a:xfrm>
          <a:prstGeom prst="ellipse">
            <a:avLst/>
          </a:prstGeom>
          <a:solidFill>
            <a:srgbClr val="DDF5F1"/>
          </a:solidFill>
          <a:ln w="9525">
            <a:solidFill>
              <a:srgbClr val="00A896"/>
            </a:solidFill>
            <a:prstDash val="solid"/>
          </a:ln>
        </p:spPr>
      </p:sp>
      <p:sp>
        <p:nvSpPr>
          <p:cNvPr id="21" name="Shape 18"/>
          <p:cNvSpPr/>
          <p:nvPr/>
        </p:nvSpPr>
        <p:spPr>
          <a:xfrm>
            <a:off x="9512503" y="585216"/>
            <a:ext cx="118872" cy="118872"/>
          </a:xfrm>
          <a:prstGeom prst="ellipse">
            <a:avLst/>
          </a:prstGeom>
          <a:solidFill>
            <a:srgbClr val="DDF5F1"/>
          </a:solidFill>
          <a:ln w="9525">
            <a:solidFill>
              <a:srgbClr val="00A896"/>
            </a:solidFill>
            <a:prstDash val="solid"/>
          </a:ln>
        </p:spPr>
      </p:sp>
      <p:sp>
        <p:nvSpPr>
          <p:cNvPr id="22" name="Shape 19"/>
          <p:cNvSpPr/>
          <p:nvPr/>
        </p:nvSpPr>
        <p:spPr>
          <a:xfrm>
            <a:off x="9695383" y="585216"/>
            <a:ext cx="118872" cy="118872"/>
          </a:xfrm>
          <a:prstGeom prst="ellipse">
            <a:avLst/>
          </a:prstGeom>
          <a:solidFill>
            <a:srgbClr val="DDF5F1"/>
          </a:solidFill>
          <a:ln w="9525">
            <a:solidFill>
              <a:srgbClr val="00A896"/>
            </a:solidFill>
            <a:prstDash val="solid"/>
          </a:ln>
        </p:spPr>
      </p:sp>
      <p:sp>
        <p:nvSpPr>
          <p:cNvPr id="23" name="Shape 20"/>
          <p:cNvSpPr/>
          <p:nvPr/>
        </p:nvSpPr>
        <p:spPr>
          <a:xfrm>
            <a:off x="9878263" y="585216"/>
            <a:ext cx="118872" cy="118872"/>
          </a:xfrm>
          <a:prstGeom prst="ellipse">
            <a:avLst/>
          </a:prstGeom>
          <a:solidFill>
            <a:srgbClr val="DDF5F1"/>
          </a:solidFill>
          <a:ln w="9525">
            <a:solidFill>
              <a:srgbClr val="00A896"/>
            </a:solidFill>
            <a:prstDash val="solid"/>
          </a:ln>
        </p:spPr>
      </p:sp>
      <p:sp>
        <p:nvSpPr>
          <p:cNvPr id="24" name="Shape 21"/>
          <p:cNvSpPr/>
          <p:nvPr/>
        </p:nvSpPr>
        <p:spPr>
          <a:xfrm>
            <a:off x="10061143" y="585216"/>
            <a:ext cx="118872" cy="118872"/>
          </a:xfrm>
          <a:prstGeom prst="ellipse">
            <a:avLst/>
          </a:prstGeom>
          <a:solidFill>
            <a:srgbClr val="DDF5F1"/>
          </a:solidFill>
          <a:ln w="9525">
            <a:solidFill>
              <a:srgbClr val="00A896"/>
            </a:solidFill>
            <a:prstDash val="solid"/>
          </a:ln>
        </p:spPr>
      </p:sp>
      <p:sp>
        <p:nvSpPr>
          <p:cNvPr id="25" name="Shape 22"/>
          <p:cNvSpPr/>
          <p:nvPr/>
        </p:nvSpPr>
        <p:spPr>
          <a:xfrm>
            <a:off x="10244023" y="585216"/>
            <a:ext cx="118872" cy="118872"/>
          </a:xfrm>
          <a:prstGeom prst="ellipse">
            <a:avLst/>
          </a:prstGeom>
          <a:solidFill>
            <a:srgbClr val="DDF5F1"/>
          </a:solidFill>
          <a:ln w="9525">
            <a:solidFill>
              <a:srgbClr val="00A896"/>
            </a:solidFill>
            <a:prstDash val="solid"/>
          </a:ln>
        </p:spPr>
      </p:sp>
      <p:sp>
        <p:nvSpPr>
          <p:cNvPr id="26" name="Shape 23"/>
          <p:cNvSpPr/>
          <p:nvPr/>
        </p:nvSpPr>
        <p:spPr>
          <a:xfrm>
            <a:off x="10426903" y="585216"/>
            <a:ext cx="118872" cy="118872"/>
          </a:xfrm>
          <a:prstGeom prst="ellipse">
            <a:avLst/>
          </a:prstGeom>
          <a:solidFill>
            <a:srgbClr val="DDF5F1"/>
          </a:solidFill>
          <a:ln w="9525">
            <a:solidFill>
              <a:srgbClr val="00A896"/>
            </a:solidFill>
            <a:prstDash val="solid"/>
          </a:ln>
        </p:spPr>
      </p:sp>
      <p:sp>
        <p:nvSpPr>
          <p:cNvPr id="27" name="Shape 24"/>
          <p:cNvSpPr/>
          <p:nvPr/>
        </p:nvSpPr>
        <p:spPr>
          <a:xfrm>
            <a:off x="10582351" y="557784"/>
            <a:ext cx="173736" cy="173736"/>
          </a:xfrm>
          <a:prstGeom prst="ellipse">
            <a:avLst/>
          </a:prstGeom>
          <a:solidFill>
            <a:srgbClr val="00A896"/>
          </a:solidFill>
          <a:ln w="9525">
            <a:solidFill>
              <a:srgbClr val="00A896"/>
            </a:solidFill>
            <a:prstDash val="solid"/>
          </a:ln>
        </p:spPr>
      </p:sp>
      <p:sp>
        <p:nvSpPr>
          <p:cNvPr id="28" name="Shape 25"/>
          <p:cNvSpPr/>
          <p:nvPr/>
        </p:nvSpPr>
        <p:spPr>
          <a:xfrm>
            <a:off x="10792663" y="585216"/>
            <a:ext cx="118872" cy="118872"/>
          </a:xfrm>
          <a:prstGeom prst="ellipse">
            <a:avLst/>
          </a:prstGeom>
          <a:solidFill>
            <a:srgbClr val="F3F6F9"/>
          </a:solidFill>
          <a:ln w="9525">
            <a:solidFill>
              <a:srgbClr val="DCE4EC"/>
            </a:solidFill>
            <a:prstDash val="solid"/>
          </a:ln>
        </p:spPr>
      </p:sp>
      <p:sp>
        <p:nvSpPr>
          <p:cNvPr id="29" name="Shape 26"/>
          <p:cNvSpPr/>
          <p:nvPr/>
        </p:nvSpPr>
        <p:spPr>
          <a:xfrm>
            <a:off x="10975543" y="585216"/>
            <a:ext cx="118872" cy="118872"/>
          </a:xfrm>
          <a:prstGeom prst="ellipse">
            <a:avLst/>
          </a:prstGeom>
          <a:solidFill>
            <a:srgbClr val="F3F6F9"/>
          </a:solidFill>
          <a:ln w="9525">
            <a:solidFill>
              <a:srgbClr val="DCE4EC"/>
            </a:solidFill>
            <a:prstDash val="solid"/>
          </a:ln>
        </p:spPr>
      </p:sp>
      <p:sp>
        <p:nvSpPr>
          <p:cNvPr id="30" name="Shape 27"/>
          <p:cNvSpPr/>
          <p:nvPr/>
        </p:nvSpPr>
        <p:spPr>
          <a:xfrm>
            <a:off x="11158423" y="585216"/>
            <a:ext cx="118872" cy="118872"/>
          </a:xfrm>
          <a:prstGeom prst="ellipse">
            <a:avLst/>
          </a:prstGeom>
          <a:solidFill>
            <a:srgbClr val="F3F6F9"/>
          </a:solidFill>
          <a:ln w="9525">
            <a:solidFill>
              <a:srgbClr val="DCE4EC"/>
            </a:solidFill>
            <a:prstDash val="solid"/>
          </a:ln>
        </p:spPr>
      </p:sp>
      <p:sp>
        <p:nvSpPr>
          <p:cNvPr id="31" name="Shape 28"/>
          <p:cNvSpPr/>
          <p:nvPr/>
        </p:nvSpPr>
        <p:spPr>
          <a:xfrm>
            <a:off x="11341303" y="585216"/>
            <a:ext cx="118872" cy="118872"/>
          </a:xfrm>
          <a:prstGeom prst="ellipse">
            <a:avLst/>
          </a:prstGeom>
          <a:solidFill>
            <a:srgbClr val="F3F6F9"/>
          </a:solidFill>
          <a:ln w="9525">
            <a:solidFill>
              <a:srgbClr val="DCE4EC"/>
            </a:solidFill>
            <a:prstDash val="solid"/>
          </a:ln>
        </p:spPr>
      </p:sp>
      <p:sp>
        <p:nvSpPr>
          <p:cNvPr id="32" name="Shape 29"/>
          <p:cNvSpPr/>
          <p:nvPr/>
        </p:nvSpPr>
        <p:spPr>
          <a:xfrm>
            <a:off x="11524183" y="585216"/>
            <a:ext cx="118872" cy="118872"/>
          </a:xfrm>
          <a:prstGeom prst="ellipse">
            <a:avLst/>
          </a:prstGeom>
          <a:solidFill>
            <a:srgbClr val="F3F6F9"/>
          </a:solidFill>
          <a:ln w="9525">
            <a:solidFill>
              <a:srgbClr val="DCE4EC"/>
            </a:solidFill>
            <a:prstDash val="solid"/>
          </a:ln>
        </p:spPr>
      </p:sp>
      <p:sp>
        <p:nvSpPr>
          <p:cNvPr id="33" name="Text 30"/>
          <p:cNvSpPr txBox="1"/>
          <p:nvPr/>
        </p:nvSpPr>
        <p:spPr>
          <a:xfrm>
            <a:off x="9146743" y="768096"/>
            <a:ext cx="2496312" cy="201168"/>
          </a:xfrm>
          <a:prstGeom prst="rect">
            <a:avLst/>
          </a:prstGeom>
          <a:noFill/>
          <a:ln/>
        </p:spPr>
        <p:txBody>
          <a:bodyPr wrap="square" lIns="0" tIns="0" rIns="0" bIns="0" rtlCol="0" anchor="ctr"/>
          <a:lstStyle/>
          <a:p>
            <a:pPr algn="r" indent="0" marL="0">
              <a:buNone/>
            </a:pPr>
            <a:r>
              <a:rPr lang="en-US" sz="950" dirty="0">
                <a:solidFill>
                  <a:srgbClr val="5E6D7D"/>
                </a:solidFill>
                <a:latin typeface="Calibri" pitchFamily="34" charset="0"/>
                <a:ea typeface="Calibri" pitchFamily="34" charset="-122"/>
                <a:cs typeface="Calibri" pitchFamily="34" charset="-120"/>
              </a:rPr>
              <a:t>Screen 9 of 14</a:t>
            </a:r>
            <a:endParaRPr lang="en-US" sz="950" dirty="0"/>
          </a:p>
        </p:txBody>
      </p:sp>
      <p:sp>
        <p:nvSpPr>
          <p:cNvPr id="34" name="Text 31"/>
          <p:cNvSpPr txBox="1"/>
          <p:nvPr/>
        </p:nvSpPr>
        <p:spPr>
          <a:xfrm>
            <a:off x="4434840" y="1170432"/>
            <a:ext cx="7208215" cy="237744"/>
          </a:xfrm>
          <a:prstGeom prst="rect">
            <a:avLst/>
          </a:prstGeom>
          <a:noFill/>
          <a:ln/>
        </p:spPr>
        <p:txBody>
          <a:bodyPr wrap="square" lIns="0" tIns="0" rIns="0" bIns="0" rtlCol="0" anchor="ctr"/>
          <a:lstStyle/>
          <a:p>
            <a:pPr indent="0" marL="0">
              <a:buNone/>
            </a:pPr>
            <a:r>
              <a:rPr lang="en-US" sz="1100" b="1" spc="200" kern="0" dirty="0">
                <a:solidFill>
                  <a:srgbClr val="00A896"/>
                </a:solidFill>
                <a:latin typeface="Calibri" pitchFamily="34" charset="0"/>
                <a:ea typeface="Calibri" pitchFamily="34" charset="-122"/>
                <a:cs typeface="Calibri" pitchFamily="34" charset="-120"/>
              </a:rPr>
              <a:t>ON TRIP</a:t>
            </a:r>
            <a:endParaRPr lang="en-US" sz="1100" dirty="0"/>
          </a:p>
        </p:txBody>
      </p:sp>
      <p:sp>
        <p:nvSpPr>
          <p:cNvPr id="35" name="Text 32"/>
          <p:cNvSpPr txBox="1"/>
          <p:nvPr/>
        </p:nvSpPr>
        <p:spPr>
          <a:xfrm>
            <a:off x="4434840" y="1463040"/>
            <a:ext cx="7208215" cy="457200"/>
          </a:xfrm>
          <a:prstGeom prst="rect">
            <a:avLst/>
          </a:prstGeom>
          <a:noFill/>
          <a:ln/>
        </p:spPr>
        <p:txBody>
          <a:bodyPr wrap="square" lIns="0" tIns="0" rIns="0" bIns="0" rtlCol="0" anchor="t"/>
          <a:lstStyle/>
          <a:p>
            <a:pPr indent="0" marL="0">
              <a:buNone/>
            </a:pPr>
            <a:r>
              <a:rPr lang="en-US" sz="3000" b="1" dirty="0">
                <a:solidFill>
                  <a:srgbClr val="16202B"/>
                </a:solidFill>
                <a:latin typeface="Calibri" pitchFamily="34" charset="0"/>
                <a:ea typeface="Calibri" pitchFamily="34" charset="-122"/>
                <a:cs typeface="Calibri" pitchFamily="34" charset="-120"/>
              </a:rPr>
              <a:t>3 of 3 on board</a:t>
            </a:r>
            <a:endParaRPr lang="en-US" sz="3000" dirty="0"/>
          </a:p>
        </p:txBody>
      </p:sp>
      <p:sp>
        <p:nvSpPr>
          <p:cNvPr id="36" name="Text 33"/>
          <p:cNvSpPr txBox="1"/>
          <p:nvPr/>
        </p:nvSpPr>
        <p:spPr>
          <a:xfrm>
            <a:off x="4434840" y="2048256"/>
            <a:ext cx="7208215" cy="237744"/>
          </a:xfrm>
          <a:prstGeom prst="rect">
            <a:avLst/>
          </a:prstGeom>
          <a:noFill/>
          <a:ln/>
        </p:spPr>
        <p:txBody>
          <a:bodyPr wrap="square" lIns="0" tIns="0" rIns="0" bIns="0" rtlCol="0" anchor="t"/>
          <a:lstStyle/>
          <a:p>
            <a:pPr indent="0" marL="0">
              <a:buNone/>
            </a:pPr>
            <a:r>
              <a:rPr lang="en-US" sz="1500" dirty="0">
                <a:solidFill>
                  <a:srgbClr val="34465A"/>
                </a:solidFill>
                <a:latin typeface="Calibri" pitchFamily="34" charset="0"/>
                <a:ea typeface="Calibri" pitchFamily="34" charset="-122"/>
                <a:cs typeface="Calibri" pitchFamily="34" charset="-120"/>
              </a:rPr>
              <a:t>All three codes check out. The trip starts and the next stop is the first drop.</a:t>
            </a:r>
            <a:endParaRPr lang="en-US" sz="1500" dirty="0"/>
          </a:p>
        </p:txBody>
      </p:sp>
      <p:sp>
        <p:nvSpPr>
          <p:cNvPr id="37" name="Shape 34"/>
          <p:cNvSpPr/>
          <p:nvPr/>
        </p:nvSpPr>
        <p:spPr>
          <a:xfrm>
            <a:off x="4434840" y="2560320"/>
            <a:ext cx="7208215" cy="649224"/>
          </a:xfrm>
          <a:prstGeom prst="roundRect">
            <a:avLst>
              <a:gd name="adj" fmla="val 11268"/>
            </a:avLst>
          </a:prstGeom>
          <a:solidFill>
            <a:srgbClr val="F3F6F9"/>
          </a:solidFill>
          <a:ln w="6350">
            <a:solidFill>
              <a:srgbClr val="F3F6F9"/>
            </a:solidFill>
            <a:prstDash val="solid"/>
          </a:ln>
        </p:spPr>
      </p:sp>
      <p:sp>
        <p:nvSpPr>
          <p:cNvPr id="38" name="Shape 35"/>
          <p:cNvSpPr/>
          <p:nvPr/>
        </p:nvSpPr>
        <p:spPr>
          <a:xfrm>
            <a:off x="4599432" y="2679192"/>
            <a:ext cx="292608" cy="292608"/>
          </a:xfrm>
          <a:prstGeom prst="ellipse">
            <a:avLst/>
          </a:prstGeom>
          <a:solidFill>
            <a:srgbClr val="00A896"/>
          </a:solidFill>
          <a:ln w="15875">
            <a:solidFill>
              <a:srgbClr val="FFFFFF"/>
            </a:solidFill>
            <a:prstDash val="solid"/>
          </a:ln>
        </p:spPr>
      </p:sp>
      <p:sp>
        <p:nvSpPr>
          <p:cNvPr id="39" name="Text 36"/>
          <p:cNvSpPr txBox="1"/>
          <p:nvPr/>
        </p:nvSpPr>
        <p:spPr>
          <a:xfrm>
            <a:off x="4599432" y="2679192"/>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40" name="Text 37"/>
          <p:cNvSpPr txBox="1"/>
          <p:nvPr/>
        </p:nvSpPr>
        <p:spPr>
          <a:xfrm>
            <a:off x="5029200" y="2670048"/>
            <a:ext cx="6430975" cy="274320"/>
          </a:xfrm>
          <a:prstGeom prst="rect">
            <a:avLst/>
          </a:prstGeom>
          <a:noFill/>
          <a:ln/>
        </p:spPr>
        <p:txBody>
          <a:bodyPr wrap="square" lIns="0" tIns="0" rIns="0" bIns="0" rtlCol="0" anchor="ctr"/>
          <a:lstStyle/>
          <a:p>
            <a:pPr indent="0" marL="0">
              <a:buNone/>
            </a:pPr>
            <a:r>
              <a:rPr lang="en-US" sz="1400" b="1" dirty="0">
                <a:solidFill>
                  <a:srgbClr val="16202B"/>
                </a:solidFill>
                <a:latin typeface="Calibri" pitchFamily="34" charset="0"/>
                <a:ea typeface="Calibri" pitchFamily="34" charset="-122"/>
                <a:cs typeface="Calibri" pitchFamily="34" charset="-120"/>
              </a:rPr>
              <a:t>On trip</a:t>
            </a:r>
            <a:endParaRPr lang="en-US" sz="1400" dirty="0"/>
          </a:p>
        </p:txBody>
      </p:sp>
      <p:sp>
        <p:nvSpPr>
          <p:cNvPr id="41" name="Text 38"/>
          <p:cNvSpPr txBox="1"/>
          <p:nvPr/>
        </p:nvSpPr>
        <p:spPr>
          <a:xfrm>
            <a:off x="5029200" y="2944368"/>
            <a:ext cx="6430975" cy="192024"/>
          </a:xfrm>
          <a:prstGeom prst="rect">
            <a:avLst/>
          </a:prstGeom>
          <a:noFill/>
          <a:ln/>
        </p:spPr>
        <p:txBody>
          <a:bodyPr wrap="square" lIns="0" tIns="0" rIns="0" bIns="0" rtlCol="0" anchor="t"/>
          <a:lstStyle/>
          <a:p>
            <a:pPr indent="0" marL="0">
              <a:buNone/>
            </a:pPr>
            <a:r>
              <a:rPr lang="en-US" sz="1200" dirty="0">
                <a:solidFill>
                  <a:srgbClr val="34465A"/>
                </a:solidFill>
                <a:latin typeface="Calibri" pitchFamily="34" charset="0"/>
                <a:ea typeface="Calibri" pitchFamily="34" charset="-122"/>
                <a:cs typeface="Calibri" pitchFamily="34" charset="-120"/>
              </a:rPr>
              <a:t>The riders’ screens switch to “Trip in progress”.</a:t>
            </a:r>
            <a:endParaRPr lang="en-US" sz="1200" dirty="0"/>
          </a:p>
        </p:txBody>
      </p:sp>
      <p:sp>
        <p:nvSpPr>
          <p:cNvPr id="42" name="Shape 39"/>
          <p:cNvSpPr/>
          <p:nvPr/>
        </p:nvSpPr>
        <p:spPr>
          <a:xfrm>
            <a:off x="4434840" y="3319272"/>
            <a:ext cx="7208215" cy="649224"/>
          </a:xfrm>
          <a:prstGeom prst="roundRect">
            <a:avLst>
              <a:gd name="adj" fmla="val 11268"/>
            </a:avLst>
          </a:prstGeom>
          <a:solidFill>
            <a:srgbClr val="F3F6F9"/>
          </a:solidFill>
          <a:ln w="6350">
            <a:solidFill>
              <a:srgbClr val="F3F6F9"/>
            </a:solidFill>
            <a:prstDash val="solid"/>
          </a:ln>
        </p:spPr>
      </p:sp>
      <p:sp>
        <p:nvSpPr>
          <p:cNvPr id="43" name="Shape 40"/>
          <p:cNvSpPr/>
          <p:nvPr/>
        </p:nvSpPr>
        <p:spPr>
          <a:xfrm>
            <a:off x="4599432" y="3438144"/>
            <a:ext cx="292608" cy="292608"/>
          </a:xfrm>
          <a:prstGeom prst="ellipse">
            <a:avLst/>
          </a:prstGeom>
          <a:solidFill>
            <a:srgbClr val="00A896"/>
          </a:solidFill>
          <a:ln w="15875">
            <a:solidFill>
              <a:srgbClr val="FFFFFF"/>
            </a:solidFill>
            <a:prstDash val="solid"/>
          </a:ln>
        </p:spPr>
      </p:sp>
      <p:sp>
        <p:nvSpPr>
          <p:cNvPr id="44" name="Text 41"/>
          <p:cNvSpPr txBox="1"/>
          <p:nvPr/>
        </p:nvSpPr>
        <p:spPr>
          <a:xfrm>
            <a:off x="4599432" y="3438144"/>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45" name="Text 42"/>
          <p:cNvSpPr txBox="1"/>
          <p:nvPr/>
        </p:nvSpPr>
        <p:spPr>
          <a:xfrm>
            <a:off x="5029200" y="3429000"/>
            <a:ext cx="6430975" cy="274320"/>
          </a:xfrm>
          <a:prstGeom prst="rect">
            <a:avLst/>
          </a:prstGeom>
          <a:noFill/>
          <a:ln/>
        </p:spPr>
        <p:txBody>
          <a:bodyPr wrap="square" lIns="0" tIns="0" rIns="0" bIns="0" rtlCol="0" anchor="ctr"/>
          <a:lstStyle/>
          <a:p>
            <a:pPr indent="0" marL="0">
              <a:buNone/>
            </a:pPr>
            <a:r>
              <a:rPr lang="en-US" sz="1400" b="1" dirty="0">
                <a:solidFill>
                  <a:srgbClr val="16202B"/>
                </a:solidFill>
                <a:latin typeface="Calibri" pitchFamily="34" charset="0"/>
                <a:ea typeface="Calibri" pitchFamily="34" charset="-122"/>
                <a:cs typeface="Calibri" pitchFamily="34" charset="-120"/>
              </a:rPr>
              <a:t>3 of 3 on board · 0 seats left</a:t>
            </a:r>
            <a:endParaRPr lang="en-US" sz="1400" dirty="0"/>
          </a:p>
        </p:txBody>
      </p:sp>
      <p:sp>
        <p:nvSpPr>
          <p:cNvPr id="46" name="Text 43"/>
          <p:cNvSpPr txBox="1"/>
          <p:nvPr/>
        </p:nvSpPr>
        <p:spPr>
          <a:xfrm>
            <a:off x="5029200" y="3703320"/>
            <a:ext cx="6430975" cy="192024"/>
          </a:xfrm>
          <a:prstGeom prst="rect">
            <a:avLst/>
          </a:prstGeom>
          <a:noFill/>
          <a:ln/>
        </p:spPr>
        <p:txBody>
          <a:bodyPr wrap="square" lIns="0" tIns="0" rIns="0" bIns="0" rtlCol="0" anchor="t"/>
          <a:lstStyle/>
          <a:p>
            <a:pPr indent="0" marL="0">
              <a:buNone/>
            </a:pPr>
            <a:r>
              <a:rPr lang="en-US" sz="1200" dirty="0">
                <a:solidFill>
                  <a:srgbClr val="34465A"/>
                </a:solidFill>
                <a:latin typeface="Calibri" pitchFamily="34" charset="0"/>
                <a:ea typeface="Calibri" pitchFamily="34" charset="-122"/>
                <a:cs typeface="Calibri" pitchFamily="34" charset="-120"/>
              </a:rPr>
              <a:t>The 3-rider cap is reached.</a:t>
            </a:r>
            <a:endParaRPr lang="en-US" sz="1200" dirty="0"/>
          </a:p>
        </p:txBody>
      </p:sp>
      <p:sp>
        <p:nvSpPr>
          <p:cNvPr id="47" name="Shape 44"/>
          <p:cNvSpPr/>
          <p:nvPr/>
        </p:nvSpPr>
        <p:spPr>
          <a:xfrm>
            <a:off x="4434840" y="4078224"/>
            <a:ext cx="7208215" cy="649224"/>
          </a:xfrm>
          <a:prstGeom prst="roundRect">
            <a:avLst>
              <a:gd name="adj" fmla="val 11268"/>
            </a:avLst>
          </a:prstGeom>
          <a:solidFill>
            <a:srgbClr val="F3F6F9"/>
          </a:solidFill>
          <a:ln w="6350">
            <a:solidFill>
              <a:srgbClr val="F3F6F9"/>
            </a:solidFill>
            <a:prstDash val="solid"/>
          </a:ln>
        </p:spPr>
      </p:sp>
      <p:sp>
        <p:nvSpPr>
          <p:cNvPr id="48" name="Shape 45"/>
          <p:cNvSpPr/>
          <p:nvPr/>
        </p:nvSpPr>
        <p:spPr>
          <a:xfrm>
            <a:off x="4599432" y="4197096"/>
            <a:ext cx="292608" cy="292608"/>
          </a:xfrm>
          <a:prstGeom prst="ellipse">
            <a:avLst/>
          </a:prstGeom>
          <a:solidFill>
            <a:srgbClr val="00A896"/>
          </a:solidFill>
          <a:ln w="15875">
            <a:solidFill>
              <a:srgbClr val="FFFFFF"/>
            </a:solidFill>
            <a:prstDash val="solid"/>
          </a:ln>
        </p:spPr>
      </p:sp>
      <p:sp>
        <p:nvSpPr>
          <p:cNvPr id="49" name="Text 46"/>
          <p:cNvSpPr txBox="1"/>
          <p:nvPr/>
        </p:nvSpPr>
        <p:spPr>
          <a:xfrm>
            <a:off x="4599432" y="4197096"/>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50" name="Text 47"/>
          <p:cNvSpPr txBox="1"/>
          <p:nvPr/>
        </p:nvSpPr>
        <p:spPr>
          <a:xfrm>
            <a:off x="5029200" y="4187952"/>
            <a:ext cx="6430975" cy="274320"/>
          </a:xfrm>
          <a:prstGeom prst="rect">
            <a:avLst/>
          </a:prstGeom>
          <a:noFill/>
          <a:ln/>
        </p:spPr>
        <p:txBody>
          <a:bodyPr wrap="square" lIns="0" tIns="0" rIns="0" bIns="0" rtlCol="0" anchor="ctr"/>
          <a:lstStyle/>
          <a:p>
            <a:pPr indent="0" marL="0">
              <a:buNone/>
            </a:pPr>
            <a:r>
              <a:rPr lang="en-US" sz="1400" b="1" dirty="0">
                <a:solidFill>
                  <a:srgbClr val="16202B"/>
                </a:solidFill>
                <a:latin typeface="Calibri" pitchFamily="34" charset="0"/>
                <a:ea typeface="Calibri" pitchFamily="34" charset="-122"/>
                <a:cs typeface="Calibri" pitchFamily="34" charset="-120"/>
              </a:rPr>
              <a:t>Arrived at Coke Plant</a:t>
            </a:r>
            <a:endParaRPr lang="en-US" sz="1400" dirty="0"/>
          </a:p>
        </p:txBody>
      </p:sp>
      <p:sp>
        <p:nvSpPr>
          <p:cNvPr id="51" name="Text 48"/>
          <p:cNvSpPr txBox="1"/>
          <p:nvPr/>
        </p:nvSpPr>
        <p:spPr>
          <a:xfrm>
            <a:off x="5029200" y="4462272"/>
            <a:ext cx="6430975" cy="192024"/>
          </a:xfrm>
          <a:prstGeom prst="rect">
            <a:avLst/>
          </a:prstGeom>
          <a:noFill/>
          <a:ln/>
        </p:spPr>
        <p:txBody>
          <a:bodyPr wrap="square" lIns="0" tIns="0" rIns="0" bIns="0" rtlCol="0" anchor="t"/>
          <a:lstStyle/>
          <a:p>
            <a:pPr indent="0" marL="0">
              <a:buNone/>
            </a:pPr>
            <a:r>
              <a:rPr lang="en-US" sz="1200" dirty="0">
                <a:solidFill>
                  <a:srgbClr val="34465A"/>
                </a:solidFill>
                <a:latin typeface="Calibri" pitchFamily="34" charset="0"/>
                <a:ea typeface="Calibri" pitchFamily="34" charset="-122"/>
                <a:cs typeface="Calibri" pitchFamily="34" charset="-120"/>
              </a:rPr>
              <a:t>Drop 1 rider, about 10 minutes away.</a:t>
            </a:r>
            <a:endParaRPr lang="en-US" sz="1200" dirty="0"/>
          </a:p>
        </p:txBody>
      </p:sp>
      <p:sp>
        <p:nvSpPr>
          <p:cNvPr id="52" name="Text 49"/>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900" dirty="0">
                <a:solidFill>
                  <a:srgbClr val="5E6D7D"/>
                </a:solidFill>
                <a:latin typeface="Calibri" pitchFamily="34" charset="0"/>
                <a:ea typeface="Calibri" pitchFamily="34" charset="-122"/>
                <a:cs typeface="Calibri" pitchFamily="34" charset="-120"/>
              </a:rPr>
              <a:t>Plant Ride · Rider → Driver journey · recorded on the MVP with demo data</a:t>
            </a:r>
            <a:endParaRPr lang="en-US" sz="900" dirty="0"/>
          </a:p>
        </p:txBody>
      </p:sp>
      <p:sp>
        <p:nvSpPr>
          <p:cNvPr id="53" name="Text 50"/>
          <p:cNvSpPr txBox="1"/>
          <p:nvPr/>
        </p:nvSpPr>
        <p:spPr>
          <a:xfrm>
            <a:off x="11185855" y="6473952"/>
            <a:ext cx="457200" cy="228600"/>
          </a:xfrm>
          <a:prstGeom prst="rect">
            <a:avLst/>
          </a:prstGeom>
          <a:noFill/>
          <a:ln/>
        </p:spPr>
        <p:txBody>
          <a:bodyPr wrap="square" lIns="0" tIns="0" rIns="0" bIns="0" rtlCol="0" anchor="ctr"/>
          <a:lstStyle/>
          <a:p>
            <a:pPr algn="r" indent="0" marL="0">
              <a:buNone/>
            </a:pPr>
            <a:r>
              <a:rPr lang="en-US" sz="900" dirty="0">
                <a:solidFill>
                  <a:srgbClr val="5E6D7D"/>
                </a:solidFill>
                <a:latin typeface="Calibri" pitchFamily="34" charset="0"/>
                <a:ea typeface="Calibri" pitchFamily="34" charset="-122"/>
                <a:cs typeface="Calibri"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50976" y="402336"/>
            <a:ext cx="2813925" cy="5961888"/>
          </a:xfrm>
          <a:prstGeom prst="roundRect">
            <a:avLst>
              <a:gd name="adj" fmla="val 5849"/>
            </a:avLst>
          </a:prstGeom>
          <a:solidFill>
            <a:srgbClr val="16202B"/>
          </a:solidFill>
          <a:ln w="9525">
            <a:solidFill>
              <a:srgbClr val="16202B"/>
            </a:solidFill>
            <a:prstDash val="solid"/>
          </a:ln>
          <a:effectLst>
            <a:outerShdw sx="100000" sy="100000" kx="0" ky="0" algn="bl" rotWithShape="0" blurRad="127000" dist="38100" dir="5400000">
              <a:srgbClr val="000000">
                <a:alpha val="20000"/>
              </a:srgbClr>
            </a:outerShdw>
          </a:effectLst>
        </p:spPr>
      </p:sp>
      <p:pic>
        <p:nvPicPr>
          <p:cNvPr id="3" name="Image 0" descr="Screenshot: d10-to-coke-plant">    </p:cNvPr>
          <p:cNvPicPr>
            <a:picLocks noChangeAspect="1"/>
          </p:cNvPicPr>
          <p:nvPr/>
        </p:nvPicPr>
        <p:blipFill>
          <a:blip r:embed="rId1"/>
          <a:stretch>
            <a:fillRect/>
          </a:stretch>
        </p:blipFill>
        <p:spPr>
          <a:xfrm>
            <a:off x="1005840" y="457200"/>
            <a:ext cx="2704197" cy="5852160"/>
          </a:xfrm>
          <a:prstGeom prst="rect">
            <a:avLst/>
          </a:prstGeom>
        </p:spPr>
      </p:pic>
      <p:sp>
        <p:nvSpPr>
          <p:cNvPr id="4" name="Shape 1"/>
          <p:cNvSpPr/>
          <p:nvPr/>
        </p:nvSpPr>
        <p:spPr>
          <a:xfrm>
            <a:off x="822960" y="1642886"/>
            <a:ext cx="356226" cy="914"/>
          </a:xfrm>
          <a:prstGeom prst="line">
            <a:avLst/>
          </a:prstGeom>
          <a:noFill/>
          <a:ln w="15875">
            <a:solidFill>
              <a:srgbClr val="00A896"/>
            </a:solidFill>
            <a:prstDash val="solid"/>
          </a:ln>
        </p:spPr>
      </p:sp>
      <p:sp>
        <p:nvSpPr>
          <p:cNvPr id="5" name="Shape 2"/>
          <p:cNvSpPr/>
          <p:nvPr/>
        </p:nvSpPr>
        <p:spPr>
          <a:xfrm>
            <a:off x="1138038" y="1601738"/>
            <a:ext cx="82296" cy="82296"/>
          </a:xfrm>
          <a:prstGeom prst="ellipse">
            <a:avLst/>
          </a:prstGeom>
          <a:solidFill>
            <a:srgbClr val="00A896"/>
          </a:solidFill>
          <a:ln w="9525">
            <a:solidFill>
              <a:srgbClr val="FFFFFF"/>
            </a:solidFill>
            <a:prstDash val="solid"/>
          </a:ln>
        </p:spPr>
      </p:sp>
      <p:sp>
        <p:nvSpPr>
          <p:cNvPr id="6" name="Shape 3"/>
          <p:cNvSpPr/>
          <p:nvPr/>
        </p:nvSpPr>
        <p:spPr>
          <a:xfrm>
            <a:off x="548640" y="1505726"/>
            <a:ext cx="274320" cy="274320"/>
          </a:xfrm>
          <a:prstGeom prst="ellipse">
            <a:avLst/>
          </a:prstGeom>
          <a:solidFill>
            <a:srgbClr val="00A896"/>
          </a:solidFill>
          <a:ln w="15875">
            <a:solidFill>
              <a:srgbClr val="FFFFFF"/>
            </a:solidFill>
            <a:prstDash val="solid"/>
          </a:ln>
        </p:spPr>
      </p:sp>
      <p:sp>
        <p:nvSpPr>
          <p:cNvPr id="7" name="Text 4"/>
          <p:cNvSpPr txBox="1"/>
          <p:nvPr/>
        </p:nvSpPr>
        <p:spPr>
          <a:xfrm>
            <a:off x="548640" y="150572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8" name="Shape 5"/>
          <p:cNvSpPr/>
          <p:nvPr/>
        </p:nvSpPr>
        <p:spPr>
          <a:xfrm>
            <a:off x="822960" y="2599756"/>
            <a:ext cx="383961" cy="914"/>
          </a:xfrm>
          <a:prstGeom prst="line">
            <a:avLst/>
          </a:prstGeom>
          <a:noFill/>
          <a:ln w="15875">
            <a:solidFill>
              <a:srgbClr val="00A896"/>
            </a:solidFill>
            <a:prstDash val="solid"/>
          </a:ln>
        </p:spPr>
      </p:sp>
      <p:sp>
        <p:nvSpPr>
          <p:cNvPr id="9" name="Shape 6"/>
          <p:cNvSpPr/>
          <p:nvPr/>
        </p:nvSpPr>
        <p:spPr>
          <a:xfrm>
            <a:off x="1165773" y="2558608"/>
            <a:ext cx="82296" cy="82296"/>
          </a:xfrm>
          <a:prstGeom prst="ellipse">
            <a:avLst/>
          </a:prstGeom>
          <a:solidFill>
            <a:srgbClr val="00A896"/>
          </a:solidFill>
          <a:ln w="9525">
            <a:solidFill>
              <a:srgbClr val="FFFFFF"/>
            </a:solidFill>
            <a:prstDash val="solid"/>
          </a:ln>
        </p:spPr>
      </p:sp>
      <p:sp>
        <p:nvSpPr>
          <p:cNvPr id="10" name="Shape 7"/>
          <p:cNvSpPr/>
          <p:nvPr/>
        </p:nvSpPr>
        <p:spPr>
          <a:xfrm>
            <a:off x="548640" y="2462596"/>
            <a:ext cx="274320" cy="274320"/>
          </a:xfrm>
          <a:prstGeom prst="ellipse">
            <a:avLst/>
          </a:prstGeom>
          <a:solidFill>
            <a:srgbClr val="00A896"/>
          </a:solidFill>
          <a:ln w="15875">
            <a:solidFill>
              <a:srgbClr val="FFFFFF"/>
            </a:solidFill>
            <a:prstDash val="solid"/>
          </a:ln>
        </p:spPr>
      </p:sp>
      <p:sp>
        <p:nvSpPr>
          <p:cNvPr id="11" name="Text 8"/>
          <p:cNvSpPr txBox="1"/>
          <p:nvPr/>
        </p:nvSpPr>
        <p:spPr>
          <a:xfrm>
            <a:off x="548640" y="246259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2" name="Shape 9"/>
          <p:cNvSpPr/>
          <p:nvPr/>
        </p:nvSpPr>
        <p:spPr>
          <a:xfrm>
            <a:off x="4434840" y="457200"/>
            <a:ext cx="384048" cy="384048"/>
          </a:xfrm>
          <a:prstGeom prst="ellipse">
            <a:avLst/>
          </a:prstGeom>
          <a:solidFill>
            <a:srgbClr val="00A896"/>
          </a:solidFill>
          <a:ln w="6350">
            <a:solidFill>
              <a:srgbClr val="00A896"/>
            </a:solidFill>
            <a:prstDash val="solid"/>
          </a:ln>
        </p:spPr>
      </p:sp>
      <p:sp>
        <p:nvSpPr>
          <p:cNvPr id="13" name="Text 10"/>
          <p:cNvSpPr txBox="1"/>
          <p:nvPr/>
        </p:nvSpPr>
        <p:spPr>
          <a:xfrm>
            <a:off x="4434840" y="457200"/>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SK</a:t>
            </a:r>
            <a:endParaRPr lang="en-US" sz="1100" dirty="0"/>
          </a:p>
        </p:txBody>
      </p:sp>
      <p:sp>
        <p:nvSpPr>
          <p:cNvPr id="14" name="Text 11"/>
          <p:cNvSpPr txBox="1"/>
          <p:nvPr/>
        </p:nvSpPr>
        <p:spPr>
          <a:xfrm>
            <a:off x="4937760" y="457200"/>
            <a:ext cx="3291840" cy="384048"/>
          </a:xfrm>
          <a:prstGeom prst="rect">
            <a:avLst/>
          </a:prstGeom>
          <a:noFill/>
          <a:ln/>
        </p:spPr>
        <p:txBody>
          <a:bodyPr wrap="square" lIns="0" tIns="0" rIns="0" bIns="0" rtlCol="0" anchor="ctr"/>
          <a:lstStyle/>
          <a:p>
            <a:pPr indent="0" marL="0">
              <a:buNone/>
            </a:pPr>
            <a:r>
              <a:rPr lang="en-US" sz="1300" b="1" dirty="0">
                <a:solidFill>
                  <a:srgbClr val="00A896"/>
                </a:solidFill>
                <a:latin typeface="Calibri" pitchFamily="34" charset="0"/>
                <a:ea typeface="Calibri" pitchFamily="34" charset="-122"/>
                <a:cs typeface="Calibri" pitchFamily="34" charset="-120"/>
              </a:rPr>
              <a:t>Driver  </a:t>
            </a:r>
            <a:pPr indent="0" marL="0">
              <a:buNone/>
            </a:pPr>
            <a:r>
              <a:rPr lang="en-US" sz="1300" b="1" dirty="0">
                <a:solidFill>
                  <a:srgbClr val="16202B"/>
                </a:solidFill>
                <a:latin typeface="Calibri" pitchFamily="34" charset="0"/>
                <a:ea typeface="Calibri" pitchFamily="34" charset="-122"/>
                <a:cs typeface="Calibri" pitchFamily="34" charset="-120"/>
              </a:rPr>
              <a:t>S. Kumar</a:t>
            </a:r>
            <a:endParaRPr lang="en-US" sz="1300" dirty="0"/>
          </a:p>
        </p:txBody>
      </p:sp>
      <p:sp>
        <p:nvSpPr>
          <p:cNvPr id="15" name="Shape 12"/>
          <p:cNvSpPr/>
          <p:nvPr/>
        </p:nvSpPr>
        <p:spPr>
          <a:xfrm>
            <a:off x="9146743" y="585216"/>
            <a:ext cx="118872" cy="118872"/>
          </a:xfrm>
          <a:prstGeom prst="ellipse">
            <a:avLst/>
          </a:prstGeom>
          <a:solidFill>
            <a:srgbClr val="DDF5F1"/>
          </a:solidFill>
          <a:ln w="9525">
            <a:solidFill>
              <a:srgbClr val="00A896"/>
            </a:solidFill>
            <a:prstDash val="solid"/>
          </a:ln>
        </p:spPr>
      </p:sp>
      <p:sp>
        <p:nvSpPr>
          <p:cNvPr id="16" name="Shape 13"/>
          <p:cNvSpPr/>
          <p:nvPr/>
        </p:nvSpPr>
        <p:spPr>
          <a:xfrm>
            <a:off x="9329623" y="585216"/>
            <a:ext cx="118872" cy="118872"/>
          </a:xfrm>
          <a:prstGeom prst="ellipse">
            <a:avLst/>
          </a:prstGeom>
          <a:solidFill>
            <a:srgbClr val="DDF5F1"/>
          </a:solidFill>
          <a:ln w="9525">
            <a:solidFill>
              <a:srgbClr val="00A896"/>
            </a:solidFill>
            <a:prstDash val="solid"/>
          </a:ln>
        </p:spPr>
      </p:sp>
      <p:sp>
        <p:nvSpPr>
          <p:cNvPr id="17" name="Shape 14"/>
          <p:cNvSpPr/>
          <p:nvPr/>
        </p:nvSpPr>
        <p:spPr>
          <a:xfrm>
            <a:off x="9512503" y="585216"/>
            <a:ext cx="118872" cy="118872"/>
          </a:xfrm>
          <a:prstGeom prst="ellipse">
            <a:avLst/>
          </a:prstGeom>
          <a:solidFill>
            <a:srgbClr val="DDF5F1"/>
          </a:solidFill>
          <a:ln w="9525">
            <a:solidFill>
              <a:srgbClr val="00A896"/>
            </a:solidFill>
            <a:prstDash val="solid"/>
          </a:ln>
        </p:spPr>
      </p:sp>
      <p:sp>
        <p:nvSpPr>
          <p:cNvPr id="18" name="Shape 15"/>
          <p:cNvSpPr/>
          <p:nvPr/>
        </p:nvSpPr>
        <p:spPr>
          <a:xfrm>
            <a:off x="9695383" y="585216"/>
            <a:ext cx="118872" cy="118872"/>
          </a:xfrm>
          <a:prstGeom prst="ellipse">
            <a:avLst/>
          </a:prstGeom>
          <a:solidFill>
            <a:srgbClr val="DDF5F1"/>
          </a:solidFill>
          <a:ln w="9525">
            <a:solidFill>
              <a:srgbClr val="00A896"/>
            </a:solidFill>
            <a:prstDash val="solid"/>
          </a:ln>
        </p:spPr>
      </p:sp>
      <p:sp>
        <p:nvSpPr>
          <p:cNvPr id="19" name="Shape 16"/>
          <p:cNvSpPr/>
          <p:nvPr/>
        </p:nvSpPr>
        <p:spPr>
          <a:xfrm>
            <a:off x="9878263" y="585216"/>
            <a:ext cx="118872" cy="118872"/>
          </a:xfrm>
          <a:prstGeom prst="ellipse">
            <a:avLst/>
          </a:prstGeom>
          <a:solidFill>
            <a:srgbClr val="DDF5F1"/>
          </a:solidFill>
          <a:ln w="9525">
            <a:solidFill>
              <a:srgbClr val="00A896"/>
            </a:solidFill>
            <a:prstDash val="solid"/>
          </a:ln>
        </p:spPr>
      </p:sp>
      <p:sp>
        <p:nvSpPr>
          <p:cNvPr id="20" name="Shape 17"/>
          <p:cNvSpPr/>
          <p:nvPr/>
        </p:nvSpPr>
        <p:spPr>
          <a:xfrm>
            <a:off x="10061143" y="585216"/>
            <a:ext cx="118872" cy="118872"/>
          </a:xfrm>
          <a:prstGeom prst="ellipse">
            <a:avLst/>
          </a:prstGeom>
          <a:solidFill>
            <a:srgbClr val="DDF5F1"/>
          </a:solidFill>
          <a:ln w="9525">
            <a:solidFill>
              <a:srgbClr val="00A896"/>
            </a:solidFill>
            <a:prstDash val="solid"/>
          </a:ln>
        </p:spPr>
      </p:sp>
      <p:sp>
        <p:nvSpPr>
          <p:cNvPr id="21" name="Shape 18"/>
          <p:cNvSpPr/>
          <p:nvPr/>
        </p:nvSpPr>
        <p:spPr>
          <a:xfrm>
            <a:off x="10244023" y="585216"/>
            <a:ext cx="118872" cy="118872"/>
          </a:xfrm>
          <a:prstGeom prst="ellipse">
            <a:avLst/>
          </a:prstGeom>
          <a:solidFill>
            <a:srgbClr val="DDF5F1"/>
          </a:solidFill>
          <a:ln w="9525">
            <a:solidFill>
              <a:srgbClr val="00A896"/>
            </a:solidFill>
            <a:prstDash val="solid"/>
          </a:ln>
        </p:spPr>
      </p:sp>
      <p:sp>
        <p:nvSpPr>
          <p:cNvPr id="22" name="Shape 19"/>
          <p:cNvSpPr/>
          <p:nvPr/>
        </p:nvSpPr>
        <p:spPr>
          <a:xfrm>
            <a:off x="10426903" y="585216"/>
            <a:ext cx="118872" cy="118872"/>
          </a:xfrm>
          <a:prstGeom prst="ellipse">
            <a:avLst/>
          </a:prstGeom>
          <a:solidFill>
            <a:srgbClr val="DDF5F1"/>
          </a:solidFill>
          <a:ln w="9525">
            <a:solidFill>
              <a:srgbClr val="00A896"/>
            </a:solidFill>
            <a:prstDash val="solid"/>
          </a:ln>
        </p:spPr>
      </p:sp>
      <p:sp>
        <p:nvSpPr>
          <p:cNvPr id="23" name="Shape 20"/>
          <p:cNvSpPr/>
          <p:nvPr/>
        </p:nvSpPr>
        <p:spPr>
          <a:xfrm>
            <a:off x="10609783" y="585216"/>
            <a:ext cx="118872" cy="118872"/>
          </a:xfrm>
          <a:prstGeom prst="ellipse">
            <a:avLst/>
          </a:prstGeom>
          <a:solidFill>
            <a:srgbClr val="DDF5F1"/>
          </a:solidFill>
          <a:ln w="9525">
            <a:solidFill>
              <a:srgbClr val="00A896"/>
            </a:solidFill>
            <a:prstDash val="solid"/>
          </a:ln>
        </p:spPr>
      </p:sp>
      <p:sp>
        <p:nvSpPr>
          <p:cNvPr id="24" name="Shape 21"/>
          <p:cNvSpPr/>
          <p:nvPr/>
        </p:nvSpPr>
        <p:spPr>
          <a:xfrm>
            <a:off x="10765231" y="557784"/>
            <a:ext cx="173736" cy="173736"/>
          </a:xfrm>
          <a:prstGeom prst="ellipse">
            <a:avLst/>
          </a:prstGeom>
          <a:solidFill>
            <a:srgbClr val="00A896"/>
          </a:solidFill>
          <a:ln w="9525">
            <a:solidFill>
              <a:srgbClr val="00A896"/>
            </a:solidFill>
            <a:prstDash val="solid"/>
          </a:ln>
        </p:spPr>
      </p:sp>
      <p:sp>
        <p:nvSpPr>
          <p:cNvPr id="25" name="Shape 22"/>
          <p:cNvSpPr/>
          <p:nvPr/>
        </p:nvSpPr>
        <p:spPr>
          <a:xfrm>
            <a:off x="10975543" y="585216"/>
            <a:ext cx="118872" cy="118872"/>
          </a:xfrm>
          <a:prstGeom prst="ellipse">
            <a:avLst/>
          </a:prstGeom>
          <a:solidFill>
            <a:srgbClr val="F3F6F9"/>
          </a:solidFill>
          <a:ln w="9525">
            <a:solidFill>
              <a:srgbClr val="DCE4EC"/>
            </a:solidFill>
            <a:prstDash val="solid"/>
          </a:ln>
        </p:spPr>
      </p:sp>
      <p:sp>
        <p:nvSpPr>
          <p:cNvPr id="26" name="Shape 23"/>
          <p:cNvSpPr/>
          <p:nvPr/>
        </p:nvSpPr>
        <p:spPr>
          <a:xfrm>
            <a:off x="11158423" y="585216"/>
            <a:ext cx="118872" cy="118872"/>
          </a:xfrm>
          <a:prstGeom prst="ellipse">
            <a:avLst/>
          </a:prstGeom>
          <a:solidFill>
            <a:srgbClr val="F3F6F9"/>
          </a:solidFill>
          <a:ln w="9525">
            <a:solidFill>
              <a:srgbClr val="DCE4EC"/>
            </a:solidFill>
            <a:prstDash val="solid"/>
          </a:ln>
        </p:spPr>
      </p:sp>
      <p:sp>
        <p:nvSpPr>
          <p:cNvPr id="27" name="Shape 24"/>
          <p:cNvSpPr/>
          <p:nvPr/>
        </p:nvSpPr>
        <p:spPr>
          <a:xfrm>
            <a:off x="11341303" y="585216"/>
            <a:ext cx="118872" cy="118872"/>
          </a:xfrm>
          <a:prstGeom prst="ellipse">
            <a:avLst/>
          </a:prstGeom>
          <a:solidFill>
            <a:srgbClr val="F3F6F9"/>
          </a:solidFill>
          <a:ln w="9525">
            <a:solidFill>
              <a:srgbClr val="DCE4EC"/>
            </a:solidFill>
            <a:prstDash val="solid"/>
          </a:ln>
        </p:spPr>
      </p:sp>
      <p:sp>
        <p:nvSpPr>
          <p:cNvPr id="28" name="Shape 25"/>
          <p:cNvSpPr/>
          <p:nvPr/>
        </p:nvSpPr>
        <p:spPr>
          <a:xfrm>
            <a:off x="11524183" y="585216"/>
            <a:ext cx="118872" cy="118872"/>
          </a:xfrm>
          <a:prstGeom prst="ellipse">
            <a:avLst/>
          </a:prstGeom>
          <a:solidFill>
            <a:srgbClr val="F3F6F9"/>
          </a:solidFill>
          <a:ln w="9525">
            <a:solidFill>
              <a:srgbClr val="DCE4EC"/>
            </a:solidFill>
            <a:prstDash val="solid"/>
          </a:ln>
        </p:spPr>
      </p:sp>
      <p:sp>
        <p:nvSpPr>
          <p:cNvPr id="29" name="Text 26"/>
          <p:cNvSpPr txBox="1"/>
          <p:nvPr/>
        </p:nvSpPr>
        <p:spPr>
          <a:xfrm>
            <a:off x="9146743" y="768096"/>
            <a:ext cx="2496312" cy="201168"/>
          </a:xfrm>
          <a:prstGeom prst="rect">
            <a:avLst/>
          </a:prstGeom>
          <a:noFill/>
          <a:ln/>
        </p:spPr>
        <p:txBody>
          <a:bodyPr wrap="square" lIns="0" tIns="0" rIns="0" bIns="0" rtlCol="0" anchor="ctr"/>
          <a:lstStyle/>
          <a:p>
            <a:pPr algn="r" indent="0" marL="0">
              <a:buNone/>
            </a:pPr>
            <a:r>
              <a:rPr lang="en-US" sz="950" dirty="0">
                <a:solidFill>
                  <a:srgbClr val="5E6D7D"/>
                </a:solidFill>
                <a:latin typeface="Calibri" pitchFamily="34" charset="0"/>
                <a:ea typeface="Calibri" pitchFamily="34" charset="-122"/>
                <a:cs typeface="Calibri" pitchFamily="34" charset="-120"/>
              </a:rPr>
              <a:t>Screen 10 of 14</a:t>
            </a:r>
            <a:endParaRPr lang="en-US" sz="950" dirty="0"/>
          </a:p>
        </p:txBody>
      </p:sp>
      <p:sp>
        <p:nvSpPr>
          <p:cNvPr id="30" name="Text 27"/>
          <p:cNvSpPr txBox="1"/>
          <p:nvPr/>
        </p:nvSpPr>
        <p:spPr>
          <a:xfrm>
            <a:off x="4434840" y="1170432"/>
            <a:ext cx="7208215" cy="237744"/>
          </a:xfrm>
          <a:prstGeom prst="rect">
            <a:avLst/>
          </a:prstGeom>
          <a:noFill/>
          <a:ln/>
        </p:spPr>
        <p:txBody>
          <a:bodyPr wrap="square" lIns="0" tIns="0" rIns="0" bIns="0" rtlCol="0" anchor="ctr"/>
          <a:lstStyle/>
          <a:p>
            <a:pPr indent="0" marL="0">
              <a:buNone/>
            </a:pPr>
            <a:r>
              <a:rPr lang="en-US" sz="1100" b="1" spc="200" kern="0" dirty="0">
                <a:solidFill>
                  <a:srgbClr val="00A896"/>
                </a:solidFill>
                <a:latin typeface="Calibri" pitchFamily="34" charset="0"/>
                <a:ea typeface="Calibri" pitchFamily="34" charset="-122"/>
                <a:cs typeface="Calibri" pitchFamily="34" charset="-120"/>
              </a:rPr>
              <a:t>ON THE WAY</a:t>
            </a:r>
            <a:endParaRPr lang="en-US" sz="1100" dirty="0"/>
          </a:p>
        </p:txBody>
      </p:sp>
      <p:sp>
        <p:nvSpPr>
          <p:cNvPr id="31" name="Text 28"/>
          <p:cNvSpPr txBox="1"/>
          <p:nvPr/>
        </p:nvSpPr>
        <p:spPr>
          <a:xfrm>
            <a:off x="4434840" y="1463040"/>
            <a:ext cx="7208215" cy="457200"/>
          </a:xfrm>
          <a:prstGeom prst="rect">
            <a:avLst/>
          </a:prstGeom>
          <a:noFill/>
          <a:ln/>
        </p:spPr>
        <p:txBody>
          <a:bodyPr wrap="square" lIns="0" tIns="0" rIns="0" bIns="0" rtlCol="0" anchor="t"/>
          <a:lstStyle/>
          <a:p>
            <a:pPr indent="0" marL="0">
              <a:buNone/>
            </a:pPr>
            <a:r>
              <a:rPr lang="en-US" sz="3000" b="1" dirty="0">
                <a:solidFill>
                  <a:srgbClr val="16202B"/>
                </a:solidFill>
                <a:latin typeface="Calibri" pitchFamily="34" charset="0"/>
                <a:ea typeface="Calibri" pitchFamily="34" charset="-122"/>
                <a:cs typeface="Calibri" pitchFamily="34" charset="-120"/>
              </a:rPr>
              <a:t>Driving to Coke Plant</a:t>
            </a:r>
            <a:endParaRPr lang="en-US" sz="3000" dirty="0"/>
          </a:p>
        </p:txBody>
      </p:sp>
      <p:sp>
        <p:nvSpPr>
          <p:cNvPr id="32" name="Text 29"/>
          <p:cNvSpPr txBox="1"/>
          <p:nvPr/>
        </p:nvSpPr>
        <p:spPr>
          <a:xfrm>
            <a:off x="4434840" y="2048256"/>
            <a:ext cx="7208215" cy="475488"/>
          </a:xfrm>
          <a:prstGeom prst="rect">
            <a:avLst/>
          </a:prstGeom>
          <a:noFill/>
          <a:ln/>
        </p:spPr>
        <p:txBody>
          <a:bodyPr wrap="square" lIns="0" tIns="0" rIns="0" bIns="0" rtlCol="0" anchor="t"/>
          <a:lstStyle/>
          <a:p>
            <a:pPr indent="0" marL="0">
              <a:buNone/>
            </a:pPr>
            <a:r>
              <a:rPr lang="en-US" sz="1500" dirty="0">
                <a:solidFill>
                  <a:srgbClr val="34465A"/>
                </a:solidFill>
                <a:latin typeface="Calibri" pitchFamily="34" charset="0"/>
                <a:ea typeface="Calibri" pitchFamily="34" charset="-122"/>
                <a:cs typeface="Calibri" pitchFamily="34" charset="-120"/>
              </a:rPr>
              <a:t>The map follows the cab along the route; the riders on board see the same position.</a:t>
            </a:r>
            <a:endParaRPr lang="en-US" sz="1500" dirty="0"/>
          </a:p>
        </p:txBody>
      </p:sp>
      <p:sp>
        <p:nvSpPr>
          <p:cNvPr id="33" name="Shape 30"/>
          <p:cNvSpPr/>
          <p:nvPr/>
        </p:nvSpPr>
        <p:spPr>
          <a:xfrm>
            <a:off x="4434840" y="2798064"/>
            <a:ext cx="7208215" cy="649224"/>
          </a:xfrm>
          <a:prstGeom prst="roundRect">
            <a:avLst>
              <a:gd name="adj" fmla="val 11268"/>
            </a:avLst>
          </a:prstGeom>
          <a:solidFill>
            <a:srgbClr val="F3F6F9"/>
          </a:solidFill>
          <a:ln w="6350">
            <a:solidFill>
              <a:srgbClr val="F3F6F9"/>
            </a:solidFill>
            <a:prstDash val="solid"/>
          </a:ln>
        </p:spPr>
      </p:sp>
      <p:sp>
        <p:nvSpPr>
          <p:cNvPr id="34" name="Shape 31"/>
          <p:cNvSpPr/>
          <p:nvPr/>
        </p:nvSpPr>
        <p:spPr>
          <a:xfrm>
            <a:off x="4599432" y="2916936"/>
            <a:ext cx="292608" cy="292608"/>
          </a:xfrm>
          <a:prstGeom prst="ellipse">
            <a:avLst/>
          </a:prstGeom>
          <a:solidFill>
            <a:srgbClr val="00A896"/>
          </a:solidFill>
          <a:ln w="15875">
            <a:solidFill>
              <a:srgbClr val="FFFFFF"/>
            </a:solidFill>
            <a:prstDash val="solid"/>
          </a:ln>
        </p:spPr>
      </p:sp>
      <p:sp>
        <p:nvSpPr>
          <p:cNvPr id="35" name="Text 32"/>
          <p:cNvSpPr txBox="1"/>
          <p:nvPr/>
        </p:nvSpPr>
        <p:spPr>
          <a:xfrm>
            <a:off x="4599432" y="2916936"/>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36" name="Text 33"/>
          <p:cNvSpPr txBox="1"/>
          <p:nvPr/>
        </p:nvSpPr>
        <p:spPr>
          <a:xfrm>
            <a:off x="5029200" y="2907792"/>
            <a:ext cx="6430975" cy="274320"/>
          </a:xfrm>
          <a:prstGeom prst="rect">
            <a:avLst/>
          </a:prstGeom>
          <a:noFill/>
          <a:ln/>
        </p:spPr>
        <p:txBody>
          <a:bodyPr wrap="square" lIns="0" tIns="0" rIns="0" bIns="0" rtlCol="0" anchor="ctr"/>
          <a:lstStyle/>
          <a:p>
            <a:pPr indent="0" marL="0">
              <a:buNone/>
            </a:pPr>
            <a:r>
              <a:rPr lang="en-US" sz="1400" b="1" dirty="0">
                <a:solidFill>
                  <a:srgbClr val="16202B"/>
                </a:solidFill>
                <a:latin typeface="Calibri" pitchFamily="34" charset="0"/>
                <a:ea typeface="Calibri" pitchFamily="34" charset="-122"/>
                <a:cs typeface="Calibri" pitchFamily="34" charset="-120"/>
              </a:rPr>
              <a:t>Live map</a:t>
            </a:r>
            <a:endParaRPr lang="en-US" sz="1400" dirty="0"/>
          </a:p>
        </p:txBody>
      </p:sp>
      <p:sp>
        <p:nvSpPr>
          <p:cNvPr id="37" name="Text 34"/>
          <p:cNvSpPr txBox="1"/>
          <p:nvPr/>
        </p:nvSpPr>
        <p:spPr>
          <a:xfrm>
            <a:off x="5029200" y="3182112"/>
            <a:ext cx="6430975" cy="192024"/>
          </a:xfrm>
          <a:prstGeom prst="rect">
            <a:avLst/>
          </a:prstGeom>
          <a:noFill/>
          <a:ln/>
        </p:spPr>
        <p:txBody>
          <a:bodyPr wrap="square" lIns="0" tIns="0" rIns="0" bIns="0" rtlCol="0" anchor="t"/>
          <a:lstStyle/>
          <a:p>
            <a:pPr indent="0" marL="0">
              <a:buNone/>
            </a:pPr>
            <a:r>
              <a:rPr lang="en-US" sz="1200" dirty="0">
                <a:solidFill>
                  <a:srgbClr val="34465A"/>
                </a:solidFill>
                <a:latin typeface="Calibri" pitchFamily="34" charset="0"/>
                <a:ea typeface="Calibri" pitchFamily="34" charset="-122"/>
                <a:cs typeface="Calibri" pitchFamily="34" charset="-120"/>
              </a:rPr>
              <a:t>Gate 2 done (dark), Coke Plant next (orange), Blast Furnace after.</a:t>
            </a:r>
            <a:endParaRPr lang="en-US" sz="1200" dirty="0"/>
          </a:p>
        </p:txBody>
      </p:sp>
      <p:sp>
        <p:nvSpPr>
          <p:cNvPr id="38" name="Shape 35"/>
          <p:cNvSpPr/>
          <p:nvPr/>
        </p:nvSpPr>
        <p:spPr>
          <a:xfrm>
            <a:off x="4434840" y="3557016"/>
            <a:ext cx="7208215" cy="649224"/>
          </a:xfrm>
          <a:prstGeom prst="roundRect">
            <a:avLst>
              <a:gd name="adj" fmla="val 11268"/>
            </a:avLst>
          </a:prstGeom>
          <a:solidFill>
            <a:srgbClr val="F3F6F9"/>
          </a:solidFill>
          <a:ln w="6350">
            <a:solidFill>
              <a:srgbClr val="F3F6F9"/>
            </a:solidFill>
            <a:prstDash val="solid"/>
          </a:ln>
        </p:spPr>
      </p:sp>
      <p:sp>
        <p:nvSpPr>
          <p:cNvPr id="39" name="Shape 36"/>
          <p:cNvSpPr/>
          <p:nvPr/>
        </p:nvSpPr>
        <p:spPr>
          <a:xfrm>
            <a:off x="4599432" y="3675888"/>
            <a:ext cx="292608" cy="292608"/>
          </a:xfrm>
          <a:prstGeom prst="ellipse">
            <a:avLst/>
          </a:prstGeom>
          <a:solidFill>
            <a:srgbClr val="00A896"/>
          </a:solidFill>
          <a:ln w="15875">
            <a:solidFill>
              <a:srgbClr val="FFFFFF"/>
            </a:solidFill>
            <a:prstDash val="solid"/>
          </a:ln>
        </p:spPr>
      </p:sp>
      <p:sp>
        <p:nvSpPr>
          <p:cNvPr id="40" name="Text 37"/>
          <p:cNvSpPr txBox="1"/>
          <p:nvPr/>
        </p:nvSpPr>
        <p:spPr>
          <a:xfrm>
            <a:off x="4599432" y="3675888"/>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41" name="Text 38"/>
          <p:cNvSpPr txBox="1"/>
          <p:nvPr/>
        </p:nvSpPr>
        <p:spPr>
          <a:xfrm>
            <a:off x="5029200" y="3666744"/>
            <a:ext cx="6430975" cy="274320"/>
          </a:xfrm>
          <a:prstGeom prst="rect">
            <a:avLst/>
          </a:prstGeom>
          <a:noFill/>
          <a:ln/>
        </p:spPr>
        <p:txBody>
          <a:bodyPr wrap="square" lIns="0" tIns="0" rIns="0" bIns="0" rtlCol="0" anchor="ctr"/>
          <a:lstStyle/>
          <a:p>
            <a:pPr indent="0" marL="0">
              <a:buNone/>
            </a:pPr>
            <a:r>
              <a:rPr lang="en-US" sz="1400" b="1" dirty="0">
                <a:solidFill>
                  <a:srgbClr val="16202B"/>
                </a:solidFill>
                <a:latin typeface="Calibri" pitchFamily="34" charset="0"/>
                <a:ea typeface="Calibri" pitchFamily="34" charset="-122"/>
                <a:cs typeface="Calibri" pitchFamily="34" charset="-120"/>
              </a:rPr>
              <a:t>C-12 · 690 m to Coke Plant</a:t>
            </a:r>
            <a:endParaRPr lang="en-US" sz="1400" dirty="0"/>
          </a:p>
        </p:txBody>
      </p:sp>
      <p:sp>
        <p:nvSpPr>
          <p:cNvPr id="42" name="Text 39"/>
          <p:cNvSpPr txBox="1"/>
          <p:nvPr/>
        </p:nvSpPr>
        <p:spPr>
          <a:xfrm>
            <a:off x="5029200" y="3941064"/>
            <a:ext cx="6430975" cy="192024"/>
          </a:xfrm>
          <a:prstGeom prst="rect">
            <a:avLst/>
          </a:prstGeom>
          <a:noFill/>
          <a:ln/>
        </p:spPr>
        <p:txBody>
          <a:bodyPr wrap="square" lIns="0" tIns="0" rIns="0" bIns="0" rtlCol="0" anchor="t"/>
          <a:lstStyle/>
          <a:p>
            <a:pPr indent="0" marL="0">
              <a:buNone/>
            </a:pPr>
            <a:r>
              <a:rPr lang="en-US" sz="1200" dirty="0">
                <a:solidFill>
                  <a:srgbClr val="34465A"/>
                </a:solidFill>
                <a:latin typeface="Calibri" pitchFamily="34" charset="0"/>
                <a:ea typeface="Calibri" pitchFamily="34" charset="-122"/>
                <a:cs typeface="Calibri" pitchFamily="34" charset="-120"/>
              </a:rPr>
              <a:t>Updated with every fix from the driver’s phone.</a:t>
            </a:r>
            <a:endParaRPr lang="en-US" sz="1200" dirty="0"/>
          </a:p>
        </p:txBody>
      </p:sp>
      <p:sp>
        <p:nvSpPr>
          <p:cNvPr id="43" name="Text 40"/>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900" dirty="0">
                <a:solidFill>
                  <a:srgbClr val="5E6D7D"/>
                </a:solidFill>
                <a:latin typeface="Calibri" pitchFamily="34" charset="0"/>
                <a:ea typeface="Calibri" pitchFamily="34" charset="-122"/>
                <a:cs typeface="Calibri" pitchFamily="34" charset="-120"/>
              </a:rPr>
              <a:t>Plant Ride · Rider → Driver journey · recorded on the MVP with demo data</a:t>
            </a:r>
            <a:endParaRPr lang="en-US" sz="900" dirty="0"/>
          </a:p>
        </p:txBody>
      </p:sp>
      <p:sp>
        <p:nvSpPr>
          <p:cNvPr id="44" name="Text 41"/>
          <p:cNvSpPr txBox="1"/>
          <p:nvPr/>
        </p:nvSpPr>
        <p:spPr>
          <a:xfrm>
            <a:off x="11185855" y="6473952"/>
            <a:ext cx="457200" cy="228600"/>
          </a:xfrm>
          <a:prstGeom prst="rect">
            <a:avLst/>
          </a:prstGeom>
          <a:noFill/>
          <a:ln/>
        </p:spPr>
        <p:txBody>
          <a:bodyPr wrap="square" lIns="0" tIns="0" rIns="0" bIns="0" rtlCol="0" anchor="ctr"/>
          <a:lstStyle/>
          <a:p>
            <a:pPr algn="r" indent="0" marL="0">
              <a:buNone/>
            </a:pPr>
            <a:r>
              <a:rPr lang="en-US" sz="900" dirty="0">
                <a:solidFill>
                  <a:srgbClr val="5E6D7D"/>
                </a:solidFill>
                <a:latin typeface="Calibri" pitchFamily="34" charset="0"/>
                <a:ea typeface="Calibri" pitchFamily="34" charset="-122"/>
                <a:cs typeface="Calibri" pitchFamily="34" charset="-120"/>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50976" y="402336"/>
            <a:ext cx="2813925" cy="5961888"/>
          </a:xfrm>
          <a:prstGeom prst="roundRect">
            <a:avLst>
              <a:gd name="adj" fmla="val 5849"/>
            </a:avLst>
          </a:prstGeom>
          <a:solidFill>
            <a:srgbClr val="16202B"/>
          </a:solidFill>
          <a:ln w="9525">
            <a:solidFill>
              <a:srgbClr val="16202B"/>
            </a:solidFill>
            <a:prstDash val="solid"/>
          </a:ln>
          <a:effectLst>
            <a:outerShdw sx="100000" sy="100000" kx="0" ky="0" algn="bl" rotWithShape="0" blurRad="127000" dist="38100" dir="5400000">
              <a:srgbClr val="000000">
                <a:alpha val="20000"/>
              </a:srgbClr>
            </a:outerShdw>
          </a:effectLst>
        </p:spPr>
      </p:sp>
      <p:pic>
        <p:nvPicPr>
          <p:cNvPr id="3" name="Image 0" descr="Screenshot: d11-coke-plant">    </p:cNvPr>
          <p:cNvPicPr>
            <a:picLocks noChangeAspect="1"/>
          </p:cNvPicPr>
          <p:nvPr/>
        </p:nvPicPr>
        <p:blipFill>
          <a:blip r:embed="rId1"/>
          <a:stretch>
            <a:fillRect/>
          </a:stretch>
        </p:blipFill>
        <p:spPr>
          <a:xfrm>
            <a:off x="1005840" y="457200"/>
            <a:ext cx="2704197" cy="5852160"/>
          </a:xfrm>
          <a:prstGeom prst="rect">
            <a:avLst/>
          </a:prstGeom>
        </p:spPr>
      </p:pic>
      <p:sp>
        <p:nvSpPr>
          <p:cNvPr id="4" name="Shape 1"/>
          <p:cNvSpPr/>
          <p:nvPr/>
        </p:nvSpPr>
        <p:spPr>
          <a:xfrm>
            <a:off x="822960" y="1573548"/>
            <a:ext cx="356226" cy="914"/>
          </a:xfrm>
          <a:prstGeom prst="line">
            <a:avLst/>
          </a:prstGeom>
          <a:noFill/>
          <a:ln w="15875">
            <a:solidFill>
              <a:srgbClr val="00A896"/>
            </a:solidFill>
            <a:prstDash val="solid"/>
          </a:ln>
        </p:spPr>
      </p:sp>
      <p:sp>
        <p:nvSpPr>
          <p:cNvPr id="5" name="Shape 2"/>
          <p:cNvSpPr/>
          <p:nvPr/>
        </p:nvSpPr>
        <p:spPr>
          <a:xfrm>
            <a:off x="1138038" y="1532400"/>
            <a:ext cx="82296" cy="82296"/>
          </a:xfrm>
          <a:prstGeom prst="ellipse">
            <a:avLst/>
          </a:prstGeom>
          <a:solidFill>
            <a:srgbClr val="00A896"/>
          </a:solidFill>
          <a:ln w="9525">
            <a:solidFill>
              <a:srgbClr val="FFFFFF"/>
            </a:solidFill>
            <a:prstDash val="solid"/>
          </a:ln>
        </p:spPr>
      </p:sp>
      <p:sp>
        <p:nvSpPr>
          <p:cNvPr id="6" name="Shape 3"/>
          <p:cNvSpPr/>
          <p:nvPr/>
        </p:nvSpPr>
        <p:spPr>
          <a:xfrm>
            <a:off x="548640" y="1436388"/>
            <a:ext cx="274320" cy="274320"/>
          </a:xfrm>
          <a:prstGeom prst="ellipse">
            <a:avLst/>
          </a:prstGeom>
          <a:solidFill>
            <a:srgbClr val="00A896"/>
          </a:solidFill>
          <a:ln w="15875">
            <a:solidFill>
              <a:srgbClr val="FFFFFF"/>
            </a:solidFill>
            <a:prstDash val="solid"/>
          </a:ln>
        </p:spPr>
      </p:sp>
      <p:sp>
        <p:nvSpPr>
          <p:cNvPr id="7" name="Text 4"/>
          <p:cNvSpPr txBox="1"/>
          <p:nvPr/>
        </p:nvSpPr>
        <p:spPr>
          <a:xfrm>
            <a:off x="548640" y="143638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8" name="Shape 5"/>
          <p:cNvSpPr/>
          <p:nvPr/>
        </p:nvSpPr>
        <p:spPr>
          <a:xfrm>
            <a:off x="822960" y="2703764"/>
            <a:ext cx="550373" cy="914"/>
          </a:xfrm>
          <a:prstGeom prst="line">
            <a:avLst/>
          </a:prstGeom>
          <a:noFill/>
          <a:ln w="15875">
            <a:solidFill>
              <a:srgbClr val="00A896"/>
            </a:solidFill>
            <a:prstDash val="solid"/>
          </a:ln>
        </p:spPr>
      </p:sp>
      <p:sp>
        <p:nvSpPr>
          <p:cNvPr id="9" name="Shape 6"/>
          <p:cNvSpPr/>
          <p:nvPr/>
        </p:nvSpPr>
        <p:spPr>
          <a:xfrm>
            <a:off x="1332185" y="2662616"/>
            <a:ext cx="82296" cy="82296"/>
          </a:xfrm>
          <a:prstGeom prst="ellipse">
            <a:avLst/>
          </a:prstGeom>
          <a:solidFill>
            <a:srgbClr val="00A896"/>
          </a:solidFill>
          <a:ln w="9525">
            <a:solidFill>
              <a:srgbClr val="FFFFFF"/>
            </a:solidFill>
            <a:prstDash val="solid"/>
          </a:ln>
        </p:spPr>
      </p:sp>
      <p:sp>
        <p:nvSpPr>
          <p:cNvPr id="10" name="Shape 7"/>
          <p:cNvSpPr/>
          <p:nvPr/>
        </p:nvSpPr>
        <p:spPr>
          <a:xfrm>
            <a:off x="548640" y="2566604"/>
            <a:ext cx="274320" cy="274320"/>
          </a:xfrm>
          <a:prstGeom prst="ellipse">
            <a:avLst/>
          </a:prstGeom>
          <a:solidFill>
            <a:srgbClr val="00A896"/>
          </a:solidFill>
          <a:ln w="15875">
            <a:solidFill>
              <a:srgbClr val="FFFFFF"/>
            </a:solidFill>
            <a:prstDash val="solid"/>
          </a:ln>
        </p:spPr>
      </p:sp>
      <p:sp>
        <p:nvSpPr>
          <p:cNvPr id="11" name="Text 8"/>
          <p:cNvSpPr txBox="1"/>
          <p:nvPr/>
        </p:nvSpPr>
        <p:spPr>
          <a:xfrm>
            <a:off x="548640" y="2566604"/>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2" name="Shape 9"/>
          <p:cNvSpPr/>
          <p:nvPr/>
        </p:nvSpPr>
        <p:spPr>
          <a:xfrm>
            <a:off x="822960" y="3293140"/>
            <a:ext cx="238351" cy="914"/>
          </a:xfrm>
          <a:prstGeom prst="line">
            <a:avLst/>
          </a:prstGeom>
          <a:noFill/>
          <a:ln w="15875">
            <a:solidFill>
              <a:srgbClr val="00A896"/>
            </a:solidFill>
            <a:prstDash val="solid"/>
          </a:ln>
        </p:spPr>
      </p:sp>
      <p:sp>
        <p:nvSpPr>
          <p:cNvPr id="13" name="Shape 10"/>
          <p:cNvSpPr/>
          <p:nvPr/>
        </p:nvSpPr>
        <p:spPr>
          <a:xfrm>
            <a:off x="1020163" y="3251992"/>
            <a:ext cx="82296" cy="82296"/>
          </a:xfrm>
          <a:prstGeom prst="ellipse">
            <a:avLst/>
          </a:prstGeom>
          <a:solidFill>
            <a:srgbClr val="00A896"/>
          </a:solidFill>
          <a:ln w="9525">
            <a:solidFill>
              <a:srgbClr val="FFFFFF"/>
            </a:solidFill>
            <a:prstDash val="solid"/>
          </a:ln>
        </p:spPr>
      </p:sp>
      <p:sp>
        <p:nvSpPr>
          <p:cNvPr id="14" name="Shape 11"/>
          <p:cNvSpPr/>
          <p:nvPr/>
        </p:nvSpPr>
        <p:spPr>
          <a:xfrm>
            <a:off x="548640" y="3155980"/>
            <a:ext cx="274320" cy="274320"/>
          </a:xfrm>
          <a:prstGeom prst="ellipse">
            <a:avLst/>
          </a:prstGeom>
          <a:solidFill>
            <a:srgbClr val="00A896"/>
          </a:solidFill>
          <a:ln w="15875">
            <a:solidFill>
              <a:srgbClr val="FFFFFF"/>
            </a:solidFill>
            <a:prstDash val="solid"/>
          </a:ln>
        </p:spPr>
      </p:sp>
      <p:sp>
        <p:nvSpPr>
          <p:cNvPr id="15" name="Text 12"/>
          <p:cNvSpPr txBox="1"/>
          <p:nvPr/>
        </p:nvSpPr>
        <p:spPr>
          <a:xfrm>
            <a:off x="548640" y="315598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6" name="Shape 13"/>
          <p:cNvSpPr/>
          <p:nvPr/>
        </p:nvSpPr>
        <p:spPr>
          <a:xfrm>
            <a:off x="4434840" y="457200"/>
            <a:ext cx="384048" cy="384048"/>
          </a:xfrm>
          <a:prstGeom prst="ellipse">
            <a:avLst/>
          </a:prstGeom>
          <a:solidFill>
            <a:srgbClr val="00A896"/>
          </a:solidFill>
          <a:ln w="6350">
            <a:solidFill>
              <a:srgbClr val="00A896"/>
            </a:solidFill>
            <a:prstDash val="solid"/>
          </a:ln>
        </p:spPr>
      </p:sp>
      <p:sp>
        <p:nvSpPr>
          <p:cNvPr id="17" name="Text 14"/>
          <p:cNvSpPr txBox="1"/>
          <p:nvPr/>
        </p:nvSpPr>
        <p:spPr>
          <a:xfrm>
            <a:off x="4434840" y="457200"/>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SK</a:t>
            </a:r>
            <a:endParaRPr lang="en-US" sz="1100" dirty="0"/>
          </a:p>
        </p:txBody>
      </p:sp>
      <p:sp>
        <p:nvSpPr>
          <p:cNvPr id="18" name="Text 15"/>
          <p:cNvSpPr txBox="1"/>
          <p:nvPr/>
        </p:nvSpPr>
        <p:spPr>
          <a:xfrm>
            <a:off x="4937760" y="457200"/>
            <a:ext cx="3291840" cy="384048"/>
          </a:xfrm>
          <a:prstGeom prst="rect">
            <a:avLst/>
          </a:prstGeom>
          <a:noFill/>
          <a:ln/>
        </p:spPr>
        <p:txBody>
          <a:bodyPr wrap="square" lIns="0" tIns="0" rIns="0" bIns="0" rtlCol="0" anchor="ctr"/>
          <a:lstStyle/>
          <a:p>
            <a:pPr indent="0" marL="0">
              <a:buNone/>
            </a:pPr>
            <a:r>
              <a:rPr lang="en-US" sz="1300" b="1" dirty="0">
                <a:solidFill>
                  <a:srgbClr val="00A896"/>
                </a:solidFill>
                <a:latin typeface="Calibri" pitchFamily="34" charset="0"/>
                <a:ea typeface="Calibri" pitchFamily="34" charset="-122"/>
                <a:cs typeface="Calibri" pitchFamily="34" charset="-120"/>
              </a:rPr>
              <a:t>Driver  </a:t>
            </a:r>
            <a:pPr indent="0" marL="0">
              <a:buNone/>
            </a:pPr>
            <a:r>
              <a:rPr lang="en-US" sz="1300" b="1" dirty="0">
                <a:solidFill>
                  <a:srgbClr val="16202B"/>
                </a:solidFill>
                <a:latin typeface="Calibri" pitchFamily="34" charset="0"/>
                <a:ea typeface="Calibri" pitchFamily="34" charset="-122"/>
                <a:cs typeface="Calibri" pitchFamily="34" charset="-120"/>
              </a:rPr>
              <a:t>S. Kumar</a:t>
            </a:r>
            <a:endParaRPr lang="en-US" sz="1300" dirty="0"/>
          </a:p>
        </p:txBody>
      </p:sp>
      <p:sp>
        <p:nvSpPr>
          <p:cNvPr id="19" name="Shape 16"/>
          <p:cNvSpPr/>
          <p:nvPr/>
        </p:nvSpPr>
        <p:spPr>
          <a:xfrm>
            <a:off x="9146743" y="585216"/>
            <a:ext cx="118872" cy="118872"/>
          </a:xfrm>
          <a:prstGeom prst="ellipse">
            <a:avLst/>
          </a:prstGeom>
          <a:solidFill>
            <a:srgbClr val="DDF5F1"/>
          </a:solidFill>
          <a:ln w="9525">
            <a:solidFill>
              <a:srgbClr val="00A896"/>
            </a:solidFill>
            <a:prstDash val="solid"/>
          </a:ln>
        </p:spPr>
      </p:sp>
      <p:sp>
        <p:nvSpPr>
          <p:cNvPr id="20" name="Shape 17"/>
          <p:cNvSpPr/>
          <p:nvPr/>
        </p:nvSpPr>
        <p:spPr>
          <a:xfrm>
            <a:off x="9329623" y="585216"/>
            <a:ext cx="118872" cy="118872"/>
          </a:xfrm>
          <a:prstGeom prst="ellipse">
            <a:avLst/>
          </a:prstGeom>
          <a:solidFill>
            <a:srgbClr val="DDF5F1"/>
          </a:solidFill>
          <a:ln w="9525">
            <a:solidFill>
              <a:srgbClr val="00A896"/>
            </a:solidFill>
            <a:prstDash val="solid"/>
          </a:ln>
        </p:spPr>
      </p:sp>
      <p:sp>
        <p:nvSpPr>
          <p:cNvPr id="21" name="Shape 18"/>
          <p:cNvSpPr/>
          <p:nvPr/>
        </p:nvSpPr>
        <p:spPr>
          <a:xfrm>
            <a:off x="9512503" y="585216"/>
            <a:ext cx="118872" cy="118872"/>
          </a:xfrm>
          <a:prstGeom prst="ellipse">
            <a:avLst/>
          </a:prstGeom>
          <a:solidFill>
            <a:srgbClr val="DDF5F1"/>
          </a:solidFill>
          <a:ln w="9525">
            <a:solidFill>
              <a:srgbClr val="00A896"/>
            </a:solidFill>
            <a:prstDash val="solid"/>
          </a:ln>
        </p:spPr>
      </p:sp>
      <p:sp>
        <p:nvSpPr>
          <p:cNvPr id="22" name="Shape 19"/>
          <p:cNvSpPr/>
          <p:nvPr/>
        </p:nvSpPr>
        <p:spPr>
          <a:xfrm>
            <a:off x="9695383" y="585216"/>
            <a:ext cx="118872" cy="118872"/>
          </a:xfrm>
          <a:prstGeom prst="ellipse">
            <a:avLst/>
          </a:prstGeom>
          <a:solidFill>
            <a:srgbClr val="DDF5F1"/>
          </a:solidFill>
          <a:ln w="9525">
            <a:solidFill>
              <a:srgbClr val="00A896"/>
            </a:solidFill>
            <a:prstDash val="solid"/>
          </a:ln>
        </p:spPr>
      </p:sp>
      <p:sp>
        <p:nvSpPr>
          <p:cNvPr id="23" name="Shape 20"/>
          <p:cNvSpPr/>
          <p:nvPr/>
        </p:nvSpPr>
        <p:spPr>
          <a:xfrm>
            <a:off x="9878263" y="585216"/>
            <a:ext cx="118872" cy="118872"/>
          </a:xfrm>
          <a:prstGeom prst="ellipse">
            <a:avLst/>
          </a:prstGeom>
          <a:solidFill>
            <a:srgbClr val="DDF5F1"/>
          </a:solidFill>
          <a:ln w="9525">
            <a:solidFill>
              <a:srgbClr val="00A896"/>
            </a:solidFill>
            <a:prstDash val="solid"/>
          </a:ln>
        </p:spPr>
      </p:sp>
      <p:sp>
        <p:nvSpPr>
          <p:cNvPr id="24" name="Shape 21"/>
          <p:cNvSpPr/>
          <p:nvPr/>
        </p:nvSpPr>
        <p:spPr>
          <a:xfrm>
            <a:off x="10061143" y="585216"/>
            <a:ext cx="118872" cy="118872"/>
          </a:xfrm>
          <a:prstGeom prst="ellipse">
            <a:avLst/>
          </a:prstGeom>
          <a:solidFill>
            <a:srgbClr val="DDF5F1"/>
          </a:solidFill>
          <a:ln w="9525">
            <a:solidFill>
              <a:srgbClr val="00A896"/>
            </a:solidFill>
            <a:prstDash val="solid"/>
          </a:ln>
        </p:spPr>
      </p:sp>
      <p:sp>
        <p:nvSpPr>
          <p:cNvPr id="25" name="Shape 22"/>
          <p:cNvSpPr/>
          <p:nvPr/>
        </p:nvSpPr>
        <p:spPr>
          <a:xfrm>
            <a:off x="10244023" y="585216"/>
            <a:ext cx="118872" cy="118872"/>
          </a:xfrm>
          <a:prstGeom prst="ellipse">
            <a:avLst/>
          </a:prstGeom>
          <a:solidFill>
            <a:srgbClr val="DDF5F1"/>
          </a:solidFill>
          <a:ln w="9525">
            <a:solidFill>
              <a:srgbClr val="00A896"/>
            </a:solidFill>
            <a:prstDash val="solid"/>
          </a:ln>
        </p:spPr>
      </p:sp>
      <p:sp>
        <p:nvSpPr>
          <p:cNvPr id="26" name="Shape 23"/>
          <p:cNvSpPr/>
          <p:nvPr/>
        </p:nvSpPr>
        <p:spPr>
          <a:xfrm>
            <a:off x="10426903" y="585216"/>
            <a:ext cx="118872" cy="118872"/>
          </a:xfrm>
          <a:prstGeom prst="ellipse">
            <a:avLst/>
          </a:prstGeom>
          <a:solidFill>
            <a:srgbClr val="DDF5F1"/>
          </a:solidFill>
          <a:ln w="9525">
            <a:solidFill>
              <a:srgbClr val="00A896"/>
            </a:solidFill>
            <a:prstDash val="solid"/>
          </a:ln>
        </p:spPr>
      </p:sp>
      <p:sp>
        <p:nvSpPr>
          <p:cNvPr id="27" name="Shape 24"/>
          <p:cNvSpPr/>
          <p:nvPr/>
        </p:nvSpPr>
        <p:spPr>
          <a:xfrm>
            <a:off x="10609783" y="585216"/>
            <a:ext cx="118872" cy="118872"/>
          </a:xfrm>
          <a:prstGeom prst="ellipse">
            <a:avLst/>
          </a:prstGeom>
          <a:solidFill>
            <a:srgbClr val="DDF5F1"/>
          </a:solidFill>
          <a:ln w="9525">
            <a:solidFill>
              <a:srgbClr val="00A896"/>
            </a:solidFill>
            <a:prstDash val="solid"/>
          </a:ln>
        </p:spPr>
      </p:sp>
      <p:sp>
        <p:nvSpPr>
          <p:cNvPr id="28" name="Shape 25"/>
          <p:cNvSpPr/>
          <p:nvPr/>
        </p:nvSpPr>
        <p:spPr>
          <a:xfrm>
            <a:off x="10792663" y="585216"/>
            <a:ext cx="118872" cy="118872"/>
          </a:xfrm>
          <a:prstGeom prst="ellipse">
            <a:avLst/>
          </a:prstGeom>
          <a:solidFill>
            <a:srgbClr val="DDF5F1"/>
          </a:solidFill>
          <a:ln w="9525">
            <a:solidFill>
              <a:srgbClr val="00A896"/>
            </a:solidFill>
            <a:prstDash val="solid"/>
          </a:ln>
        </p:spPr>
      </p:sp>
      <p:sp>
        <p:nvSpPr>
          <p:cNvPr id="29" name="Shape 26"/>
          <p:cNvSpPr/>
          <p:nvPr/>
        </p:nvSpPr>
        <p:spPr>
          <a:xfrm>
            <a:off x="10948111" y="557784"/>
            <a:ext cx="173736" cy="173736"/>
          </a:xfrm>
          <a:prstGeom prst="ellipse">
            <a:avLst/>
          </a:prstGeom>
          <a:solidFill>
            <a:srgbClr val="00A896"/>
          </a:solidFill>
          <a:ln w="9525">
            <a:solidFill>
              <a:srgbClr val="00A896"/>
            </a:solidFill>
            <a:prstDash val="solid"/>
          </a:ln>
        </p:spPr>
      </p:sp>
      <p:sp>
        <p:nvSpPr>
          <p:cNvPr id="30" name="Shape 27"/>
          <p:cNvSpPr/>
          <p:nvPr/>
        </p:nvSpPr>
        <p:spPr>
          <a:xfrm>
            <a:off x="11158423" y="585216"/>
            <a:ext cx="118872" cy="118872"/>
          </a:xfrm>
          <a:prstGeom prst="ellipse">
            <a:avLst/>
          </a:prstGeom>
          <a:solidFill>
            <a:srgbClr val="F3F6F9"/>
          </a:solidFill>
          <a:ln w="9525">
            <a:solidFill>
              <a:srgbClr val="DCE4EC"/>
            </a:solidFill>
            <a:prstDash val="solid"/>
          </a:ln>
        </p:spPr>
      </p:sp>
      <p:sp>
        <p:nvSpPr>
          <p:cNvPr id="31" name="Shape 28"/>
          <p:cNvSpPr/>
          <p:nvPr/>
        </p:nvSpPr>
        <p:spPr>
          <a:xfrm>
            <a:off x="11341303" y="585216"/>
            <a:ext cx="118872" cy="118872"/>
          </a:xfrm>
          <a:prstGeom prst="ellipse">
            <a:avLst/>
          </a:prstGeom>
          <a:solidFill>
            <a:srgbClr val="F3F6F9"/>
          </a:solidFill>
          <a:ln w="9525">
            <a:solidFill>
              <a:srgbClr val="DCE4EC"/>
            </a:solidFill>
            <a:prstDash val="solid"/>
          </a:ln>
        </p:spPr>
      </p:sp>
      <p:sp>
        <p:nvSpPr>
          <p:cNvPr id="32" name="Shape 29"/>
          <p:cNvSpPr/>
          <p:nvPr/>
        </p:nvSpPr>
        <p:spPr>
          <a:xfrm>
            <a:off x="11524183" y="585216"/>
            <a:ext cx="118872" cy="118872"/>
          </a:xfrm>
          <a:prstGeom prst="ellipse">
            <a:avLst/>
          </a:prstGeom>
          <a:solidFill>
            <a:srgbClr val="F3F6F9"/>
          </a:solidFill>
          <a:ln w="9525">
            <a:solidFill>
              <a:srgbClr val="DCE4EC"/>
            </a:solidFill>
            <a:prstDash val="solid"/>
          </a:ln>
        </p:spPr>
      </p:sp>
      <p:sp>
        <p:nvSpPr>
          <p:cNvPr id="33" name="Text 30"/>
          <p:cNvSpPr txBox="1"/>
          <p:nvPr/>
        </p:nvSpPr>
        <p:spPr>
          <a:xfrm>
            <a:off x="9146743" y="768096"/>
            <a:ext cx="2496312" cy="201168"/>
          </a:xfrm>
          <a:prstGeom prst="rect">
            <a:avLst/>
          </a:prstGeom>
          <a:noFill/>
          <a:ln/>
        </p:spPr>
        <p:txBody>
          <a:bodyPr wrap="square" lIns="0" tIns="0" rIns="0" bIns="0" rtlCol="0" anchor="ctr"/>
          <a:lstStyle/>
          <a:p>
            <a:pPr algn="r" indent="0" marL="0">
              <a:buNone/>
            </a:pPr>
            <a:r>
              <a:rPr lang="en-US" sz="950" dirty="0">
                <a:solidFill>
                  <a:srgbClr val="5E6D7D"/>
                </a:solidFill>
                <a:latin typeface="Calibri" pitchFamily="34" charset="0"/>
                <a:ea typeface="Calibri" pitchFamily="34" charset="-122"/>
                <a:cs typeface="Calibri" pitchFamily="34" charset="-120"/>
              </a:rPr>
              <a:t>Screen 11 of 14</a:t>
            </a:r>
            <a:endParaRPr lang="en-US" sz="950" dirty="0"/>
          </a:p>
        </p:txBody>
      </p:sp>
      <p:sp>
        <p:nvSpPr>
          <p:cNvPr id="34" name="Text 31"/>
          <p:cNvSpPr txBox="1"/>
          <p:nvPr/>
        </p:nvSpPr>
        <p:spPr>
          <a:xfrm>
            <a:off x="4434840" y="1170432"/>
            <a:ext cx="7208215" cy="237744"/>
          </a:xfrm>
          <a:prstGeom prst="rect">
            <a:avLst/>
          </a:prstGeom>
          <a:noFill/>
          <a:ln/>
        </p:spPr>
        <p:txBody>
          <a:bodyPr wrap="square" lIns="0" tIns="0" rIns="0" bIns="0" rtlCol="0" anchor="ctr"/>
          <a:lstStyle/>
          <a:p>
            <a:pPr indent="0" marL="0">
              <a:buNone/>
            </a:pPr>
            <a:r>
              <a:rPr lang="en-US" sz="1100" b="1" spc="200" kern="0" dirty="0">
                <a:solidFill>
                  <a:srgbClr val="00A896"/>
                </a:solidFill>
                <a:latin typeface="Calibri" pitchFamily="34" charset="0"/>
                <a:ea typeface="Calibri" pitchFamily="34" charset="-122"/>
                <a:cs typeface="Calibri" pitchFamily="34" charset="-120"/>
              </a:rPr>
              <a:t>FIRST DROP</a:t>
            </a:r>
            <a:endParaRPr lang="en-US" sz="1100" dirty="0"/>
          </a:p>
        </p:txBody>
      </p:sp>
      <p:sp>
        <p:nvSpPr>
          <p:cNvPr id="35" name="Text 32"/>
          <p:cNvSpPr txBox="1"/>
          <p:nvPr/>
        </p:nvSpPr>
        <p:spPr>
          <a:xfrm>
            <a:off x="4434840" y="1463040"/>
            <a:ext cx="7208215" cy="457200"/>
          </a:xfrm>
          <a:prstGeom prst="rect">
            <a:avLst/>
          </a:prstGeom>
          <a:noFill/>
          <a:ln/>
        </p:spPr>
        <p:txBody>
          <a:bodyPr wrap="square" lIns="0" tIns="0" rIns="0" bIns="0" rtlCol="0" anchor="t"/>
          <a:lstStyle/>
          <a:p>
            <a:pPr indent="0" marL="0">
              <a:buNone/>
            </a:pPr>
            <a:r>
              <a:rPr lang="en-US" sz="3000" b="1" dirty="0">
                <a:solidFill>
                  <a:srgbClr val="16202B"/>
                </a:solidFill>
                <a:latin typeface="Calibri" pitchFamily="34" charset="0"/>
                <a:ea typeface="Calibri" pitchFamily="34" charset="-122"/>
                <a:cs typeface="Calibri" pitchFamily="34" charset="-120"/>
              </a:rPr>
              <a:t>M. Iyer gets off at Coke Plant</a:t>
            </a:r>
            <a:endParaRPr lang="en-US" sz="3000" dirty="0"/>
          </a:p>
        </p:txBody>
      </p:sp>
      <p:sp>
        <p:nvSpPr>
          <p:cNvPr id="36" name="Text 33"/>
          <p:cNvSpPr txBox="1"/>
          <p:nvPr/>
        </p:nvSpPr>
        <p:spPr>
          <a:xfrm>
            <a:off x="4434840" y="2048256"/>
            <a:ext cx="7208215" cy="475488"/>
          </a:xfrm>
          <a:prstGeom prst="rect">
            <a:avLst/>
          </a:prstGeom>
          <a:noFill/>
          <a:ln/>
        </p:spPr>
        <p:txBody>
          <a:bodyPr wrap="square" lIns="0" tIns="0" rIns="0" bIns="0" rtlCol="0" anchor="t"/>
          <a:lstStyle/>
          <a:p>
            <a:pPr indent="0" marL="0">
              <a:buNone/>
            </a:pPr>
            <a:r>
              <a:rPr lang="en-US" sz="1500" dirty="0">
                <a:solidFill>
                  <a:srgbClr val="34465A"/>
                </a:solidFill>
                <a:latin typeface="Calibri" pitchFamily="34" charset="0"/>
                <a:ea typeface="Calibri" pitchFamily="34" charset="-122"/>
                <a:cs typeface="Calibri" pitchFamily="34" charset="-120"/>
              </a:rPr>
              <a:t>GPS records the arrival at Coke Plant and M. Iyer’s ride completes. Two riders stay on board.</a:t>
            </a:r>
            <a:endParaRPr lang="en-US" sz="1500" dirty="0"/>
          </a:p>
        </p:txBody>
      </p:sp>
      <p:sp>
        <p:nvSpPr>
          <p:cNvPr id="37" name="Shape 34"/>
          <p:cNvSpPr/>
          <p:nvPr/>
        </p:nvSpPr>
        <p:spPr>
          <a:xfrm>
            <a:off x="4434840" y="2798064"/>
            <a:ext cx="7208215" cy="649224"/>
          </a:xfrm>
          <a:prstGeom prst="roundRect">
            <a:avLst>
              <a:gd name="adj" fmla="val 11268"/>
            </a:avLst>
          </a:prstGeom>
          <a:solidFill>
            <a:srgbClr val="F3F6F9"/>
          </a:solidFill>
          <a:ln w="6350">
            <a:solidFill>
              <a:srgbClr val="F3F6F9"/>
            </a:solidFill>
            <a:prstDash val="solid"/>
          </a:ln>
        </p:spPr>
      </p:sp>
      <p:sp>
        <p:nvSpPr>
          <p:cNvPr id="38" name="Shape 35"/>
          <p:cNvSpPr/>
          <p:nvPr/>
        </p:nvSpPr>
        <p:spPr>
          <a:xfrm>
            <a:off x="4599432" y="2916936"/>
            <a:ext cx="292608" cy="292608"/>
          </a:xfrm>
          <a:prstGeom prst="ellipse">
            <a:avLst/>
          </a:prstGeom>
          <a:solidFill>
            <a:srgbClr val="00A896"/>
          </a:solidFill>
          <a:ln w="15875">
            <a:solidFill>
              <a:srgbClr val="FFFFFF"/>
            </a:solidFill>
            <a:prstDash val="solid"/>
          </a:ln>
        </p:spPr>
      </p:sp>
      <p:sp>
        <p:nvSpPr>
          <p:cNvPr id="39" name="Text 36"/>
          <p:cNvSpPr txBox="1"/>
          <p:nvPr/>
        </p:nvSpPr>
        <p:spPr>
          <a:xfrm>
            <a:off x="4599432" y="2916936"/>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40" name="Text 37"/>
          <p:cNvSpPr txBox="1"/>
          <p:nvPr/>
        </p:nvSpPr>
        <p:spPr>
          <a:xfrm>
            <a:off x="5029200" y="2907792"/>
            <a:ext cx="6430975" cy="274320"/>
          </a:xfrm>
          <a:prstGeom prst="rect">
            <a:avLst/>
          </a:prstGeom>
          <a:noFill/>
          <a:ln/>
        </p:spPr>
        <p:txBody>
          <a:bodyPr wrap="square" lIns="0" tIns="0" rIns="0" bIns="0" rtlCol="0" anchor="ctr"/>
          <a:lstStyle/>
          <a:p>
            <a:pPr indent="0" marL="0">
              <a:buNone/>
            </a:pPr>
            <a:r>
              <a:rPr lang="en-US" sz="1400" b="1" dirty="0">
                <a:solidFill>
                  <a:srgbClr val="16202B"/>
                </a:solidFill>
                <a:latin typeface="Calibri" pitchFamily="34" charset="0"/>
                <a:ea typeface="Calibri" pitchFamily="34" charset="-122"/>
                <a:cs typeface="Calibri" pitchFamily="34" charset="-120"/>
              </a:rPr>
              <a:t>2 of 3 on board</a:t>
            </a:r>
            <a:endParaRPr lang="en-US" sz="1400" dirty="0"/>
          </a:p>
        </p:txBody>
      </p:sp>
      <p:sp>
        <p:nvSpPr>
          <p:cNvPr id="41" name="Text 38"/>
          <p:cNvSpPr txBox="1"/>
          <p:nvPr/>
        </p:nvSpPr>
        <p:spPr>
          <a:xfrm>
            <a:off x="5029200" y="3182112"/>
            <a:ext cx="6430975" cy="192024"/>
          </a:xfrm>
          <a:prstGeom prst="rect">
            <a:avLst/>
          </a:prstGeom>
          <a:noFill/>
          <a:ln/>
        </p:spPr>
        <p:txBody>
          <a:bodyPr wrap="square" lIns="0" tIns="0" rIns="0" bIns="0" rtlCol="0" anchor="t"/>
          <a:lstStyle/>
          <a:p>
            <a:pPr indent="0" marL="0">
              <a:buNone/>
            </a:pPr>
            <a:r>
              <a:rPr lang="en-US" sz="1200" dirty="0">
                <a:solidFill>
                  <a:srgbClr val="34465A"/>
                </a:solidFill>
                <a:latin typeface="Calibri" pitchFamily="34" charset="0"/>
                <a:ea typeface="Calibri" pitchFamily="34" charset="-122"/>
                <a:cs typeface="Calibri" pitchFamily="34" charset="-120"/>
              </a:rPr>
              <a:t>One seat free again.</a:t>
            </a:r>
            <a:endParaRPr lang="en-US" sz="1200" dirty="0"/>
          </a:p>
        </p:txBody>
      </p:sp>
      <p:sp>
        <p:nvSpPr>
          <p:cNvPr id="42" name="Shape 39"/>
          <p:cNvSpPr/>
          <p:nvPr/>
        </p:nvSpPr>
        <p:spPr>
          <a:xfrm>
            <a:off x="4434840" y="3557016"/>
            <a:ext cx="7208215" cy="649224"/>
          </a:xfrm>
          <a:prstGeom prst="roundRect">
            <a:avLst>
              <a:gd name="adj" fmla="val 11268"/>
            </a:avLst>
          </a:prstGeom>
          <a:solidFill>
            <a:srgbClr val="F3F6F9"/>
          </a:solidFill>
          <a:ln w="6350">
            <a:solidFill>
              <a:srgbClr val="F3F6F9"/>
            </a:solidFill>
            <a:prstDash val="solid"/>
          </a:ln>
        </p:spPr>
      </p:sp>
      <p:sp>
        <p:nvSpPr>
          <p:cNvPr id="43" name="Shape 40"/>
          <p:cNvSpPr/>
          <p:nvPr/>
        </p:nvSpPr>
        <p:spPr>
          <a:xfrm>
            <a:off x="4599432" y="3675888"/>
            <a:ext cx="292608" cy="292608"/>
          </a:xfrm>
          <a:prstGeom prst="ellipse">
            <a:avLst/>
          </a:prstGeom>
          <a:solidFill>
            <a:srgbClr val="00A896"/>
          </a:solidFill>
          <a:ln w="15875">
            <a:solidFill>
              <a:srgbClr val="FFFFFF"/>
            </a:solidFill>
            <a:prstDash val="solid"/>
          </a:ln>
        </p:spPr>
      </p:sp>
      <p:sp>
        <p:nvSpPr>
          <p:cNvPr id="44" name="Text 41"/>
          <p:cNvSpPr txBox="1"/>
          <p:nvPr/>
        </p:nvSpPr>
        <p:spPr>
          <a:xfrm>
            <a:off x="4599432" y="3675888"/>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45" name="Text 42"/>
          <p:cNvSpPr txBox="1"/>
          <p:nvPr/>
        </p:nvSpPr>
        <p:spPr>
          <a:xfrm>
            <a:off x="5029200" y="3666744"/>
            <a:ext cx="6430975" cy="274320"/>
          </a:xfrm>
          <a:prstGeom prst="rect">
            <a:avLst/>
          </a:prstGeom>
          <a:noFill/>
          <a:ln/>
        </p:spPr>
        <p:txBody>
          <a:bodyPr wrap="square" lIns="0" tIns="0" rIns="0" bIns="0" rtlCol="0" anchor="ctr"/>
          <a:lstStyle/>
          <a:p>
            <a:pPr indent="0" marL="0">
              <a:buNone/>
            </a:pPr>
            <a:r>
              <a:rPr lang="en-US" sz="1400" b="1" dirty="0">
                <a:solidFill>
                  <a:srgbClr val="16202B"/>
                </a:solidFill>
                <a:latin typeface="Calibri" pitchFamily="34" charset="0"/>
                <a:ea typeface="Calibri" pitchFamily="34" charset="-122"/>
                <a:cs typeface="Calibri" pitchFamily="34" charset="-120"/>
              </a:rPr>
              <a:t>M. Iyer dropped</a:t>
            </a:r>
            <a:endParaRPr lang="en-US" sz="1400" dirty="0"/>
          </a:p>
        </p:txBody>
      </p:sp>
      <p:sp>
        <p:nvSpPr>
          <p:cNvPr id="46" name="Text 43"/>
          <p:cNvSpPr txBox="1"/>
          <p:nvPr/>
        </p:nvSpPr>
        <p:spPr>
          <a:xfrm>
            <a:off x="5029200" y="3941064"/>
            <a:ext cx="6430975" cy="192024"/>
          </a:xfrm>
          <a:prstGeom prst="rect">
            <a:avLst/>
          </a:prstGeom>
          <a:noFill/>
          <a:ln/>
        </p:spPr>
        <p:txBody>
          <a:bodyPr wrap="square" lIns="0" tIns="0" rIns="0" bIns="0" rtlCol="0" anchor="t"/>
          <a:lstStyle/>
          <a:p>
            <a:pPr indent="0" marL="0">
              <a:buNone/>
            </a:pPr>
            <a:r>
              <a:rPr lang="en-US" sz="1200" dirty="0">
                <a:solidFill>
                  <a:srgbClr val="34465A"/>
                </a:solidFill>
                <a:latin typeface="Calibri" pitchFamily="34" charset="0"/>
                <a:ea typeface="Calibri" pitchFamily="34" charset="-122"/>
                <a:cs typeface="Calibri" pitchFamily="34" charset="-120"/>
              </a:rPr>
              <a:t>That ride is closed and charged.</a:t>
            </a:r>
            <a:endParaRPr lang="en-US" sz="1200" dirty="0"/>
          </a:p>
        </p:txBody>
      </p:sp>
      <p:sp>
        <p:nvSpPr>
          <p:cNvPr id="47" name="Shape 44"/>
          <p:cNvSpPr/>
          <p:nvPr/>
        </p:nvSpPr>
        <p:spPr>
          <a:xfrm>
            <a:off x="4434840" y="4315968"/>
            <a:ext cx="7208215" cy="649224"/>
          </a:xfrm>
          <a:prstGeom prst="roundRect">
            <a:avLst>
              <a:gd name="adj" fmla="val 11268"/>
            </a:avLst>
          </a:prstGeom>
          <a:solidFill>
            <a:srgbClr val="F3F6F9"/>
          </a:solidFill>
          <a:ln w="6350">
            <a:solidFill>
              <a:srgbClr val="F3F6F9"/>
            </a:solidFill>
            <a:prstDash val="solid"/>
          </a:ln>
        </p:spPr>
      </p:sp>
      <p:sp>
        <p:nvSpPr>
          <p:cNvPr id="48" name="Shape 45"/>
          <p:cNvSpPr/>
          <p:nvPr/>
        </p:nvSpPr>
        <p:spPr>
          <a:xfrm>
            <a:off x="4599432" y="4434840"/>
            <a:ext cx="292608" cy="292608"/>
          </a:xfrm>
          <a:prstGeom prst="ellipse">
            <a:avLst/>
          </a:prstGeom>
          <a:solidFill>
            <a:srgbClr val="00A896"/>
          </a:solidFill>
          <a:ln w="15875">
            <a:solidFill>
              <a:srgbClr val="FFFFFF"/>
            </a:solidFill>
            <a:prstDash val="solid"/>
          </a:ln>
        </p:spPr>
      </p:sp>
      <p:sp>
        <p:nvSpPr>
          <p:cNvPr id="49" name="Text 46"/>
          <p:cNvSpPr txBox="1"/>
          <p:nvPr/>
        </p:nvSpPr>
        <p:spPr>
          <a:xfrm>
            <a:off x="4599432" y="443484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50" name="Text 47"/>
          <p:cNvSpPr txBox="1"/>
          <p:nvPr/>
        </p:nvSpPr>
        <p:spPr>
          <a:xfrm>
            <a:off x="5029200" y="4425696"/>
            <a:ext cx="6430975" cy="274320"/>
          </a:xfrm>
          <a:prstGeom prst="rect">
            <a:avLst/>
          </a:prstGeom>
          <a:noFill/>
          <a:ln/>
        </p:spPr>
        <p:txBody>
          <a:bodyPr wrap="square" lIns="0" tIns="0" rIns="0" bIns="0" rtlCol="0" anchor="ctr"/>
          <a:lstStyle/>
          <a:p>
            <a:pPr indent="0" marL="0">
              <a:buNone/>
            </a:pPr>
            <a:r>
              <a:rPr lang="en-US" sz="1400" b="1" dirty="0">
                <a:solidFill>
                  <a:srgbClr val="16202B"/>
                </a:solidFill>
                <a:latin typeface="Calibri" pitchFamily="34" charset="0"/>
                <a:ea typeface="Calibri" pitchFamily="34" charset="-122"/>
                <a:cs typeface="Calibri" pitchFamily="34" charset="-120"/>
              </a:rPr>
              <a:t>Arrived at Blast Furnace</a:t>
            </a:r>
            <a:endParaRPr lang="en-US" sz="1400" dirty="0"/>
          </a:p>
        </p:txBody>
      </p:sp>
      <p:sp>
        <p:nvSpPr>
          <p:cNvPr id="51" name="Text 48"/>
          <p:cNvSpPr txBox="1"/>
          <p:nvPr/>
        </p:nvSpPr>
        <p:spPr>
          <a:xfrm>
            <a:off x="5029200" y="4700016"/>
            <a:ext cx="6430975" cy="192024"/>
          </a:xfrm>
          <a:prstGeom prst="rect">
            <a:avLst/>
          </a:prstGeom>
          <a:noFill/>
          <a:ln/>
        </p:spPr>
        <p:txBody>
          <a:bodyPr wrap="square" lIns="0" tIns="0" rIns="0" bIns="0" rtlCol="0" anchor="t"/>
          <a:lstStyle/>
          <a:p>
            <a:pPr indent="0" marL="0">
              <a:buNone/>
            </a:pPr>
            <a:r>
              <a:rPr lang="en-US" sz="1200" dirty="0">
                <a:solidFill>
                  <a:srgbClr val="34465A"/>
                </a:solidFill>
                <a:latin typeface="Calibri" pitchFamily="34" charset="0"/>
                <a:ea typeface="Calibri" pitchFamily="34" charset="-122"/>
                <a:cs typeface="Calibri" pitchFamily="34" charset="-120"/>
              </a:rPr>
              <a:t>Drop 2 riders, about 5 minutes away.</a:t>
            </a:r>
            <a:endParaRPr lang="en-US" sz="1200" dirty="0"/>
          </a:p>
        </p:txBody>
      </p:sp>
      <p:sp>
        <p:nvSpPr>
          <p:cNvPr id="52" name="Text 49"/>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900" dirty="0">
                <a:solidFill>
                  <a:srgbClr val="5E6D7D"/>
                </a:solidFill>
                <a:latin typeface="Calibri" pitchFamily="34" charset="0"/>
                <a:ea typeface="Calibri" pitchFamily="34" charset="-122"/>
                <a:cs typeface="Calibri" pitchFamily="34" charset="-120"/>
              </a:rPr>
              <a:t>Plant Ride · Rider → Driver journey · recorded on the MVP with demo data</a:t>
            </a:r>
            <a:endParaRPr lang="en-US" sz="900" dirty="0"/>
          </a:p>
        </p:txBody>
      </p:sp>
      <p:sp>
        <p:nvSpPr>
          <p:cNvPr id="53" name="Text 50"/>
          <p:cNvSpPr txBox="1"/>
          <p:nvPr/>
        </p:nvSpPr>
        <p:spPr>
          <a:xfrm>
            <a:off x="11185855" y="6473952"/>
            <a:ext cx="457200" cy="228600"/>
          </a:xfrm>
          <a:prstGeom prst="rect">
            <a:avLst/>
          </a:prstGeom>
          <a:noFill/>
          <a:ln/>
        </p:spPr>
        <p:txBody>
          <a:bodyPr wrap="square" lIns="0" tIns="0" rIns="0" bIns="0" rtlCol="0" anchor="ctr"/>
          <a:lstStyle/>
          <a:p>
            <a:pPr algn="r" indent="0" marL="0">
              <a:buNone/>
            </a:pPr>
            <a:r>
              <a:rPr lang="en-US" sz="900" dirty="0">
                <a:solidFill>
                  <a:srgbClr val="5E6D7D"/>
                </a:solidFill>
                <a:latin typeface="Calibri" pitchFamily="34" charset="0"/>
                <a:ea typeface="Calibri" pitchFamily="34" charset="-122"/>
                <a:cs typeface="Calibri" pitchFamily="34" charset="-120"/>
              </a:rPr>
              <a:t>32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50976" y="402336"/>
            <a:ext cx="2813925" cy="5961888"/>
          </a:xfrm>
          <a:prstGeom prst="roundRect">
            <a:avLst>
              <a:gd name="adj" fmla="val 5849"/>
            </a:avLst>
          </a:prstGeom>
          <a:solidFill>
            <a:srgbClr val="16202B"/>
          </a:solidFill>
          <a:ln w="9525">
            <a:solidFill>
              <a:srgbClr val="16202B"/>
            </a:solidFill>
            <a:prstDash val="solid"/>
          </a:ln>
          <a:effectLst>
            <a:outerShdw sx="100000" sy="100000" kx="0" ky="0" algn="bl" rotWithShape="0" blurRad="127000" dist="38100" dir="5400000">
              <a:srgbClr val="000000">
                <a:alpha val="20000"/>
              </a:srgbClr>
            </a:outerShdw>
          </a:effectLst>
        </p:spPr>
      </p:sp>
      <p:pic>
        <p:nvPicPr>
          <p:cNvPr id="3" name="Image 0" descr="Screenshot: d12-trip-closed">    </p:cNvPr>
          <p:cNvPicPr>
            <a:picLocks noChangeAspect="1"/>
          </p:cNvPicPr>
          <p:nvPr/>
        </p:nvPicPr>
        <p:blipFill>
          <a:blip r:embed="rId1"/>
          <a:stretch>
            <a:fillRect/>
          </a:stretch>
        </p:blipFill>
        <p:spPr>
          <a:xfrm>
            <a:off x="1005840" y="457200"/>
            <a:ext cx="2704197" cy="5852160"/>
          </a:xfrm>
          <a:prstGeom prst="rect">
            <a:avLst/>
          </a:prstGeom>
        </p:spPr>
      </p:pic>
      <p:sp>
        <p:nvSpPr>
          <p:cNvPr id="4" name="Shape 1"/>
          <p:cNvSpPr/>
          <p:nvPr/>
        </p:nvSpPr>
        <p:spPr>
          <a:xfrm>
            <a:off x="822960" y="1351665"/>
            <a:ext cx="356226" cy="914"/>
          </a:xfrm>
          <a:prstGeom prst="line">
            <a:avLst/>
          </a:prstGeom>
          <a:noFill/>
          <a:ln w="15875">
            <a:solidFill>
              <a:srgbClr val="00A896"/>
            </a:solidFill>
            <a:prstDash val="solid"/>
          </a:ln>
        </p:spPr>
      </p:sp>
      <p:sp>
        <p:nvSpPr>
          <p:cNvPr id="5" name="Shape 2"/>
          <p:cNvSpPr/>
          <p:nvPr/>
        </p:nvSpPr>
        <p:spPr>
          <a:xfrm>
            <a:off x="1138038" y="1310517"/>
            <a:ext cx="82296" cy="82296"/>
          </a:xfrm>
          <a:prstGeom prst="ellipse">
            <a:avLst/>
          </a:prstGeom>
          <a:solidFill>
            <a:srgbClr val="00A896"/>
          </a:solidFill>
          <a:ln w="9525">
            <a:solidFill>
              <a:srgbClr val="FFFFFF"/>
            </a:solidFill>
            <a:prstDash val="solid"/>
          </a:ln>
        </p:spPr>
      </p:sp>
      <p:sp>
        <p:nvSpPr>
          <p:cNvPr id="6" name="Shape 3"/>
          <p:cNvSpPr/>
          <p:nvPr/>
        </p:nvSpPr>
        <p:spPr>
          <a:xfrm>
            <a:off x="548640" y="1214505"/>
            <a:ext cx="274320" cy="274320"/>
          </a:xfrm>
          <a:prstGeom prst="ellipse">
            <a:avLst/>
          </a:prstGeom>
          <a:solidFill>
            <a:srgbClr val="00A896"/>
          </a:solidFill>
          <a:ln w="15875">
            <a:solidFill>
              <a:srgbClr val="FFFFFF"/>
            </a:solidFill>
            <a:prstDash val="solid"/>
          </a:ln>
        </p:spPr>
      </p:sp>
      <p:sp>
        <p:nvSpPr>
          <p:cNvPr id="7" name="Text 4"/>
          <p:cNvSpPr txBox="1"/>
          <p:nvPr/>
        </p:nvSpPr>
        <p:spPr>
          <a:xfrm>
            <a:off x="548640" y="121450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8" name="Shape 5"/>
          <p:cNvSpPr/>
          <p:nvPr/>
        </p:nvSpPr>
        <p:spPr>
          <a:xfrm>
            <a:off x="822960" y="2738433"/>
            <a:ext cx="1041376" cy="914"/>
          </a:xfrm>
          <a:prstGeom prst="line">
            <a:avLst/>
          </a:prstGeom>
          <a:noFill/>
          <a:ln w="15875">
            <a:solidFill>
              <a:srgbClr val="00A896"/>
            </a:solidFill>
            <a:prstDash val="solid"/>
          </a:ln>
        </p:spPr>
      </p:sp>
      <p:sp>
        <p:nvSpPr>
          <p:cNvPr id="9" name="Shape 6"/>
          <p:cNvSpPr/>
          <p:nvPr/>
        </p:nvSpPr>
        <p:spPr>
          <a:xfrm>
            <a:off x="1823188" y="2697285"/>
            <a:ext cx="82296" cy="82296"/>
          </a:xfrm>
          <a:prstGeom prst="ellipse">
            <a:avLst/>
          </a:prstGeom>
          <a:solidFill>
            <a:srgbClr val="00A896"/>
          </a:solidFill>
          <a:ln w="9525">
            <a:solidFill>
              <a:srgbClr val="FFFFFF"/>
            </a:solidFill>
            <a:prstDash val="solid"/>
          </a:ln>
        </p:spPr>
      </p:sp>
      <p:sp>
        <p:nvSpPr>
          <p:cNvPr id="10" name="Shape 7"/>
          <p:cNvSpPr/>
          <p:nvPr/>
        </p:nvSpPr>
        <p:spPr>
          <a:xfrm>
            <a:off x="548640" y="2601273"/>
            <a:ext cx="274320" cy="274320"/>
          </a:xfrm>
          <a:prstGeom prst="ellipse">
            <a:avLst/>
          </a:prstGeom>
          <a:solidFill>
            <a:srgbClr val="00A896"/>
          </a:solidFill>
          <a:ln w="15875">
            <a:solidFill>
              <a:srgbClr val="FFFFFF"/>
            </a:solidFill>
            <a:prstDash val="solid"/>
          </a:ln>
        </p:spPr>
      </p:sp>
      <p:sp>
        <p:nvSpPr>
          <p:cNvPr id="11" name="Text 8"/>
          <p:cNvSpPr txBox="1"/>
          <p:nvPr/>
        </p:nvSpPr>
        <p:spPr>
          <a:xfrm>
            <a:off x="548640" y="2601273"/>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2" name="Shape 9"/>
          <p:cNvSpPr/>
          <p:nvPr/>
        </p:nvSpPr>
        <p:spPr>
          <a:xfrm>
            <a:off x="4434840" y="457200"/>
            <a:ext cx="384048" cy="384048"/>
          </a:xfrm>
          <a:prstGeom prst="ellipse">
            <a:avLst/>
          </a:prstGeom>
          <a:solidFill>
            <a:srgbClr val="00A896"/>
          </a:solidFill>
          <a:ln w="6350">
            <a:solidFill>
              <a:srgbClr val="00A896"/>
            </a:solidFill>
            <a:prstDash val="solid"/>
          </a:ln>
        </p:spPr>
      </p:sp>
      <p:sp>
        <p:nvSpPr>
          <p:cNvPr id="13" name="Text 10"/>
          <p:cNvSpPr txBox="1"/>
          <p:nvPr/>
        </p:nvSpPr>
        <p:spPr>
          <a:xfrm>
            <a:off x="4434840" y="457200"/>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SK</a:t>
            </a:r>
            <a:endParaRPr lang="en-US" sz="1100" dirty="0"/>
          </a:p>
        </p:txBody>
      </p:sp>
      <p:sp>
        <p:nvSpPr>
          <p:cNvPr id="14" name="Text 11"/>
          <p:cNvSpPr txBox="1"/>
          <p:nvPr/>
        </p:nvSpPr>
        <p:spPr>
          <a:xfrm>
            <a:off x="4937760" y="457200"/>
            <a:ext cx="3291840" cy="384048"/>
          </a:xfrm>
          <a:prstGeom prst="rect">
            <a:avLst/>
          </a:prstGeom>
          <a:noFill/>
          <a:ln/>
        </p:spPr>
        <p:txBody>
          <a:bodyPr wrap="square" lIns="0" tIns="0" rIns="0" bIns="0" rtlCol="0" anchor="ctr"/>
          <a:lstStyle/>
          <a:p>
            <a:pPr indent="0" marL="0">
              <a:buNone/>
            </a:pPr>
            <a:r>
              <a:rPr lang="en-US" sz="1300" b="1" dirty="0">
                <a:solidFill>
                  <a:srgbClr val="00A896"/>
                </a:solidFill>
                <a:latin typeface="Calibri" pitchFamily="34" charset="0"/>
                <a:ea typeface="Calibri" pitchFamily="34" charset="-122"/>
                <a:cs typeface="Calibri" pitchFamily="34" charset="-120"/>
              </a:rPr>
              <a:t>Driver  </a:t>
            </a:r>
            <a:pPr indent="0" marL="0">
              <a:buNone/>
            </a:pPr>
            <a:r>
              <a:rPr lang="en-US" sz="1300" b="1" dirty="0">
                <a:solidFill>
                  <a:srgbClr val="16202B"/>
                </a:solidFill>
                <a:latin typeface="Calibri" pitchFamily="34" charset="0"/>
                <a:ea typeface="Calibri" pitchFamily="34" charset="-122"/>
                <a:cs typeface="Calibri" pitchFamily="34" charset="-120"/>
              </a:rPr>
              <a:t>S. Kumar</a:t>
            </a:r>
            <a:endParaRPr lang="en-US" sz="1300" dirty="0"/>
          </a:p>
        </p:txBody>
      </p:sp>
      <p:sp>
        <p:nvSpPr>
          <p:cNvPr id="15" name="Shape 12"/>
          <p:cNvSpPr/>
          <p:nvPr/>
        </p:nvSpPr>
        <p:spPr>
          <a:xfrm>
            <a:off x="9146743" y="585216"/>
            <a:ext cx="118872" cy="118872"/>
          </a:xfrm>
          <a:prstGeom prst="ellipse">
            <a:avLst/>
          </a:prstGeom>
          <a:solidFill>
            <a:srgbClr val="DDF5F1"/>
          </a:solidFill>
          <a:ln w="9525">
            <a:solidFill>
              <a:srgbClr val="00A896"/>
            </a:solidFill>
            <a:prstDash val="solid"/>
          </a:ln>
        </p:spPr>
      </p:sp>
      <p:sp>
        <p:nvSpPr>
          <p:cNvPr id="16" name="Shape 13"/>
          <p:cNvSpPr/>
          <p:nvPr/>
        </p:nvSpPr>
        <p:spPr>
          <a:xfrm>
            <a:off x="9329623" y="585216"/>
            <a:ext cx="118872" cy="118872"/>
          </a:xfrm>
          <a:prstGeom prst="ellipse">
            <a:avLst/>
          </a:prstGeom>
          <a:solidFill>
            <a:srgbClr val="DDF5F1"/>
          </a:solidFill>
          <a:ln w="9525">
            <a:solidFill>
              <a:srgbClr val="00A896"/>
            </a:solidFill>
            <a:prstDash val="solid"/>
          </a:ln>
        </p:spPr>
      </p:sp>
      <p:sp>
        <p:nvSpPr>
          <p:cNvPr id="17" name="Shape 14"/>
          <p:cNvSpPr/>
          <p:nvPr/>
        </p:nvSpPr>
        <p:spPr>
          <a:xfrm>
            <a:off x="9512503" y="585216"/>
            <a:ext cx="118872" cy="118872"/>
          </a:xfrm>
          <a:prstGeom prst="ellipse">
            <a:avLst/>
          </a:prstGeom>
          <a:solidFill>
            <a:srgbClr val="DDF5F1"/>
          </a:solidFill>
          <a:ln w="9525">
            <a:solidFill>
              <a:srgbClr val="00A896"/>
            </a:solidFill>
            <a:prstDash val="solid"/>
          </a:ln>
        </p:spPr>
      </p:sp>
      <p:sp>
        <p:nvSpPr>
          <p:cNvPr id="18" name="Shape 15"/>
          <p:cNvSpPr/>
          <p:nvPr/>
        </p:nvSpPr>
        <p:spPr>
          <a:xfrm>
            <a:off x="9695383" y="585216"/>
            <a:ext cx="118872" cy="118872"/>
          </a:xfrm>
          <a:prstGeom prst="ellipse">
            <a:avLst/>
          </a:prstGeom>
          <a:solidFill>
            <a:srgbClr val="DDF5F1"/>
          </a:solidFill>
          <a:ln w="9525">
            <a:solidFill>
              <a:srgbClr val="00A896"/>
            </a:solidFill>
            <a:prstDash val="solid"/>
          </a:ln>
        </p:spPr>
      </p:sp>
      <p:sp>
        <p:nvSpPr>
          <p:cNvPr id="19" name="Shape 16"/>
          <p:cNvSpPr/>
          <p:nvPr/>
        </p:nvSpPr>
        <p:spPr>
          <a:xfrm>
            <a:off x="9878263" y="585216"/>
            <a:ext cx="118872" cy="118872"/>
          </a:xfrm>
          <a:prstGeom prst="ellipse">
            <a:avLst/>
          </a:prstGeom>
          <a:solidFill>
            <a:srgbClr val="DDF5F1"/>
          </a:solidFill>
          <a:ln w="9525">
            <a:solidFill>
              <a:srgbClr val="00A896"/>
            </a:solidFill>
            <a:prstDash val="solid"/>
          </a:ln>
        </p:spPr>
      </p:sp>
      <p:sp>
        <p:nvSpPr>
          <p:cNvPr id="20" name="Shape 17"/>
          <p:cNvSpPr/>
          <p:nvPr/>
        </p:nvSpPr>
        <p:spPr>
          <a:xfrm>
            <a:off x="10061143" y="585216"/>
            <a:ext cx="118872" cy="118872"/>
          </a:xfrm>
          <a:prstGeom prst="ellipse">
            <a:avLst/>
          </a:prstGeom>
          <a:solidFill>
            <a:srgbClr val="DDF5F1"/>
          </a:solidFill>
          <a:ln w="9525">
            <a:solidFill>
              <a:srgbClr val="00A896"/>
            </a:solidFill>
            <a:prstDash val="solid"/>
          </a:ln>
        </p:spPr>
      </p:sp>
      <p:sp>
        <p:nvSpPr>
          <p:cNvPr id="21" name="Shape 18"/>
          <p:cNvSpPr/>
          <p:nvPr/>
        </p:nvSpPr>
        <p:spPr>
          <a:xfrm>
            <a:off x="10244023" y="585216"/>
            <a:ext cx="118872" cy="118872"/>
          </a:xfrm>
          <a:prstGeom prst="ellipse">
            <a:avLst/>
          </a:prstGeom>
          <a:solidFill>
            <a:srgbClr val="DDF5F1"/>
          </a:solidFill>
          <a:ln w="9525">
            <a:solidFill>
              <a:srgbClr val="00A896"/>
            </a:solidFill>
            <a:prstDash val="solid"/>
          </a:ln>
        </p:spPr>
      </p:sp>
      <p:sp>
        <p:nvSpPr>
          <p:cNvPr id="22" name="Shape 19"/>
          <p:cNvSpPr/>
          <p:nvPr/>
        </p:nvSpPr>
        <p:spPr>
          <a:xfrm>
            <a:off x="10426903" y="585216"/>
            <a:ext cx="118872" cy="118872"/>
          </a:xfrm>
          <a:prstGeom prst="ellipse">
            <a:avLst/>
          </a:prstGeom>
          <a:solidFill>
            <a:srgbClr val="DDF5F1"/>
          </a:solidFill>
          <a:ln w="9525">
            <a:solidFill>
              <a:srgbClr val="00A896"/>
            </a:solidFill>
            <a:prstDash val="solid"/>
          </a:ln>
        </p:spPr>
      </p:sp>
      <p:sp>
        <p:nvSpPr>
          <p:cNvPr id="23" name="Shape 20"/>
          <p:cNvSpPr/>
          <p:nvPr/>
        </p:nvSpPr>
        <p:spPr>
          <a:xfrm>
            <a:off x="10609783" y="585216"/>
            <a:ext cx="118872" cy="118872"/>
          </a:xfrm>
          <a:prstGeom prst="ellipse">
            <a:avLst/>
          </a:prstGeom>
          <a:solidFill>
            <a:srgbClr val="DDF5F1"/>
          </a:solidFill>
          <a:ln w="9525">
            <a:solidFill>
              <a:srgbClr val="00A896"/>
            </a:solidFill>
            <a:prstDash val="solid"/>
          </a:ln>
        </p:spPr>
      </p:sp>
      <p:sp>
        <p:nvSpPr>
          <p:cNvPr id="24" name="Shape 21"/>
          <p:cNvSpPr/>
          <p:nvPr/>
        </p:nvSpPr>
        <p:spPr>
          <a:xfrm>
            <a:off x="10792663" y="585216"/>
            <a:ext cx="118872" cy="118872"/>
          </a:xfrm>
          <a:prstGeom prst="ellipse">
            <a:avLst/>
          </a:prstGeom>
          <a:solidFill>
            <a:srgbClr val="DDF5F1"/>
          </a:solidFill>
          <a:ln w="9525">
            <a:solidFill>
              <a:srgbClr val="00A896"/>
            </a:solidFill>
            <a:prstDash val="solid"/>
          </a:ln>
        </p:spPr>
      </p:sp>
      <p:sp>
        <p:nvSpPr>
          <p:cNvPr id="25" name="Shape 22"/>
          <p:cNvSpPr/>
          <p:nvPr/>
        </p:nvSpPr>
        <p:spPr>
          <a:xfrm>
            <a:off x="10975543" y="585216"/>
            <a:ext cx="118872" cy="118872"/>
          </a:xfrm>
          <a:prstGeom prst="ellipse">
            <a:avLst/>
          </a:prstGeom>
          <a:solidFill>
            <a:srgbClr val="DDF5F1"/>
          </a:solidFill>
          <a:ln w="9525">
            <a:solidFill>
              <a:srgbClr val="00A896"/>
            </a:solidFill>
            <a:prstDash val="solid"/>
          </a:ln>
        </p:spPr>
      </p:sp>
      <p:sp>
        <p:nvSpPr>
          <p:cNvPr id="26" name="Shape 23"/>
          <p:cNvSpPr/>
          <p:nvPr/>
        </p:nvSpPr>
        <p:spPr>
          <a:xfrm>
            <a:off x="11130991" y="557784"/>
            <a:ext cx="173736" cy="173736"/>
          </a:xfrm>
          <a:prstGeom prst="ellipse">
            <a:avLst/>
          </a:prstGeom>
          <a:solidFill>
            <a:srgbClr val="00A896"/>
          </a:solidFill>
          <a:ln w="9525">
            <a:solidFill>
              <a:srgbClr val="00A896"/>
            </a:solidFill>
            <a:prstDash val="solid"/>
          </a:ln>
        </p:spPr>
      </p:sp>
      <p:sp>
        <p:nvSpPr>
          <p:cNvPr id="27" name="Shape 24"/>
          <p:cNvSpPr/>
          <p:nvPr/>
        </p:nvSpPr>
        <p:spPr>
          <a:xfrm>
            <a:off x="11341303" y="585216"/>
            <a:ext cx="118872" cy="118872"/>
          </a:xfrm>
          <a:prstGeom prst="ellipse">
            <a:avLst/>
          </a:prstGeom>
          <a:solidFill>
            <a:srgbClr val="F3F6F9"/>
          </a:solidFill>
          <a:ln w="9525">
            <a:solidFill>
              <a:srgbClr val="DCE4EC"/>
            </a:solidFill>
            <a:prstDash val="solid"/>
          </a:ln>
        </p:spPr>
      </p:sp>
      <p:sp>
        <p:nvSpPr>
          <p:cNvPr id="28" name="Shape 25"/>
          <p:cNvSpPr/>
          <p:nvPr/>
        </p:nvSpPr>
        <p:spPr>
          <a:xfrm>
            <a:off x="11524183" y="585216"/>
            <a:ext cx="118872" cy="118872"/>
          </a:xfrm>
          <a:prstGeom prst="ellipse">
            <a:avLst/>
          </a:prstGeom>
          <a:solidFill>
            <a:srgbClr val="F3F6F9"/>
          </a:solidFill>
          <a:ln w="9525">
            <a:solidFill>
              <a:srgbClr val="DCE4EC"/>
            </a:solidFill>
            <a:prstDash val="solid"/>
          </a:ln>
        </p:spPr>
      </p:sp>
      <p:sp>
        <p:nvSpPr>
          <p:cNvPr id="29" name="Text 26"/>
          <p:cNvSpPr txBox="1"/>
          <p:nvPr/>
        </p:nvSpPr>
        <p:spPr>
          <a:xfrm>
            <a:off x="9146743" y="768096"/>
            <a:ext cx="2496312" cy="201168"/>
          </a:xfrm>
          <a:prstGeom prst="rect">
            <a:avLst/>
          </a:prstGeom>
          <a:noFill/>
          <a:ln/>
        </p:spPr>
        <p:txBody>
          <a:bodyPr wrap="square" lIns="0" tIns="0" rIns="0" bIns="0" rtlCol="0" anchor="ctr"/>
          <a:lstStyle/>
          <a:p>
            <a:pPr algn="r" indent="0" marL="0">
              <a:buNone/>
            </a:pPr>
            <a:r>
              <a:rPr lang="en-US" sz="950" dirty="0">
                <a:solidFill>
                  <a:srgbClr val="5E6D7D"/>
                </a:solidFill>
                <a:latin typeface="Calibri" pitchFamily="34" charset="0"/>
                <a:ea typeface="Calibri" pitchFamily="34" charset="-122"/>
                <a:cs typeface="Calibri" pitchFamily="34" charset="-120"/>
              </a:rPr>
              <a:t>Screen 12 of 14</a:t>
            </a:r>
            <a:endParaRPr lang="en-US" sz="950" dirty="0"/>
          </a:p>
        </p:txBody>
      </p:sp>
      <p:sp>
        <p:nvSpPr>
          <p:cNvPr id="30" name="Text 27"/>
          <p:cNvSpPr txBox="1"/>
          <p:nvPr/>
        </p:nvSpPr>
        <p:spPr>
          <a:xfrm>
            <a:off x="4434840" y="1170432"/>
            <a:ext cx="7208215" cy="237744"/>
          </a:xfrm>
          <a:prstGeom prst="rect">
            <a:avLst/>
          </a:prstGeom>
          <a:noFill/>
          <a:ln/>
        </p:spPr>
        <p:txBody>
          <a:bodyPr wrap="square" lIns="0" tIns="0" rIns="0" bIns="0" rtlCol="0" anchor="ctr"/>
          <a:lstStyle/>
          <a:p>
            <a:pPr indent="0" marL="0">
              <a:buNone/>
            </a:pPr>
            <a:r>
              <a:rPr lang="en-US" sz="1100" b="1" spc="200" kern="0" dirty="0">
                <a:solidFill>
                  <a:srgbClr val="00A896"/>
                </a:solidFill>
                <a:latin typeface="Calibri" pitchFamily="34" charset="0"/>
                <a:ea typeface="Calibri" pitchFamily="34" charset="-122"/>
                <a:cs typeface="Calibri" pitchFamily="34" charset="-120"/>
              </a:rPr>
              <a:t>LAST DROP</a:t>
            </a:r>
            <a:endParaRPr lang="en-US" sz="1100" dirty="0"/>
          </a:p>
        </p:txBody>
      </p:sp>
      <p:sp>
        <p:nvSpPr>
          <p:cNvPr id="31" name="Text 28"/>
          <p:cNvSpPr txBox="1"/>
          <p:nvPr/>
        </p:nvSpPr>
        <p:spPr>
          <a:xfrm>
            <a:off x="4434840" y="1463040"/>
            <a:ext cx="7208215" cy="457200"/>
          </a:xfrm>
          <a:prstGeom prst="rect">
            <a:avLst/>
          </a:prstGeom>
          <a:noFill/>
          <a:ln/>
        </p:spPr>
        <p:txBody>
          <a:bodyPr wrap="square" lIns="0" tIns="0" rIns="0" bIns="0" rtlCol="0" anchor="t"/>
          <a:lstStyle/>
          <a:p>
            <a:pPr indent="0" marL="0">
              <a:buNone/>
            </a:pPr>
            <a:r>
              <a:rPr lang="en-US" sz="3000" b="1" dirty="0">
                <a:solidFill>
                  <a:srgbClr val="16202B"/>
                </a:solidFill>
                <a:latin typeface="Calibri" pitchFamily="34" charset="0"/>
                <a:ea typeface="Calibri" pitchFamily="34" charset="-122"/>
                <a:cs typeface="Calibri" pitchFamily="34" charset="-120"/>
              </a:rPr>
              <a:t>The last drop closes the trip</a:t>
            </a:r>
            <a:endParaRPr lang="en-US" sz="3000" dirty="0"/>
          </a:p>
        </p:txBody>
      </p:sp>
      <p:sp>
        <p:nvSpPr>
          <p:cNvPr id="32" name="Text 29"/>
          <p:cNvSpPr txBox="1"/>
          <p:nvPr/>
        </p:nvSpPr>
        <p:spPr>
          <a:xfrm>
            <a:off x="4434840" y="2048256"/>
            <a:ext cx="7208215" cy="475488"/>
          </a:xfrm>
          <a:prstGeom prst="rect">
            <a:avLst/>
          </a:prstGeom>
          <a:noFill/>
          <a:ln/>
        </p:spPr>
        <p:txBody>
          <a:bodyPr wrap="square" lIns="0" tIns="0" rIns="0" bIns="0" rtlCol="0" anchor="t"/>
          <a:lstStyle/>
          <a:p>
            <a:pPr indent="0" marL="0">
              <a:buNone/>
            </a:pPr>
            <a:r>
              <a:rPr lang="en-US" sz="1500" dirty="0">
                <a:solidFill>
                  <a:srgbClr val="34465A"/>
                </a:solidFill>
                <a:latin typeface="Calibri" pitchFamily="34" charset="0"/>
                <a:ea typeface="Calibri" pitchFamily="34" charset="-122"/>
                <a:cs typeface="Calibri" pitchFamily="34" charset="-120"/>
              </a:rPr>
              <a:t>At the Blast Furnace A. Raghavan and S. Banerjee get off. The trip is costed and charged, and the queue waits for new pickups.</a:t>
            </a:r>
            <a:endParaRPr lang="en-US" sz="1500" dirty="0"/>
          </a:p>
        </p:txBody>
      </p:sp>
      <p:sp>
        <p:nvSpPr>
          <p:cNvPr id="33" name="Shape 30"/>
          <p:cNvSpPr/>
          <p:nvPr/>
        </p:nvSpPr>
        <p:spPr>
          <a:xfrm>
            <a:off x="4434840" y="2798064"/>
            <a:ext cx="7208215" cy="649224"/>
          </a:xfrm>
          <a:prstGeom prst="roundRect">
            <a:avLst>
              <a:gd name="adj" fmla="val 11268"/>
            </a:avLst>
          </a:prstGeom>
          <a:solidFill>
            <a:srgbClr val="F3F6F9"/>
          </a:solidFill>
          <a:ln w="6350">
            <a:solidFill>
              <a:srgbClr val="F3F6F9"/>
            </a:solidFill>
            <a:prstDash val="solid"/>
          </a:ln>
        </p:spPr>
      </p:sp>
      <p:sp>
        <p:nvSpPr>
          <p:cNvPr id="34" name="Shape 31"/>
          <p:cNvSpPr/>
          <p:nvPr/>
        </p:nvSpPr>
        <p:spPr>
          <a:xfrm>
            <a:off x="4599432" y="2916936"/>
            <a:ext cx="292608" cy="292608"/>
          </a:xfrm>
          <a:prstGeom prst="ellipse">
            <a:avLst/>
          </a:prstGeom>
          <a:solidFill>
            <a:srgbClr val="00A896"/>
          </a:solidFill>
          <a:ln w="15875">
            <a:solidFill>
              <a:srgbClr val="FFFFFF"/>
            </a:solidFill>
            <a:prstDash val="solid"/>
          </a:ln>
        </p:spPr>
      </p:sp>
      <p:sp>
        <p:nvSpPr>
          <p:cNvPr id="35" name="Text 32"/>
          <p:cNvSpPr txBox="1"/>
          <p:nvPr/>
        </p:nvSpPr>
        <p:spPr>
          <a:xfrm>
            <a:off x="4599432" y="2916936"/>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36" name="Text 33"/>
          <p:cNvSpPr txBox="1"/>
          <p:nvPr/>
        </p:nvSpPr>
        <p:spPr>
          <a:xfrm>
            <a:off x="5029200" y="2907792"/>
            <a:ext cx="6430975" cy="274320"/>
          </a:xfrm>
          <a:prstGeom prst="rect">
            <a:avLst/>
          </a:prstGeom>
          <a:noFill/>
          <a:ln/>
        </p:spPr>
        <p:txBody>
          <a:bodyPr wrap="square" lIns="0" tIns="0" rIns="0" bIns="0" rtlCol="0" anchor="ctr"/>
          <a:lstStyle/>
          <a:p>
            <a:pPr indent="0" marL="0">
              <a:buNone/>
            </a:pPr>
            <a:r>
              <a:rPr lang="en-US" sz="1400" b="1" dirty="0">
                <a:solidFill>
                  <a:srgbClr val="16202B"/>
                </a:solidFill>
                <a:latin typeface="Calibri" pitchFamily="34" charset="0"/>
                <a:ea typeface="Calibri" pitchFamily="34" charset="-122"/>
                <a:cs typeface="Calibri" pitchFamily="34" charset="-120"/>
              </a:rPr>
              <a:t>1 trip · 3 riders</a:t>
            </a:r>
            <a:endParaRPr lang="en-US" sz="1400" dirty="0"/>
          </a:p>
        </p:txBody>
      </p:sp>
      <p:sp>
        <p:nvSpPr>
          <p:cNvPr id="37" name="Text 34"/>
          <p:cNvSpPr txBox="1"/>
          <p:nvPr/>
        </p:nvSpPr>
        <p:spPr>
          <a:xfrm>
            <a:off x="5029200" y="3182112"/>
            <a:ext cx="6430975" cy="192024"/>
          </a:xfrm>
          <a:prstGeom prst="rect">
            <a:avLst/>
          </a:prstGeom>
          <a:noFill/>
          <a:ln/>
        </p:spPr>
        <p:txBody>
          <a:bodyPr wrap="square" lIns="0" tIns="0" rIns="0" bIns="0" rtlCol="0" anchor="t"/>
          <a:lstStyle/>
          <a:p>
            <a:pPr indent="0" marL="0">
              <a:buNone/>
            </a:pPr>
            <a:r>
              <a:rPr lang="en-US" sz="1200" dirty="0">
                <a:solidFill>
                  <a:srgbClr val="34465A"/>
                </a:solidFill>
                <a:latin typeface="Calibri" pitchFamily="34" charset="0"/>
                <a:ea typeface="Calibri" pitchFamily="34" charset="-122"/>
                <a:cs typeface="Calibri" pitchFamily="34" charset="-120"/>
              </a:rPr>
              <a:t>The duty totals update at once.</a:t>
            </a:r>
            <a:endParaRPr lang="en-US" sz="1200" dirty="0"/>
          </a:p>
        </p:txBody>
      </p:sp>
      <p:sp>
        <p:nvSpPr>
          <p:cNvPr id="38" name="Shape 35"/>
          <p:cNvSpPr/>
          <p:nvPr/>
        </p:nvSpPr>
        <p:spPr>
          <a:xfrm>
            <a:off x="4434840" y="3557016"/>
            <a:ext cx="7208215" cy="649224"/>
          </a:xfrm>
          <a:prstGeom prst="roundRect">
            <a:avLst>
              <a:gd name="adj" fmla="val 11268"/>
            </a:avLst>
          </a:prstGeom>
          <a:solidFill>
            <a:srgbClr val="F3F6F9"/>
          </a:solidFill>
          <a:ln w="6350">
            <a:solidFill>
              <a:srgbClr val="F3F6F9"/>
            </a:solidFill>
            <a:prstDash val="solid"/>
          </a:ln>
        </p:spPr>
      </p:sp>
      <p:sp>
        <p:nvSpPr>
          <p:cNvPr id="39" name="Shape 36"/>
          <p:cNvSpPr/>
          <p:nvPr/>
        </p:nvSpPr>
        <p:spPr>
          <a:xfrm>
            <a:off x="4599432" y="3675888"/>
            <a:ext cx="292608" cy="292608"/>
          </a:xfrm>
          <a:prstGeom prst="ellipse">
            <a:avLst/>
          </a:prstGeom>
          <a:solidFill>
            <a:srgbClr val="00A896"/>
          </a:solidFill>
          <a:ln w="15875">
            <a:solidFill>
              <a:srgbClr val="FFFFFF"/>
            </a:solidFill>
            <a:prstDash val="solid"/>
          </a:ln>
        </p:spPr>
      </p:sp>
      <p:sp>
        <p:nvSpPr>
          <p:cNvPr id="40" name="Text 37"/>
          <p:cNvSpPr txBox="1"/>
          <p:nvPr/>
        </p:nvSpPr>
        <p:spPr>
          <a:xfrm>
            <a:off x="4599432" y="3675888"/>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41" name="Text 38"/>
          <p:cNvSpPr txBox="1"/>
          <p:nvPr/>
        </p:nvSpPr>
        <p:spPr>
          <a:xfrm>
            <a:off x="5029200" y="3666744"/>
            <a:ext cx="6430975" cy="274320"/>
          </a:xfrm>
          <a:prstGeom prst="rect">
            <a:avLst/>
          </a:prstGeom>
          <a:noFill/>
          <a:ln/>
        </p:spPr>
        <p:txBody>
          <a:bodyPr wrap="square" lIns="0" tIns="0" rIns="0" bIns="0" rtlCol="0" anchor="ctr"/>
          <a:lstStyle/>
          <a:p>
            <a:pPr indent="0" marL="0">
              <a:buNone/>
            </a:pPr>
            <a:r>
              <a:rPr lang="en-US" sz="1400" b="1" dirty="0">
                <a:solidFill>
                  <a:srgbClr val="16202B"/>
                </a:solidFill>
                <a:latin typeface="Calibri" pitchFamily="34" charset="0"/>
                <a:ea typeface="Calibri" pitchFamily="34" charset="-122"/>
                <a:cs typeface="Calibri" pitchFamily="34" charset="-120"/>
              </a:rPr>
              <a:t>No pickups yet</a:t>
            </a:r>
            <a:endParaRPr lang="en-US" sz="1400" dirty="0"/>
          </a:p>
        </p:txBody>
      </p:sp>
      <p:sp>
        <p:nvSpPr>
          <p:cNvPr id="42" name="Text 39"/>
          <p:cNvSpPr txBox="1"/>
          <p:nvPr/>
        </p:nvSpPr>
        <p:spPr>
          <a:xfrm>
            <a:off x="5029200" y="3941064"/>
            <a:ext cx="6430975" cy="192024"/>
          </a:xfrm>
          <a:prstGeom prst="rect">
            <a:avLst/>
          </a:prstGeom>
          <a:noFill/>
          <a:ln/>
        </p:spPr>
        <p:txBody>
          <a:bodyPr wrap="square" lIns="0" tIns="0" rIns="0" bIns="0" rtlCol="0" anchor="t"/>
          <a:lstStyle/>
          <a:p>
            <a:pPr indent="0" marL="0">
              <a:buNone/>
            </a:pPr>
            <a:r>
              <a:rPr lang="en-US" sz="1200" dirty="0">
                <a:solidFill>
                  <a:srgbClr val="34465A"/>
                </a:solidFill>
                <a:latin typeface="Calibri" pitchFamily="34" charset="0"/>
                <a:ea typeface="Calibri" pitchFamily="34" charset="-122"/>
                <a:cs typeface="Calibri" pitchFamily="34" charset="-120"/>
              </a:rPr>
              <a:t>New riders appear here automatically, in route order.</a:t>
            </a:r>
            <a:endParaRPr lang="en-US" sz="1200" dirty="0"/>
          </a:p>
        </p:txBody>
      </p:sp>
      <p:sp>
        <p:nvSpPr>
          <p:cNvPr id="43" name="Text 40"/>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900" dirty="0">
                <a:solidFill>
                  <a:srgbClr val="5E6D7D"/>
                </a:solidFill>
                <a:latin typeface="Calibri" pitchFamily="34" charset="0"/>
                <a:ea typeface="Calibri" pitchFamily="34" charset="-122"/>
                <a:cs typeface="Calibri" pitchFamily="34" charset="-120"/>
              </a:rPr>
              <a:t>Plant Ride · Rider → Driver journey · recorded on the MVP with demo data</a:t>
            </a:r>
            <a:endParaRPr lang="en-US" sz="900" dirty="0"/>
          </a:p>
        </p:txBody>
      </p:sp>
      <p:sp>
        <p:nvSpPr>
          <p:cNvPr id="44" name="Text 41"/>
          <p:cNvSpPr txBox="1"/>
          <p:nvPr/>
        </p:nvSpPr>
        <p:spPr>
          <a:xfrm>
            <a:off x="11185855" y="6473952"/>
            <a:ext cx="457200" cy="228600"/>
          </a:xfrm>
          <a:prstGeom prst="rect">
            <a:avLst/>
          </a:prstGeom>
          <a:noFill/>
          <a:ln/>
        </p:spPr>
        <p:txBody>
          <a:bodyPr wrap="square" lIns="0" tIns="0" rIns="0" bIns="0" rtlCol="0" anchor="ctr"/>
          <a:lstStyle/>
          <a:p>
            <a:pPr algn="r" indent="0" marL="0">
              <a:buNone/>
            </a:pPr>
            <a:r>
              <a:rPr lang="en-US" sz="900" dirty="0">
                <a:solidFill>
                  <a:srgbClr val="5E6D7D"/>
                </a:solidFill>
                <a:latin typeface="Calibri" pitchFamily="34" charset="0"/>
                <a:ea typeface="Calibri" pitchFamily="34" charset="-122"/>
                <a:cs typeface="Calibri" pitchFamily="34" charset="-120"/>
              </a:rPr>
              <a:t>33</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50976" y="402336"/>
            <a:ext cx="2813925" cy="5961888"/>
          </a:xfrm>
          <a:prstGeom prst="roundRect">
            <a:avLst>
              <a:gd name="adj" fmla="val 5849"/>
            </a:avLst>
          </a:prstGeom>
          <a:solidFill>
            <a:srgbClr val="16202B"/>
          </a:solidFill>
          <a:ln w="9525">
            <a:solidFill>
              <a:srgbClr val="16202B"/>
            </a:solidFill>
            <a:prstDash val="solid"/>
          </a:ln>
          <a:effectLst>
            <a:outerShdw sx="100000" sy="100000" kx="0" ky="0" algn="bl" rotWithShape="0" blurRad="127000" dist="38100" dir="5400000">
              <a:srgbClr val="000000">
                <a:alpha val="20000"/>
              </a:srgbClr>
            </a:outerShdw>
          </a:effectLst>
        </p:spPr>
      </p:sp>
      <p:pic>
        <p:nvPicPr>
          <p:cNvPr id="3" name="Image 0" descr="Screenshot: d13-close-duty">    </p:cNvPr>
          <p:cNvPicPr>
            <a:picLocks noChangeAspect="1"/>
          </p:cNvPicPr>
          <p:nvPr/>
        </p:nvPicPr>
        <p:blipFill>
          <a:blip r:embed="rId1"/>
          <a:stretch>
            <a:fillRect/>
          </a:stretch>
        </p:blipFill>
        <p:spPr>
          <a:xfrm>
            <a:off x="1005840" y="457200"/>
            <a:ext cx="2704197" cy="5852160"/>
          </a:xfrm>
          <a:prstGeom prst="rect">
            <a:avLst/>
          </a:prstGeom>
        </p:spPr>
      </p:pic>
      <p:sp>
        <p:nvSpPr>
          <p:cNvPr id="4" name="Shape 1"/>
          <p:cNvSpPr/>
          <p:nvPr/>
        </p:nvSpPr>
        <p:spPr>
          <a:xfrm>
            <a:off x="822960" y="582009"/>
            <a:ext cx="238351" cy="914"/>
          </a:xfrm>
          <a:prstGeom prst="line">
            <a:avLst/>
          </a:prstGeom>
          <a:noFill/>
          <a:ln w="15875">
            <a:solidFill>
              <a:srgbClr val="00A896"/>
            </a:solidFill>
            <a:prstDash val="solid"/>
          </a:ln>
        </p:spPr>
      </p:sp>
      <p:sp>
        <p:nvSpPr>
          <p:cNvPr id="5" name="Shape 2"/>
          <p:cNvSpPr/>
          <p:nvPr/>
        </p:nvSpPr>
        <p:spPr>
          <a:xfrm>
            <a:off x="1020163" y="540861"/>
            <a:ext cx="82296" cy="82296"/>
          </a:xfrm>
          <a:prstGeom prst="ellipse">
            <a:avLst/>
          </a:prstGeom>
          <a:solidFill>
            <a:srgbClr val="00A896"/>
          </a:solidFill>
          <a:ln w="9525">
            <a:solidFill>
              <a:srgbClr val="FFFFFF"/>
            </a:solidFill>
            <a:prstDash val="solid"/>
          </a:ln>
        </p:spPr>
      </p:sp>
      <p:sp>
        <p:nvSpPr>
          <p:cNvPr id="6" name="Shape 3"/>
          <p:cNvSpPr/>
          <p:nvPr/>
        </p:nvSpPr>
        <p:spPr>
          <a:xfrm>
            <a:off x="548640" y="444849"/>
            <a:ext cx="274320" cy="274320"/>
          </a:xfrm>
          <a:prstGeom prst="ellipse">
            <a:avLst/>
          </a:prstGeom>
          <a:solidFill>
            <a:srgbClr val="00A896"/>
          </a:solidFill>
          <a:ln w="15875">
            <a:solidFill>
              <a:srgbClr val="FFFFFF"/>
            </a:solidFill>
            <a:prstDash val="solid"/>
          </a:ln>
        </p:spPr>
      </p:sp>
      <p:sp>
        <p:nvSpPr>
          <p:cNvPr id="7" name="Text 4"/>
          <p:cNvSpPr txBox="1"/>
          <p:nvPr/>
        </p:nvSpPr>
        <p:spPr>
          <a:xfrm>
            <a:off x="548640" y="444849"/>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8" name="Shape 5"/>
          <p:cNvSpPr/>
          <p:nvPr/>
        </p:nvSpPr>
        <p:spPr>
          <a:xfrm>
            <a:off x="822960" y="3903318"/>
            <a:ext cx="356226" cy="914"/>
          </a:xfrm>
          <a:prstGeom prst="line">
            <a:avLst/>
          </a:prstGeom>
          <a:noFill/>
          <a:ln w="15875">
            <a:solidFill>
              <a:srgbClr val="00A896"/>
            </a:solidFill>
            <a:prstDash val="solid"/>
          </a:ln>
        </p:spPr>
      </p:sp>
      <p:sp>
        <p:nvSpPr>
          <p:cNvPr id="9" name="Shape 6"/>
          <p:cNvSpPr/>
          <p:nvPr/>
        </p:nvSpPr>
        <p:spPr>
          <a:xfrm>
            <a:off x="1138038" y="3862170"/>
            <a:ext cx="82296" cy="82296"/>
          </a:xfrm>
          <a:prstGeom prst="ellipse">
            <a:avLst/>
          </a:prstGeom>
          <a:solidFill>
            <a:srgbClr val="00A896"/>
          </a:solidFill>
          <a:ln w="9525">
            <a:solidFill>
              <a:srgbClr val="FFFFFF"/>
            </a:solidFill>
            <a:prstDash val="solid"/>
          </a:ln>
        </p:spPr>
      </p:sp>
      <p:sp>
        <p:nvSpPr>
          <p:cNvPr id="10" name="Shape 7"/>
          <p:cNvSpPr/>
          <p:nvPr/>
        </p:nvSpPr>
        <p:spPr>
          <a:xfrm>
            <a:off x="548640" y="3766158"/>
            <a:ext cx="274320" cy="274320"/>
          </a:xfrm>
          <a:prstGeom prst="ellipse">
            <a:avLst/>
          </a:prstGeom>
          <a:solidFill>
            <a:srgbClr val="00A896"/>
          </a:solidFill>
          <a:ln w="15875">
            <a:solidFill>
              <a:srgbClr val="FFFFFF"/>
            </a:solidFill>
            <a:prstDash val="solid"/>
          </a:ln>
        </p:spPr>
      </p:sp>
      <p:sp>
        <p:nvSpPr>
          <p:cNvPr id="11" name="Text 8"/>
          <p:cNvSpPr txBox="1"/>
          <p:nvPr/>
        </p:nvSpPr>
        <p:spPr>
          <a:xfrm>
            <a:off x="548640" y="376615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2" name="Shape 9"/>
          <p:cNvSpPr/>
          <p:nvPr/>
        </p:nvSpPr>
        <p:spPr>
          <a:xfrm>
            <a:off x="822960" y="4929526"/>
            <a:ext cx="356226" cy="914"/>
          </a:xfrm>
          <a:prstGeom prst="line">
            <a:avLst/>
          </a:prstGeom>
          <a:noFill/>
          <a:ln w="15875">
            <a:solidFill>
              <a:srgbClr val="00A896"/>
            </a:solidFill>
            <a:prstDash val="solid"/>
          </a:ln>
        </p:spPr>
      </p:sp>
      <p:sp>
        <p:nvSpPr>
          <p:cNvPr id="13" name="Shape 10"/>
          <p:cNvSpPr/>
          <p:nvPr/>
        </p:nvSpPr>
        <p:spPr>
          <a:xfrm>
            <a:off x="1138038" y="4888378"/>
            <a:ext cx="82296" cy="82296"/>
          </a:xfrm>
          <a:prstGeom prst="ellipse">
            <a:avLst/>
          </a:prstGeom>
          <a:solidFill>
            <a:srgbClr val="00A896"/>
          </a:solidFill>
          <a:ln w="9525">
            <a:solidFill>
              <a:srgbClr val="FFFFFF"/>
            </a:solidFill>
            <a:prstDash val="solid"/>
          </a:ln>
        </p:spPr>
      </p:sp>
      <p:sp>
        <p:nvSpPr>
          <p:cNvPr id="14" name="Shape 11"/>
          <p:cNvSpPr/>
          <p:nvPr/>
        </p:nvSpPr>
        <p:spPr>
          <a:xfrm>
            <a:off x="548640" y="4792366"/>
            <a:ext cx="274320" cy="274320"/>
          </a:xfrm>
          <a:prstGeom prst="ellipse">
            <a:avLst/>
          </a:prstGeom>
          <a:solidFill>
            <a:srgbClr val="00A896"/>
          </a:solidFill>
          <a:ln w="15875">
            <a:solidFill>
              <a:srgbClr val="FFFFFF"/>
            </a:solidFill>
            <a:prstDash val="solid"/>
          </a:ln>
        </p:spPr>
      </p:sp>
      <p:sp>
        <p:nvSpPr>
          <p:cNvPr id="15" name="Text 12"/>
          <p:cNvSpPr txBox="1"/>
          <p:nvPr/>
        </p:nvSpPr>
        <p:spPr>
          <a:xfrm>
            <a:off x="548640" y="479236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6" name="Shape 13"/>
          <p:cNvSpPr/>
          <p:nvPr/>
        </p:nvSpPr>
        <p:spPr>
          <a:xfrm>
            <a:off x="4434840" y="457200"/>
            <a:ext cx="384048" cy="384048"/>
          </a:xfrm>
          <a:prstGeom prst="ellipse">
            <a:avLst/>
          </a:prstGeom>
          <a:solidFill>
            <a:srgbClr val="00A896"/>
          </a:solidFill>
          <a:ln w="6350">
            <a:solidFill>
              <a:srgbClr val="00A896"/>
            </a:solidFill>
            <a:prstDash val="solid"/>
          </a:ln>
        </p:spPr>
      </p:sp>
      <p:sp>
        <p:nvSpPr>
          <p:cNvPr id="17" name="Text 14"/>
          <p:cNvSpPr txBox="1"/>
          <p:nvPr/>
        </p:nvSpPr>
        <p:spPr>
          <a:xfrm>
            <a:off x="4434840" y="457200"/>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SK</a:t>
            </a:r>
            <a:endParaRPr lang="en-US" sz="1100" dirty="0"/>
          </a:p>
        </p:txBody>
      </p:sp>
      <p:sp>
        <p:nvSpPr>
          <p:cNvPr id="18" name="Text 15"/>
          <p:cNvSpPr txBox="1"/>
          <p:nvPr/>
        </p:nvSpPr>
        <p:spPr>
          <a:xfrm>
            <a:off x="4937760" y="457200"/>
            <a:ext cx="3291840" cy="384048"/>
          </a:xfrm>
          <a:prstGeom prst="rect">
            <a:avLst/>
          </a:prstGeom>
          <a:noFill/>
          <a:ln/>
        </p:spPr>
        <p:txBody>
          <a:bodyPr wrap="square" lIns="0" tIns="0" rIns="0" bIns="0" rtlCol="0" anchor="ctr"/>
          <a:lstStyle/>
          <a:p>
            <a:pPr indent="0" marL="0">
              <a:buNone/>
            </a:pPr>
            <a:r>
              <a:rPr lang="en-US" sz="1300" b="1" dirty="0">
                <a:solidFill>
                  <a:srgbClr val="00A896"/>
                </a:solidFill>
                <a:latin typeface="Calibri" pitchFamily="34" charset="0"/>
                <a:ea typeface="Calibri" pitchFamily="34" charset="-122"/>
                <a:cs typeface="Calibri" pitchFamily="34" charset="-120"/>
              </a:rPr>
              <a:t>Driver  </a:t>
            </a:r>
            <a:pPr indent="0" marL="0">
              <a:buNone/>
            </a:pPr>
            <a:r>
              <a:rPr lang="en-US" sz="1300" b="1" dirty="0">
                <a:solidFill>
                  <a:srgbClr val="16202B"/>
                </a:solidFill>
                <a:latin typeface="Calibri" pitchFamily="34" charset="0"/>
                <a:ea typeface="Calibri" pitchFamily="34" charset="-122"/>
                <a:cs typeface="Calibri" pitchFamily="34" charset="-120"/>
              </a:rPr>
              <a:t>S. Kumar</a:t>
            </a:r>
            <a:endParaRPr lang="en-US" sz="1300" dirty="0"/>
          </a:p>
        </p:txBody>
      </p:sp>
      <p:sp>
        <p:nvSpPr>
          <p:cNvPr id="19" name="Shape 16"/>
          <p:cNvSpPr/>
          <p:nvPr/>
        </p:nvSpPr>
        <p:spPr>
          <a:xfrm>
            <a:off x="9146743" y="585216"/>
            <a:ext cx="118872" cy="118872"/>
          </a:xfrm>
          <a:prstGeom prst="ellipse">
            <a:avLst/>
          </a:prstGeom>
          <a:solidFill>
            <a:srgbClr val="DDF5F1"/>
          </a:solidFill>
          <a:ln w="9525">
            <a:solidFill>
              <a:srgbClr val="00A896"/>
            </a:solidFill>
            <a:prstDash val="solid"/>
          </a:ln>
        </p:spPr>
      </p:sp>
      <p:sp>
        <p:nvSpPr>
          <p:cNvPr id="20" name="Shape 17"/>
          <p:cNvSpPr/>
          <p:nvPr/>
        </p:nvSpPr>
        <p:spPr>
          <a:xfrm>
            <a:off x="9329623" y="585216"/>
            <a:ext cx="118872" cy="118872"/>
          </a:xfrm>
          <a:prstGeom prst="ellipse">
            <a:avLst/>
          </a:prstGeom>
          <a:solidFill>
            <a:srgbClr val="DDF5F1"/>
          </a:solidFill>
          <a:ln w="9525">
            <a:solidFill>
              <a:srgbClr val="00A896"/>
            </a:solidFill>
            <a:prstDash val="solid"/>
          </a:ln>
        </p:spPr>
      </p:sp>
      <p:sp>
        <p:nvSpPr>
          <p:cNvPr id="21" name="Shape 18"/>
          <p:cNvSpPr/>
          <p:nvPr/>
        </p:nvSpPr>
        <p:spPr>
          <a:xfrm>
            <a:off x="9512503" y="585216"/>
            <a:ext cx="118872" cy="118872"/>
          </a:xfrm>
          <a:prstGeom prst="ellipse">
            <a:avLst/>
          </a:prstGeom>
          <a:solidFill>
            <a:srgbClr val="DDF5F1"/>
          </a:solidFill>
          <a:ln w="9525">
            <a:solidFill>
              <a:srgbClr val="00A896"/>
            </a:solidFill>
            <a:prstDash val="solid"/>
          </a:ln>
        </p:spPr>
      </p:sp>
      <p:sp>
        <p:nvSpPr>
          <p:cNvPr id="22" name="Shape 19"/>
          <p:cNvSpPr/>
          <p:nvPr/>
        </p:nvSpPr>
        <p:spPr>
          <a:xfrm>
            <a:off x="9695383" y="585216"/>
            <a:ext cx="118872" cy="118872"/>
          </a:xfrm>
          <a:prstGeom prst="ellipse">
            <a:avLst/>
          </a:prstGeom>
          <a:solidFill>
            <a:srgbClr val="DDF5F1"/>
          </a:solidFill>
          <a:ln w="9525">
            <a:solidFill>
              <a:srgbClr val="00A896"/>
            </a:solidFill>
            <a:prstDash val="solid"/>
          </a:ln>
        </p:spPr>
      </p:sp>
      <p:sp>
        <p:nvSpPr>
          <p:cNvPr id="23" name="Shape 20"/>
          <p:cNvSpPr/>
          <p:nvPr/>
        </p:nvSpPr>
        <p:spPr>
          <a:xfrm>
            <a:off x="9878263" y="585216"/>
            <a:ext cx="118872" cy="118872"/>
          </a:xfrm>
          <a:prstGeom prst="ellipse">
            <a:avLst/>
          </a:prstGeom>
          <a:solidFill>
            <a:srgbClr val="DDF5F1"/>
          </a:solidFill>
          <a:ln w="9525">
            <a:solidFill>
              <a:srgbClr val="00A896"/>
            </a:solidFill>
            <a:prstDash val="solid"/>
          </a:ln>
        </p:spPr>
      </p:sp>
      <p:sp>
        <p:nvSpPr>
          <p:cNvPr id="24" name="Shape 21"/>
          <p:cNvSpPr/>
          <p:nvPr/>
        </p:nvSpPr>
        <p:spPr>
          <a:xfrm>
            <a:off x="10061143" y="585216"/>
            <a:ext cx="118872" cy="118872"/>
          </a:xfrm>
          <a:prstGeom prst="ellipse">
            <a:avLst/>
          </a:prstGeom>
          <a:solidFill>
            <a:srgbClr val="DDF5F1"/>
          </a:solidFill>
          <a:ln w="9525">
            <a:solidFill>
              <a:srgbClr val="00A896"/>
            </a:solidFill>
            <a:prstDash val="solid"/>
          </a:ln>
        </p:spPr>
      </p:sp>
      <p:sp>
        <p:nvSpPr>
          <p:cNvPr id="25" name="Shape 22"/>
          <p:cNvSpPr/>
          <p:nvPr/>
        </p:nvSpPr>
        <p:spPr>
          <a:xfrm>
            <a:off x="10244023" y="585216"/>
            <a:ext cx="118872" cy="118872"/>
          </a:xfrm>
          <a:prstGeom prst="ellipse">
            <a:avLst/>
          </a:prstGeom>
          <a:solidFill>
            <a:srgbClr val="DDF5F1"/>
          </a:solidFill>
          <a:ln w="9525">
            <a:solidFill>
              <a:srgbClr val="00A896"/>
            </a:solidFill>
            <a:prstDash val="solid"/>
          </a:ln>
        </p:spPr>
      </p:sp>
      <p:sp>
        <p:nvSpPr>
          <p:cNvPr id="26" name="Shape 23"/>
          <p:cNvSpPr/>
          <p:nvPr/>
        </p:nvSpPr>
        <p:spPr>
          <a:xfrm>
            <a:off x="10426903" y="585216"/>
            <a:ext cx="118872" cy="118872"/>
          </a:xfrm>
          <a:prstGeom prst="ellipse">
            <a:avLst/>
          </a:prstGeom>
          <a:solidFill>
            <a:srgbClr val="DDF5F1"/>
          </a:solidFill>
          <a:ln w="9525">
            <a:solidFill>
              <a:srgbClr val="00A896"/>
            </a:solidFill>
            <a:prstDash val="solid"/>
          </a:ln>
        </p:spPr>
      </p:sp>
      <p:sp>
        <p:nvSpPr>
          <p:cNvPr id="27" name="Shape 24"/>
          <p:cNvSpPr/>
          <p:nvPr/>
        </p:nvSpPr>
        <p:spPr>
          <a:xfrm>
            <a:off x="10609783" y="585216"/>
            <a:ext cx="118872" cy="118872"/>
          </a:xfrm>
          <a:prstGeom prst="ellipse">
            <a:avLst/>
          </a:prstGeom>
          <a:solidFill>
            <a:srgbClr val="DDF5F1"/>
          </a:solidFill>
          <a:ln w="9525">
            <a:solidFill>
              <a:srgbClr val="00A896"/>
            </a:solidFill>
            <a:prstDash val="solid"/>
          </a:ln>
        </p:spPr>
      </p:sp>
      <p:sp>
        <p:nvSpPr>
          <p:cNvPr id="28" name="Shape 25"/>
          <p:cNvSpPr/>
          <p:nvPr/>
        </p:nvSpPr>
        <p:spPr>
          <a:xfrm>
            <a:off x="10792663" y="585216"/>
            <a:ext cx="118872" cy="118872"/>
          </a:xfrm>
          <a:prstGeom prst="ellipse">
            <a:avLst/>
          </a:prstGeom>
          <a:solidFill>
            <a:srgbClr val="DDF5F1"/>
          </a:solidFill>
          <a:ln w="9525">
            <a:solidFill>
              <a:srgbClr val="00A896"/>
            </a:solidFill>
            <a:prstDash val="solid"/>
          </a:ln>
        </p:spPr>
      </p:sp>
      <p:sp>
        <p:nvSpPr>
          <p:cNvPr id="29" name="Shape 26"/>
          <p:cNvSpPr/>
          <p:nvPr/>
        </p:nvSpPr>
        <p:spPr>
          <a:xfrm>
            <a:off x="10975543" y="585216"/>
            <a:ext cx="118872" cy="118872"/>
          </a:xfrm>
          <a:prstGeom prst="ellipse">
            <a:avLst/>
          </a:prstGeom>
          <a:solidFill>
            <a:srgbClr val="DDF5F1"/>
          </a:solidFill>
          <a:ln w="9525">
            <a:solidFill>
              <a:srgbClr val="00A896"/>
            </a:solidFill>
            <a:prstDash val="solid"/>
          </a:ln>
        </p:spPr>
      </p:sp>
      <p:sp>
        <p:nvSpPr>
          <p:cNvPr id="30" name="Shape 27"/>
          <p:cNvSpPr/>
          <p:nvPr/>
        </p:nvSpPr>
        <p:spPr>
          <a:xfrm>
            <a:off x="11158423" y="585216"/>
            <a:ext cx="118872" cy="118872"/>
          </a:xfrm>
          <a:prstGeom prst="ellipse">
            <a:avLst/>
          </a:prstGeom>
          <a:solidFill>
            <a:srgbClr val="DDF5F1"/>
          </a:solidFill>
          <a:ln w="9525">
            <a:solidFill>
              <a:srgbClr val="00A896"/>
            </a:solidFill>
            <a:prstDash val="solid"/>
          </a:ln>
        </p:spPr>
      </p:sp>
      <p:sp>
        <p:nvSpPr>
          <p:cNvPr id="31" name="Shape 28"/>
          <p:cNvSpPr/>
          <p:nvPr/>
        </p:nvSpPr>
        <p:spPr>
          <a:xfrm>
            <a:off x="11313871" y="557784"/>
            <a:ext cx="173736" cy="173736"/>
          </a:xfrm>
          <a:prstGeom prst="ellipse">
            <a:avLst/>
          </a:prstGeom>
          <a:solidFill>
            <a:srgbClr val="00A896"/>
          </a:solidFill>
          <a:ln w="9525">
            <a:solidFill>
              <a:srgbClr val="00A896"/>
            </a:solidFill>
            <a:prstDash val="solid"/>
          </a:ln>
        </p:spPr>
      </p:sp>
      <p:sp>
        <p:nvSpPr>
          <p:cNvPr id="32" name="Shape 29"/>
          <p:cNvSpPr/>
          <p:nvPr/>
        </p:nvSpPr>
        <p:spPr>
          <a:xfrm>
            <a:off x="11524183" y="585216"/>
            <a:ext cx="118872" cy="118872"/>
          </a:xfrm>
          <a:prstGeom prst="ellipse">
            <a:avLst/>
          </a:prstGeom>
          <a:solidFill>
            <a:srgbClr val="F3F6F9"/>
          </a:solidFill>
          <a:ln w="9525">
            <a:solidFill>
              <a:srgbClr val="DCE4EC"/>
            </a:solidFill>
            <a:prstDash val="solid"/>
          </a:ln>
        </p:spPr>
      </p:sp>
      <p:sp>
        <p:nvSpPr>
          <p:cNvPr id="33" name="Text 30"/>
          <p:cNvSpPr txBox="1"/>
          <p:nvPr/>
        </p:nvSpPr>
        <p:spPr>
          <a:xfrm>
            <a:off x="9146743" y="768096"/>
            <a:ext cx="2496312" cy="201168"/>
          </a:xfrm>
          <a:prstGeom prst="rect">
            <a:avLst/>
          </a:prstGeom>
          <a:noFill/>
          <a:ln/>
        </p:spPr>
        <p:txBody>
          <a:bodyPr wrap="square" lIns="0" tIns="0" rIns="0" bIns="0" rtlCol="0" anchor="ctr"/>
          <a:lstStyle/>
          <a:p>
            <a:pPr algn="r" indent="0" marL="0">
              <a:buNone/>
            </a:pPr>
            <a:r>
              <a:rPr lang="en-US" sz="950" dirty="0">
                <a:solidFill>
                  <a:srgbClr val="5E6D7D"/>
                </a:solidFill>
                <a:latin typeface="Calibri" pitchFamily="34" charset="0"/>
                <a:ea typeface="Calibri" pitchFamily="34" charset="-122"/>
                <a:cs typeface="Calibri" pitchFamily="34" charset="-120"/>
              </a:rPr>
              <a:t>Screen 13 of 14</a:t>
            </a:r>
            <a:endParaRPr lang="en-US" sz="950" dirty="0"/>
          </a:p>
        </p:txBody>
      </p:sp>
      <p:sp>
        <p:nvSpPr>
          <p:cNvPr id="34" name="Text 31"/>
          <p:cNvSpPr txBox="1"/>
          <p:nvPr/>
        </p:nvSpPr>
        <p:spPr>
          <a:xfrm>
            <a:off x="4434840" y="1170432"/>
            <a:ext cx="7208215" cy="237744"/>
          </a:xfrm>
          <a:prstGeom prst="rect">
            <a:avLst/>
          </a:prstGeom>
          <a:noFill/>
          <a:ln/>
        </p:spPr>
        <p:txBody>
          <a:bodyPr wrap="square" lIns="0" tIns="0" rIns="0" bIns="0" rtlCol="0" anchor="ctr"/>
          <a:lstStyle/>
          <a:p>
            <a:pPr indent="0" marL="0">
              <a:buNone/>
            </a:pPr>
            <a:r>
              <a:rPr lang="en-US" sz="1100" b="1" spc="200" kern="0" dirty="0">
                <a:solidFill>
                  <a:srgbClr val="00A896"/>
                </a:solidFill>
                <a:latin typeface="Calibri" pitchFamily="34" charset="0"/>
                <a:ea typeface="Calibri" pitchFamily="34" charset="-122"/>
                <a:cs typeface="Calibri" pitchFamily="34" charset="-120"/>
              </a:rPr>
              <a:t>CLOSE DUTY</a:t>
            </a:r>
            <a:endParaRPr lang="en-US" sz="1100" dirty="0"/>
          </a:p>
        </p:txBody>
      </p:sp>
      <p:sp>
        <p:nvSpPr>
          <p:cNvPr id="35" name="Text 32"/>
          <p:cNvSpPr txBox="1"/>
          <p:nvPr/>
        </p:nvSpPr>
        <p:spPr>
          <a:xfrm>
            <a:off x="4434840" y="1463040"/>
            <a:ext cx="7208215" cy="457200"/>
          </a:xfrm>
          <a:prstGeom prst="rect">
            <a:avLst/>
          </a:prstGeom>
          <a:noFill/>
          <a:ln/>
        </p:spPr>
        <p:txBody>
          <a:bodyPr wrap="square" lIns="0" tIns="0" rIns="0" bIns="0" rtlCol="0" anchor="t"/>
          <a:lstStyle/>
          <a:p>
            <a:pPr indent="0" marL="0">
              <a:buNone/>
            </a:pPr>
            <a:r>
              <a:rPr lang="en-US" sz="3000" b="1" dirty="0">
                <a:solidFill>
                  <a:srgbClr val="16202B"/>
                </a:solidFill>
                <a:latin typeface="Calibri" pitchFamily="34" charset="0"/>
                <a:ea typeface="Calibri" pitchFamily="34" charset="-122"/>
                <a:cs typeface="Calibri" pitchFamily="34" charset="-120"/>
              </a:rPr>
              <a:t>End of shift: close duty</a:t>
            </a:r>
            <a:endParaRPr lang="en-US" sz="3000" dirty="0"/>
          </a:p>
        </p:txBody>
      </p:sp>
      <p:sp>
        <p:nvSpPr>
          <p:cNvPr id="36" name="Text 33"/>
          <p:cNvSpPr txBox="1"/>
          <p:nvPr/>
        </p:nvSpPr>
        <p:spPr>
          <a:xfrm>
            <a:off x="4434840" y="2048256"/>
            <a:ext cx="7208215" cy="237744"/>
          </a:xfrm>
          <a:prstGeom prst="rect">
            <a:avLst/>
          </a:prstGeom>
          <a:noFill/>
          <a:ln/>
        </p:spPr>
        <p:txBody>
          <a:bodyPr wrap="square" lIns="0" tIns="0" rIns="0" bIns="0" rtlCol="0" anchor="t"/>
          <a:lstStyle/>
          <a:p>
            <a:pPr indent="0" marL="0">
              <a:buNone/>
            </a:pPr>
            <a:r>
              <a:rPr lang="en-US" sz="1500" dirty="0">
                <a:solidFill>
                  <a:srgbClr val="34465A"/>
                </a:solidFill>
                <a:latin typeface="Calibri" pitchFamily="34" charset="0"/>
                <a:ea typeface="Calibri" pitchFamily="34" charset="-122"/>
                <a:cs typeface="Calibri" pitchFamily="34" charset="-120"/>
              </a:rPr>
              <a:t>S. Kumar enters the closing odometer and the fuel drawn.</a:t>
            </a:r>
            <a:endParaRPr lang="en-US" sz="1500" dirty="0"/>
          </a:p>
        </p:txBody>
      </p:sp>
      <p:sp>
        <p:nvSpPr>
          <p:cNvPr id="37" name="Shape 34"/>
          <p:cNvSpPr/>
          <p:nvPr/>
        </p:nvSpPr>
        <p:spPr>
          <a:xfrm>
            <a:off x="4434840" y="2560320"/>
            <a:ext cx="7208215" cy="649224"/>
          </a:xfrm>
          <a:prstGeom prst="roundRect">
            <a:avLst>
              <a:gd name="adj" fmla="val 11268"/>
            </a:avLst>
          </a:prstGeom>
          <a:solidFill>
            <a:srgbClr val="F3F6F9"/>
          </a:solidFill>
          <a:ln w="6350">
            <a:solidFill>
              <a:srgbClr val="F3F6F9"/>
            </a:solidFill>
            <a:prstDash val="solid"/>
          </a:ln>
        </p:spPr>
      </p:sp>
      <p:sp>
        <p:nvSpPr>
          <p:cNvPr id="38" name="Shape 35"/>
          <p:cNvSpPr/>
          <p:nvPr/>
        </p:nvSpPr>
        <p:spPr>
          <a:xfrm>
            <a:off x="4599432" y="2679192"/>
            <a:ext cx="292608" cy="292608"/>
          </a:xfrm>
          <a:prstGeom prst="ellipse">
            <a:avLst/>
          </a:prstGeom>
          <a:solidFill>
            <a:srgbClr val="00A896"/>
          </a:solidFill>
          <a:ln w="15875">
            <a:solidFill>
              <a:srgbClr val="FFFFFF"/>
            </a:solidFill>
            <a:prstDash val="solid"/>
          </a:ln>
        </p:spPr>
      </p:sp>
      <p:sp>
        <p:nvSpPr>
          <p:cNvPr id="39" name="Text 36"/>
          <p:cNvSpPr txBox="1"/>
          <p:nvPr/>
        </p:nvSpPr>
        <p:spPr>
          <a:xfrm>
            <a:off x="4599432" y="2679192"/>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40" name="Text 37"/>
          <p:cNvSpPr txBox="1"/>
          <p:nvPr/>
        </p:nvSpPr>
        <p:spPr>
          <a:xfrm>
            <a:off x="5029200" y="2670048"/>
            <a:ext cx="6430975" cy="274320"/>
          </a:xfrm>
          <a:prstGeom prst="rect">
            <a:avLst/>
          </a:prstGeom>
          <a:noFill/>
          <a:ln/>
        </p:spPr>
        <p:txBody>
          <a:bodyPr wrap="square" lIns="0" tIns="0" rIns="0" bIns="0" rtlCol="0" anchor="ctr"/>
          <a:lstStyle/>
          <a:p>
            <a:pPr indent="0" marL="0">
              <a:buNone/>
            </a:pPr>
            <a:r>
              <a:rPr lang="en-US" sz="1400" b="1" dirty="0">
                <a:solidFill>
                  <a:srgbClr val="16202B"/>
                </a:solidFill>
                <a:latin typeface="Calibri" pitchFamily="34" charset="0"/>
                <a:ea typeface="Calibri" pitchFamily="34" charset="-122"/>
                <a:cs typeface="Calibri" pitchFamily="34" charset="-120"/>
              </a:rPr>
              <a:t>Current duty</a:t>
            </a:r>
            <a:endParaRPr lang="en-US" sz="1400" dirty="0"/>
          </a:p>
        </p:txBody>
      </p:sp>
      <p:sp>
        <p:nvSpPr>
          <p:cNvPr id="41" name="Text 38"/>
          <p:cNvSpPr txBox="1"/>
          <p:nvPr/>
        </p:nvSpPr>
        <p:spPr>
          <a:xfrm>
            <a:off x="5029200" y="2944368"/>
            <a:ext cx="6430975" cy="192024"/>
          </a:xfrm>
          <a:prstGeom prst="rect">
            <a:avLst/>
          </a:prstGeom>
          <a:noFill/>
          <a:ln/>
        </p:spPr>
        <p:txBody>
          <a:bodyPr wrap="square" lIns="0" tIns="0" rIns="0" bIns="0" rtlCol="0" anchor="t"/>
          <a:lstStyle/>
          <a:p>
            <a:pPr indent="0" marL="0">
              <a:buNone/>
            </a:pPr>
            <a:r>
              <a:rPr lang="en-US" sz="1200" dirty="0">
                <a:solidFill>
                  <a:srgbClr val="34465A"/>
                </a:solidFill>
                <a:latin typeface="Calibri" pitchFamily="34" charset="0"/>
                <a:ea typeface="Calibri" pitchFamily="34" charset="-122"/>
                <a:cs typeface="Calibri" pitchFamily="34" charset="-120"/>
              </a:rPr>
              <a:t>Vehicle, start time, trips, riders, distance, opening odometer.</a:t>
            </a:r>
            <a:endParaRPr lang="en-US" sz="1200" dirty="0"/>
          </a:p>
        </p:txBody>
      </p:sp>
      <p:sp>
        <p:nvSpPr>
          <p:cNvPr id="42" name="Shape 39"/>
          <p:cNvSpPr/>
          <p:nvPr/>
        </p:nvSpPr>
        <p:spPr>
          <a:xfrm>
            <a:off x="4434840" y="3319272"/>
            <a:ext cx="7208215" cy="649224"/>
          </a:xfrm>
          <a:prstGeom prst="roundRect">
            <a:avLst>
              <a:gd name="adj" fmla="val 11268"/>
            </a:avLst>
          </a:prstGeom>
          <a:solidFill>
            <a:srgbClr val="F3F6F9"/>
          </a:solidFill>
          <a:ln w="6350">
            <a:solidFill>
              <a:srgbClr val="F3F6F9"/>
            </a:solidFill>
            <a:prstDash val="solid"/>
          </a:ln>
        </p:spPr>
      </p:sp>
      <p:sp>
        <p:nvSpPr>
          <p:cNvPr id="43" name="Shape 40"/>
          <p:cNvSpPr/>
          <p:nvPr/>
        </p:nvSpPr>
        <p:spPr>
          <a:xfrm>
            <a:off x="4599432" y="3438144"/>
            <a:ext cx="292608" cy="292608"/>
          </a:xfrm>
          <a:prstGeom prst="ellipse">
            <a:avLst/>
          </a:prstGeom>
          <a:solidFill>
            <a:srgbClr val="00A896"/>
          </a:solidFill>
          <a:ln w="15875">
            <a:solidFill>
              <a:srgbClr val="FFFFFF"/>
            </a:solidFill>
            <a:prstDash val="solid"/>
          </a:ln>
        </p:spPr>
      </p:sp>
      <p:sp>
        <p:nvSpPr>
          <p:cNvPr id="44" name="Text 41"/>
          <p:cNvSpPr txBox="1"/>
          <p:nvPr/>
        </p:nvSpPr>
        <p:spPr>
          <a:xfrm>
            <a:off x="4599432" y="3438144"/>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45" name="Text 42"/>
          <p:cNvSpPr txBox="1"/>
          <p:nvPr/>
        </p:nvSpPr>
        <p:spPr>
          <a:xfrm>
            <a:off x="5029200" y="3429000"/>
            <a:ext cx="6430975" cy="274320"/>
          </a:xfrm>
          <a:prstGeom prst="rect">
            <a:avLst/>
          </a:prstGeom>
          <a:noFill/>
          <a:ln/>
        </p:spPr>
        <p:txBody>
          <a:bodyPr wrap="square" lIns="0" tIns="0" rIns="0" bIns="0" rtlCol="0" anchor="ctr"/>
          <a:lstStyle/>
          <a:p>
            <a:pPr indent="0" marL="0">
              <a:buNone/>
            </a:pPr>
            <a:r>
              <a:rPr lang="en-US" sz="1400" b="1" dirty="0">
                <a:solidFill>
                  <a:srgbClr val="16202B"/>
                </a:solidFill>
                <a:latin typeface="Calibri" pitchFamily="34" charset="0"/>
                <a:ea typeface="Calibri" pitchFamily="34" charset="-122"/>
                <a:cs typeface="Calibri" pitchFamily="34" charset="-120"/>
              </a:rPr>
              <a:t>Closing odometer 41,214 km</a:t>
            </a:r>
            <a:endParaRPr lang="en-US" sz="1400" dirty="0"/>
          </a:p>
        </p:txBody>
      </p:sp>
      <p:sp>
        <p:nvSpPr>
          <p:cNvPr id="46" name="Text 43"/>
          <p:cNvSpPr txBox="1"/>
          <p:nvPr/>
        </p:nvSpPr>
        <p:spPr>
          <a:xfrm>
            <a:off x="5029200" y="3703320"/>
            <a:ext cx="6430975" cy="192024"/>
          </a:xfrm>
          <a:prstGeom prst="rect">
            <a:avLst/>
          </a:prstGeom>
          <a:noFill/>
          <a:ln/>
        </p:spPr>
        <p:txBody>
          <a:bodyPr wrap="square" lIns="0" tIns="0" rIns="0" bIns="0" rtlCol="0" anchor="t"/>
          <a:lstStyle/>
          <a:p>
            <a:pPr indent="0" marL="0">
              <a:buNone/>
            </a:pPr>
            <a:r>
              <a:rPr lang="en-US" sz="1200" dirty="0">
                <a:solidFill>
                  <a:srgbClr val="34465A"/>
                </a:solidFill>
                <a:latin typeface="Calibri" pitchFamily="34" charset="0"/>
                <a:ea typeface="Calibri" pitchFamily="34" charset="-122"/>
                <a:cs typeface="Calibri" pitchFamily="34" charset="-120"/>
              </a:rPr>
              <a:t>Must not be below the opening reading.</a:t>
            </a:r>
            <a:endParaRPr lang="en-US" sz="1200" dirty="0"/>
          </a:p>
        </p:txBody>
      </p:sp>
      <p:sp>
        <p:nvSpPr>
          <p:cNvPr id="47" name="Shape 44"/>
          <p:cNvSpPr/>
          <p:nvPr/>
        </p:nvSpPr>
        <p:spPr>
          <a:xfrm>
            <a:off x="4434840" y="4078224"/>
            <a:ext cx="7208215" cy="649224"/>
          </a:xfrm>
          <a:prstGeom prst="roundRect">
            <a:avLst>
              <a:gd name="adj" fmla="val 11268"/>
            </a:avLst>
          </a:prstGeom>
          <a:solidFill>
            <a:srgbClr val="F3F6F9"/>
          </a:solidFill>
          <a:ln w="6350">
            <a:solidFill>
              <a:srgbClr val="F3F6F9"/>
            </a:solidFill>
            <a:prstDash val="solid"/>
          </a:ln>
        </p:spPr>
      </p:sp>
      <p:sp>
        <p:nvSpPr>
          <p:cNvPr id="48" name="Shape 45"/>
          <p:cNvSpPr/>
          <p:nvPr/>
        </p:nvSpPr>
        <p:spPr>
          <a:xfrm>
            <a:off x="4599432" y="4197096"/>
            <a:ext cx="292608" cy="292608"/>
          </a:xfrm>
          <a:prstGeom prst="ellipse">
            <a:avLst/>
          </a:prstGeom>
          <a:solidFill>
            <a:srgbClr val="00A896"/>
          </a:solidFill>
          <a:ln w="15875">
            <a:solidFill>
              <a:srgbClr val="FFFFFF"/>
            </a:solidFill>
            <a:prstDash val="solid"/>
          </a:ln>
        </p:spPr>
      </p:sp>
      <p:sp>
        <p:nvSpPr>
          <p:cNvPr id="49" name="Text 46"/>
          <p:cNvSpPr txBox="1"/>
          <p:nvPr/>
        </p:nvSpPr>
        <p:spPr>
          <a:xfrm>
            <a:off x="4599432" y="4197096"/>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50" name="Text 47"/>
          <p:cNvSpPr txBox="1"/>
          <p:nvPr/>
        </p:nvSpPr>
        <p:spPr>
          <a:xfrm>
            <a:off x="5029200" y="4187952"/>
            <a:ext cx="6430975" cy="274320"/>
          </a:xfrm>
          <a:prstGeom prst="rect">
            <a:avLst/>
          </a:prstGeom>
          <a:noFill/>
          <a:ln/>
        </p:spPr>
        <p:txBody>
          <a:bodyPr wrap="square" lIns="0" tIns="0" rIns="0" bIns="0" rtlCol="0" anchor="ctr"/>
          <a:lstStyle/>
          <a:p>
            <a:pPr indent="0" marL="0">
              <a:buNone/>
            </a:pPr>
            <a:r>
              <a:rPr lang="en-US" sz="1400" b="1" dirty="0">
                <a:solidFill>
                  <a:srgbClr val="16202B"/>
                </a:solidFill>
                <a:latin typeface="Calibri" pitchFamily="34" charset="0"/>
                <a:ea typeface="Calibri" pitchFamily="34" charset="-122"/>
                <a:cs typeface="Calibri" pitchFamily="34" charset="-120"/>
              </a:rPr>
              <a:t>Sign off duty</a:t>
            </a:r>
            <a:endParaRPr lang="en-US" sz="1400" dirty="0"/>
          </a:p>
        </p:txBody>
      </p:sp>
      <p:sp>
        <p:nvSpPr>
          <p:cNvPr id="51" name="Text 48"/>
          <p:cNvSpPr txBox="1"/>
          <p:nvPr/>
        </p:nvSpPr>
        <p:spPr>
          <a:xfrm>
            <a:off x="5029200" y="4462272"/>
            <a:ext cx="6430975" cy="192024"/>
          </a:xfrm>
          <a:prstGeom prst="rect">
            <a:avLst/>
          </a:prstGeom>
          <a:noFill/>
          <a:ln/>
        </p:spPr>
        <p:txBody>
          <a:bodyPr wrap="square" lIns="0" tIns="0" rIns="0" bIns="0" rtlCol="0" anchor="t"/>
          <a:lstStyle/>
          <a:p>
            <a:pPr indent="0" marL="0">
              <a:buNone/>
            </a:pPr>
            <a:r>
              <a:rPr lang="en-US" sz="1200" dirty="0">
                <a:solidFill>
                  <a:srgbClr val="34465A"/>
                </a:solidFill>
                <a:latin typeface="Calibri" pitchFamily="34" charset="0"/>
                <a:ea typeface="Calibri" pitchFamily="34" charset="-122"/>
                <a:cs typeface="Calibri" pitchFamily="34" charset="-120"/>
              </a:rPr>
              <a:t>Blocked while a rider is still on board.</a:t>
            </a:r>
            <a:endParaRPr lang="en-US" sz="1200" dirty="0"/>
          </a:p>
        </p:txBody>
      </p:sp>
      <p:sp>
        <p:nvSpPr>
          <p:cNvPr id="52" name="Text 49"/>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900" dirty="0">
                <a:solidFill>
                  <a:srgbClr val="5E6D7D"/>
                </a:solidFill>
                <a:latin typeface="Calibri" pitchFamily="34" charset="0"/>
                <a:ea typeface="Calibri" pitchFamily="34" charset="-122"/>
                <a:cs typeface="Calibri" pitchFamily="34" charset="-120"/>
              </a:rPr>
              <a:t>Plant Ride · Rider → Driver journey · recorded on the MVP with demo data</a:t>
            </a:r>
            <a:endParaRPr lang="en-US" sz="900" dirty="0"/>
          </a:p>
        </p:txBody>
      </p:sp>
      <p:sp>
        <p:nvSpPr>
          <p:cNvPr id="53" name="Text 50"/>
          <p:cNvSpPr txBox="1"/>
          <p:nvPr/>
        </p:nvSpPr>
        <p:spPr>
          <a:xfrm>
            <a:off x="11185855" y="6473952"/>
            <a:ext cx="457200" cy="228600"/>
          </a:xfrm>
          <a:prstGeom prst="rect">
            <a:avLst/>
          </a:prstGeom>
          <a:noFill/>
          <a:ln/>
        </p:spPr>
        <p:txBody>
          <a:bodyPr wrap="square" lIns="0" tIns="0" rIns="0" bIns="0" rtlCol="0" anchor="ctr"/>
          <a:lstStyle/>
          <a:p>
            <a:pPr algn="r" indent="0" marL="0">
              <a:buNone/>
            </a:pPr>
            <a:r>
              <a:rPr lang="en-US" sz="900" dirty="0">
                <a:solidFill>
                  <a:srgbClr val="5E6D7D"/>
                </a:solidFill>
                <a:latin typeface="Calibri" pitchFamily="34" charset="0"/>
                <a:ea typeface="Calibri" pitchFamily="34" charset="-122"/>
                <a:cs typeface="Calibri" pitchFamily="34" charset="-120"/>
              </a:rPr>
              <a:t>34</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50976" y="402336"/>
            <a:ext cx="2813925" cy="5961888"/>
          </a:xfrm>
          <a:prstGeom prst="roundRect">
            <a:avLst>
              <a:gd name="adj" fmla="val 5849"/>
            </a:avLst>
          </a:prstGeom>
          <a:solidFill>
            <a:srgbClr val="16202B"/>
          </a:solidFill>
          <a:ln w="9525">
            <a:solidFill>
              <a:srgbClr val="16202B"/>
            </a:solidFill>
            <a:prstDash val="solid"/>
          </a:ln>
          <a:effectLst>
            <a:outerShdw sx="100000" sy="100000" kx="0" ky="0" algn="bl" rotWithShape="0" blurRad="127000" dist="38100" dir="5400000">
              <a:srgbClr val="000000">
                <a:alpha val="20000"/>
              </a:srgbClr>
            </a:outerShdw>
          </a:effectLst>
        </p:spPr>
      </p:sp>
      <p:pic>
        <p:nvPicPr>
          <p:cNvPr id="3" name="Image 0" descr="Screenshot: d14-signed-off">    </p:cNvPr>
          <p:cNvPicPr>
            <a:picLocks noChangeAspect="1"/>
          </p:cNvPicPr>
          <p:nvPr/>
        </p:nvPicPr>
        <p:blipFill>
          <a:blip r:embed="rId1"/>
          <a:stretch>
            <a:fillRect/>
          </a:stretch>
        </p:blipFill>
        <p:spPr>
          <a:xfrm>
            <a:off x="1005840" y="457200"/>
            <a:ext cx="2704197" cy="5852160"/>
          </a:xfrm>
          <a:prstGeom prst="rect">
            <a:avLst/>
          </a:prstGeom>
        </p:spPr>
      </p:pic>
      <p:sp>
        <p:nvSpPr>
          <p:cNvPr id="4" name="Shape 1"/>
          <p:cNvSpPr/>
          <p:nvPr/>
        </p:nvSpPr>
        <p:spPr>
          <a:xfrm>
            <a:off x="822960" y="1261525"/>
            <a:ext cx="238351" cy="914"/>
          </a:xfrm>
          <a:prstGeom prst="line">
            <a:avLst/>
          </a:prstGeom>
          <a:noFill/>
          <a:ln w="15875">
            <a:solidFill>
              <a:srgbClr val="00A896"/>
            </a:solidFill>
            <a:prstDash val="solid"/>
          </a:ln>
        </p:spPr>
      </p:sp>
      <p:sp>
        <p:nvSpPr>
          <p:cNvPr id="5" name="Shape 2"/>
          <p:cNvSpPr/>
          <p:nvPr/>
        </p:nvSpPr>
        <p:spPr>
          <a:xfrm>
            <a:off x="1020163" y="1220377"/>
            <a:ext cx="82296" cy="82296"/>
          </a:xfrm>
          <a:prstGeom prst="ellipse">
            <a:avLst/>
          </a:prstGeom>
          <a:solidFill>
            <a:srgbClr val="00A896"/>
          </a:solidFill>
          <a:ln w="9525">
            <a:solidFill>
              <a:srgbClr val="FFFFFF"/>
            </a:solidFill>
            <a:prstDash val="solid"/>
          </a:ln>
        </p:spPr>
      </p:sp>
      <p:sp>
        <p:nvSpPr>
          <p:cNvPr id="6" name="Shape 3"/>
          <p:cNvSpPr/>
          <p:nvPr/>
        </p:nvSpPr>
        <p:spPr>
          <a:xfrm>
            <a:off x="548640" y="1124365"/>
            <a:ext cx="274320" cy="274320"/>
          </a:xfrm>
          <a:prstGeom prst="ellipse">
            <a:avLst/>
          </a:prstGeom>
          <a:solidFill>
            <a:srgbClr val="00A896"/>
          </a:solidFill>
          <a:ln w="15875">
            <a:solidFill>
              <a:srgbClr val="FFFFFF"/>
            </a:solidFill>
            <a:prstDash val="solid"/>
          </a:ln>
        </p:spPr>
      </p:sp>
      <p:sp>
        <p:nvSpPr>
          <p:cNvPr id="7" name="Text 4"/>
          <p:cNvSpPr txBox="1"/>
          <p:nvPr/>
        </p:nvSpPr>
        <p:spPr>
          <a:xfrm>
            <a:off x="548640" y="112436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8" name="Shape 5"/>
          <p:cNvSpPr/>
          <p:nvPr/>
        </p:nvSpPr>
        <p:spPr>
          <a:xfrm>
            <a:off x="822960" y="2232263"/>
            <a:ext cx="474101" cy="914"/>
          </a:xfrm>
          <a:prstGeom prst="line">
            <a:avLst/>
          </a:prstGeom>
          <a:noFill/>
          <a:ln w="15875">
            <a:solidFill>
              <a:srgbClr val="00A896"/>
            </a:solidFill>
            <a:prstDash val="solid"/>
          </a:ln>
        </p:spPr>
      </p:sp>
      <p:sp>
        <p:nvSpPr>
          <p:cNvPr id="9" name="Shape 6"/>
          <p:cNvSpPr/>
          <p:nvPr/>
        </p:nvSpPr>
        <p:spPr>
          <a:xfrm>
            <a:off x="1255913" y="2191115"/>
            <a:ext cx="82296" cy="82296"/>
          </a:xfrm>
          <a:prstGeom prst="ellipse">
            <a:avLst/>
          </a:prstGeom>
          <a:solidFill>
            <a:srgbClr val="00A896"/>
          </a:solidFill>
          <a:ln w="9525">
            <a:solidFill>
              <a:srgbClr val="FFFFFF"/>
            </a:solidFill>
            <a:prstDash val="solid"/>
          </a:ln>
        </p:spPr>
      </p:sp>
      <p:sp>
        <p:nvSpPr>
          <p:cNvPr id="10" name="Shape 7"/>
          <p:cNvSpPr/>
          <p:nvPr/>
        </p:nvSpPr>
        <p:spPr>
          <a:xfrm>
            <a:off x="548640" y="2095103"/>
            <a:ext cx="274320" cy="274320"/>
          </a:xfrm>
          <a:prstGeom prst="ellipse">
            <a:avLst/>
          </a:prstGeom>
          <a:solidFill>
            <a:srgbClr val="00A896"/>
          </a:solidFill>
          <a:ln w="15875">
            <a:solidFill>
              <a:srgbClr val="FFFFFF"/>
            </a:solidFill>
            <a:prstDash val="solid"/>
          </a:ln>
        </p:spPr>
      </p:sp>
      <p:sp>
        <p:nvSpPr>
          <p:cNvPr id="11" name="Text 8"/>
          <p:cNvSpPr txBox="1"/>
          <p:nvPr/>
        </p:nvSpPr>
        <p:spPr>
          <a:xfrm>
            <a:off x="548640" y="2095103"/>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2" name="Shape 9"/>
          <p:cNvSpPr/>
          <p:nvPr/>
        </p:nvSpPr>
        <p:spPr>
          <a:xfrm>
            <a:off x="822960" y="3417949"/>
            <a:ext cx="675183" cy="914"/>
          </a:xfrm>
          <a:prstGeom prst="line">
            <a:avLst/>
          </a:prstGeom>
          <a:noFill/>
          <a:ln w="15875">
            <a:solidFill>
              <a:srgbClr val="00A896"/>
            </a:solidFill>
            <a:prstDash val="solid"/>
          </a:ln>
        </p:spPr>
      </p:sp>
      <p:sp>
        <p:nvSpPr>
          <p:cNvPr id="13" name="Shape 10"/>
          <p:cNvSpPr/>
          <p:nvPr/>
        </p:nvSpPr>
        <p:spPr>
          <a:xfrm>
            <a:off x="1456995" y="3376801"/>
            <a:ext cx="82296" cy="82296"/>
          </a:xfrm>
          <a:prstGeom prst="ellipse">
            <a:avLst/>
          </a:prstGeom>
          <a:solidFill>
            <a:srgbClr val="00A896"/>
          </a:solidFill>
          <a:ln w="9525">
            <a:solidFill>
              <a:srgbClr val="FFFFFF"/>
            </a:solidFill>
            <a:prstDash val="solid"/>
          </a:ln>
        </p:spPr>
      </p:sp>
      <p:sp>
        <p:nvSpPr>
          <p:cNvPr id="14" name="Shape 11"/>
          <p:cNvSpPr/>
          <p:nvPr/>
        </p:nvSpPr>
        <p:spPr>
          <a:xfrm>
            <a:off x="548640" y="3280789"/>
            <a:ext cx="274320" cy="274320"/>
          </a:xfrm>
          <a:prstGeom prst="ellipse">
            <a:avLst/>
          </a:prstGeom>
          <a:solidFill>
            <a:srgbClr val="00A896"/>
          </a:solidFill>
          <a:ln w="15875">
            <a:solidFill>
              <a:srgbClr val="FFFFFF"/>
            </a:solidFill>
            <a:prstDash val="solid"/>
          </a:ln>
        </p:spPr>
      </p:sp>
      <p:sp>
        <p:nvSpPr>
          <p:cNvPr id="15" name="Text 12"/>
          <p:cNvSpPr txBox="1"/>
          <p:nvPr/>
        </p:nvSpPr>
        <p:spPr>
          <a:xfrm>
            <a:off x="548640" y="3280789"/>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6" name="Shape 13"/>
          <p:cNvSpPr/>
          <p:nvPr/>
        </p:nvSpPr>
        <p:spPr>
          <a:xfrm>
            <a:off x="4434840" y="457200"/>
            <a:ext cx="384048" cy="384048"/>
          </a:xfrm>
          <a:prstGeom prst="ellipse">
            <a:avLst/>
          </a:prstGeom>
          <a:solidFill>
            <a:srgbClr val="00A896"/>
          </a:solidFill>
          <a:ln w="6350">
            <a:solidFill>
              <a:srgbClr val="00A896"/>
            </a:solidFill>
            <a:prstDash val="solid"/>
          </a:ln>
        </p:spPr>
      </p:sp>
      <p:sp>
        <p:nvSpPr>
          <p:cNvPr id="17" name="Text 14"/>
          <p:cNvSpPr txBox="1"/>
          <p:nvPr/>
        </p:nvSpPr>
        <p:spPr>
          <a:xfrm>
            <a:off x="4434840" y="457200"/>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SK</a:t>
            </a:r>
            <a:endParaRPr lang="en-US" sz="1100" dirty="0"/>
          </a:p>
        </p:txBody>
      </p:sp>
      <p:sp>
        <p:nvSpPr>
          <p:cNvPr id="18" name="Text 15"/>
          <p:cNvSpPr txBox="1"/>
          <p:nvPr/>
        </p:nvSpPr>
        <p:spPr>
          <a:xfrm>
            <a:off x="4937760" y="457200"/>
            <a:ext cx="3291840" cy="384048"/>
          </a:xfrm>
          <a:prstGeom prst="rect">
            <a:avLst/>
          </a:prstGeom>
          <a:noFill/>
          <a:ln/>
        </p:spPr>
        <p:txBody>
          <a:bodyPr wrap="square" lIns="0" tIns="0" rIns="0" bIns="0" rtlCol="0" anchor="ctr"/>
          <a:lstStyle/>
          <a:p>
            <a:pPr indent="0" marL="0">
              <a:buNone/>
            </a:pPr>
            <a:r>
              <a:rPr lang="en-US" sz="1300" b="1" dirty="0">
                <a:solidFill>
                  <a:srgbClr val="00A896"/>
                </a:solidFill>
                <a:latin typeface="Calibri" pitchFamily="34" charset="0"/>
                <a:ea typeface="Calibri" pitchFamily="34" charset="-122"/>
                <a:cs typeface="Calibri" pitchFamily="34" charset="-120"/>
              </a:rPr>
              <a:t>Driver  </a:t>
            </a:r>
            <a:pPr indent="0" marL="0">
              <a:buNone/>
            </a:pPr>
            <a:r>
              <a:rPr lang="en-US" sz="1300" b="1" dirty="0">
                <a:solidFill>
                  <a:srgbClr val="16202B"/>
                </a:solidFill>
                <a:latin typeface="Calibri" pitchFamily="34" charset="0"/>
                <a:ea typeface="Calibri" pitchFamily="34" charset="-122"/>
                <a:cs typeface="Calibri" pitchFamily="34" charset="-120"/>
              </a:rPr>
              <a:t>S. Kumar</a:t>
            </a:r>
            <a:endParaRPr lang="en-US" sz="1300" dirty="0"/>
          </a:p>
        </p:txBody>
      </p:sp>
      <p:sp>
        <p:nvSpPr>
          <p:cNvPr id="19" name="Shape 16"/>
          <p:cNvSpPr/>
          <p:nvPr/>
        </p:nvSpPr>
        <p:spPr>
          <a:xfrm>
            <a:off x="9146743" y="585216"/>
            <a:ext cx="118872" cy="118872"/>
          </a:xfrm>
          <a:prstGeom prst="ellipse">
            <a:avLst/>
          </a:prstGeom>
          <a:solidFill>
            <a:srgbClr val="DDF5F1"/>
          </a:solidFill>
          <a:ln w="9525">
            <a:solidFill>
              <a:srgbClr val="00A896"/>
            </a:solidFill>
            <a:prstDash val="solid"/>
          </a:ln>
        </p:spPr>
      </p:sp>
      <p:sp>
        <p:nvSpPr>
          <p:cNvPr id="20" name="Shape 17"/>
          <p:cNvSpPr/>
          <p:nvPr/>
        </p:nvSpPr>
        <p:spPr>
          <a:xfrm>
            <a:off x="9329623" y="585216"/>
            <a:ext cx="118872" cy="118872"/>
          </a:xfrm>
          <a:prstGeom prst="ellipse">
            <a:avLst/>
          </a:prstGeom>
          <a:solidFill>
            <a:srgbClr val="DDF5F1"/>
          </a:solidFill>
          <a:ln w="9525">
            <a:solidFill>
              <a:srgbClr val="00A896"/>
            </a:solidFill>
            <a:prstDash val="solid"/>
          </a:ln>
        </p:spPr>
      </p:sp>
      <p:sp>
        <p:nvSpPr>
          <p:cNvPr id="21" name="Shape 18"/>
          <p:cNvSpPr/>
          <p:nvPr/>
        </p:nvSpPr>
        <p:spPr>
          <a:xfrm>
            <a:off x="9512503" y="585216"/>
            <a:ext cx="118872" cy="118872"/>
          </a:xfrm>
          <a:prstGeom prst="ellipse">
            <a:avLst/>
          </a:prstGeom>
          <a:solidFill>
            <a:srgbClr val="DDF5F1"/>
          </a:solidFill>
          <a:ln w="9525">
            <a:solidFill>
              <a:srgbClr val="00A896"/>
            </a:solidFill>
            <a:prstDash val="solid"/>
          </a:ln>
        </p:spPr>
      </p:sp>
      <p:sp>
        <p:nvSpPr>
          <p:cNvPr id="22" name="Shape 19"/>
          <p:cNvSpPr/>
          <p:nvPr/>
        </p:nvSpPr>
        <p:spPr>
          <a:xfrm>
            <a:off x="9695383" y="585216"/>
            <a:ext cx="118872" cy="118872"/>
          </a:xfrm>
          <a:prstGeom prst="ellipse">
            <a:avLst/>
          </a:prstGeom>
          <a:solidFill>
            <a:srgbClr val="DDF5F1"/>
          </a:solidFill>
          <a:ln w="9525">
            <a:solidFill>
              <a:srgbClr val="00A896"/>
            </a:solidFill>
            <a:prstDash val="solid"/>
          </a:ln>
        </p:spPr>
      </p:sp>
      <p:sp>
        <p:nvSpPr>
          <p:cNvPr id="23" name="Shape 20"/>
          <p:cNvSpPr/>
          <p:nvPr/>
        </p:nvSpPr>
        <p:spPr>
          <a:xfrm>
            <a:off x="9878263" y="585216"/>
            <a:ext cx="118872" cy="118872"/>
          </a:xfrm>
          <a:prstGeom prst="ellipse">
            <a:avLst/>
          </a:prstGeom>
          <a:solidFill>
            <a:srgbClr val="DDF5F1"/>
          </a:solidFill>
          <a:ln w="9525">
            <a:solidFill>
              <a:srgbClr val="00A896"/>
            </a:solidFill>
            <a:prstDash val="solid"/>
          </a:ln>
        </p:spPr>
      </p:sp>
      <p:sp>
        <p:nvSpPr>
          <p:cNvPr id="24" name="Shape 21"/>
          <p:cNvSpPr/>
          <p:nvPr/>
        </p:nvSpPr>
        <p:spPr>
          <a:xfrm>
            <a:off x="10061143" y="585216"/>
            <a:ext cx="118872" cy="118872"/>
          </a:xfrm>
          <a:prstGeom prst="ellipse">
            <a:avLst/>
          </a:prstGeom>
          <a:solidFill>
            <a:srgbClr val="DDF5F1"/>
          </a:solidFill>
          <a:ln w="9525">
            <a:solidFill>
              <a:srgbClr val="00A896"/>
            </a:solidFill>
            <a:prstDash val="solid"/>
          </a:ln>
        </p:spPr>
      </p:sp>
      <p:sp>
        <p:nvSpPr>
          <p:cNvPr id="25" name="Shape 22"/>
          <p:cNvSpPr/>
          <p:nvPr/>
        </p:nvSpPr>
        <p:spPr>
          <a:xfrm>
            <a:off x="10244023" y="585216"/>
            <a:ext cx="118872" cy="118872"/>
          </a:xfrm>
          <a:prstGeom prst="ellipse">
            <a:avLst/>
          </a:prstGeom>
          <a:solidFill>
            <a:srgbClr val="DDF5F1"/>
          </a:solidFill>
          <a:ln w="9525">
            <a:solidFill>
              <a:srgbClr val="00A896"/>
            </a:solidFill>
            <a:prstDash val="solid"/>
          </a:ln>
        </p:spPr>
      </p:sp>
      <p:sp>
        <p:nvSpPr>
          <p:cNvPr id="26" name="Shape 23"/>
          <p:cNvSpPr/>
          <p:nvPr/>
        </p:nvSpPr>
        <p:spPr>
          <a:xfrm>
            <a:off x="10426903" y="585216"/>
            <a:ext cx="118872" cy="118872"/>
          </a:xfrm>
          <a:prstGeom prst="ellipse">
            <a:avLst/>
          </a:prstGeom>
          <a:solidFill>
            <a:srgbClr val="DDF5F1"/>
          </a:solidFill>
          <a:ln w="9525">
            <a:solidFill>
              <a:srgbClr val="00A896"/>
            </a:solidFill>
            <a:prstDash val="solid"/>
          </a:ln>
        </p:spPr>
      </p:sp>
      <p:sp>
        <p:nvSpPr>
          <p:cNvPr id="27" name="Shape 24"/>
          <p:cNvSpPr/>
          <p:nvPr/>
        </p:nvSpPr>
        <p:spPr>
          <a:xfrm>
            <a:off x="10609783" y="585216"/>
            <a:ext cx="118872" cy="118872"/>
          </a:xfrm>
          <a:prstGeom prst="ellipse">
            <a:avLst/>
          </a:prstGeom>
          <a:solidFill>
            <a:srgbClr val="DDF5F1"/>
          </a:solidFill>
          <a:ln w="9525">
            <a:solidFill>
              <a:srgbClr val="00A896"/>
            </a:solidFill>
            <a:prstDash val="solid"/>
          </a:ln>
        </p:spPr>
      </p:sp>
      <p:sp>
        <p:nvSpPr>
          <p:cNvPr id="28" name="Shape 25"/>
          <p:cNvSpPr/>
          <p:nvPr/>
        </p:nvSpPr>
        <p:spPr>
          <a:xfrm>
            <a:off x="10792663" y="585216"/>
            <a:ext cx="118872" cy="118872"/>
          </a:xfrm>
          <a:prstGeom prst="ellipse">
            <a:avLst/>
          </a:prstGeom>
          <a:solidFill>
            <a:srgbClr val="DDF5F1"/>
          </a:solidFill>
          <a:ln w="9525">
            <a:solidFill>
              <a:srgbClr val="00A896"/>
            </a:solidFill>
            <a:prstDash val="solid"/>
          </a:ln>
        </p:spPr>
      </p:sp>
      <p:sp>
        <p:nvSpPr>
          <p:cNvPr id="29" name="Shape 26"/>
          <p:cNvSpPr/>
          <p:nvPr/>
        </p:nvSpPr>
        <p:spPr>
          <a:xfrm>
            <a:off x="10975543" y="585216"/>
            <a:ext cx="118872" cy="118872"/>
          </a:xfrm>
          <a:prstGeom prst="ellipse">
            <a:avLst/>
          </a:prstGeom>
          <a:solidFill>
            <a:srgbClr val="DDF5F1"/>
          </a:solidFill>
          <a:ln w="9525">
            <a:solidFill>
              <a:srgbClr val="00A896"/>
            </a:solidFill>
            <a:prstDash val="solid"/>
          </a:ln>
        </p:spPr>
      </p:sp>
      <p:sp>
        <p:nvSpPr>
          <p:cNvPr id="30" name="Shape 27"/>
          <p:cNvSpPr/>
          <p:nvPr/>
        </p:nvSpPr>
        <p:spPr>
          <a:xfrm>
            <a:off x="11158423" y="585216"/>
            <a:ext cx="118872" cy="118872"/>
          </a:xfrm>
          <a:prstGeom prst="ellipse">
            <a:avLst/>
          </a:prstGeom>
          <a:solidFill>
            <a:srgbClr val="DDF5F1"/>
          </a:solidFill>
          <a:ln w="9525">
            <a:solidFill>
              <a:srgbClr val="00A896"/>
            </a:solidFill>
            <a:prstDash val="solid"/>
          </a:ln>
        </p:spPr>
      </p:sp>
      <p:sp>
        <p:nvSpPr>
          <p:cNvPr id="31" name="Shape 28"/>
          <p:cNvSpPr/>
          <p:nvPr/>
        </p:nvSpPr>
        <p:spPr>
          <a:xfrm>
            <a:off x="11341303" y="585216"/>
            <a:ext cx="118872" cy="118872"/>
          </a:xfrm>
          <a:prstGeom prst="ellipse">
            <a:avLst/>
          </a:prstGeom>
          <a:solidFill>
            <a:srgbClr val="DDF5F1"/>
          </a:solidFill>
          <a:ln w="9525">
            <a:solidFill>
              <a:srgbClr val="00A896"/>
            </a:solidFill>
            <a:prstDash val="solid"/>
          </a:ln>
        </p:spPr>
      </p:sp>
      <p:sp>
        <p:nvSpPr>
          <p:cNvPr id="32" name="Shape 29"/>
          <p:cNvSpPr/>
          <p:nvPr/>
        </p:nvSpPr>
        <p:spPr>
          <a:xfrm>
            <a:off x="11496751" y="557784"/>
            <a:ext cx="173736" cy="173736"/>
          </a:xfrm>
          <a:prstGeom prst="ellipse">
            <a:avLst/>
          </a:prstGeom>
          <a:solidFill>
            <a:srgbClr val="00A896"/>
          </a:solidFill>
          <a:ln w="9525">
            <a:solidFill>
              <a:srgbClr val="00A896"/>
            </a:solidFill>
            <a:prstDash val="solid"/>
          </a:ln>
        </p:spPr>
      </p:sp>
      <p:sp>
        <p:nvSpPr>
          <p:cNvPr id="33" name="Text 30"/>
          <p:cNvSpPr txBox="1"/>
          <p:nvPr/>
        </p:nvSpPr>
        <p:spPr>
          <a:xfrm>
            <a:off x="9146743" y="768096"/>
            <a:ext cx="2496312" cy="201168"/>
          </a:xfrm>
          <a:prstGeom prst="rect">
            <a:avLst/>
          </a:prstGeom>
          <a:noFill/>
          <a:ln/>
        </p:spPr>
        <p:txBody>
          <a:bodyPr wrap="square" lIns="0" tIns="0" rIns="0" bIns="0" rtlCol="0" anchor="ctr"/>
          <a:lstStyle/>
          <a:p>
            <a:pPr algn="r" indent="0" marL="0">
              <a:buNone/>
            </a:pPr>
            <a:r>
              <a:rPr lang="en-US" sz="950" dirty="0">
                <a:solidFill>
                  <a:srgbClr val="5E6D7D"/>
                </a:solidFill>
                <a:latin typeface="Calibri" pitchFamily="34" charset="0"/>
                <a:ea typeface="Calibri" pitchFamily="34" charset="-122"/>
                <a:cs typeface="Calibri" pitchFamily="34" charset="-120"/>
              </a:rPr>
              <a:t>Screen 14 of 14</a:t>
            </a:r>
            <a:endParaRPr lang="en-US" sz="950" dirty="0"/>
          </a:p>
        </p:txBody>
      </p:sp>
      <p:sp>
        <p:nvSpPr>
          <p:cNvPr id="34" name="Text 31"/>
          <p:cNvSpPr txBox="1"/>
          <p:nvPr/>
        </p:nvSpPr>
        <p:spPr>
          <a:xfrm>
            <a:off x="4434840" y="1170432"/>
            <a:ext cx="7208215" cy="237744"/>
          </a:xfrm>
          <a:prstGeom prst="rect">
            <a:avLst/>
          </a:prstGeom>
          <a:noFill/>
          <a:ln/>
        </p:spPr>
        <p:txBody>
          <a:bodyPr wrap="square" lIns="0" tIns="0" rIns="0" bIns="0" rtlCol="0" anchor="ctr"/>
          <a:lstStyle/>
          <a:p>
            <a:pPr indent="0" marL="0">
              <a:buNone/>
            </a:pPr>
            <a:r>
              <a:rPr lang="en-US" sz="1100" b="1" spc="200" kern="0" dirty="0">
                <a:solidFill>
                  <a:srgbClr val="00A896"/>
                </a:solidFill>
                <a:latin typeface="Calibri" pitchFamily="34" charset="0"/>
                <a:ea typeface="Calibri" pitchFamily="34" charset="-122"/>
                <a:cs typeface="Calibri" pitchFamily="34" charset="-120"/>
              </a:rPr>
              <a:t>SIGNED OFF</a:t>
            </a:r>
            <a:endParaRPr lang="en-US" sz="1100" dirty="0"/>
          </a:p>
        </p:txBody>
      </p:sp>
      <p:sp>
        <p:nvSpPr>
          <p:cNvPr id="35" name="Text 32"/>
          <p:cNvSpPr txBox="1"/>
          <p:nvPr/>
        </p:nvSpPr>
        <p:spPr>
          <a:xfrm>
            <a:off x="4434840" y="1463040"/>
            <a:ext cx="7208215" cy="457200"/>
          </a:xfrm>
          <a:prstGeom prst="rect">
            <a:avLst/>
          </a:prstGeom>
          <a:noFill/>
          <a:ln/>
        </p:spPr>
        <p:txBody>
          <a:bodyPr wrap="square" lIns="0" tIns="0" rIns="0" bIns="0" rtlCol="0" anchor="t"/>
          <a:lstStyle/>
          <a:p>
            <a:pPr indent="0" marL="0">
              <a:buNone/>
            </a:pPr>
            <a:r>
              <a:rPr lang="en-US" sz="3000" b="1" dirty="0">
                <a:solidFill>
                  <a:srgbClr val="16202B"/>
                </a:solidFill>
                <a:latin typeface="Calibri" pitchFamily="34" charset="0"/>
                <a:ea typeface="Calibri" pitchFamily="34" charset="-122"/>
                <a:cs typeface="Calibri" pitchFamily="34" charset="-120"/>
              </a:rPr>
              <a:t>GPS matches the odometer</a:t>
            </a:r>
            <a:endParaRPr lang="en-US" sz="3000" dirty="0"/>
          </a:p>
        </p:txBody>
      </p:sp>
      <p:sp>
        <p:nvSpPr>
          <p:cNvPr id="36" name="Text 33"/>
          <p:cNvSpPr txBox="1"/>
          <p:nvPr/>
        </p:nvSpPr>
        <p:spPr>
          <a:xfrm>
            <a:off x="4434840" y="2048256"/>
            <a:ext cx="7208215" cy="475488"/>
          </a:xfrm>
          <a:prstGeom prst="rect">
            <a:avLst/>
          </a:prstGeom>
          <a:noFill/>
          <a:ln/>
        </p:spPr>
        <p:txBody>
          <a:bodyPr wrap="square" lIns="0" tIns="0" rIns="0" bIns="0" rtlCol="0" anchor="t"/>
          <a:lstStyle/>
          <a:p>
            <a:pPr indent="0" marL="0">
              <a:buNone/>
            </a:pPr>
            <a:r>
              <a:rPr lang="en-US" sz="1500" dirty="0">
                <a:solidFill>
                  <a:srgbClr val="34465A"/>
                </a:solidFill>
                <a:latin typeface="Calibri" pitchFamily="34" charset="0"/>
                <a:ea typeface="Calibri" pitchFamily="34" charset="-122"/>
                <a:cs typeface="Calibri" pitchFamily="34" charset="-120"/>
              </a:rPr>
              <a:t>The duty summary is the record the vendor bill and the fuel log are checked against.</a:t>
            </a:r>
            <a:endParaRPr lang="en-US" sz="1500" dirty="0"/>
          </a:p>
        </p:txBody>
      </p:sp>
      <p:sp>
        <p:nvSpPr>
          <p:cNvPr id="37" name="Shape 34"/>
          <p:cNvSpPr/>
          <p:nvPr/>
        </p:nvSpPr>
        <p:spPr>
          <a:xfrm>
            <a:off x="4434840" y="2798064"/>
            <a:ext cx="7208215" cy="649224"/>
          </a:xfrm>
          <a:prstGeom prst="roundRect">
            <a:avLst>
              <a:gd name="adj" fmla="val 11268"/>
            </a:avLst>
          </a:prstGeom>
          <a:solidFill>
            <a:srgbClr val="F3F6F9"/>
          </a:solidFill>
          <a:ln w="6350">
            <a:solidFill>
              <a:srgbClr val="F3F6F9"/>
            </a:solidFill>
            <a:prstDash val="solid"/>
          </a:ln>
        </p:spPr>
      </p:sp>
      <p:sp>
        <p:nvSpPr>
          <p:cNvPr id="38" name="Shape 35"/>
          <p:cNvSpPr/>
          <p:nvPr/>
        </p:nvSpPr>
        <p:spPr>
          <a:xfrm>
            <a:off x="4599432" y="2916936"/>
            <a:ext cx="292608" cy="292608"/>
          </a:xfrm>
          <a:prstGeom prst="ellipse">
            <a:avLst/>
          </a:prstGeom>
          <a:solidFill>
            <a:srgbClr val="00A896"/>
          </a:solidFill>
          <a:ln w="15875">
            <a:solidFill>
              <a:srgbClr val="FFFFFF"/>
            </a:solidFill>
            <a:prstDash val="solid"/>
          </a:ln>
        </p:spPr>
      </p:sp>
      <p:sp>
        <p:nvSpPr>
          <p:cNvPr id="39" name="Text 36"/>
          <p:cNvSpPr txBox="1"/>
          <p:nvPr/>
        </p:nvSpPr>
        <p:spPr>
          <a:xfrm>
            <a:off x="4599432" y="2916936"/>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40" name="Text 37"/>
          <p:cNvSpPr txBox="1"/>
          <p:nvPr/>
        </p:nvSpPr>
        <p:spPr>
          <a:xfrm>
            <a:off x="5029200" y="2907792"/>
            <a:ext cx="6430975" cy="274320"/>
          </a:xfrm>
          <a:prstGeom prst="rect">
            <a:avLst/>
          </a:prstGeom>
          <a:noFill/>
          <a:ln/>
        </p:spPr>
        <p:txBody>
          <a:bodyPr wrap="square" lIns="0" tIns="0" rIns="0" bIns="0" rtlCol="0" anchor="ctr"/>
          <a:lstStyle/>
          <a:p>
            <a:pPr indent="0" marL="0">
              <a:buNone/>
            </a:pPr>
            <a:r>
              <a:rPr lang="en-US" sz="1400" b="1" dirty="0">
                <a:solidFill>
                  <a:srgbClr val="16202B"/>
                </a:solidFill>
                <a:latin typeface="Calibri" pitchFamily="34" charset="0"/>
                <a:ea typeface="Calibri" pitchFamily="34" charset="-122"/>
                <a:cs typeface="Calibri" pitchFamily="34" charset="-120"/>
              </a:rPr>
              <a:t>Duty closed · C-12</a:t>
            </a:r>
            <a:endParaRPr lang="en-US" sz="1400" dirty="0"/>
          </a:p>
        </p:txBody>
      </p:sp>
      <p:sp>
        <p:nvSpPr>
          <p:cNvPr id="41" name="Text 38"/>
          <p:cNvSpPr txBox="1"/>
          <p:nvPr/>
        </p:nvSpPr>
        <p:spPr>
          <a:xfrm>
            <a:off x="5029200" y="3182112"/>
            <a:ext cx="6430975" cy="192024"/>
          </a:xfrm>
          <a:prstGeom prst="rect">
            <a:avLst/>
          </a:prstGeom>
          <a:noFill/>
          <a:ln/>
        </p:spPr>
        <p:txBody>
          <a:bodyPr wrap="square" lIns="0" tIns="0" rIns="0" bIns="0" rtlCol="0" anchor="t"/>
          <a:lstStyle/>
          <a:p>
            <a:pPr indent="0" marL="0">
              <a:buNone/>
            </a:pPr>
            <a:r>
              <a:rPr lang="en-US" sz="1200" dirty="0">
                <a:solidFill>
                  <a:srgbClr val="34465A"/>
                </a:solidFill>
                <a:latin typeface="Calibri" pitchFamily="34" charset="0"/>
                <a:ea typeface="Calibri" pitchFamily="34" charset="-122"/>
                <a:cs typeface="Calibri" pitchFamily="34" charset="-120"/>
              </a:rPr>
              <a:t>Start and end of the duty.</a:t>
            </a:r>
            <a:endParaRPr lang="en-US" sz="1200" dirty="0"/>
          </a:p>
        </p:txBody>
      </p:sp>
      <p:sp>
        <p:nvSpPr>
          <p:cNvPr id="42" name="Shape 39"/>
          <p:cNvSpPr/>
          <p:nvPr/>
        </p:nvSpPr>
        <p:spPr>
          <a:xfrm>
            <a:off x="4434840" y="3557016"/>
            <a:ext cx="7208215" cy="649224"/>
          </a:xfrm>
          <a:prstGeom prst="roundRect">
            <a:avLst>
              <a:gd name="adj" fmla="val 11268"/>
            </a:avLst>
          </a:prstGeom>
          <a:solidFill>
            <a:srgbClr val="F3F6F9"/>
          </a:solidFill>
          <a:ln w="6350">
            <a:solidFill>
              <a:srgbClr val="F3F6F9"/>
            </a:solidFill>
            <a:prstDash val="solid"/>
          </a:ln>
        </p:spPr>
      </p:sp>
      <p:sp>
        <p:nvSpPr>
          <p:cNvPr id="43" name="Shape 40"/>
          <p:cNvSpPr/>
          <p:nvPr/>
        </p:nvSpPr>
        <p:spPr>
          <a:xfrm>
            <a:off x="4599432" y="3675888"/>
            <a:ext cx="292608" cy="292608"/>
          </a:xfrm>
          <a:prstGeom prst="ellipse">
            <a:avLst/>
          </a:prstGeom>
          <a:solidFill>
            <a:srgbClr val="00A896"/>
          </a:solidFill>
          <a:ln w="15875">
            <a:solidFill>
              <a:srgbClr val="FFFFFF"/>
            </a:solidFill>
            <a:prstDash val="solid"/>
          </a:ln>
        </p:spPr>
      </p:sp>
      <p:sp>
        <p:nvSpPr>
          <p:cNvPr id="44" name="Text 41"/>
          <p:cNvSpPr txBox="1"/>
          <p:nvPr/>
        </p:nvSpPr>
        <p:spPr>
          <a:xfrm>
            <a:off x="4599432" y="3675888"/>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45" name="Text 42"/>
          <p:cNvSpPr txBox="1"/>
          <p:nvPr/>
        </p:nvSpPr>
        <p:spPr>
          <a:xfrm>
            <a:off x="5029200" y="3666744"/>
            <a:ext cx="6430975" cy="274320"/>
          </a:xfrm>
          <a:prstGeom prst="rect">
            <a:avLst/>
          </a:prstGeom>
          <a:noFill/>
          <a:ln/>
        </p:spPr>
        <p:txBody>
          <a:bodyPr wrap="square" lIns="0" tIns="0" rIns="0" bIns="0" rtlCol="0" anchor="ctr"/>
          <a:lstStyle/>
          <a:p>
            <a:pPr indent="0" marL="0">
              <a:buNone/>
            </a:pPr>
            <a:r>
              <a:rPr lang="en-US" sz="1400" b="1" dirty="0">
                <a:solidFill>
                  <a:srgbClr val="16202B"/>
                </a:solidFill>
                <a:latin typeface="Calibri" pitchFamily="34" charset="0"/>
                <a:ea typeface="Calibri" pitchFamily="34" charset="-122"/>
                <a:cs typeface="Calibri" pitchFamily="34" charset="-120"/>
              </a:rPr>
              <a:t>1 trip · 3.4 km GPS · 3 riders</a:t>
            </a:r>
            <a:endParaRPr lang="en-US" sz="1400" dirty="0"/>
          </a:p>
        </p:txBody>
      </p:sp>
      <p:sp>
        <p:nvSpPr>
          <p:cNvPr id="46" name="Text 43"/>
          <p:cNvSpPr txBox="1"/>
          <p:nvPr/>
        </p:nvSpPr>
        <p:spPr>
          <a:xfrm>
            <a:off x="5029200" y="3941064"/>
            <a:ext cx="6430975" cy="192024"/>
          </a:xfrm>
          <a:prstGeom prst="rect">
            <a:avLst/>
          </a:prstGeom>
          <a:noFill/>
          <a:ln/>
        </p:spPr>
        <p:txBody>
          <a:bodyPr wrap="square" lIns="0" tIns="0" rIns="0" bIns="0" rtlCol="0" anchor="t"/>
          <a:lstStyle/>
          <a:p>
            <a:pPr indent="0" marL="0">
              <a:buNone/>
            </a:pPr>
            <a:r>
              <a:rPr lang="en-US" sz="1200" dirty="0">
                <a:solidFill>
                  <a:srgbClr val="34465A"/>
                </a:solidFill>
                <a:latin typeface="Calibri" pitchFamily="34" charset="0"/>
                <a:ea typeface="Calibri" pitchFamily="34" charset="-122"/>
                <a:cs typeface="Calibri" pitchFamily="34" charset="-120"/>
              </a:rPr>
              <a:t>Measured, not typed in.</a:t>
            </a:r>
            <a:endParaRPr lang="en-US" sz="1200" dirty="0"/>
          </a:p>
        </p:txBody>
      </p:sp>
      <p:sp>
        <p:nvSpPr>
          <p:cNvPr id="47" name="Shape 44"/>
          <p:cNvSpPr/>
          <p:nvPr/>
        </p:nvSpPr>
        <p:spPr>
          <a:xfrm>
            <a:off x="4434840" y="4315968"/>
            <a:ext cx="7208215" cy="649224"/>
          </a:xfrm>
          <a:prstGeom prst="roundRect">
            <a:avLst>
              <a:gd name="adj" fmla="val 11268"/>
            </a:avLst>
          </a:prstGeom>
          <a:solidFill>
            <a:srgbClr val="F3F6F9"/>
          </a:solidFill>
          <a:ln w="6350">
            <a:solidFill>
              <a:srgbClr val="F3F6F9"/>
            </a:solidFill>
            <a:prstDash val="solid"/>
          </a:ln>
        </p:spPr>
      </p:sp>
      <p:sp>
        <p:nvSpPr>
          <p:cNvPr id="48" name="Shape 45"/>
          <p:cNvSpPr/>
          <p:nvPr/>
        </p:nvSpPr>
        <p:spPr>
          <a:xfrm>
            <a:off x="4599432" y="4434840"/>
            <a:ext cx="292608" cy="292608"/>
          </a:xfrm>
          <a:prstGeom prst="ellipse">
            <a:avLst/>
          </a:prstGeom>
          <a:solidFill>
            <a:srgbClr val="00A896"/>
          </a:solidFill>
          <a:ln w="15875">
            <a:solidFill>
              <a:srgbClr val="FFFFFF"/>
            </a:solidFill>
            <a:prstDash val="solid"/>
          </a:ln>
        </p:spPr>
      </p:sp>
      <p:sp>
        <p:nvSpPr>
          <p:cNvPr id="49" name="Text 46"/>
          <p:cNvSpPr txBox="1"/>
          <p:nvPr/>
        </p:nvSpPr>
        <p:spPr>
          <a:xfrm>
            <a:off x="4599432" y="443484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50" name="Text 47"/>
          <p:cNvSpPr txBox="1"/>
          <p:nvPr/>
        </p:nvSpPr>
        <p:spPr>
          <a:xfrm>
            <a:off x="5029200" y="4425696"/>
            <a:ext cx="6430975" cy="274320"/>
          </a:xfrm>
          <a:prstGeom prst="rect">
            <a:avLst/>
          </a:prstGeom>
          <a:noFill/>
          <a:ln/>
        </p:spPr>
        <p:txBody>
          <a:bodyPr wrap="square" lIns="0" tIns="0" rIns="0" bIns="0" rtlCol="0" anchor="ctr"/>
          <a:lstStyle/>
          <a:p>
            <a:pPr indent="0" marL="0">
              <a:buNone/>
            </a:pPr>
            <a:r>
              <a:rPr lang="en-US" sz="1400" b="1" dirty="0">
                <a:solidFill>
                  <a:srgbClr val="16202B"/>
                </a:solidFill>
                <a:latin typeface="Calibri" pitchFamily="34" charset="0"/>
                <a:ea typeface="Calibri" pitchFamily="34" charset="-122"/>
                <a:cs typeface="Calibri" pitchFamily="34" charset="-120"/>
              </a:rPr>
              <a:t>GPS km matches the odometer</a:t>
            </a:r>
            <a:endParaRPr lang="en-US" sz="1400" dirty="0"/>
          </a:p>
        </p:txBody>
      </p:sp>
      <p:sp>
        <p:nvSpPr>
          <p:cNvPr id="51" name="Text 48"/>
          <p:cNvSpPr txBox="1"/>
          <p:nvPr/>
        </p:nvSpPr>
        <p:spPr>
          <a:xfrm>
            <a:off x="5029200" y="4700016"/>
            <a:ext cx="6430975" cy="192024"/>
          </a:xfrm>
          <a:prstGeom prst="rect">
            <a:avLst/>
          </a:prstGeom>
          <a:noFill/>
          <a:ln/>
        </p:spPr>
        <p:txBody>
          <a:bodyPr wrap="square" lIns="0" tIns="0" rIns="0" bIns="0" rtlCol="0" anchor="t"/>
          <a:lstStyle/>
          <a:p>
            <a:pPr indent="0" marL="0">
              <a:buNone/>
            </a:pPr>
            <a:r>
              <a:rPr lang="en-US" sz="1200" dirty="0">
                <a:solidFill>
                  <a:srgbClr val="34465A"/>
                </a:solidFill>
                <a:latin typeface="Calibri" pitchFamily="34" charset="0"/>
                <a:ea typeface="Calibri" pitchFamily="34" charset="-122"/>
                <a:cs typeface="Calibri" pitchFamily="34" charset="-120"/>
              </a:rPr>
              <a:t>The odometer may include runs between trips, never less than GPS.</a:t>
            </a:r>
            <a:endParaRPr lang="en-US" sz="1200" dirty="0"/>
          </a:p>
        </p:txBody>
      </p:sp>
      <p:sp>
        <p:nvSpPr>
          <p:cNvPr id="52" name="Text 49"/>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900" dirty="0">
                <a:solidFill>
                  <a:srgbClr val="5E6D7D"/>
                </a:solidFill>
                <a:latin typeface="Calibri" pitchFamily="34" charset="0"/>
                <a:ea typeface="Calibri" pitchFamily="34" charset="-122"/>
                <a:cs typeface="Calibri" pitchFamily="34" charset="-120"/>
              </a:rPr>
              <a:t>Plant Ride · Rider → Driver journey · recorded on the MVP with demo data</a:t>
            </a:r>
            <a:endParaRPr lang="en-US" sz="900" dirty="0"/>
          </a:p>
        </p:txBody>
      </p:sp>
      <p:sp>
        <p:nvSpPr>
          <p:cNvPr id="53" name="Text 50"/>
          <p:cNvSpPr txBox="1"/>
          <p:nvPr/>
        </p:nvSpPr>
        <p:spPr>
          <a:xfrm>
            <a:off x="11185855" y="6473952"/>
            <a:ext cx="457200" cy="228600"/>
          </a:xfrm>
          <a:prstGeom prst="rect">
            <a:avLst/>
          </a:prstGeom>
          <a:noFill/>
          <a:ln/>
        </p:spPr>
        <p:txBody>
          <a:bodyPr wrap="square" lIns="0" tIns="0" rIns="0" bIns="0" rtlCol="0" anchor="ctr"/>
          <a:lstStyle/>
          <a:p>
            <a:pPr algn="r" indent="0" marL="0">
              <a:buNone/>
            </a:pPr>
            <a:r>
              <a:rPr lang="en-US" sz="900" dirty="0">
                <a:solidFill>
                  <a:srgbClr val="5E6D7D"/>
                </a:solidFill>
                <a:latin typeface="Calibri" pitchFamily="34" charset="0"/>
                <a:ea typeface="Calibri" pitchFamily="34" charset="-122"/>
                <a:cs typeface="Calibri" pitchFamily="34" charset="-120"/>
              </a:rPr>
              <a:t>35</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E1520"/>
        </a:solidFill>
      </p:bgPr>
    </p:bg>
    <p:spTree>
      <p:nvGrpSpPr>
        <p:cNvPr id="1" name=""/>
        <p:cNvGrpSpPr/>
        <p:nvPr/>
      </p:nvGrpSpPr>
      <p:grpSpPr>
        <a:xfrm>
          <a:off x="0" y="0"/>
          <a:ext cx="0" cy="0"/>
          <a:chOff x="0" y="0"/>
          <a:chExt cx="0" cy="0"/>
        </a:xfrm>
      </p:grpSpPr>
      <p:sp>
        <p:nvSpPr>
          <p:cNvPr id="2" name="Text 0"/>
          <p:cNvSpPr txBox="1"/>
          <p:nvPr/>
        </p:nvSpPr>
        <p:spPr>
          <a:xfrm>
            <a:off x="731520" y="594360"/>
            <a:ext cx="7315200" cy="274320"/>
          </a:xfrm>
          <a:prstGeom prst="rect">
            <a:avLst/>
          </a:prstGeom>
          <a:noFill/>
          <a:ln/>
        </p:spPr>
        <p:txBody>
          <a:bodyPr wrap="square" lIns="0" tIns="0" rIns="0" bIns="0" rtlCol="0" anchor="ctr"/>
          <a:lstStyle/>
          <a:p>
            <a:pPr indent="0" marL="0">
              <a:buNone/>
            </a:pPr>
            <a:r>
              <a:rPr lang="en-US" sz="1300" b="1" spc="300" kern="0" dirty="0">
                <a:solidFill>
                  <a:srgbClr val="E85D04"/>
                </a:solidFill>
                <a:latin typeface="Calibri" pitchFamily="34" charset="0"/>
                <a:ea typeface="Calibri" pitchFamily="34" charset="-122"/>
                <a:cs typeface="Calibri" pitchFamily="34" charset="-120"/>
              </a:rPr>
              <a:t>WHAT THE JOURNEY SHOWS</a:t>
            </a:r>
            <a:endParaRPr lang="en-US" sz="1300" dirty="0"/>
          </a:p>
        </p:txBody>
      </p:sp>
      <p:sp>
        <p:nvSpPr>
          <p:cNvPr id="3" name="Text 1"/>
          <p:cNvSpPr txBox="1"/>
          <p:nvPr/>
        </p:nvSpPr>
        <p:spPr>
          <a:xfrm>
            <a:off x="731520" y="914400"/>
            <a:ext cx="10515600" cy="64008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One ride, two phones, no phone calls</a:t>
            </a:r>
            <a:endParaRPr lang="en-US" sz="3400" dirty="0"/>
          </a:p>
        </p:txBody>
      </p:sp>
      <p:sp>
        <p:nvSpPr>
          <p:cNvPr id="4" name="Shape 2"/>
          <p:cNvSpPr/>
          <p:nvPr/>
        </p:nvSpPr>
        <p:spPr>
          <a:xfrm>
            <a:off x="731520" y="2011680"/>
            <a:ext cx="2542032" cy="2377440"/>
          </a:xfrm>
          <a:prstGeom prst="roundRect">
            <a:avLst>
              <a:gd name="adj" fmla="val 5385"/>
            </a:avLst>
          </a:prstGeom>
          <a:solidFill>
            <a:srgbClr val="1A2533"/>
          </a:solidFill>
          <a:ln w="6350">
            <a:solidFill>
              <a:srgbClr val="1A2533"/>
            </a:solidFill>
            <a:prstDash val="solid"/>
          </a:ln>
        </p:spPr>
      </p:sp>
      <p:sp>
        <p:nvSpPr>
          <p:cNvPr id="5" name="Text 3"/>
          <p:cNvSpPr txBox="1"/>
          <p:nvPr/>
        </p:nvSpPr>
        <p:spPr>
          <a:xfrm>
            <a:off x="960120" y="2240280"/>
            <a:ext cx="2194560" cy="914400"/>
          </a:xfrm>
          <a:prstGeom prst="rect">
            <a:avLst/>
          </a:prstGeom>
          <a:noFill/>
          <a:ln/>
        </p:spPr>
        <p:txBody>
          <a:bodyPr wrap="square" lIns="0" tIns="0" rIns="0" bIns="0" rtlCol="0" anchor="ctr"/>
          <a:lstStyle/>
          <a:p>
            <a:pPr indent="0" marL="0">
              <a:buNone/>
            </a:pPr>
            <a:r>
              <a:rPr lang="en-US" sz="4000" b="1" dirty="0">
                <a:solidFill>
                  <a:srgbClr val="00A896"/>
                </a:solidFill>
                <a:latin typeface="Calibri" pitchFamily="34" charset="0"/>
                <a:ea typeface="Calibri" pitchFamily="34" charset="-122"/>
                <a:cs typeface="Calibri" pitchFamily="34" charset="-120"/>
              </a:rPr>
              <a:t>3 of 3</a:t>
            </a:r>
            <a:endParaRPr lang="en-US" sz="4000" dirty="0"/>
          </a:p>
        </p:txBody>
      </p:sp>
      <p:sp>
        <p:nvSpPr>
          <p:cNvPr id="6" name="Text 4"/>
          <p:cNvSpPr txBox="1"/>
          <p:nvPr/>
        </p:nvSpPr>
        <p:spPr>
          <a:xfrm>
            <a:off x="960120" y="3246120"/>
            <a:ext cx="2148840" cy="1005840"/>
          </a:xfrm>
          <a:prstGeom prst="rect">
            <a:avLst/>
          </a:prstGeom>
          <a:noFill/>
          <a:ln/>
        </p:spPr>
        <p:txBody>
          <a:bodyPr wrap="square" lIns="0" tIns="0" rIns="0" bIns="0" rtlCol="0" anchor="t"/>
          <a:lstStyle/>
          <a:p>
            <a:pPr indent="0" marL="0">
              <a:buNone/>
            </a:pPr>
            <a:r>
              <a:rPr lang="en-US" sz="1300" dirty="0">
                <a:solidFill>
                  <a:srgbClr val="C9D4E2"/>
                </a:solidFill>
                <a:latin typeface="Calibri" pitchFamily="34" charset="0"/>
                <a:ea typeface="Calibri" pitchFamily="34" charset="-122"/>
                <a:cs typeface="Calibri" pitchFamily="34" charset="-120"/>
              </a:rPr>
              <a:t>riders pooled on C-12, inside the 3-rider cap</a:t>
            </a:r>
            <a:endParaRPr lang="en-US" sz="1300" dirty="0"/>
          </a:p>
        </p:txBody>
      </p:sp>
      <p:sp>
        <p:nvSpPr>
          <p:cNvPr id="7" name="Shape 5"/>
          <p:cNvSpPr/>
          <p:nvPr/>
        </p:nvSpPr>
        <p:spPr>
          <a:xfrm>
            <a:off x="3493008" y="2011680"/>
            <a:ext cx="2542032" cy="2377440"/>
          </a:xfrm>
          <a:prstGeom prst="roundRect">
            <a:avLst>
              <a:gd name="adj" fmla="val 5385"/>
            </a:avLst>
          </a:prstGeom>
          <a:solidFill>
            <a:srgbClr val="1A2533"/>
          </a:solidFill>
          <a:ln w="6350">
            <a:solidFill>
              <a:srgbClr val="1A2533"/>
            </a:solidFill>
            <a:prstDash val="solid"/>
          </a:ln>
        </p:spPr>
      </p:sp>
      <p:sp>
        <p:nvSpPr>
          <p:cNvPr id="8" name="Text 6"/>
          <p:cNvSpPr txBox="1"/>
          <p:nvPr/>
        </p:nvSpPr>
        <p:spPr>
          <a:xfrm>
            <a:off x="3721608" y="2240280"/>
            <a:ext cx="2194560" cy="914400"/>
          </a:xfrm>
          <a:prstGeom prst="rect">
            <a:avLst/>
          </a:prstGeom>
          <a:noFill/>
          <a:ln/>
        </p:spPr>
        <p:txBody>
          <a:bodyPr wrap="square" lIns="0" tIns="0" rIns="0" bIns="0" rtlCol="0" anchor="ctr"/>
          <a:lstStyle/>
          <a:p>
            <a:pPr indent="0" marL="0">
              <a:buNone/>
            </a:pPr>
            <a:r>
              <a:rPr lang="en-US" sz="4000" b="1" dirty="0">
                <a:solidFill>
                  <a:srgbClr val="E85D04"/>
                </a:solidFill>
                <a:latin typeface="Calibri" pitchFamily="34" charset="0"/>
                <a:ea typeface="Calibri" pitchFamily="34" charset="-122"/>
                <a:cs typeface="Calibri" pitchFamily="34" charset="-120"/>
              </a:rPr>
              <a:t>₹22.86</a:t>
            </a:r>
            <a:endParaRPr lang="en-US" sz="4000" dirty="0"/>
          </a:p>
        </p:txBody>
      </p:sp>
      <p:sp>
        <p:nvSpPr>
          <p:cNvPr id="9" name="Text 7"/>
          <p:cNvSpPr txBox="1"/>
          <p:nvPr/>
        </p:nvSpPr>
        <p:spPr>
          <a:xfrm>
            <a:off x="3721608" y="3246120"/>
            <a:ext cx="2148840" cy="1005840"/>
          </a:xfrm>
          <a:prstGeom prst="rect">
            <a:avLst/>
          </a:prstGeom>
          <a:noFill/>
          <a:ln/>
        </p:spPr>
        <p:txBody>
          <a:bodyPr wrap="square" lIns="0" tIns="0" rIns="0" bIns="0" rtlCol="0" anchor="t"/>
          <a:lstStyle/>
          <a:p>
            <a:pPr indent="0" marL="0">
              <a:buNone/>
            </a:pPr>
            <a:r>
              <a:rPr lang="en-US" sz="1300" dirty="0">
                <a:solidFill>
                  <a:srgbClr val="C9D4E2"/>
                </a:solidFill>
                <a:latin typeface="Calibri" pitchFamily="34" charset="0"/>
                <a:ea typeface="Calibri" pitchFamily="34" charset="-122"/>
                <a:cs typeface="Calibri" pitchFamily="34" charset="-120"/>
              </a:rPr>
              <a:t>charged to CC-4471 · Operations for 3.4 km, split by distance</a:t>
            </a:r>
            <a:endParaRPr lang="en-US" sz="1300" dirty="0"/>
          </a:p>
        </p:txBody>
      </p:sp>
      <p:sp>
        <p:nvSpPr>
          <p:cNvPr id="10" name="Shape 8"/>
          <p:cNvSpPr/>
          <p:nvPr/>
        </p:nvSpPr>
        <p:spPr>
          <a:xfrm>
            <a:off x="6254496" y="2011680"/>
            <a:ext cx="2542032" cy="2377440"/>
          </a:xfrm>
          <a:prstGeom prst="roundRect">
            <a:avLst>
              <a:gd name="adj" fmla="val 5385"/>
            </a:avLst>
          </a:prstGeom>
          <a:solidFill>
            <a:srgbClr val="1A2533"/>
          </a:solidFill>
          <a:ln w="6350">
            <a:solidFill>
              <a:srgbClr val="1A2533"/>
            </a:solidFill>
            <a:prstDash val="solid"/>
          </a:ln>
        </p:spPr>
      </p:sp>
      <p:sp>
        <p:nvSpPr>
          <p:cNvPr id="11" name="Text 9"/>
          <p:cNvSpPr txBox="1"/>
          <p:nvPr/>
        </p:nvSpPr>
        <p:spPr>
          <a:xfrm>
            <a:off x="6483096" y="2240280"/>
            <a:ext cx="2194560" cy="914400"/>
          </a:xfrm>
          <a:prstGeom prst="rect">
            <a:avLst/>
          </a:prstGeom>
          <a:noFill/>
          <a:ln/>
        </p:spPr>
        <p:txBody>
          <a:bodyPr wrap="square" lIns="0" tIns="0" rIns="0" bIns="0" rtlCol="0" anchor="ctr"/>
          <a:lstStyle/>
          <a:p>
            <a:pPr indent="0" marL="0">
              <a:buNone/>
            </a:pPr>
            <a:r>
              <a:rPr lang="en-US" sz="4000" b="1" dirty="0">
                <a:solidFill>
                  <a:srgbClr val="F5C26B"/>
                </a:solidFill>
                <a:latin typeface="Calibri" pitchFamily="34" charset="0"/>
                <a:ea typeface="Calibri" pitchFamily="34" charset="-122"/>
                <a:cs typeface="Calibri" pitchFamily="34" charset="-120"/>
              </a:rPr>
              <a:t>~10 s</a:t>
            </a:r>
            <a:endParaRPr lang="en-US" sz="4000" dirty="0"/>
          </a:p>
        </p:txBody>
      </p:sp>
      <p:sp>
        <p:nvSpPr>
          <p:cNvPr id="12" name="Text 10"/>
          <p:cNvSpPr txBox="1"/>
          <p:nvPr/>
        </p:nvSpPr>
        <p:spPr>
          <a:xfrm>
            <a:off x="6483096" y="3246120"/>
            <a:ext cx="2148840" cy="1005840"/>
          </a:xfrm>
          <a:prstGeom prst="rect">
            <a:avLst/>
          </a:prstGeom>
          <a:noFill/>
          <a:ln/>
        </p:spPr>
        <p:txBody>
          <a:bodyPr wrap="square" lIns="0" tIns="0" rIns="0" bIns="0" rtlCol="0" anchor="t"/>
          <a:lstStyle/>
          <a:p>
            <a:pPr indent="0" marL="0">
              <a:buNone/>
            </a:pPr>
            <a:r>
              <a:rPr lang="en-US" sz="1300" dirty="0">
                <a:solidFill>
                  <a:srgbClr val="C9D4E2"/>
                </a:solidFill>
                <a:latin typeface="Calibri" pitchFamily="34" charset="0"/>
                <a:ea typeface="Calibri" pitchFamily="34" charset="-122"/>
                <a:cs typeface="Calibri" pitchFamily="34" charset="-120"/>
              </a:rPr>
              <a:t>between the driver’s position updates while on duty</a:t>
            </a:r>
            <a:endParaRPr lang="en-US" sz="1300" dirty="0"/>
          </a:p>
        </p:txBody>
      </p:sp>
      <p:sp>
        <p:nvSpPr>
          <p:cNvPr id="13" name="Shape 11"/>
          <p:cNvSpPr/>
          <p:nvPr/>
        </p:nvSpPr>
        <p:spPr>
          <a:xfrm>
            <a:off x="9015984" y="2011680"/>
            <a:ext cx="2542032" cy="2377440"/>
          </a:xfrm>
          <a:prstGeom prst="roundRect">
            <a:avLst>
              <a:gd name="adj" fmla="val 5385"/>
            </a:avLst>
          </a:prstGeom>
          <a:solidFill>
            <a:srgbClr val="1A2533"/>
          </a:solidFill>
          <a:ln w="6350">
            <a:solidFill>
              <a:srgbClr val="1A2533"/>
            </a:solidFill>
            <a:prstDash val="solid"/>
          </a:ln>
        </p:spPr>
      </p:sp>
      <p:sp>
        <p:nvSpPr>
          <p:cNvPr id="14" name="Text 12"/>
          <p:cNvSpPr txBox="1"/>
          <p:nvPr/>
        </p:nvSpPr>
        <p:spPr>
          <a:xfrm>
            <a:off x="9244584" y="2240280"/>
            <a:ext cx="2194560" cy="914400"/>
          </a:xfrm>
          <a:prstGeom prst="rect">
            <a:avLst/>
          </a:prstGeom>
          <a:noFill/>
          <a:ln/>
        </p:spPr>
        <p:txBody>
          <a:bodyPr wrap="square" lIns="0" tIns="0" rIns="0" bIns="0" rtlCol="0" anchor="ctr"/>
          <a:lstStyle/>
          <a:p>
            <a:pPr indent="0" marL="0">
              <a:buNone/>
            </a:pPr>
            <a:r>
              <a:rPr lang="en-US" sz="4000" b="1" dirty="0">
                <a:solidFill>
                  <a:srgbClr val="AFC3E8"/>
                </a:solidFill>
                <a:latin typeface="Calibri" pitchFamily="34" charset="0"/>
                <a:ea typeface="Calibri" pitchFamily="34" charset="-122"/>
                <a:cs typeface="Calibri" pitchFamily="34" charset="-120"/>
              </a:rPr>
              <a:t>3</a:t>
            </a:r>
            <a:endParaRPr lang="en-US" sz="4000" dirty="0"/>
          </a:p>
        </p:txBody>
      </p:sp>
      <p:sp>
        <p:nvSpPr>
          <p:cNvPr id="15" name="Text 13"/>
          <p:cNvSpPr txBox="1"/>
          <p:nvPr/>
        </p:nvSpPr>
        <p:spPr>
          <a:xfrm>
            <a:off x="9244584" y="3246120"/>
            <a:ext cx="2148840" cy="1005840"/>
          </a:xfrm>
          <a:prstGeom prst="rect">
            <a:avLst/>
          </a:prstGeom>
          <a:noFill/>
          <a:ln/>
        </p:spPr>
        <p:txBody>
          <a:bodyPr wrap="square" lIns="0" tIns="0" rIns="0" bIns="0" rtlCol="0" anchor="t"/>
          <a:lstStyle/>
          <a:p>
            <a:pPr indent="0" marL="0">
              <a:buNone/>
            </a:pPr>
            <a:r>
              <a:rPr lang="en-US" sz="1300" dirty="0">
                <a:solidFill>
                  <a:srgbClr val="C9D4E2"/>
                </a:solidFill>
                <a:latin typeface="Calibri" pitchFamily="34" charset="0"/>
                <a:ea typeface="Calibri" pitchFamily="34" charset="-122"/>
                <a:cs typeface="Calibri" pitchFamily="34" charset="-120"/>
              </a:rPr>
              <a:t>stops recorded by GPS: Gate 2, Coke Plant, Blast Furnace</a:t>
            </a:r>
            <a:endParaRPr lang="en-US" sz="1300" dirty="0"/>
          </a:p>
        </p:txBody>
      </p:sp>
      <p:sp>
        <p:nvSpPr>
          <p:cNvPr id="16" name="Text 14"/>
          <p:cNvSpPr txBox="1"/>
          <p:nvPr/>
        </p:nvSpPr>
        <p:spPr>
          <a:xfrm>
            <a:off x="731520" y="4709160"/>
            <a:ext cx="10698480" cy="822960"/>
          </a:xfrm>
          <a:prstGeom prst="rect">
            <a:avLst/>
          </a:prstGeom>
          <a:noFill/>
          <a:ln/>
        </p:spPr>
        <p:txBody>
          <a:bodyPr wrap="square" lIns="0" tIns="0" rIns="0" bIns="0" rtlCol="0" anchor="t"/>
          <a:lstStyle/>
          <a:p>
            <a:pPr indent="0" marL="0">
              <a:buNone/>
            </a:pPr>
            <a:r>
              <a:rPr lang="en-US" sz="1600" dirty="0">
                <a:solidFill>
                  <a:srgbClr val="C9D4E2"/>
                </a:solidFill>
                <a:latin typeface="Calibri" pitchFamily="34" charset="0"/>
                <a:ea typeface="Calibri" pitchFamily="34" charset="-122"/>
                <a:cs typeface="Calibri" pitchFamily="34" charset="-120"/>
              </a:rPr>
              <a:t>The rider knew where the cab was from the moment of booking, and the driver knew where each rider was waiting. Codes put the right riders in the right cab, and the charge landed on the right cost centre.</a:t>
            </a:r>
            <a:endParaRPr lang="en-US" sz="1600" dirty="0"/>
          </a:p>
        </p:txBody>
      </p:sp>
      <p:sp>
        <p:nvSpPr>
          <p:cNvPr id="17" name="Text 15"/>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900" dirty="0">
                <a:solidFill>
                  <a:srgbClr val="93A3B8"/>
                </a:solidFill>
                <a:latin typeface="Calibri" pitchFamily="34" charset="0"/>
                <a:ea typeface="Calibri" pitchFamily="34" charset="-122"/>
                <a:cs typeface="Calibri" pitchFamily="34" charset="-120"/>
              </a:rPr>
              <a:t>Plant Ride · Rider → Driver journey · recorded on the MVP with demo data</a:t>
            </a:r>
            <a:endParaRPr lang="en-US" sz="900" dirty="0"/>
          </a:p>
        </p:txBody>
      </p:sp>
      <p:sp>
        <p:nvSpPr>
          <p:cNvPr id="18" name="Text 16"/>
          <p:cNvSpPr txBox="1"/>
          <p:nvPr/>
        </p:nvSpPr>
        <p:spPr>
          <a:xfrm>
            <a:off x="11185855" y="6473952"/>
            <a:ext cx="457200" cy="228600"/>
          </a:xfrm>
          <a:prstGeom prst="rect">
            <a:avLst/>
          </a:prstGeom>
          <a:noFill/>
          <a:ln/>
        </p:spPr>
        <p:txBody>
          <a:bodyPr wrap="square" lIns="0" tIns="0" rIns="0" bIns="0" rtlCol="0" anchor="ctr"/>
          <a:lstStyle/>
          <a:p>
            <a:pPr algn="r" indent="0" marL="0">
              <a:buNone/>
            </a:pPr>
            <a:r>
              <a:rPr lang="en-US" sz="900" dirty="0">
                <a:solidFill>
                  <a:srgbClr val="93A3B8"/>
                </a:solidFill>
                <a:latin typeface="Calibri" pitchFamily="34" charset="0"/>
                <a:ea typeface="Calibri" pitchFamily="34" charset="-122"/>
                <a:cs typeface="Calibri" pitchFamily="34" charset="-120"/>
              </a:rPr>
              <a:t>36</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E1520"/>
        </a:solidFill>
      </p:bgPr>
    </p:bg>
    <p:spTree>
      <p:nvGrpSpPr>
        <p:cNvPr id="1" name=""/>
        <p:cNvGrpSpPr/>
        <p:nvPr/>
      </p:nvGrpSpPr>
      <p:grpSpPr>
        <a:xfrm>
          <a:off x="0" y="0"/>
          <a:ext cx="0" cy="0"/>
          <a:chOff x="0" y="0"/>
          <a:chExt cx="0" cy="0"/>
        </a:xfrm>
      </p:grpSpPr>
      <p:sp>
        <p:nvSpPr>
          <p:cNvPr id="2" name="Text 0"/>
          <p:cNvSpPr txBox="1"/>
          <p:nvPr/>
        </p:nvSpPr>
        <p:spPr>
          <a:xfrm>
            <a:off x="731520" y="1097280"/>
            <a:ext cx="6400800" cy="914400"/>
          </a:xfrm>
          <a:prstGeom prst="rect">
            <a:avLst/>
          </a:prstGeom>
          <a:noFill/>
          <a:ln/>
        </p:spPr>
        <p:txBody>
          <a:bodyPr wrap="square" lIns="0" tIns="0" rIns="0" bIns="0" rtlCol="0" anchor="ctr"/>
          <a:lstStyle/>
          <a:p>
            <a:pPr indent="0" marL="0">
              <a:buNone/>
            </a:pPr>
            <a:r>
              <a:rPr lang="en-US" sz="4800" b="1" dirty="0">
                <a:solidFill>
                  <a:srgbClr val="FFFFFF"/>
                </a:solidFill>
                <a:latin typeface="Calibri" pitchFamily="34" charset="0"/>
                <a:ea typeface="Calibri" pitchFamily="34" charset="-122"/>
                <a:cs typeface="Calibri" pitchFamily="34" charset="-120"/>
              </a:rPr>
              <a:t>Thank you</a:t>
            </a:r>
            <a:endParaRPr lang="en-US" sz="4800" dirty="0"/>
          </a:p>
        </p:txBody>
      </p:sp>
      <p:sp>
        <p:nvSpPr>
          <p:cNvPr id="3" name="Text 1"/>
          <p:cNvSpPr txBox="1"/>
          <p:nvPr/>
        </p:nvSpPr>
        <p:spPr>
          <a:xfrm>
            <a:off x="731520" y="2057400"/>
            <a:ext cx="6400800" cy="365760"/>
          </a:xfrm>
          <a:prstGeom prst="rect">
            <a:avLst/>
          </a:prstGeom>
          <a:noFill/>
          <a:ln/>
        </p:spPr>
        <p:txBody>
          <a:bodyPr wrap="square" lIns="0" tIns="0" rIns="0" bIns="0" rtlCol="0" anchor="ctr"/>
          <a:lstStyle/>
          <a:p>
            <a:pPr indent="0" marL="0">
              <a:buNone/>
            </a:pPr>
            <a:r>
              <a:rPr lang="en-US" sz="1800" dirty="0">
                <a:solidFill>
                  <a:srgbClr val="C9D4E2"/>
                </a:solidFill>
                <a:latin typeface="Calibri" pitchFamily="34" charset="0"/>
                <a:ea typeface="Calibri" pitchFamily="34" charset="-122"/>
                <a:cs typeface="Calibri" pitchFamily="34" charset="-120"/>
              </a:rPr>
              <a:t>Plant Ride MVP · SRM ECO TECH for LHS</a:t>
            </a:r>
            <a:endParaRPr lang="en-US" sz="1800" dirty="0"/>
          </a:p>
        </p:txBody>
      </p:sp>
      <p:sp>
        <p:nvSpPr>
          <p:cNvPr id="4" name="Shape 2"/>
          <p:cNvSpPr/>
          <p:nvPr/>
        </p:nvSpPr>
        <p:spPr>
          <a:xfrm>
            <a:off x="731520" y="2926080"/>
            <a:ext cx="10698480" cy="2148840"/>
          </a:xfrm>
          <a:prstGeom prst="roundRect">
            <a:avLst>
              <a:gd name="adj" fmla="val 5957"/>
            </a:avLst>
          </a:prstGeom>
          <a:solidFill>
            <a:srgbClr val="1A2533"/>
          </a:solidFill>
          <a:ln w="6350">
            <a:solidFill>
              <a:srgbClr val="1A2533"/>
            </a:solidFill>
            <a:prstDash val="solid"/>
          </a:ln>
        </p:spPr>
      </p:sp>
      <p:sp>
        <p:nvSpPr>
          <p:cNvPr id="5" name="Text 3"/>
          <p:cNvSpPr txBox="1"/>
          <p:nvPr/>
        </p:nvSpPr>
        <p:spPr>
          <a:xfrm>
            <a:off x="1005840" y="3154680"/>
            <a:ext cx="5486400" cy="274320"/>
          </a:xfrm>
          <a:prstGeom prst="rect">
            <a:avLst/>
          </a:prstGeom>
          <a:noFill/>
          <a:ln/>
        </p:spPr>
        <p:txBody>
          <a:bodyPr wrap="square" lIns="0" tIns="0" rIns="0" bIns="0" rtlCol="0" anchor="ctr"/>
          <a:lstStyle/>
          <a:p>
            <a:pPr indent="0" marL="0">
              <a:buNone/>
            </a:pPr>
            <a:r>
              <a:rPr lang="en-US" sz="1200" b="1" spc="200" kern="0" dirty="0">
                <a:solidFill>
                  <a:srgbClr val="E85D04"/>
                </a:solidFill>
                <a:latin typeface="Calibri" pitchFamily="34" charset="0"/>
                <a:ea typeface="Calibri" pitchFamily="34" charset="-122"/>
                <a:cs typeface="Calibri" pitchFamily="34" charset="-120"/>
              </a:rPr>
              <a:t>HOW THIS WAS RECORDED</a:t>
            </a:r>
            <a:endParaRPr lang="en-US" sz="1200" dirty="0"/>
          </a:p>
        </p:txBody>
      </p:sp>
      <p:sp>
        <p:nvSpPr>
          <p:cNvPr id="6" name="Text 4"/>
          <p:cNvSpPr txBox="1"/>
          <p:nvPr/>
        </p:nvSpPr>
        <p:spPr>
          <a:xfrm>
            <a:off x="1005840" y="3520440"/>
            <a:ext cx="10149840" cy="14630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C9D4E2"/>
                </a:solidFill>
                <a:latin typeface="Calibri" pitchFamily="34" charset="0"/>
                <a:ea typeface="Calibri" pitchFamily="34" charset="-122"/>
                <a:cs typeface="Calibri" pitchFamily="34" charset="-120"/>
              </a:rPr>
              <a:t>Every screen is the running MVP with its demo data, in Chrome at phone size; nothing is mocked or edited.</a:t>
            </a:r>
            <a:endParaRPr lang="en-US" sz="1400" dirty="0"/>
          </a:p>
          <a:p>
            <a:pPr marL="342900" indent="-342900">
              <a:spcAft>
                <a:spcPts val="600"/>
              </a:spcAft>
              <a:buSzPct val="100000"/>
              <a:buChar char="•"/>
            </a:pPr>
            <a:r>
              <a:rPr lang="en-US" sz="1400" dirty="0">
                <a:solidFill>
                  <a:srgbClr val="C9D4E2"/>
                </a:solidFill>
                <a:latin typeface="Calibri" pitchFamily="34" charset="0"/>
                <a:ea typeface="Calibri" pitchFamily="34" charset="-122"/>
                <a:cs typeface="Calibri" pitchFamily="34" charset="-120"/>
              </a:rPr>
              <a:t>Rider and driver are one continuous run, so the booking, the OTP and the charge are the same on both phones.</a:t>
            </a:r>
            <a:endParaRPr lang="en-US" sz="1400" dirty="0"/>
          </a:p>
          <a:p>
            <a:pPr marL="342900" indent="-342900">
              <a:spcAft>
                <a:spcPts val="600"/>
              </a:spcAft>
              <a:buSzPct val="100000"/>
              <a:buChar char="•"/>
            </a:pPr>
            <a:r>
              <a:rPr lang="en-US" sz="1400" dirty="0">
                <a:solidFill>
                  <a:srgbClr val="C9D4E2"/>
                </a:solidFill>
                <a:latin typeface="Calibri" pitchFamily="34" charset="0"/>
                <a:ea typeface="Calibri" pitchFamily="34" charset="-122"/>
                <a:cs typeface="Calibri" pitchFamily="34" charset="-120"/>
              </a:rPr>
              <a:t>The clock was set to a morning shift change (about 08:40) and phone positions were set along Route 1, the way the phones would report them.</a:t>
            </a:r>
            <a:endParaRPr lang="en-US" sz="1400" dirty="0"/>
          </a:p>
          <a:p>
            <a:pPr marL="342900" indent="-342900">
              <a:spcAft>
                <a:spcPts val="600"/>
              </a:spcAft>
              <a:buSzPct val="100000"/>
              <a:buChar char="•"/>
            </a:pPr>
            <a:r>
              <a:rPr lang="en-US" sz="1400" dirty="0">
                <a:solidFill>
                  <a:srgbClr val="C9D4E2"/>
                </a:solidFill>
                <a:latin typeface="Calibri" pitchFamily="34" charset="0"/>
                <a:ea typeface="Calibri" pitchFamily="34" charset="-122"/>
                <a:cs typeface="Calibri" pitchFamily="34" charset="-120"/>
              </a:rPr>
              <a:t>The drive itself was compressed to seconds, so trip times read the same minute. Plant coordinates in the demo data are fictional.</a:t>
            </a:r>
            <a:endParaRPr lang="en-US" sz="1400" dirty="0"/>
          </a:p>
        </p:txBody>
      </p:sp>
      <p:sp>
        <p:nvSpPr>
          <p:cNvPr id="7" name="Text 5"/>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900" dirty="0">
                <a:solidFill>
                  <a:srgbClr val="93A3B8"/>
                </a:solidFill>
                <a:latin typeface="Calibri" pitchFamily="34" charset="0"/>
                <a:ea typeface="Calibri" pitchFamily="34" charset="-122"/>
                <a:cs typeface="Calibri" pitchFamily="34" charset="-120"/>
              </a:rPr>
              <a:t>Plant Ride · Rider → Driver journey · recorded on the MVP with demo data</a:t>
            </a:r>
            <a:endParaRPr lang="en-US" sz="900" dirty="0"/>
          </a:p>
        </p:txBody>
      </p:sp>
      <p:sp>
        <p:nvSpPr>
          <p:cNvPr id="8" name="Text 6"/>
          <p:cNvSpPr txBox="1"/>
          <p:nvPr/>
        </p:nvSpPr>
        <p:spPr>
          <a:xfrm>
            <a:off x="11185855" y="6473952"/>
            <a:ext cx="457200" cy="228600"/>
          </a:xfrm>
          <a:prstGeom prst="rect">
            <a:avLst/>
          </a:prstGeom>
          <a:noFill/>
          <a:ln/>
        </p:spPr>
        <p:txBody>
          <a:bodyPr wrap="square" lIns="0" tIns="0" rIns="0" bIns="0" rtlCol="0" anchor="ctr"/>
          <a:lstStyle/>
          <a:p>
            <a:pPr algn="r" indent="0" marL="0">
              <a:buNone/>
            </a:pPr>
            <a:r>
              <a:rPr lang="en-US" sz="900" dirty="0">
                <a:solidFill>
                  <a:srgbClr val="93A3B8"/>
                </a:solidFill>
                <a:latin typeface="Calibri" pitchFamily="34" charset="0"/>
                <a:ea typeface="Calibri" pitchFamily="34" charset="-122"/>
                <a:cs typeface="Calibri" pitchFamily="34" charset="-120"/>
              </a:rPr>
              <a:t>37</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37</Slides>
  <Notes>37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37</vt:i4>
      </vt:variant>
    </vt:vector>
  </HeadingPairs>
  <TitlesOfParts>
    <vt:vector size="4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vector>
  </TitlesOfParts>
  <Company>SRM ECO TECH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Plant Ride · Rider → Driver journey</dc:title>
  <dc:subject>PptxGenJS Presentation</dc:subject>
  <dc:creator>SRM ECO TECH</dc:creator>
  <cp:lastModifiedBy>SRM ECO TECH</cp:lastModifiedBy>
  <cp:revision>1</cp:revision>
  <dcterms:created xsi:type="dcterms:W3CDTF">2026-10-01T17:06:56Z</dcterms:created>
  <dcterms:modified xsi:type="dcterms:W3CDTF">2026-10-01T17:06:56Z</dcterms:modified>
</cp:coreProperties>
</file>