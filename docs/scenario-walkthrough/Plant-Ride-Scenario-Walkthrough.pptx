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single booking seen by three people: A. Raghavan who rides, S. Kumar who drives cab C-12, and R. Kapoor at the transport desk. Everything shown was recorded on the running MVP.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cast are demo accounts in the MVP. Password for all: Plant@123.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across a column to see the same moment on all three screens.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new availability view: it answers "when will a ride reach me" even when the shared option says every cab is busy or full.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video is embedded; click it in Slide Show to play. The same file is in the folder next to this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jpg"/><Relationship Id="rId5" Type="http://schemas.openxmlformats.org/officeDocument/2006/relationships/image" Target="../media/image-8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image" Target="../media/image-10-4.jpg"/><Relationship Id="rId5" Type="http://schemas.openxmlformats.org/officeDocument/2006/relationships/image" Target="../media/image-10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image" Target="../media/image-11-4.jpg"/><Relationship Id="rId5" Type="http://schemas.openxmlformats.org/officeDocument/2006/relationships/image" Target="../media/image-11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video" Target="../media/media-21-1.mp4"/><Relationship Id="rId2" Type="http://schemas.microsoft.com/office/2007/relationships/media" Target="../media/media-21-1.mp4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RIDE · A JOURNEY RECORDED ON THE MVP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0876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shift change at Gate 2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632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rider, one driver and the transport desk follow the same booking from start to finish.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069080"/>
            <a:ext cx="420624" cy="420624"/>
          </a:xfrm>
          <a:prstGeom prst="ellipse">
            <a:avLst/>
          </a:prstGeom>
          <a:solidFill>
            <a:srgbClr val="E85D04"/>
          </a:solidFill>
          <a:ln w="6350">
            <a:solidFill>
              <a:srgbClr val="E85D0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4069080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Raghavan</a:t>
            </a:r>
            <a:pPr indent="0" marL="0">
              <a:buNone/>
            </a:pPr>
            <a:r>
              <a:rPr lang="en-US" sz="14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LHS-40218 · Operations · CC-4471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4672584"/>
            <a:ext cx="420624" cy="420624"/>
          </a:xfrm>
          <a:prstGeom prst="ellipse">
            <a:avLst/>
          </a:prstGeom>
          <a:solidFill>
            <a:srgbClr val="00A896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4672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4672584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Kumar</a:t>
            </a:r>
            <a:pPr indent="0" marL="0">
              <a:buNone/>
            </a:pPr>
            <a:r>
              <a:rPr lang="en-US" sz="14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DRV-2281 · cab C-12 · MH 12 AB 4412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5276088"/>
            <a:ext cx="420624" cy="420624"/>
          </a:xfrm>
          <a:prstGeom prst="ellipse">
            <a:avLst/>
          </a:prstGeom>
          <a:solidFill>
            <a:srgbClr val="5B7A99"/>
          </a:solidFill>
          <a:ln w="6350">
            <a:solidFill>
              <a:srgbClr val="5B7A9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5276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298448" y="5276088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Kapoor</a:t>
            </a:r>
            <a:pPr indent="0" marL="0">
              <a:buNone/>
            </a:pPr>
            <a:r>
              <a:rPr lang="en-US" sz="14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Fleet admin and transport desk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3588" y="635508"/>
            <a:ext cx="2593516" cy="5495544"/>
          </a:xfrm>
          <a:prstGeom prst="roundRect">
            <a:avLst>
              <a:gd name="adj" fmla="val 5641"/>
            </a:avLst>
          </a:prstGeom>
          <a:solidFill>
            <a:srgbClr val="16202B"/>
          </a:solidFill>
          <a:ln w="9525">
            <a:solidFill>
              <a:srgbClr val="16202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5" name="Image 0" descr="r09-match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685800"/>
            <a:ext cx="2492932" cy="539496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 30 September 2026 · demo data · SRM ECO TECH for LHS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meeting at 09:00, and no cab free at 08:40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760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Raghavan (Operations) is at Gate 2 and needs to reach the Blast Furnace. Every cab is busy or full, and the next driver has not signed on yet.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books anyway. The app tells him when a ride can come and which cabs are near, and keeps searching. When S. Kumar signs on with cab C-12, the engine pools him with two colleagues already waiting. He boards with an OTP, rides, is charged to his cost centre and rates the trip. The desk sees every step.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5760720" cy="621792"/>
          </a:xfrm>
          <a:prstGeom prst="roundRect">
            <a:avLst>
              <a:gd name="adj" fmla="val 14706"/>
            </a:avLst>
          </a:prstGeom>
          <a:solidFill>
            <a:srgbClr val="FFEDE0"/>
          </a:solidFill>
          <a:ln w="6350">
            <a:solidFill>
              <a:srgbClr val="FFED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4261104"/>
            <a:ext cx="420624" cy="420624"/>
          </a:xfrm>
          <a:prstGeom prst="ellipse">
            <a:avLst/>
          </a:prstGeom>
          <a:solidFill>
            <a:srgbClr val="E85D04"/>
          </a:solidFill>
          <a:ln w="6350">
            <a:solidFill>
              <a:srgbClr val="E85D0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4261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43584" y="42245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· </a:t>
            </a:r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Raghavan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43584" y="449884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LHS-40218 · Operations · CC-4471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910328"/>
            <a:ext cx="5760720" cy="621792"/>
          </a:xfrm>
          <a:prstGeom prst="roundRect">
            <a:avLst>
              <a:gd name="adj" fmla="val 14706"/>
            </a:avLst>
          </a:prstGeom>
          <a:solidFill>
            <a:srgbClr val="DDF5F1"/>
          </a:solidFill>
          <a:ln w="6350">
            <a:solidFill>
              <a:srgbClr val="DDF5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5010912"/>
            <a:ext cx="420624" cy="420624"/>
          </a:xfrm>
          <a:prstGeom prst="ellipse">
            <a:avLst/>
          </a:prstGeom>
          <a:solidFill>
            <a:srgbClr val="00A896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5010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243584" y="497433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· </a:t>
            </a:r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Kumar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43584" y="5248656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DRV-2281 · cab C-12 · MH 12 AB 4412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5660136"/>
            <a:ext cx="5760720" cy="621792"/>
          </a:xfrm>
          <a:prstGeom prst="roundRect">
            <a:avLst>
              <a:gd name="adj" fmla="val 14706"/>
            </a:avLst>
          </a:prstGeom>
          <a:solidFill>
            <a:srgbClr val="E6ECF2"/>
          </a:solidFill>
          <a:ln w="6350">
            <a:solidFill>
              <a:srgbClr val="E6EC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5760720"/>
            <a:ext cx="420624" cy="420624"/>
          </a:xfrm>
          <a:prstGeom prst="ellipse">
            <a:avLst/>
          </a:prstGeom>
          <a:solidFill>
            <a:srgbClr val="5B7A99"/>
          </a:solidFill>
          <a:ln w="6350">
            <a:solidFill>
              <a:srgbClr val="5B7A9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5760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243584" y="57241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</a:t>
            </a:r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Kapoor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43584" y="5998464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admin and transport desk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0" y="1463040"/>
            <a:ext cx="4800600" cy="1024128"/>
          </a:xfrm>
          <a:prstGeom prst="roundRect">
            <a:avLst>
              <a:gd name="adj" fmla="val 8929"/>
            </a:avLst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59168" y="1755648"/>
            <a:ext cx="420624" cy="420624"/>
          </a:xfrm>
          <a:prstGeom prst="ellipse">
            <a:avLst/>
          </a:prstGeom>
          <a:solidFill>
            <a:srgbClr val="16202B"/>
          </a:solidFill>
          <a:ln w="6350">
            <a:solidFill>
              <a:srgbClr val="1620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59168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16093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when a ride can come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19385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no cab free: the earliest cab, the shuttle, and nearby pickup points.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58000" y="2670048"/>
            <a:ext cx="4800600" cy="1024128"/>
          </a:xfrm>
          <a:prstGeom prst="roundRect">
            <a:avLst>
              <a:gd name="adj" fmla="val 8929"/>
            </a:avLst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59168" y="2962656"/>
            <a:ext cx="420624" cy="420624"/>
          </a:xfrm>
          <a:prstGeom prst="ellipse">
            <a:avLst/>
          </a:prstGeom>
          <a:solidFill>
            <a:srgbClr val="16202B"/>
          </a:solidFill>
          <a:ln w="6350">
            <a:solidFill>
              <a:srgbClr val="16202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059168" y="2962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680960" y="28163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without a call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680960" y="314553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pools waiting riders the moment a driver signs on.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858000" y="3877056"/>
            <a:ext cx="4800600" cy="1024128"/>
          </a:xfrm>
          <a:prstGeom prst="roundRect">
            <a:avLst>
              <a:gd name="adj" fmla="val 8929"/>
            </a:avLst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59168" y="4169664"/>
            <a:ext cx="420624" cy="420624"/>
          </a:xfrm>
          <a:prstGeom prst="ellipse">
            <a:avLst/>
          </a:prstGeom>
          <a:solidFill>
            <a:srgbClr val="16202B"/>
          </a:solidFill>
          <a:ln w="6350">
            <a:solidFill>
              <a:srgbClr val="16202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059168" y="4169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680960" y="4023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rider, right cab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680960" y="435254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rider boards with a 4-digit OTP; three riders fill the 3-seat cap.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858000" y="5084064"/>
            <a:ext cx="4800600" cy="1024128"/>
          </a:xfrm>
          <a:prstGeom prst="roundRect">
            <a:avLst>
              <a:gd name="adj" fmla="val 8929"/>
            </a:avLst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59168" y="5376672"/>
            <a:ext cx="420624" cy="420624"/>
          </a:xfrm>
          <a:prstGeom prst="ellipse">
            <a:avLst/>
          </a:prstGeom>
          <a:solidFill>
            <a:srgbClr val="16202B"/>
          </a:solidFill>
          <a:ln w="6350">
            <a:solidFill>
              <a:srgbClr val="16202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059168" y="5376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680960" y="52303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rupee on a cost centre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7680960" y="55595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₹22.86 of the ₹61.20 trip goes to CC-4471 · Operations.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Ride · Morning shift change at Gate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AT A GLANCE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booking, three screens, six moments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057400" y="1481328"/>
            <a:ext cx="329184" cy="329184"/>
          </a:xfrm>
          <a:prstGeom prst="ellipse">
            <a:avLst/>
          </a:prstGeom>
          <a:solidFill>
            <a:srgbClr val="16202B"/>
          </a:solidFill>
          <a:ln w="6350">
            <a:solidFill>
              <a:srgbClr val="16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5740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1463040"/>
            <a:ext cx="1102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Books, no cab free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62629" y="1481328"/>
            <a:ext cx="329184" cy="329184"/>
          </a:xfrm>
          <a:prstGeom prst="ellipse">
            <a:avLst/>
          </a:prstGeom>
          <a:solidFill>
            <a:srgbClr val="16202B"/>
          </a:solidFill>
          <a:ln w="6350">
            <a:solidFill>
              <a:srgbClr val="1620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62629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074109" y="1463040"/>
            <a:ext cx="1102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signs 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267858" y="1481328"/>
            <a:ext cx="329184" cy="329184"/>
          </a:xfrm>
          <a:prstGeom prst="ellipse">
            <a:avLst/>
          </a:prstGeom>
          <a:solidFill>
            <a:srgbClr val="16202B"/>
          </a:solidFill>
          <a:ln w="6350">
            <a:solidFill>
              <a:srgbClr val="1620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67858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79338" y="1463040"/>
            <a:ext cx="1102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 at Gate 2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73088" y="1481328"/>
            <a:ext cx="329184" cy="329184"/>
          </a:xfrm>
          <a:prstGeom prst="ellipse">
            <a:avLst/>
          </a:prstGeom>
          <a:solidFill>
            <a:srgbClr val="16202B"/>
          </a:solidFill>
          <a:ln w="6350">
            <a:solidFill>
              <a:srgbClr val="1620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73088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284568" y="1463040"/>
            <a:ext cx="1102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way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478317" y="1481328"/>
            <a:ext cx="329184" cy="329184"/>
          </a:xfrm>
          <a:prstGeom prst="ellipse">
            <a:avLst/>
          </a:prstGeom>
          <a:solidFill>
            <a:srgbClr val="16202B"/>
          </a:solidFill>
          <a:ln w="6350">
            <a:solidFill>
              <a:srgbClr val="1620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78317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889797" y="1463040"/>
            <a:ext cx="1102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083546" y="1481328"/>
            <a:ext cx="329184" cy="329184"/>
          </a:xfrm>
          <a:prstGeom prst="ellipse">
            <a:avLst/>
          </a:prstGeom>
          <a:solidFill>
            <a:srgbClr val="16202B"/>
          </a:solidFill>
          <a:ln w="6350">
            <a:solidFill>
              <a:srgbClr val="1620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83546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495026" y="1463040"/>
            <a:ext cx="1102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2313432"/>
            <a:ext cx="457200" cy="457200"/>
          </a:xfrm>
          <a:prstGeom prst="ellipse">
            <a:avLst/>
          </a:prstGeom>
          <a:solidFill>
            <a:srgbClr val="E85D04"/>
          </a:solidFill>
          <a:ln w="6350">
            <a:solidFill>
              <a:srgbClr val="E85D0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224028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Raghavan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057400" y="2057400"/>
            <a:ext cx="1468069" cy="1188720"/>
          </a:xfrm>
          <a:prstGeom prst="roundRect">
            <a:avLst>
              <a:gd name="adj" fmla="val 7692"/>
            </a:avLst>
          </a:prstGeom>
          <a:solidFill>
            <a:srgbClr val="FFEDE0"/>
          </a:solidFill>
          <a:ln w="6350">
            <a:solidFill>
              <a:srgbClr val="FFEDE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176272" y="2167128"/>
            <a:ext cx="123032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when a ride can come; waits in the queue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662629" y="2057400"/>
            <a:ext cx="1468069" cy="1188720"/>
          </a:xfrm>
          <a:prstGeom prst="roundRect">
            <a:avLst>
              <a:gd name="adj" fmla="val 7692"/>
            </a:avLst>
          </a:prstGeom>
          <a:solidFill>
            <a:srgbClr val="FFEDE0"/>
          </a:solidFill>
          <a:ln w="6350">
            <a:solidFill>
              <a:srgbClr val="FFEDE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781501" y="2167128"/>
            <a:ext cx="123032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to C-12: vehicle, driver, OTP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267858" y="2057400"/>
            <a:ext cx="1468069" cy="1188720"/>
          </a:xfrm>
          <a:prstGeom prst="roundRect">
            <a:avLst>
              <a:gd name="adj" fmla="val 7692"/>
            </a:avLst>
          </a:prstGeom>
          <a:solidFill>
            <a:srgbClr val="FFEDE0"/>
          </a:solidFill>
          <a:ln w="6350">
            <a:solidFill>
              <a:srgbClr val="FFEDE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386730" y="2167128"/>
            <a:ext cx="123032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his OTP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873088" y="2057400"/>
            <a:ext cx="1468069" cy="1188720"/>
          </a:xfrm>
          <a:prstGeom prst="roundRect">
            <a:avLst>
              <a:gd name="adj" fmla="val 7692"/>
            </a:avLst>
          </a:prstGeom>
          <a:solidFill>
            <a:srgbClr val="FFEDE0"/>
          </a:solidFill>
          <a:ln w="6350">
            <a:solidFill>
              <a:srgbClr val="FFEDE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991960" y="2167128"/>
            <a:ext cx="123032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in progress, drop in 16 min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478317" y="2057400"/>
            <a:ext cx="1468069" cy="1188720"/>
          </a:xfrm>
          <a:prstGeom prst="roundRect">
            <a:avLst>
              <a:gd name="adj" fmla="val 7692"/>
            </a:avLst>
          </a:prstGeom>
          <a:solidFill>
            <a:srgbClr val="FFEDE0"/>
          </a:solidFill>
          <a:ln w="6350">
            <a:solidFill>
              <a:srgbClr val="FFEDE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97189" y="2167128"/>
            <a:ext cx="123032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Charged ₹22.86 to CC-4471; rates 5★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0083546" y="2057400"/>
            <a:ext cx="1468069" cy="1188720"/>
          </a:xfrm>
          <a:prstGeom prst="roundRect">
            <a:avLst>
              <a:gd name="adj" fmla="val 7692"/>
            </a:avLst>
          </a:prstGeom>
          <a:solidFill>
            <a:srgbClr val="FFEDE0"/>
          </a:solidFill>
          <a:ln w="6350">
            <a:solidFill>
              <a:srgbClr val="FFEDE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202418" y="2167128"/>
            <a:ext cx="123032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record every step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48640" y="3776472"/>
            <a:ext cx="457200" cy="457200"/>
          </a:xfrm>
          <a:prstGeom prst="ellipse">
            <a:avLst/>
          </a:prstGeom>
          <a:solidFill>
            <a:srgbClr val="00A896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8640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097280" y="370332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Kumar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2057400" y="3520440"/>
            <a:ext cx="1468069" cy="1188720"/>
          </a:xfrm>
          <a:prstGeom prst="roundRect">
            <a:avLst>
              <a:gd name="adj" fmla="val 7692"/>
            </a:avLst>
          </a:prstGeom>
          <a:solidFill>
            <a:srgbClr val="DDF5F1"/>
          </a:solidFill>
          <a:ln w="6350">
            <a:solidFill>
              <a:srgbClr val="DDF5F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176272" y="3630168"/>
            <a:ext cx="123032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 duty yet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3662629" y="3520440"/>
            <a:ext cx="1468069" cy="1188720"/>
          </a:xfrm>
          <a:prstGeom prst="roundRect">
            <a:avLst>
              <a:gd name="adj" fmla="val 7692"/>
            </a:avLst>
          </a:prstGeom>
          <a:solidFill>
            <a:srgbClr val="DDF5F1"/>
          </a:solidFill>
          <a:ln w="6350">
            <a:solidFill>
              <a:srgbClr val="DDF5F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781501" y="3630168"/>
            <a:ext cx="123032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check, sign on: 3 riders at Gate 2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267858" y="3520440"/>
            <a:ext cx="1468069" cy="1188720"/>
          </a:xfrm>
          <a:prstGeom prst="roundRect">
            <a:avLst>
              <a:gd name="adj" fmla="val 7692"/>
            </a:avLst>
          </a:prstGeom>
          <a:solidFill>
            <a:srgbClr val="DDF5F1"/>
          </a:solidFill>
          <a:ln w="6350">
            <a:solidFill>
              <a:srgbClr val="DDF5F1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386730" y="3630168"/>
            <a:ext cx="123032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Boards each rider by OTP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873088" y="3520440"/>
            <a:ext cx="1468069" cy="1188720"/>
          </a:xfrm>
          <a:prstGeom prst="roundRect">
            <a:avLst>
              <a:gd name="adj" fmla="val 7692"/>
            </a:avLst>
          </a:prstGeom>
          <a:solidFill>
            <a:srgbClr val="DDF5F1"/>
          </a:solidFill>
          <a:ln w="6350">
            <a:solidFill>
              <a:srgbClr val="DDF5F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991960" y="3630168"/>
            <a:ext cx="123032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M. Iyer at Coke Plant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478317" y="3520440"/>
            <a:ext cx="1468069" cy="1188720"/>
          </a:xfrm>
          <a:prstGeom prst="roundRect">
            <a:avLst>
              <a:gd name="adj" fmla="val 7692"/>
            </a:avLst>
          </a:prstGeom>
          <a:solidFill>
            <a:srgbClr val="DDF5F1"/>
          </a:solidFill>
          <a:ln w="6350">
            <a:solidFill>
              <a:srgbClr val="DDF5F1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597189" y="3630168"/>
            <a:ext cx="123032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drop closes the trip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10083546" y="3520440"/>
            <a:ext cx="1468069" cy="1188720"/>
          </a:xfrm>
          <a:prstGeom prst="roundRect">
            <a:avLst>
              <a:gd name="adj" fmla="val 7692"/>
            </a:avLst>
          </a:prstGeom>
          <a:solidFill>
            <a:srgbClr val="DDF5F1"/>
          </a:solidFill>
          <a:ln w="6350">
            <a:solidFill>
              <a:srgbClr val="DDF5F1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2418" y="3630168"/>
            <a:ext cx="123032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off: GPS matches odometer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48640" y="5239512"/>
            <a:ext cx="457200" cy="457200"/>
          </a:xfrm>
          <a:prstGeom prst="ellipse">
            <a:avLst/>
          </a:prstGeom>
          <a:solidFill>
            <a:srgbClr val="5B7A99"/>
          </a:solidFill>
          <a:ln w="6350">
            <a:solidFill>
              <a:srgbClr val="5B7A99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48640" y="5239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1097280" y="516636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Kapoor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2057400" y="4983480"/>
            <a:ext cx="1468069" cy="1188720"/>
          </a:xfrm>
          <a:prstGeom prst="roundRect">
            <a:avLst>
              <a:gd name="adj" fmla="val 7692"/>
            </a:avLst>
          </a:prstGeom>
          <a:solidFill>
            <a:srgbClr val="E6ECF2"/>
          </a:solidFill>
          <a:ln w="6350">
            <a:solidFill>
              <a:srgbClr val="E6ECF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2176272" y="5093208"/>
            <a:ext cx="123032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explains why no cab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3662629" y="4983480"/>
            <a:ext cx="1468069" cy="1188720"/>
          </a:xfrm>
          <a:prstGeom prst="roundRect">
            <a:avLst>
              <a:gd name="adj" fmla="val 7692"/>
            </a:avLst>
          </a:prstGeom>
          <a:solidFill>
            <a:srgbClr val="E6ECF2"/>
          </a:solidFill>
          <a:ln w="6350">
            <a:solidFill>
              <a:srgbClr val="E6ECF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781501" y="5093208"/>
            <a:ext cx="123032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clears by itself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5267858" y="4983480"/>
            <a:ext cx="1468069" cy="1188720"/>
          </a:xfrm>
          <a:prstGeom prst="roundRect">
            <a:avLst>
              <a:gd name="adj" fmla="val 7692"/>
            </a:avLst>
          </a:prstGeom>
          <a:solidFill>
            <a:srgbClr val="E6ECF2"/>
          </a:solidFill>
          <a:ln w="6350">
            <a:solidFill>
              <a:srgbClr val="E6ECF2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386730" y="5093208"/>
            <a:ext cx="123032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C-12 on trip, 3 of 3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6873088" y="4983480"/>
            <a:ext cx="1468069" cy="1188720"/>
          </a:xfrm>
          <a:prstGeom prst="roundRect">
            <a:avLst>
              <a:gd name="adj" fmla="val 7692"/>
            </a:avLst>
          </a:prstGeom>
          <a:solidFill>
            <a:srgbClr val="E6ECF2"/>
          </a:solidFill>
          <a:ln w="6350">
            <a:solidFill>
              <a:srgbClr val="E6ECF2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991960" y="5093208"/>
            <a:ext cx="123032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board, KPIs, alerts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8478317" y="4983480"/>
            <a:ext cx="1468069" cy="1188720"/>
          </a:xfrm>
          <a:prstGeom prst="roundRect">
            <a:avLst>
              <a:gd name="adj" fmla="val 7692"/>
            </a:avLst>
          </a:prstGeom>
          <a:solidFill>
            <a:srgbClr val="E6ECF2"/>
          </a:solidFill>
          <a:ln w="6350">
            <a:solidFill>
              <a:srgbClr val="E6ECF2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597189" y="5093208"/>
            <a:ext cx="123032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split by distance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10083546" y="4983480"/>
            <a:ext cx="1468069" cy="1188720"/>
          </a:xfrm>
          <a:prstGeom prst="roundRect">
            <a:avLst>
              <a:gd name="adj" fmla="val 7692"/>
            </a:avLst>
          </a:prstGeom>
          <a:solidFill>
            <a:srgbClr val="E6ECF2"/>
          </a:solidFill>
          <a:ln w="6350">
            <a:solidFill>
              <a:srgbClr val="E6ECF2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10202418" y="5093208"/>
            <a:ext cx="123032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trail, who and when</a:t>
            </a:r>
            <a:endParaRPr lang="en-US" sz="1150" dirty="0"/>
          </a:p>
        </p:txBody>
      </p:sp>
      <p:sp>
        <p:nvSpPr>
          <p:cNvPr id="67" name="Text 6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Ride · Morning shift change at Gate 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OF 3 · RIDER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Raghavan books, waits, and is matched automatically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3429000"/>
            <a:ext cx="4754880" cy="868680"/>
          </a:xfrm>
          <a:prstGeom prst="roundRect">
            <a:avLst>
              <a:gd name="adj" fmla="val 12632"/>
            </a:avLst>
          </a:prstGeom>
          <a:solidFill>
            <a:srgbClr val="1A2533"/>
          </a:solidFill>
          <a:ln w="6350">
            <a:solidFill>
              <a:srgbClr val="1A25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3584448"/>
            <a:ext cx="548640" cy="548640"/>
          </a:xfrm>
          <a:prstGeom prst="ellipse">
            <a:avLst/>
          </a:prstGeom>
          <a:solidFill>
            <a:srgbClr val="E85D04"/>
          </a:solidFill>
          <a:ln w="6350">
            <a:solidFill>
              <a:srgbClr val="E85D0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3584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27632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Raghavan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27632" y="3886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LHS-40218 · Operations · CC-4471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57200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Gate 2 → Blast Furnace with no cab free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when a ride can come and which cabs are near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to C-12, boards by OTP, charged ₹22.86 to CC-4471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215323" y="726948"/>
            <a:ext cx="2466757" cy="5221224"/>
          </a:xfrm>
          <a:prstGeom prst="roundRect">
            <a:avLst>
              <a:gd name="adj" fmla="val 5931"/>
            </a:avLst>
          </a:prstGeom>
          <a:solidFill>
            <a:srgbClr val="16202B"/>
          </a:solidFill>
          <a:ln w="9525">
            <a:solidFill>
              <a:srgbClr val="16202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r06-when-ride-com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5615" y="777240"/>
            <a:ext cx="2366173" cy="512064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Ride · Morning shift change at Gate 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E85D04"/>
          </a:solidFill>
          <a:ln w="6350">
            <a:solidFill>
              <a:srgbClr val="E85D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657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· STEPS 1 TO 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7607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and book Gate 2 to the Blast Furnace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07691" y="1321308"/>
            <a:ext cx="1980846" cy="4169664"/>
          </a:xfrm>
          <a:prstGeom prst="roundRect">
            <a:avLst>
              <a:gd name="adj" fmla="val 7386"/>
            </a:avLst>
          </a:prstGeom>
          <a:solidFill>
            <a:srgbClr val="16202B"/>
          </a:solidFill>
          <a:ln w="9525">
            <a:solidFill>
              <a:srgbClr val="16202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r01-sign-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983" y="1371600"/>
            <a:ext cx="1880262" cy="4069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57983" y="5623560"/>
            <a:ext cx="310896" cy="310896"/>
          </a:xfrm>
          <a:prstGeom prst="ellipse">
            <a:avLst/>
          </a:prstGeom>
          <a:solidFill>
            <a:srgbClr val="E85D04"/>
          </a:solidFill>
          <a:ln w="6350">
            <a:solidFill>
              <a:srgbClr val="E85D0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7983" y="5623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160319" y="5605272"/>
            <a:ext cx="23923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57983" y="6007608"/>
            <a:ext cx="27946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No. and password; one tap on a demo account.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39514" y="1321308"/>
            <a:ext cx="1980846" cy="4169664"/>
          </a:xfrm>
          <a:prstGeom prst="roundRect">
            <a:avLst>
              <a:gd name="adj" fmla="val 7386"/>
            </a:avLst>
          </a:prstGeom>
          <a:solidFill>
            <a:srgbClr val="16202B"/>
          </a:solidFill>
          <a:ln w="9525">
            <a:solidFill>
              <a:srgbClr val="16202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1" descr="r02-hom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806" y="1371600"/>
            <a:ext cx="1880262" cy="40690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689806" y="5623560"/>
            <a:ext cx="310896" cy="310896"/>
          </a:xfrm>
          <a:prstGeom prst="ellipse">
            <a:avLst/>
          </a:prstGeom>
          <a:solidFill>
            <a:srgbClr val="E85D04"/>
          </a:solidFill>
          <a:ln w="6350">
            <a:solidFill>
              <a:srgbClr val="E85D04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689806" y="5623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4092142" y="5605272"/>
            <a:ext cx="23923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3689806" y="6007608"/>
            <a:ext cx="27946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places and the cost centre every ride is charged to.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571336" y="1321308"/>
            <a:ext cx="1980846" cy="4169664"/>
          </a:xfrm>
          <a:prstGeom prst="roundRect">
            <a:avLst>
              <a:gd name="adj" fmla="val 7386"/>
            </a:avLst>
          </a:prstGeom>
          <a:solidFill>
            <a:srgbClr val="16202B"/>
          </a:solidFill>
          <a:ln w="9525">
            <a:solidFill>
              <a:srgbClr val="16202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9" name="Image 2" descr="r03-pickup-point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628" y="1371600"/>
            <a:ext cx="1880262" cy="406908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621628" y="5623560"/>
            <a:ext cx="310896" cy="310896"/>
          </a:xfrm>
          <a:prstGeom prst="ellipse">
            <a:avLst/>
          </a:prstGeom>
          <a:solidFill>
            <a:srgbClr val="E85D04"/>
          </a:solidFill>
          <a:ln w="6350">
            <a:solidFill>
              <a:srgbClr val="E85D04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621628" y="5623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7023964" y="5605272"/>
            <a:ext cx="23923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stop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6621628" y="6007608"/>
            <a:ext cx="27946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pickup point shows exactly where to wait.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9503158" y="1321308"/>
            <a:ext cx="1980846" cy="4169664"/>
          </a:xfrm>
          <a:prstGeom prst="roundRect">
            <a:avLst>
              <a:gd name="adj" fmla="val 7386"/>
            </a:avLst>
          </a:prstGeom>
          <a:solidFill>
            <a:srgbClr val="16202B"/>
          </a:solidFill>
          <a:ln w="9525">
            <a:solidFill>
              <a:srgbClr val="16202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25" name="Image 3" descr="r04-trip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3450" y="1371600"/>
            <a:ext cx="1880262" cy="406908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9553450" y="5623560"/>
            <a:ext cx="310896" cy="310896"/>
          </a:xfrm>
          <a:prstGeom prst="ellipse">
            <a:avLst/>
          </a:prstGeom>
          <a:solidFill>
            <a:srgbClr val="E85D04"/>
          </a:solidFill>
          <a:ln w="6350">
            <a:solidFill>
              <a:srgbClr val="E85D04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9553450" y="5623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9955786" y="5605272"/>
            <a:ext cx="177871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details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9553450" y="6007608"/>
            <a:ext cx="21810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→ Blast Furnace, now, 1 seat; details from HR.</a:t>
            </a:r>
            <a:endParaRPr lang="en-US" sz="1050" dirty="0"/>
          </a:p>
        </p:txBody>
      </p:sp>
      <p:sp>
        <p:nvSpPr>
          <p:cNvPr id="30" name="Text 2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Ride · Morning shift change at Gate 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E85D04"/>
          </a:solidFill>
          <a:ln w="6350">
            <a:solidFill>
              <a:srgbClr val="E85D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657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· STEPS 5 TO 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7607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cab free, but he knows when one can come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173602" y="1321308"/>
            <a:ext cx="1980846" cy="4169664"/>
          </a:xfrm>
          <a:prstGeom prst="roundRect">
            <a:avLst>
              <a:gd name="adj" fmla="val 7386"/>
            </a:avLst>
          </a:prstGeom>
          <a:solidFill>
            <a:srgbClr val="16202B"/>
          </a:solidFill>
          <a:ln w="9525">
            <a:solidFill>
              <a:srgbClr val="16202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r05-option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3894" y="1371600"/>
            <a:ext cx="1880262" cy="4069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223894" y="5623560"/>
            <a:ext cx="310896" cy="310896"/>
          </a:xfrm>
          <a:prstGeom prst="ellipse">
            <a:avLst/>
          </a:prstGeom>
          <a:solidFill>
            <a:srgbClr val="E85D04"/>
          </a:solidFill>
          <a:ln w="6350">
            <a:solidFill>
              <a:srgbClr val="E85D0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223894" y="5623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2626230" y="5605272"/>
            <a:ext cx="23923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2223894" y="6007608"/>
            <a:ext cx="27946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cab on duty, free seats within the cap, and arrival times are checked.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105425" y="1321308"/>
            <a:ext cx="1980846" cy="4169664"/>
          </a:xfrm>
          <a:prstGeom prst="roundRect">
            <a:avLst>
              <a:gd name="adj" fmla="val 7386"/>
            </a:avLst>
          </a:prstGeom>
          <a:solidFill>
            <a:srgbClr val="16202B"/>
          </a:solidFill>
          <a:ln w="9525">
            <a:solidFill>
              <a:srgbClr val="16202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1" descr="r06-when-ride-come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5717" y="1371600"/>
            <a:ext cx="1880262" cy="40690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155717" y="5623560"/>
            <a:ext cx="310896" cy="310896"/>
          </a:xfrm>
          <a:prstGeom prst="ellipse">
            <a:avLst/>
          </a:prstGeom>
          <a:solidFill>
            <a:srgbClr val="E85D04"/>
          </a:solidFill>
          <a:ln w="6350">
            <a:solidFill>
              <a:srgbClr val="E85D04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155717" y="5623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558053" y="5605272"/>
            <a:ext cx="23923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ride can come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5155717" y="6007608"/>
            <a:ext cx="27946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shuttle, and each busy cab after its last drop, with times and distances.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037247" y="1321308"/>
            <a:ext cx="1980846" cy="4169664"/>
          </a:xfrm>
          <a:prstGeom prst="roundRect">
            <a:avLst>
              <a:gd name="adj" fmla="val 7386"/>
            </a:avLst>
          </a:prstGeom>
          <a:solidFill>
            <a:srgbClr val="16202B"/>
          </a:solidFill>
          <a:ln w="9525">
            <a:solidFill>
              <a:srgbClr val="16202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9" name="Image 2" descr="r07-cabs-on-duty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7539" y="1371600"/>
            <a:ext cx="1880262" cy="406908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087539" y="5623560"/>
            <a:ext cx="310896" cy="310896"/>
          </a:xfrm>
          <a:prstGeom prst="ellipse">
            <a:avLst/>
          </a:prstGeom>
          <a:solidFill>
            <a:srgbClr val="E85D04"/>
          </a:solidFill>
          <a:ln w="6350">
            <a:solidFill>
              <a:srgbClr val="E85D04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087539" y="5623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8489875" y="5605272"/>
            <a:ext cx="23923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Cabs on duty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8087539" y="6007608"/>
            <a:ext cx="27946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Driver, phone, seats taken, distance and why each can or cannot come now.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Ride · Morning shift change at Gate 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E85D04"/>
          </a:solidFill>
          <a:ln w="6350">
            <a:solidFill>
              <a:srgbClr val="E85D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657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· STEPS 8 TO 10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7607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keeps his place, then C-12 is his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173602" y="1321308"/>
            <a:ext cx="1980846" cy="4169664"/>
          </a:xfrm>
          <a:prstGeom prst="roundRect">
            <a:avLst>
              <a:gd name="adj" fmla="val 7386"/>
            </a:avLst>
          </a:prstGeom>
          <a:solidFill>
            <a:srgbClr val="16202B"/>
          </a:solidFill>
          <a:ln w="9525">
            <a:solidFill>
              <a:srgbClr val="16202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r08-search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3894" y="1371600"/>
            <a:ext cx="1880262" cy="4069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223894" y="5623560"/>
            <a:ext cx="310896" cy="310896"/>
          </a:xfrm>
          <a:prstGeom prst="ellipse">
            <a:avLst/>
          </a:prstGeom>
          <a:solidFill>
            <a:srgbClr val="E85D04"/>
          </a:solidFill>
          <a:ln w="6350">
            <a:solidFill>
              <a:srgbClr val="E85D0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223894" y="5623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2626230" y="5605272"/>
            <a:ext cx="23923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2223894" y="6007608"/>
            <a:ext cx="27946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timer, the next automatic check, and Search again now.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105425" y="1321308"/>
            <a:ext cx="1980846" cy="4169664"/>
          </a:xfrm>
          <a:prstGeom prst="roundRect">
            <a:avLst>
              <a:gd name="adj" fmla="val 7386"/>
            </a:avLst>
          </a:prstGeom>
          <a:solidFill>
            <a:srgbClr val="16202B"/>
          </a:solidFill>
          <a:ln w="9525">
            <a:solidFill>
              <a:srgbClr val="16202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1" descr="r09-matche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5717" y="1371600"/>
            <a:ext cx="1880262" cy="40690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155717" y="5623560"/>
            <a:ext cx="310896" cy="310896"/>
          </a:xfrm>
          <a:prstGeom prst="ellipse">
            <a:avLst/>
          </a:prstGeom>
          <a:solidFill>
            <a:srgbClr val="E85D04"/>
          </a:solidFill>
          <a:ln w="6350">
            <a:solidFill>
              <a:srgbClr val="E85D04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155717" y="5623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558053" y="5605272"/>
            <a:ext cx="23923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to C-12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5155717" y="6007608"/>
            <a:ext cx="27946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Kumar signs on; the engine assigns the cab. No phone call.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037247" y="1321308"/>
            <a:ext cx="1980846" cy="4169664"/>
          </a:xfrm>
          <a:prstGeom prst="roundRect">
            <a:avLst>
              <a:gd name="adj" fmla="val 7386"/>
            </a:avLst>
          </a:prstGeom>
          <a:solidFill>
            <a:srgbClr val="16202B"/>
          </a:solidFill>
          <a:ln w="9525">
            <a:solidFill>
              <a:srgbClr val="16202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9" name="Image 2" descr="r10-otp-link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7539" y="1371600"/>
            <a:ext cx="1880262" cy="406908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087539" y="5623560"/>
            <a:ext cx="310896" cy="310896"/>
          </a:xfrm>
          <a:prstGeom prst="ellipse">
            <a:avLst/>
          </a:prstGeom>
          <a:solidFill>
            <a:srgbClr val="E85D04"/>
          </a:solidFill>
          <a:ln w="6350">
            <a:solidFill>
              <a:srgbClr val="E85D04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087539" y="5623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8489875" y="5605272"/>
            <a:ext cx="23923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and tracking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8087539" y="6007608"/>
            <a:ext cx="27946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4-digit boarding code and a link that shows the cab, never the people.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Ride · Morning shift change at Gate 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E85D04"/>
          </a:solidFill>
          <a:ln w="6350">
            <a:solidFill>
              <a:srgbClr val="E85D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657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· STEPS 11 TO 15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7607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Board, ride, pay the right cost centre, rate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98348" y="1321308"/>
            <a:ext cx="1896340" cy="3986784"/>
          </a:xfrm>
          <a:prstGeom prst="roundRect">
            <a:avLst>
              <a:gd name="adj" fmla="val 7715"/>
            </a:avLst>
          </a:prstGeom>
          <a:solidFill>
            <a:srgbClr val="16202B"/>
          </a:solidFill>
          <a:ln w="9525">
            <a:solidFill>
              <a:srgbClr val="16202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r11-arriv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795756" cy="3886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5440680"/>
            <a:ext cx="310896" cy="310896"/>
          </a:xfrm>
          <a:prstGeom prst="ellipse">
            <a:avLst/>
          </a:prstGeom>
          <a:solidFill>
            <a:srgbClr val="E85D04"/>
          </a:solidFill>
          <a:ln w="6350">
            <a:solidFill>
              <a:srgbClr val="E85D0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5440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50976" y="5422392"/>
            <a:ext cx="178516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 arrived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824728"/>
            <a:ext cx="218750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in big digits for the driver.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823013" y="1321308"/>
            <a:ext cx="1896340" cy="3986784"/>
          </a:xfrm>
          <a:prstGeom prst="roundRect">
            <a:avLst>
              <a:gd name="adj" fmla="val 7715"/>
            </a:avLst>
          </a:prstGeom>
          <a:solidFill>
            <a:srgbClr val="16202B"/>
          </a:solidFill>
          <a:ln w="9525">
            <a:solidFill>
              <a:srgbClr val="16202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1" descr="r12-on-tri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305" y="1371600"/>
            <a:ext cx="1795756" cy="38862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873305" y="5440680"/>
            <a:ext cx="310896" cy="310896"/>
          </a:xfrm>
          <a:prstGeom prst="ellipse">
            <a:avLst/>
          </a:prstGeom>
          <a:solidFill>
            <a:srgbClr val="E85D04"/>
          </a:solidFill>
          <a:ln w="6350">
            <a:solidFill>
              <a:srgbClr val="E85D04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2873305" y="5440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3275641" y="5422392"/>
            <a:ext cx="178516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trip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2873305" y="5824728"/>
            <a:ext cx="218750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time, the cab and the shared stops.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147678" y="1321308"/>
            <a:ext cx="1896340" cy="3986784"/>
          </a:xfrm>
          <a:prstGeom prst="roundRect">
            <a:avLst>
              <a:gd name="adj" fmla="val 7715"/>
            </a:avLst>
          </a:prstGeom>
          <a:solidFill>
            <a:srgbClr val="16202B"/>
          </a:solidFill>
          <a:ln w="9525">
            <a:solidFill>
              <a:srgbClr val="16202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9" name="Image 2" descr="r13-complet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7970" y="1371600"/>
            <a:ext cx="1795756" cy="388620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5197970" y="5440680"/>
            <a:ext cx="310896" cy="310896"/>
          </a:xfrm>
          <a:prstGeom prst="ellipse">
            <a:avLst/>
          </a:prstGeom>
          <a:solidFill>
            <a:srgbClr val="E85D04"/>
          </a:solidFill>
          <a:ln w="6350">
            <a:solidFill>
              <a:srgbClr val="E85D04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197970" y="5440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5600306" y="5422392"/>
            <a:ext cx="178516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complete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5197970" y="5824728"/>
            <a:ext cx="218750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km; ₹22.86 to CC-4471.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7472342" y="1321308"/>
            <a:ext cx="1896340" cy="3986784"/>
          </a:xfrm>
          <a:prstGeom prst="roundRect">
            <a:avLst>
              <a:gd name="adj" fmla="val 7715"/>
            </a:avLst>
          </a:prstGeom>
          <a:solidFill>
            <a:srgbClr val="16202B"/>
          </a:solidFill>
          <a:ln w="9525">
            <a:solidFill>
              <a:srgbClr val="16202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25" name="Image 3" descr="r14-rated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2634" y="1371600"/>
            <a:ext cx="1795756" cy="388620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7522634" y="5440680"/>
            <a:ext cx="310896" cy="310896"/>
          </a:xfrm>
          <a:prstGeom prst="ellipse">
            <a:avLst/>
          </a:prstGeom>
          <a:solidFill>
            <a:srgbClr val="E85D04"/>
          </a:solidFill>
          <a:ln w="6350">
            <a:solidFill>
              <a:srgbClr val="E85D04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522634" y="5440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7924970" y="5422392"/>
            <a:ext cx="178516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5★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7522634" y="5824728"/>
            <a:ext cx="218750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time, clean cab; feeds the vendor SLA.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9797007" y="1321308"/>
            <a:ext cx="1896340" cy="3986784"/>
          </a:xfrm>
          <a:prstGeom prst="roundRect">
            <a:avLst>
              <a:gd name="adj" fmla="val 7715"/>
            </a:avLst>
          </a:prstGeom>
          <a:solidFill>
            <a:srgbClr val="16202B"/>
          </a:solidFill>
          <a:ln w="9525">
            <a:solidFill>
              <a:srgbClr val="16202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31" name="Image 4" descr="r15-alerts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7299" y="1371600"/>
            <a:ext cx="1795756" cy="3886200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9847299" y="5440680"/>
            <a:ext cx="310896" cy="310896"/>
          </a:xfrm>
          <a:prstGeom prst="ellipse">
            <a:avLst/>
          </a:prstGeom>
          <a:solidFill>
            <a:srgbClr val="E85D04"/>
          </a:solidFill>
          <a:ln w="6350">
            <a:solidFill>
              <a:srgbClr val="E85D04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9847299" y="5440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10249635" y="5422392"/>
            <a:ext cx="14848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9847299" y="5824728"/>
            <a:ext cx="18871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recorded as a notification.</a:t>
            </a:r>
            <a:endParaRPr lang="en-US" sz="1050" dirty="0"/>
          </a:p>
        </p:txBody>
      </p:sp>
      <p:sp>
        <p:nvSpPr>
          <p:cNvPr id="36" name="Text 29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Ride · Morning shift change at Gate 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OF 3 · DRIVER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Kumar signs on and three riders are waiting for him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3429000"/>
            <a:ext cx="4754880" cy="868680"/>
          </a:xfrm>
          <a:prstGeom prst="roundRect">
            <a:avLst>
              <a:gd name="adj" fmla="val 12632"/>
            </a:avLst>
          </a:prstGeom>
          <a:solidFill>
            <a:srgbClr val="1A2533"/>
          </a:solidFill>
          <a:ln w="6350">
            <a:solidFill>
              <a:srgbClr val="1A25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3584448"/>
            <a:ext cx="548640" cy="548640"/>
          </a:xfrm>
          <a:prstGeom prst="ellipse">
            <a:avLst/>
          </a:prstGeom>
          <a:solidFill>
            <a:srgbClr val="00A896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3584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27632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Kumar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27632" y="3886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DRV-2281 · cab C-12 · MH 12 AB 4412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57200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Start-of-duty check: documents, five vehicle checks, odometer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waiting riders are pooled onto C-12 at once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Boards by OTP, drops in route order, signs off with a GPS check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215323" y="726948"/>
            <a:ext cx="2466757" cy="5221224"/>
          </a:xfrm>
          <a:prstGeom prst="roundRect">
            <a:avLst>
              <a:gd name="adj" fmla="val 5931"/>
            </a:avLst>
          </a:prstGeom>
          <a:solidFill>
            <a:srgbClr val="16202B"/>
          </a:solidFill>
          <a:ln w="9525">
            <a:solidFill>
              <a:srgbClr val="16202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d04-queu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5615" y="777240"/>
            <a:ext cx="2366173" cy="512064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Ride · Morning shift change at Gate 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00A896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657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· STEPS 1 TO 5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7607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sign-in to the Gate 2 pickup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98348" y="1321308"/>
            <a:ext cx="1896340" cy="3986784"/>
          </a:xfrm>
          <a:prstGeom prst="roundRect">
            <a:avLst>
              <a:gd name="adj" fmla="val 7715"/>
            </a:avLst>
          </a:prstGeom>
          <a:solidFill>
            <a:srgbClr val="16202B"/>
          </a:solidFill>
          <a:ln w="9525">
            <a:solidFill>
              <a:srgbClr val="16202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d01-sign-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795756" cy="3886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5440680"/>
            <a:ext cx="310896" cy="310896"/>
          </a:xfrm>
          <a:prstGeom prst="ellipse">
            <a:avLst/>
          </a:prstGeom>
          <a:solidFill>
            <a:srgbClr val="00A896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5440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50976" y="5422392"/>
            <a:ext cx="178516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824728"/>
            <a:ext cx="218750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ID DRV-2281.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823013" y="1321308"/>
            <a:ext cx="1896340" cy="3986784"/>
          </a:xfrm>
          <a:prstGeom prst="roundRect">
            <a:avLst>
              <a:gd name="adj" fmla="val 7715"/>
            </a:avLst>
          </a:prstGeom>
          <a:solidFill>
            <a:srgbClr val="16202B"/>
          </a:solidFill>
          <a:ln w="9525">
            <a:solidFill>
              <a:srgbClr val="16202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1" descr="d02-duty-check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305" y="1371600"/>
            <a:ext cx="1795756" cy="38862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873305" y="5440680"/>
            <a:ext cx="310896" cy="310896"/>
          </a:xfrm>
          <a:prstGeom prst="ellipse">
            <a:avLst/>
          </a:prstGeom>
          <a:solidFill>
            <a:srgbClr val="00A896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2873305" y="5440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3275641" y="5422392"/>
            <a:ext cx="178516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check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2873305" y="5824728"/>
            <a:ext cx="218750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and gate pass valid; C-12 preselected.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147678" y="1321308"/>
            <a:ext cx="1896340" cy="3986784"/>
          </a:xfrm>
          <a:prstGeom prst="roundRect">
            <a:avLst>
              <a:gd name="adj" fmla="val 7715"/>
            </a:avLst>
          </a:prstGeom>
          <a:solidFill>
            <a:srgbClr val="16202B"/>
          </a:solidFill>
          <a:ln w="9525">
            <a:solidFill>
              <a:srgbClr val="16202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9" name="Image 2" descr="d03-check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7970" y="1371600"/>
            <a:ext cx="1795756" cy="388620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5197970" y="5440680"/>
            <a:ext cx="310896" cy="310896"/>
          </a:xfrm>
          <a:prstGeom prst="ellipse">
            <a:avLst/>
          </a:prstGeom>
          <a:solidFill>
            <a:srgbClr val="00A896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197970" y="5440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5600306" y="5422392"/>
            <a:ext cx="178516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check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5197970" y="5824728"/>
            <a:ext cx="218750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checks and the opening odometer.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7472342" y="1321308"/>
            <a:ext cx="1896340" cy="3986784"/>
          </a:xfrm>
          <a:prstGeom prst="roundRect">
            <a:avLst>
              <a:gd name="adj" fmla="val 7715"/>
            </a:avLst>
          </a:prstGeom>
          <a:solidFill>
            <a:srgbClr val="16202B"/>
          </a:solidFill>
          <a:ln w="9525">
            <a:solidFill>
              <a:srgbClr val="16202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25" name="Image 3" descr="d04-queu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2634" y="1371600"/>
            <a:ext cx="1795756" cy="388620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7522634" y="5440680"/>
            <a:ext cx="310896" cy="310896"/>
          </a:xfrm>
          <a:prstGeom prst="ellipse">
            <a:avLst/>
          </a:prstGeom>
          <a:solidFill>
            <a:srgbClr val="00A896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522634" y="5440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7924970" y="5422392"/>
            <a:ext cx="178516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riders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7522634" y="5824728"/>
            <a:ext cx="218750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at sign-on, in route order.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9797007" y="1321308"/>
            <a:ext cx="1896340" cy="3986784"/>
          </a:xfrm>
          <a:prstGeom prst="roundRect">
            <a:avLst>
              <a:gd name="adj" fmla="val 7715"/>
            </a:avLst>
          </a:prstGeom>
          <a:solidFill>
            <a:srgbClr val="16202B"/>
          </a:solidFill>
          <a:ln w="9525">
            <a:solidFill>
              <a:srgbClr val="16202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31" name="Image 4" descr="d05-at-gate2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7299" y="1371600"/>
            <a:ext cx="1795756" cy="3886200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9847299" y="5440680"/>
            <a:ext cx="310896" cy="310896"/>
          </a:xfrm>
          <a:prstGeom prst="ellipse">
            <a:avLst/>
          </a:prstGeom>
          <a:solidFill>
            <a:srgbClr val="00A896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9847299" y="5440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10249635" y="5422392"/>
            <a:ext cx="14848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Gate 2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9847299" y="5824728"/>
            <a:ext cx="18871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box, call button, no-show timer.</a:t>
            </a:r>
            <a:endParaRPr lang="en-US" sz="1050" dirty="0"/>
          </a:p>
        </p:txBody>
      </p:sp>
      <p:sp>
        <p:nvSpPr>
          <p:cNvPr id="36" name="Text 29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Ride · Morning shift change at Gate 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00A896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657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· STEPS 6 TO 10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7607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by OTP, drop in order, sign off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98348" y="1321308"/>
            <a:ext cx="1896340" cy="3986784"/>
          </a:xfrm>
          <a:prstGeom prst="roundRect">
            <a:avLst>
              <a:gd name="adj" fmla="val 7715"/>
            </a:avLst>
          </a:prstGeom>
          <a:solidFill>
            <a:srgbClr val="16202B"/>
          </a:solidFill>
          <a:ln w="9525">
            <a:solidFill>
              <a:srgbClr val="16202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d06-board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795756" cy="3886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5440680"/>
            <a:ext cx="310896" cy="310896"/>
          </a:xfrm>
          <a:prstGeom prst="ellipse">
            <a:avLst/>
          </a:prstGeom>
          <a:solidFill>
            <a:srgbClr val="00A896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5440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50976" y="5422392"/>
            <a:ext cx="178516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Boarded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824728"/>
            <a:ext cx="218750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codes checked: 3 of 3 on board.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823013" y="1321308"/>
            <a:ext cx="1896340" cy="3986784"/>
          </a:xfrm>
          <a:prstGeom prst="roundRect">
            <a:avLst>
              <a:gd name="adj" fmla="val 7715"/>
            </a:avLst>
          </a:prstGeom>
          <a:solidFill>
            <a:srgbClr val="16202B"/>
          </a:solidFill>
          <a:ln w="9525">
            <a:solidFill>
              <a:srgbClr val="16202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1" descr="d07-coke-plan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305" y="1371600"/>
            <a:ext cx="1795756" cy="38862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873305" y="5440680"/>
            <a:ext cx="310896" cy="310896"/>
          </a:xfrm>
          <a:prstGeom prst="ellipse">
            <a:avLst/>
          </a:prstGeom>
          <a:solidFill>
            <a:srgbClr val="00A896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2873305" y="5440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3275641" y="5422392"/>
            <a:ext cx="178516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Coke Plant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2873305" y="5824728"/>
            <a:ext cx="218750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Iyer dropped; two riders stay on.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147678" y="1321308"/>
            <a:ext cx="1896340" cy="3986784"/>
          </a:xfrm>
          <a:prstGeom prst="roundRect">
            <a:avLst>
              <a:gd name="adj" fmla="val 7715"/>
            </a:avLst>
          </a:prstGeom>
          <a:solidFill>
            <a:srgbClr val="16202B"/>
          </a:solidFill>
          <a:ln w="9525">
            <a:solidFill>
              <a:srgbClr val="16202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9" name="Image 2" descr="d08-trip-closed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7970" y="1371600"/>
            <a:ext cx="1795756" cy="388620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5197970" y="5440680"/>
            <a:ext cx="310896" cy="310896"/>
          </a:xfrm>
          <a:prstGeom prst="ellipse">
            <a:avLst/>
          </a:prstGeom>
          <a:solidFill>
            <a:srgbClr val="00A896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197970" y="5440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5600306" y="5422392"/>
            <a:ext cx="178516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closed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5197970" y="5824728"/>
            <a:ext cx="218750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drop at the Blast Furnace.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7472342" y="1321308"/>
            <a:ext cx="1896340" cy="3986784"/>
          </a:xfrm>
          <a:prstGeom prst="roundRect">
            <a:avLst>
              <a:gd name="adj" fmla="val 7715"/>
            </a:avLst>
          </a:prstGeom>
          <a:solidFill>
            <a:srgbClr val="16202B"/>
          </a:solidFill>
          <a:ln w="9525">
            <a:solidFill>
              <a:srgbClr val="16202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25" name="Image 3" descr="d09-close-duty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2634" y="1371600"/>
            <a:ext cx="1795756" cy="388620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7522634" y="5440680"/>
            <a:ext cx="310896" cy="310896"/>
          </a:xfrm>
          <a:prstGeom prst="ellipse">
            <a:avLst/>
          </a:prstGeom>
          <a:solidFill>
            <a:srgbClr val="00A896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522634" y="5440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7924970" y="5422392"/>
            <a:ext cx="178516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duty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7522634" y="5824728"/>
            <a:ext cx="218750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odometer and fuel.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9797007" y="1321308"/>
            <a:ext cx="1896340" cy="3986784"/>
          </a:xfrm>
          <a:prstGeom prst="roundRect">
            <a:avLst>
              <a:gd name="adj" fmla="val 7715"/>
            </a:avLst>
          </a:prstGeom>
          <a:solidFill>
            <a:srgbClr val="16202B"/>
          </a:solidFill>
          <a:ln w="9525">
            <a:solidFill>
              <a:srgbClr val="16202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31" name="Image 4" descr="d10-signed-off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7299" y="1371600"/>
            <a:ext cx="1795756" cy="3886200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9847299" y="5440680"/>
            <a:ext cx="310896" cy="310896"/>
          </a:xfrm>
          <a:prstGeom prst="ellipse">
            <a:avLst/>
          </a:prstGeom>
          <a:solidFill>
            <a:srgbClr val="00A896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9847299" y="5440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10249635" y="5422392"/>
            <a:ext cx="14848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off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9847299" y="5824728"/>
            <a:ext cx="18871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km matches the odometer.</a:t>
            </a:r>
            <a:endParaRPr lang="en-US" sz="1050" dirty="0"/>
          </a:p>
        </p:txBody>
      </p:sp>
      <p:sp>
        <p:nvSpPr>
          <p:cNvPr id="36" name="Text 29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Ride · Morning shift change at Gate 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OF 3 · ADMIN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Kapoor sees it all from the desk, without a phone call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3429000"/>
            <a:ext cx="4754880" cy="868680"/>
          </a:xfrm>
          <a:prstGeom prst="roundRect">
            <a:avLst>
              <a:gd name="adj" fmla="val 12632"/>
            </a:avLst>
          </a:prstGeom>
          <a:solidFill>
            <a:srgbClr val="1A2533"/>
          </a:solidFill>
          <a:ln w="6350">
            <a:solidFill>
              <a:srgbClr val="1A25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3584448"/>
            <a:ext cx="548640" cy="548640"/>
          </a:xfrm>
          <a:prstGeom prst="ellipse">
            <a:avLst/>
          </a:prstGeom>
          <a:solidFill>
            <a:srgbClr val="5B7A99"/>
          </a:solidFill>
          <a:ln w="6350">
            <a:solidFill>
              <a:srgbClr val="5B7A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3584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27632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Kapoor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27632" y="3886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admin and transport desk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57200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queue explains why no cab was free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 leave the queue by themselves at sign-on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lands on cost centres; the audit trail has every step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27087" y="1993392"/>
            <a:ext cx="4242816" cy="2160727"/>
          </a:xfrm>
          <a:prstGeom prst="rect">
            <a:avLst/>
          </a:prstGeom>
          <a:solidFill>
            <a:srgbClr val="DCE4EC"/>
          </a:solidFill>
          <a:ln w="635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11" name="Image 0" descr="a05-board-on-tri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5375" y="2011680"/>
            <a:ext cx="4206240" cy="2124151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Ride · Morning shift change at Gate 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5B7A99"/>
          </a:solidFill>
          <a:ln w="6350">
            <a:solidFill>
              <a:srgbClr val="5B7A9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657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STEP 1 OF 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7607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 waiting at the shift change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30352" y="1399032"/>
            <a:ext cx="8174736" cy="4146347"/>
          </a:xfrm>
          <a:prstGeom prst="rect">
            <a:avLst/>
          </a:prstGeom>
          <a:solidFill>
            <a:srgbClr val="DCE4EC"/>
          </a:solidFill>
          <a:ln w="635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7" name="Image 0" descr="a02-board-wait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8138160" cy="410977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052560" y="1417320"/>
            <a:ext cx="384048" cy="384048"/>
          </a:xfrm>
          <a:prstGeom prst="ellipse">
            <a:avLst/>
          </a:prstGeom>
          <a:solidFill>
            <a:srgbClr val="5B7A99"/>
          </a:solidFill>
          <a:ln w="6350">
            <a:solidFill>
              <a:srgbClr val="5B7A9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05256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9555480" y="1417320"/>
            <a:ext cx="2087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board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9052560" y="1965960"/>
            <a:ext cx="2590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fleet on one screen, refreshed every 5 seconds: KPIs, vehicles, alerts and the riders waiting.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052560" y="3474720"/>
            <a:ext cx="2590495" cy="731520"/>
          </a:xfrm>
          <a:prstGeom prst="roundRect">
            <a:avLst>
              <a:gd name="adj" fmla="val 12500"/>
            </a:avLst>
          </a:prstGeom>
          <a:solidFill>
            <a:srgbClr val="E6ECF2"/>
          </a:solidFill>
          <a:ln w="6350">
            <a:solidFill>
              <a:srgbClr val="E6ECF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89720" y="3547872"/>
            <a:ext cx="23161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 waiting at Gate 2, A. Raghavan among them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052560" y="4343400"/>
            <a:ext cx="2590495" cy="731520"/>
          </a:xfrm>
          <a:prstGeom prst="roundRect">
            <a:avLst>
              <a:gd name="adj" fmla="val 12500"/>
            </a:avLst>
          </a:prstGeom>
          <a:solidFill>
            <a:srgbClr val="E6ECF2"/>
          </a:solidFill>
          <a:ln w="6350">
            <a:solidFill>
              <a:srgbClr val="E6ECF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89720" y="4416552"/>
            <a:ext cx="23161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cab free for them yet: C-12 is not on duty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Ride · Morning shift change at Gate 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5B7A99"/>
          </a:solidFill>
          <a:ln w="6350">
            <a:solidFill>
              <a:srgbClr val="5B7A9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657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STEP 2 OF 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7607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queue explains itself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30352" y="1399032"/>
            <a:ext cx="8174736" cy="4146347"/>
          </a:xfrm>
          <a:prstGeom prst="rect">
            <a:avLst/>
          </a:prstGeom>
          <a:solidFill>
            <a:srgbClr val="DCE4EC"/>
          </a:solidFill>
          <a:ln w="635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7" name="Image 0" descr="a03-queu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8138160" cy="410977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052560" y="1417320"/>
            <a:ext cx="384048" cy="384048"/>
          </a:xfrm>
          <a:prstGeom prst="ellipse">
            <a:avLst/>
          </a:prstGeom>
          <a:solidFill>
            <a:srgbClr val="5B7A99"/>
          </a:solidFill>
          <a:ln w="6350">
            <a:solidFill>
              <a:srgbClr val="5B7A9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05256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9555480" y="1417320"/>
            <a:ext cx="2087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9052560" y="1965960"/>
            <a:ext cx="2590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waiting rider, the matching engine says why no cab can take them right now.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052560" y="3474720"/>
            <a:ext cx="2590495" cy="731520"/>
          </a:xfrm>
          <a:prstGeom prst="roundRect">
            <a:avLst>
              <a:gd name="adj" fmla="val 12500"/>
            </a:avLst>
          </a:prstGeom>
          <a:solidFill>
            <a:srgbClr val="E6ECF2"/>
          </a:solidFill>
          <a:ln w="6350">
            <a:solidFill>
              <a:srgbClr val="E6ECF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89720" y="3547872"/>
            <a:ext cx="23161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cabs are on Route 2 and Route 3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052560" y="4343400"/>
            <a:ext cx="2590495" cy="731520"/>
          </a:xfrm>
          <a:prstGeom prst="roundRect">
            <a:avLst>
              <a:gd name="adj" fmla="val 12500"/>
            </a:avLst>
          </a:prstGeom>
          <a:solidFill>
            <a:srgbClr val="E6ECF2"/>
          </a:solidFill>
          <a:ln w="6350">
            <a:solidFill>
              <a:srgbClr val="E6ECF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89720" y="4416552"/>
            <a:ext cx="23161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C-21 would pass the 9-hour duty limit; C-44 is off-road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Ride · Morning shift change at Gate 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5B7A99"/>
          </a:solidFill>
          <a:ln w="6350">
            <a:solidFill>
              <a:srgbClr val="5B7A9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657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STEP 3 OF 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7607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without a phone call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30352" y="1399032"/>
            <a:ext cx="8174736" cy="4146347"/>
          </a:xfrm>
          <a:prstGeom prst="rect">
            <a:avLst/>
          </a:prstGeom>
          <a:solidFill>
            <a:srgbClr val="DCE4EC"/>
          </a:solidFill>
          <a:ln w="635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7" name="Image 0" descr="a04-queue-clear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8138160" cy="410977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052560" y="1417320"/>
            <a:ext cx="384048" cy="384048"/>
          </a:xfrm>
          <a:prstGeom prst="ellipse">
            <a:avLst/>
          </a:prstGeom>
          <a:solidFill>
            <a:srgbClr val="5B7A99"/>
          </a:solidFill>
          <a:ln w="6350">
            <a:solidFill>
              <a:srgbClr val="5B7A9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05256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9555480" y="1417320"/>
            <a:ext cx="2087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clears by itself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9052560" y="1965960"/>
            <a:ext cx="2590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S. Kumar signs on with C-12, the three Gate 2 riders are pooled onto his cab straight away.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052560" y="3474720"/>
            <a:ext cx="2590495" cy="731520"/>
          </a:xfrm>
          <a:prstGeom prst="roundRect">
            <a:avLst>
              <a:gd name="adj" fmla="val 12500"/>
            </a:avLst>
          </a:prstGeom>
          <a:solidFill>
            <a:srgbClr val="E6ECF2"/>
          </a:solidFill>
          <a:ln w="6350">
            <a:solidFill>
              <a:srgbClr val="E6ECF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89720" y="3547872"/>
            <a:ext cx="23161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an exclusive request awaiting approval is left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052560" y="4343400"/>
            <a:ext cx="2590495" cy="731520"/>
          </a:xfrm>
          <a:prstGeom prst="roundRect">
            <a:avLst>
              <a:gd name="adj" fmla="val 12500"/>
            </a:avLst>
          </a:prstGeom>
          <a:solidFill>
            <a:srgbClr val="E6ECF2"/>
          </a:solidFill>
          <a:ln w="6350">
            <a:solidFill>
              <a:srgbClr val="E6ECF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89720" y="4416552"/>
            <a:ext cx="23161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on the desk had to assign anything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Ride · Morning shift change at Gate 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5B7A99"/>
          </a:solidFill>
          <a:ln w="6350">
            <a:solidFill>
              <a:srgbClr val="5B7A9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657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STEP 4 OF 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7607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C-12 on trip, 3 of 3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30352" y="1399032"/>
            <a:ext cx="8174736" cy="4146347"/>
          </a:xfrm>
          <a:prstGeom prst="rect">
            <a:avLst/>
          </a:prstGeom>
          <a:solidFill>
            <a:srgbClr val="DCE4EC"/>
          </a:solidFill>
          <a:ln w="635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7" name="Image 0" descr="a05-board-on-tri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8138160" cy="410977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052560" y="1417320"/>
            <a:ext cx="384048" cy="384048"/>
          </a:xfrm>
          <a:prstGeom prst="ellipse">
            <a:avLst/>
          </a:prstGeom>
          <a:solidFill>
            <a:srgbClr val="5B7A99"/>
          </a:solidFill>
          <a:ln w="6350">
            <a:solidFill>
              <a:srgbClr val="5B7A9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05256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9555480" y="1417320"/>
            <a:ext cx="2087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board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9052560" y="1965960"/>
            <a:ext cx="2590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riders boarded by OTP. C-12 shows on trip with three riders, inside the 3-rider cap.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052560" y="3474720"/>
            <a:ext cx="2590495" cy="731520"/>
          </a:xfrm>
          <a:prstGeom prst="roundRect">
            <a:avLst>
              <a:gd name="adj" fmla="val 12500"/>
            </a:avLst>
          </a:prstGeom>
          <a:solidFill>
            <a:srgbClr val="E6ECF2"/>
          </a:solidFill>
          <a:ln w="6350">
            <a:solidFill>
              <a:srgbClr val="E6ECF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89720" y="3547872"/>
            <a:ext cx="23161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occupancy rises on the KPI tiles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052560" y="4343400"/>
            <a:ext cx="2590495" cy="731520"/>
          </a:xfrm>
          <a:prstGeom prst="roundRect">
            <a:avLst>
              <a:gd name="adj" fmla="val 12500"/>
            </a:avLst>
          </a:prstGeom>
          <a:solidFill>
            <a:srgbClr val="E6ECF2"/>
          </a:solidFill>
          <a:ln w="6350">
            <a:solidFill>
              <a:srgbClr val="E6ECF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89720" y="4416552"/>
            <a:ext cx="23161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stay visible alongside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Ride · Morning shift change at Gate 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5B7A99"/>
          </a:solidFill>
          <a:ln w="6350">
            <a:solidFill>
              <a:srgbClr val="5B7A9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657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STEP 5 OF 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7607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rupee on a cost centre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30352" y="1399032"/>
            <a:ext cx="8174736" cy="4146347"/>
          </a:xfrm>
          <a:prstGeom prst="rect">
            <a:avLst/>
          </a:prstGeom>
          <a:solidFill>
            <a:srgbClr val="DCE4EC"/>
          </a:solidFill>
          <a:ln w="635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7" name="Image 0" descr="a06-bill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8138160" cy="410977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052560" y="1417320"/>
            <a:ext cx="384048" cy="384048"/>
          </a:xfrm>
          <a:prstGeom prst="ellipse">
            <a:avLst/>
          </a:prstGeom>
          <a:solidFill>
            <a:srgbClr val="5B7A99"/>
          </a:solidFill>
          <a:ln w="6350">
            <a:solidFill>
              <a:srgbClr val="5B7A9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05256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9555480" y="1417320"/>
            <a:ext cx="2087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9052560" y="1965960"/>
            <a:ext cx="2590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₹61.20 trip is split by kilometres ridden: ₹22.86 goes to CC-4471 · Operations.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052560" y="3474720"/>
            <a:ext cx="2590495" cy="731520"/>
          </a:xfrm>
          <a:prstGeom prst="roundRect">
            <a:avLst>
              <a:gd name="adj" fmla="val 12500"/>
            </a:avLst>
          </a:prstGeom>
          <a:solidFill>
            <a:srgbClr val="E6ECF2"/>
          </a:solidFill>
          <a:ln w="6350">
            <a:solidFill>
              <a:srgbClr val="E6ECF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89720" y="3547872"/>
            <a:ext cx="23161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bills are checked against GPS kilometres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052560" y="4343400"/>
            <a:ext cx="2590495" cy="731520"/>
          </a:xfrm>
          <a:prstGeom prst="roundRect">
            <a:avLst>
              <a:gd name="adj" fmla="val 12500"/>
            </a:avLst>
          </a:prstGeom>
          <a:solidFill>
            <a:srgbClr val="E6ECF2"/>
          </a:solidFill>
          <a:ln w="6350">
            <a:solidFill>
              <a:srgbClr val="E6ECF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89720" y="4416552"/>
            <a:ext cx="23161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SAP as CSV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Ride · Morning shift change at Gate 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5B7A99"/>
          </a:solidFill>
          <a:ln w="6350">
            <a:solidFill>
              <a:srgbClr val="5B7A9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657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STEP 6 OF 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7607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journey in the audit trail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30352" y="1399032"/>
            <a:ext cx="8174736" cy="4146347"/>
          </a:xfrm>
          <a:prstGeom prst="rect">
            <a:avLst/>
          </a:prstGeom>
          <a:solidFill>
            <a:srgbClr val="DCE4EC"/>
          </a:solidFill>
          <a:ln w="635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7" name="Image 0" descr="a07-audi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8138160" cy="410977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052560" y="1417320"/>
            <a:ext cx="384048" cy="384048"/>
          </a:xfrm>
          <a:prstGeom prst="ellipse">
            <a:avLst/>
          </a:prstGeom>
          <a:solidFill>
            <a:srgbClr val="5B7A99"/>
          </a:solidFill>
          <a:ln w="6350">
            <a:solidFill>
              <a:srgbClr val="5B7A9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05256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9555480" y="1417320"/>
            <a:ext cx="2087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9052560" y="1965960"/>
            <a:ext cx="2590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created, duty started, trip completed: every change with who made it and when.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052560" y="3474720"/>
            <a:ext cx="2590495" cy="731520"/>
          </a:xfrm>
          <a:prstGeom prst="roundRect">
            <a:avLst>
              <a:gd name="adj" fmla="val 12500"/>
            </a:avLst>
          </a:prstGeom>
          <a:solidFill>
            <a:srgbClr val="E6ECF2"/>
          </a:solidFill>
          <a:ln w="6350">
            <a:solidFill>
              <a:srgbClr val="E6ECF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89720" y="3547872"/>
            <a:ext cx="23161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 the server, not the screens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052560" y="4343400"/>
            <a:ext cx="2590495" cy="731520"/>
          </a:xfrm>
          <a:prstGeom prst="roundRect">
            <a:avLst>
              <a:gd name="adj" fmla="val 12500"/>
            </a:avLst>
          </a:prstGeom>
          <a:solidFill>
            <a:srgbClr val="E6ECF2"/>
          </a:solidFill>
          <a:ln w="6350">
            <a:solidFill>
              <a:srgbClr val="E6ECF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89720" y="4416552"/>
            <a:ext cx="23161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"who did what, when" in one place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Ride · Morning shift change at Gate 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5B7A99"/>
          </a:solidFill>
          <a:ln w="6350">
            <a:solidFill>
              <a:srgbClr val="5B7A9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657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STEP 7 OF 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7607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riders wait is configured by the admin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30352" y="1399032"/>
            <a:ext cx="6986016" cy="3546043"/>
          </a:xfrm>
          <a:prstGeom prst="rect">
            <a:avLst/>
          </a:prstGeom>
          <a:solidFill>
            <a:srgbClr val="DCE4EC"/>
          </a:solidFill>
          <a:ln w="635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7" name="Image 0" descr="a08-pickup-poin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949440" cy="350946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5201107"/>
            <a:ext cx="329184" cy="329184"/>
          </a:xfrm>
          <a:prstGeom prst="ellipse">
            <a:avLst/>
          </a:prstGeom>
          <a:solidFill>
            <a:srgbClr val="5B7A99"/>
          </a:solidFill>
          <a:ln w="6350">
            <a:solidFill>
              <a:srgbClr val="5B7A9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520110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87552" y="5182819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points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863840" y="1463040"/>
            <a:ext cx="3776472" cy="914400"/>
          </a:xfrm>
          <a:prstGeom prst="roundRect">
            <a:avLst>
              <a:gd name="adj" fmla="val 10000"/>
            </a:avLst>
          </a:prstGeom>
          <a:solidFill>
            <a:srgbClr val="E6ECF2"/>
          </a:solidFill>
          <a:ln w="6350">
            <a:solidFill>
              <a:srgbClr val="E6ECF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46720" y="15727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1874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exactly to wait, shown to riders: "Security cabin, visitor lane".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863840" y="2542032"/>
            <a:ext cx="3776472" cy="914400"/>
          </a:xfrm>
          <a:prstGeom prst="roundRect">
            <a:avLst>
              <a:gd name="adj" fmla="val 10000"/>
            </a:avLst>
          </a:prstGeom>
          <a:solidFill>
            <a:srgbClr val="E6ECF2"/>
          </a:solidFill>
          <a:ln w="6350">
            <a:solidFill>
              <a:srgbClr val="E6ECF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46720" y="26517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radius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046720" y="29535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arrival is recorded inside it, 10 to 500 m.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863840" y="3621024"/>
            <a:ext cx="3776472" cy="914400"/>
          </a:xfrm>
          <a:prstGeom prst="roundRect">
            <a:avLst>
              <a:gd name="adj" fmla="val 10000"/>
            </a:avLst>
          </a:prstGeom>
          <a:solidFill>
            <a:srgbClr val="E6ECF2"/>
          </a:solidFill>
          <a:ln w="6350">
            <a:solidFill>
              <a:srgbClr val="E6ECF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046720" y="37307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and bookings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046720" y="403250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routes serve the point, and its open bookings.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863840" y="4700016"/>
            <a:ext cx="3776472" cy="914400"/>
          </a:xfrm>
          <a:prstGeom prst="roundRect">
            <a:avLst>
              <a:gd name="adj" fmla="val 10000"/>
            </a:avLst>
          </a:prstGeom>
          <a:solidFill>
            <a:srgbClr val="E6ECF2"/>
          </a:solidFill>
          <a:ln w="6350">
            <a:solidFill>
              <a:srgbClr val="E6ECF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046720" y="48097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change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046720" y="511149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 on a route or with open bookings cannot be taken out of service.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Ride · Morning shift change at Gate 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JOURNEY SHOWS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booking, three screens, no phone calls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2542032" cy="2377440"/>
          </a:xfrm>
          <a:prstGeom prst="roundRect">
            <a:avLst>
              <a:gd name="adj" fmla="val 5385"/>
            </a:avLst>
          </a:prstGeom>
          <a:solidFill>
            <a:srgbClr val="1A2533"/>
          </a:solidFill>
          <a:ln w="6350">
            <a:solidFill>
              <a:srgbClr val="1A25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331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3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3375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 pooled on C-12, inside the 3-rider cap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93008" y="2103120"/>
            <a:ext cx="2542032" cy="2377440"/>
          </a:xfrm>
          <a:prstGeom prst="roundRect">
            <a:avLst>
              <a:gd name="adj" fmla="val 5385"/>
            </a:avLst>
          </a:prstGeom>
          <a:solidFill>
            <a:srgbClr val="1A2533"/>
          </a:solidFill>
          <a:ln w="6350">
            <a:solidFill>
              <a:srgbClr val="1A25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21608" y="2331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₹22.86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721608" y="33375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charged to CC-4471 · Operations (trip ₹61.20, split by distance)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54496" y="2103120"/>
            <a:ext cx="2542032" cy="2377440"/>
          </a:xfrm>
          <a:prstGeom prst="roundRect">
            <a:avLst>
              <a:gd name="adj" fmla="val 5385"/>
            </a:avLst>
          </a:prstGeom>
          <a:solidFill>
            <a:srgbClr val="1A2533"/>
          </a:solidFill>
          <a:ln w="6350">
            <a:solidFill>
              <a:srgbClr val="1A25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83096" y="2331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C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km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483096" y="33375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ride distance, the basis for the charge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15984" y="2103120"/>
            <a:ext cx="2542032" cy="2377440"/>
          </a:xfrm>
          <a:prstGeom prst="roundRect">
            <a:avLst>
              <a:gd name="adj" fmla="val 5385"/>
            </a:avLst>
          </a:prstGeom>
          <a:solidFill>
            <a:srgbClr val="1A2533"/>
          </a:solidFill>
          <a:ln w="6350">
            <a:solidFill>
              <a:srgbClr val="1A25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44584" y="2331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9244584" y="33375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calls to the transport desk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800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rider knew when a ride could come before any cab was free, kept his place in the queue, and was matched the moment a driver signed on. </a:t>
            </a:r>
            <a:pPr indent="0" marL="0">
              <a:buNone/>
            </a:pPr>
            <a:r>
              <a:rPr lang="en-US" sz="160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driver boarded the right riders by OTP. The desk saw every step and every rupee.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Ride · Morning shift change at Gate 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JOURNEY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scenario on video, 4 min 49 s</a:t>
            </a:r>
            <a:endParaRPr lang="en-US" sz="30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463040"/>
            <a:ext cx="7680960" cy="43205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49640" y="1463040"/>
            <a:ext cx="3108960" cy="914400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732520" y="157276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464040" y="15727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732520" y="19385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Raghavan books, waits and rides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549640" y="2560320"/>
            <a:ext cx="3108960" cy="914400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732520" y="267004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2:10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464040" y="26700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732520" y="30358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Kumar signs on, boards and drops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549640" y="3657600"/>
            <a:ext cx="3108960" cy="914400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 w="6350">
            <a:solidFill>
              <a:srgbClr val="F3F6F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732520" y="37673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3:32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9464040" y="37673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732520" y="41330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4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Kapoor watches from the desk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8549640" y="4846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Plant-Ride-Scenario-Walkthrough.mp4 · 1920 × 1080 · chapters built in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Ride · Morning shift change at Gate 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48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Ride MVP · SRM ECO TECH for LHS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063240"/>
            <a:ext cx="10698480" cy="2148840"/>
          </a:xfrm>
          <a:prstGeom prst="roundRect">
            <a:avLst>
              <a:gd name="adj" fmla="val 5957"/>
            </a:avLst>
          </a:prstGeom>
          <a:solidFill>
            <a:srgbClr val="1A2533"/>
          </a:solidFill>
          <a:ln w="6350">
            <a:solidFill>
              <a:srgbClr val="1A25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3291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WAS RECORDED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657600"/>
            <a:ext cx="10149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is the running MVP with its demo data, driven in Chrome; nothing is mocked or edited.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clock was set to a morning shift change (about 08:40 on 30 September) so the shuttle runs and billing shows the month.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ride itself happens in seconds on camera, so its start and end times both read the same minute.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chapter is its own run from the same starting data, so booking codes and OTPs differ between chapters.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Ride · Morning shift change at Gate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SRM ECO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 Ride · Morning shift change at Gate 2</dc:title>
  <dc:subject>PptxGenJS Presentation</dc:subject>
  <dc:creator>SRM ECO TECH</dc:creator>
  <cp:lastModifiedBy>SRM ECO TECH</cp:lastModifiedBy>
  <cp:revision>1</cp:revision>
  <dcterms:created xsi:type="dcterms:W3CDTF">2026-09-30T19:55:42Z</dcterms:created>
  <dcterms:modified xsi:type="dcterms:W3CDTF">2026-09-30T19:55:42Z</dcterms:modified>
</cp:coreProperties>
</file>