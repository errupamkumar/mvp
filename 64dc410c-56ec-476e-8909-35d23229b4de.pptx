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walks the same trip three times: once as the rider sees it, once as the driver sees it, once as the transport desk and admin see it. Screens shown are illustrative UI mock-ups.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orient the room before walking each journey in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rider journey is the one that decides adoption. If it is slower than phoning the desk, nobody uses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 1 to 3 take under 30 seconds. The occupancy cap is surfaced here so a rider is never surprised by it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OTP is the control that makes shared rides auditable: the trip cannot start against the wrong booking.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Trip history is what employees use to challenge a charge, and what finance uses to answer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drivers skip the app there is no live data and every suggestion the engine makes is wrong. Simplicity here is a commercial requirement, not a nicety.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start-of-duty gate is where safety and compliance actually bite: no valid documents, no trips.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queue, the navigation and the OTP are the three screens a driver actually lives in all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of duty is the data-capture moment finance depends on: KM reading, fuel, and the GPS cross-check in one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admin journey is the one that makes the other two work. Every rule the rider and driver experience is set on these screens.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that the occupancy cap and the stop order are settings on this screen. That is the answer to 'can we change it later'.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live board is where the desk earns its keep: seeing the overspeed and the breakdown before the phone rings.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Vendor B's 388 km gap is the slide to pause on: that is the cross-check paying for itself in the first month.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two or three of these, not all five. The no-show and the full-cab rows are the ones the transport head will ask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this: one booking, eight handovers, and nobody had to phone anybody. That is the whole product in one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image" Target="../media/image-4-25.png"/><Relationship Id="rId26" Type="http://schemas.openxmlformats.org/officeDocument/2006/relationships/image" Target="../media/image-4-26.png"/><Relationship Id="rId27" Type="http://schemas.openxmlformats.org/officeDocument/2006/relationships/image" Target="../media/image-4-27.png"/><Relationship Id="rId28" Type="http://schemas.openxmlformats.org/officeDocument/2006/relationships/image" Target="../media/image-4-28.png"/><Relationship Id="rId29" Type="http://schemas.openxmlformats.org/officeDocument/2006/relationships/image" Target="../media/image-4-29.png"/><Relationship Id="rId30" Type="http://schemas.openxmlformats.org/officeDocument/2006/relationships/slideLayout" Target="../slideLayouts/slideLayout1.xml"/><Relationship Id="rId3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image" Target="../media/image-5-23.png"/><Relationship Id="rId24" Type="http://schemas.openxmlformats.org/officeDocument/2006/relationships/image" Target="../media/image-5-24.png"/><Relationship Id="rId25" Type="http://schemas.openxmlformats.org/officeDocument/2006/relationships/image" Target="../media/image-5-25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image" Target="../media/image-6-21.png"/><Relationship Id="rId22" Type="http://schemas.openxmlformats.org/officeDocument/2006/relationships/image" Target="../media/image-6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image" Target="../media/image-8-23.png"/><Relationship Id="rId24" Type="http://schemas.openxmlformats.org/officeDocument/2006/relationships/image" Target="../media/image-8-24.png"/><Relationship Id="rId25" Type="http://schemas.openxmlformats.org/officeDocument/2006/relationships/image" Target="../media/image-8-25.png"/><Relationship Id="rId26" Type="http://schemas.openxmlformats.org/officeDocument/2006/relationships/image" Target="../media/image-8-26.png"/><Relationship Id="rId27" Type="http://schemas.openxmlformats.org/officeDocument/2006/relationships/image" Target="../media/image-8-27.png"/><Relationship Id="rId28" Type="http://schemas.openxmlformats.org/officeDocument/2006/relationships/slideLayout" Target="../slideLayouts/slideLayout1.xml"/><Relationship Id="rId2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png"/><Relationship Id="rId21" Type="http://schemas.openxmlformats.org/officeDocument/2006/relationships/image" Target="../media/image-10-21.png"/><Relationship Id="rId22" Type="http://schemas.openxmlformats.org/officeDocument/2006/relationships/image" Target="../media/image-10-22.png"/><Relationship Id="rId23" Type="http://schemas.openxmlformats.org/officeDocument/2006/relationships/image" Target="../media/image-10-23.png"/><Relationship Id="rId24" Type="http://schemas.openxmlformats.org/officeDocument/2006/relationships/image" Target="../media/image-10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pn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png"/><Relationship Id="rId19" Type="http://schemas.openxmlformats.org/officeDocument/2006/relationships/image" Target="../media/image-12-19.png"/><Relationship Id="rId20" Type="http://schemas.openxmlformats.org/officeDocument/2006/relationships/image" Target="../media/image-12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png"/><Relationship Id="rId17" Type="http://schemas.openxmlformats.org/officeDocument/2006/relationships/image" Target="../media/image-13-17.png"/><Relationship Id="rId18" Type="http://schemas.openxmlformats.org/officeDocument/2006/relationships/image" Target="../media/image-13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png"/><Relationship Id="rId17" Type="http://schemas.openxmlformats.org/officeDocument/2006/relationships/image" Target="../media/image-14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103120"/>
            <a:ext cx="6217920" cy="6217920"/>
          </a:xfrm>
          <a:prstGeom prst="ellipse">
            <a:avLst/>
          </a:prstGeom>
          <a:solidFill>
            <a:srgbClr val="18222D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840480" cy="3840480"/>
          </a:xfrm>
          <a:prstGeom prst="ellipse">
            <a:avLst/>
          </a:prstGeom>
          <a:solidFill>
            <a:srgbClr val="18222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481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JOURNEY WALKTHROUGH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828800"/>
            <a:ext cx="6766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spc="-11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journeys,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spc="-11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602736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3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rider, a driver and the transport desk each experience the same trip, screen by screen.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4443984"/>
            <a:ext cx="2048256" cy="841248"/>
          </a:xfrm>
          <a:prstGeom prst="roundRect">
            <a:avLst>
              <a:gd name="adj" fmla="val 13043"/>
            </a:avLst>
          </a:prstGeom>
          <a:solidFill>
            <a:srgbClr val="18222D"/>
          </a:solidFill>
          <a:ln w="12700">
            <a:solidFill>
              <a:srgbClr val="3446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4645152"/>
            <a:ext cx="438912" cy="438912"/>
          </a:xfrm>
          <a:prstGeom prst="ellipse">
            <a:avLst/>
          </a:prstGeom>
          <a:solidFill>
            <a:srgbClr val="22303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925" y="4759269"/>
            <a:ext cx="210678" cy="21067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98448" y="460857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1298448" y="48463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779776" y="4443984"/>
            <a:ext cx="2048256" cy="841248"/>
          </a:xfrm>
          <a:prstGeom prst="roundRect">
            <a:avLst>
              <a:gd name="adj" fmla="val 13043"/>
            </a:avLst>
          </a:prstGeom>
          <a:solidFill>
            <a:srgbClr val="18222D"/>
          </a:solidFill>
          <a:ln w="12700">
            <a:solidFill>
              <a:srgbClr val="34465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962656" y="4645152"/>
            <a:ext cx="438912" cy="438912"/>
          </a:xfrm>
          <a:prstGeom prst="ellipse">
            <a:avLst/>
          </a:prstGeom>
          <a:solidFill>
            <a:srgbClr val="22303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6773" y="4759269"/>
            <a:ext cx="210678" cy="21067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511296" y="460857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3511296" y="48463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992624" y="4443984"/>
            <a:ext cx="2048256" cy="841248"/>
          </a:xfrm>
          <a:prstGeom prst="roundRect">
            <a:avLst>
              <a:gd name="adj" fmla="val 13043"/>
            </a:avLst>
          </a:prstGeom>
          <a:solidFill>
            <a:srgbClr val="18222D"/>
          </a:solidFill>
          <a:ln w="12700">
            <a:solidFill>
              <a:srgbClr val="34465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175504" y="4645152"/>
            <a:ext cx="438912" cy="438912"/>
          </a:xfrm>
          <a:prstGeom prst="ellipse">
            <a:avLst/>
          </a:prstGeom>
          <a:solidFill>
            <a:srgbClr val="22303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9621" y="4759269"/>
            <a:ext cx="210678" cy="21067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724144" y="460857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&amp; desk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5724144" y="48463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console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566928" y="56509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ECO TECH for LHS  ·  September 2026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275320" y="1481328"/>
            <a:ext cx="1572768" cy="3218688"/>
          </a:xfrm>
          <a:prstGeom prst="roundRect">
            <a:avLst>
              <a:gd name="adj" fmla="val 4942"/>
            </a:avLst>
          </a:prstGeom>
          <a:solidFill>
            <a:srgbClr val="1A222C"/>
          </a:solidFill>
          <a:ln/>
          <a:effectLst>
            <a:outerShdw sx="100000" sy="100000" kx="0" ky="0" algn="bl" rotWithShape="0" blurRad="203200" dist="50800" dir="5400000">
              <a:srgbClr val="0E141B">
                <a:alpha val="24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339328" y="1545336"/>
            <a:ext cx="1444752" cy="3090672"/>
          </a:xfrm>
          <a:prstGeom prst="roundRect">
            <a:avLst>
              <a:gd name="adj" fmla="val 4114"/>
            </a:avLst>
          </a:prstGeom>
          <a:solidFill>
            <a:srgbClr val="F6F8FA"/>
          </a:solidFill>
          <a:ln/>
        </p:spPr>
      </p:sp>
      <p:sp>
        <p:nvSpPr>
          <p:cNvPr id="25" name="Shape 20"/>
          <p:cNvSpPr/>
          <p:nvPr/>
        </p:nvSpPr>
        <p:spPr>
          <a:xfrm>
            <a:off x="8897372" y="1595628"/>
            <a:ext cx="328664" cy="91440"/>
          </a:xfrm>
          <a:prstGeom prst="roundRect">
            <a:avLst>
              <a:gd name="adj" fmla="val 50000"/>
            </a:avLst>
          </a:prstGeom>
          <a:solidFill>
            <a:srgbClr val="1A222C"/>
          </a:solidFill>
          <a:ln/>
        </p:spPr>
      </p:sp>
      <p:sp>
        <p:nvSpPr>
          <p:cNvPr id="26" name="Shape 21"/>
          <p:cNvSpPr/>
          <p:nvPr/>
        </p:nvSpPr>
        <p:spPr>
          <a:xfrm>
            <a:off x="8823960" y="4567428"/>
            <a:ext cx="475488" cy="32004"/>
          </a:xfrm>
          <a:prstGeom prst="roundRect">
            <a:avLst>
              <a:gd name="adj" fmla="val 51429"/>
            </a:avLst>
          </a:prstGeom>
          <a:solidFill>
            <a:srgbClr val="C3CBD4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428341" y="1586484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5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595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2167" y="1602029"/>
            <a:ext cx="95860" cy="95860"/>
          </a:xfrm>
          <a:prstGeom prst="rect">
            <a:avLst/>
          </a:prstGeom>
        </p:spPr>
      </p:pic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5416" y="1602029"/>
            <a:ext cx="95860" cy="95860"/>
          </a:xfrm>
          <a:prstGeom prst="rect">
            <a:avLst/>
          </a:prstGeom>
        </p:spPr>
      </p:pic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8665" y="1598371"/>
            <a:ext cx="105004" cy="105004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8339328" y="1760220"/>
            <a:ext cx="1444752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24"/>
          <p:cNvSpPr/>
          <p:nvPr/>
        </p:nvSpPr>
        <p:spPr>
          <a:xfrm>
            <a:off x="8339328" y="2118665"/>
            <a:ext cx="1444752" cy="7315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33" name="Text 25"/>
          <p:cNvSpPr txBox="1"/>
          <p:nvPr/>
        </p:nvSpPr>
        <p:spPr>
          <a:xfrm>
            <a:off x="8449056" y="176022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 ride</a:t>
            </a:r>
            <a:endParaRPr lang="en-US" sz="850" dirty="0"/>
          </a:p>
        </p:txBody>
      </p:sp>
      <p:sp>
        <p:nvSpPr>
          <p:cNvPr id="34" name="Shape 26"/>
          <p:cNvSpPr/>
          <p:nvPr/>
        </p:nvSpPr>
        <p:spPr>
          <a:xfrm>
            <a:off x="8339328" y="2125980"/>
            <a:ext cx="1444752" cy="1188720"/>
          </a:xfrm>
          <a:prstGeom prst="rect">
            <a:avLst/>
          </a:prstGeom>
          <a:solidFill>
            <a:srgbClr val="EDF1F5"/>
          </a:solidFill>
          <a:ln/>
        </p:spPr>
      </p:sp>
      <p:sp>
        <p:nvSpPr>
          <p:cNvPr id="35" name="Shape 27"/>
          <p:cNvSpPr/>
          <p:nvPr/>
        </p:nvSpPr>
        <p:spPr>
          <a:xfrm>
            <a:off x="8426013" y="2244852"/>
            <a:ext cx="375636" cy="237744"/>
          </a:xfrm>
          <a:prstGeom prst="rect">
            <a:avLst/>
          </a:prstGeom>
          <a:solidFill>
            <a:srgbClr val="E1E7EE"/>
          </a:solidFill>
          <a:ln/>
        </p:spPr>
      </p:sp>
      <p:sp>
        <p:nvSpPr>
          <p:cNvPr id="36" name="Shape 28"/>
          <p:cNvSpPr/>
          <p:nvPr/>
        </p:nvSpPr>
        <p:spPr>
          <a:xfrm>
            <a:off x="8917229" y="2197303"/>
            <a:ext cx="433426" cy="190195"/>
          </a:xfrm>
          <a:prstGeom prst="rect">
            <a:avLst/>
          </a:prstGeom>
          <a:solidFill>
            <a:srgbClr val="E1E7EE"/>
          </a:solidFill>
          <a:ln/>
        </p:spPr>
      </p:sp>
      <p:sp>
        <p:nvSpPr>
          <p:cNvPr id="37" name="Shape 29"/>
          <p:cNvSpPr/>
          <p:nvPr/>
        </p:nvSpPr>
        <p:spPr>
          <a:xfrm>
            <a:off x="9437340" y="2292401"/>
            <a:ext cx="288950" cy="261518"/>
          </a:xfrm>
          <a:prstGeom prst="rect">
            <a:avLst/>
          </a:prstGeom>
          <a:solidFill>
            <a:srgbClr val="E1E7EE"/>
          </a:solidFill>
          <a:ln/>
        </p:spPr>
      </p:sp>
      <p:sp>
        <p:nvSpPr>
          <p:cNvPr id="38" name="Shape 30"/>
          <p:cNvSpPr/>
          <p:nvPr/>
        </p:nvSpPr>
        <p:spPr>
          <a:xfrm>
            <a:off x="8454908" y="2815438"/>
            <a:ext cx="346740" cy="285293"/>
          </a:xfrm>
          <a:prstGeom prst="rect">
            <a:avLst/>
          </a:prstGeom>
          <a:solidFill>
            <a:srgbClr val="E1E7EE"/>
          </a:solidFill>
          <a:ln/>
        </p:spPr>
      </p:sp>
      <p:sp>
        <p:nvSpPr>
          <p:cNvPr id="39" name="Shape 31"/>
          <p:cNvSpPr/>
          <p:nvPr/>
        </p:nvSpPr>
        <p:spPr>
          <a:xfrm>
            <a:off x="8975019" y="2862986"/>
            <a:ext cx="317845" cy="237744"/>
          </a:xfrm>
          <a:prstGeom prst="rect">
            <a:avLst/>
          </a:prstGeom>
          <a:solidFill>
            <a:srgbClr val="E1E7EE"/>
          </a:solidFill>
          <a:ln/>
        </p:spPr>
      </p:sp>
      <p:sp>
        <p:nvSpPr>
          <p:cNvPr id="40" name="Shape 32"/>
          <p:cNvSpPr/>
          <p:nvPr/>
        </p:nvSpPr>
        <p:spPr>
          <a:xfrm>
            <a:off x="9379549" y="2791663"/>
            <a:ext cx="346740" cy="309067"/>
          </a:xfrm>
          <a:prstGeom prst="rect">
            <a:avLst/>
          </a:prstGeom>
          <a:solidFill>
            <a:srgbClr val="E1E7EE"/>
          </a:solidFill>
          <a:ln/>
        </p:spPr>
      </p:sp>
      <p:sp>
        <p:nvSpPr>
          <p:cNvPr id="41" name="Shape 33"/>
          <p:cNvSpPr/>
          <p:nvPr/>
        </p:nvSpPr>
        <p:spPr>
          <a:xfrm>
            <a:off x="8830544" y="2530145"/>
            <a:ext cx="202265" cy="166421"/>
          </a:xfrm>
          <a:prstGeom prst="rect">
            <a:avLst/>
          </a:prstGeom>
          <a:solidFill>
            <a:srgbClr val="E1E7EE"/>
          </a:solidFill>
          <a:ln/>
        </p:spPr>
      </p:sp>
      <p:sp>
        <p:nvSpPr>
          <p:cNvPr id="42" name="Shape 34"/>
          <p:cNvSpPr/>
          <p:nvPr/>
        </p:nvSpPr>
        <p:spPr>
          <a:xfrm>
            <a:off x="8339328" y="2625242"/>
            <a:ext cx="1444752" cy="416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35"/>
          <p:cNvSpPr/>
          <p:nvPr/>
        </p:nvSpPr>
        <p:spPr>
          <a:xfrm>
            <a:off x="8859439" y="2125980"/>
            <a:ext cx="41605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36"/>
          <p:cNvSpPr/>
          <p:nvPr/>
        </p:nvSpPr>
        <p:spPr>
          <a:xfrm>
            <a:off x="9350654" y="2125980"/>
            <a:ext cx="41605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37"/>
          <p:cNvSpPr/>
          <p:nvPr/>
        </p:nvSpPr>
        <p:spPr>
          <a:xfrm>
            <a:off x="8339328" y="3148279"/>
            <a:ext cx="1444752" cy="416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38"/>
          <p:cNvSpPr/>
          <p:nvPr/>
        </p:nvSpPr>
        <p:spPr>
          <a:xfrm>
            <a:off x="8512698" y="2625242"/>
            <a:ext cx="837956" cy="35662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47" name="Shape 39"/>
          <p:cNvSpPr/>
          <p:nvPr/>
        </p:nvSpPr>
        <p:spPr>
          <a:xfrm>
            <a:off x="9350654" y="2339950"/>
            <a:ext cx="35662" cy="291236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48" name="Shape 40"/>
          <p:cNvSpPr/>
          <p:nvPr/>
        </p:nvSpPr>
        <p:spPr>
          <a:xfrm>
            <a:off x="8483803" y="2588666"/>
            <a:ext cx="105156" cy="105156"/>
          </a:xfrm>
          <a:prstGeom prst="ellipse">
            <a:avLst/>
          </a:prstGeom>
          <a:solidFill>
            <a:srgbClr val="00A896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9328983" y="2298344"/>
            <a:ext cx="105156" cy="1051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50" name="Shape 42"/>
          <p:cNvSpPr/>
          <p:nvPr/>
        </p:nvSpPr>
        <p:spPr>
          <a:xfrm>
            <a:off x="8830544" y="2533802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E85D04"/>
          </a:solidFill>
          <a:ln/>
          <a:effectLst>
            <a:outerShdw sx="100000" sy="100000" kx="0" ky="0" algn="bl" rotWithShape="0" blurRad="101600" dist="12700" dir="5400000">
              <a:srgbClr val="0E141B">
                <a:alpha val="9000"/>
              </a:srgbClr>
            </a:outerShdw>
          </a:effectLst>
        </p:spPr>
      </p:sp>
      <p:pic>
        <p:nvPicPr>
          <p:cNvPr id="5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9980" y="2584094"/>
            <a:ext cx="155448" cy="155448"/>
          </a:xfrm>
          <a:prstGeom prst="rect">
            <a:avLst/>
          </a:prstGeom>
        </p:spPr>
      </p:pic>
      <p:sp>
        <p:nvSpPr>
          <p:cNvPr id="52" name="Shape 43"/>
          <p:cNvSpPr/>
          <p:nvPr/>
        </p:nvSpPr>
        <p:spPr>
          <a:xfrm>
            <a:off x="8430768" y="3424428"/>
            <a:ext cx="1261872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E141B">
                <a:alpha val="9000"/>
              </a:srgbClr>
            </a:outerShdw>
          </a:effectLst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2208" y="3543300"/>
            <a:ext cx="118872" cy="118872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705088" y="34244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</a:t>
            </a:r>
            <a:endParaRPr lang="en-US" sz="680" dirty="0"/>
          </a:p>
        </p:txBody>
      </p:sp>
      <p:sp>
        <p:nvSpPr>
          <p:cNvPr id="55" name="Shape 45"/>
          <p:cNvSpPr/>
          <p:nvPr/>
        </p:nvSpPr>
        <p:spPr>
          <a:xfrm>
            <a:off x="8430768" y="3863340"/>
            <a:ext cx="1261872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E141B">
                <a:alpha val="9000"/>
              </a:srgbClr>
            </a:outerShdw>
          </a:effectLst>
        </p:spPr>
      </p:sp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22208" y="3982212"/>
            <a:ext cx="118872" cy="118872"/>
          </a:xfrm>
          <a:prstGeom prst="rect">
            <a:avLst/>
          </a:prstGeom>
        </p:spPr>
      </p:pic>
      <p:sp>
        <p:nvSpPr>
          <p:cNvPr id="57" name="Text 46"/>
          <p:cNvSpPr txBox="1"/>
          <p:nvPr/>
        </p:nvSpPr>
        <p:spPr>
          <a:xfrm>
            <a:off x="8705088" y="38633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Furnace</a:t>
            </a:r>
            <a:endParaRPr lang="en-US" sz="680" dirty="0"/>
          </a:p>
        </p:txBody>
      </p:sp>
      <p:sp>
        <p:nvSpPr>
          <p:cNvPr id="58" name="Shape 47"/>
          <p:cNvSpPr/>
          <p:nvPr/>
        </p:nvSpPr>
        <p:spPr>
          <a:xfrm>
            <a:off x="8430768" y="4338828"/>
            <a:ext cx="1261872" cy="292608"/>
          </a:xfrm>
          <a:prstGeom prst="roundRect">
            <a:avLst>
              <a:gd name="adj" fmla="val 18750"/>
            </a:avLst>
          </a:prstGeom>
          <a:solidFill>
            <a:srgbClr val="E85D04"/>
          </a:solidFill>
          <a:ln/>
        </p:spPr>
      </p:sp>
      <p:sp>
        <p:nvSpPr>
          <p:cNvPr id="59" name="Text 48"/>
          <p:cNvSpPr txBox="1"/>
          <p:nvPr/>
        </p:nvSpPr>
        <p:spPr>
          <a:xfrm>
            <a:off x="8430768" y="433882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ride</a:t>
            </a:r>
            <a:endParaRPr lang="en-US" sz="750" dirty="0"/>
          </a:p>
        </p:txBody>
      </p:sp>
      <p:sp>
        <p:nvSpPr>
          <p:cNvPr id="60" name="Shape 49"/>
          <p:cNvSpPr/>
          <p:nvPr/>
        </p:nvSpPr>
        <p:spPr>
          <a:xfrm>
            <a:off x="10012680" y="2212848"/>
            <a:ext cx="1572768" cy="3218688"/>
          </a:xfrm>
          <a:prstGeom prst="roundRect">
            <a:avLst>
              <a:gd name="adj" fmla="val 4942"/>
            </a:avLst>
          </a:prstGeom>
          <a:solidFill>
            <a:srgbClr val="1A222C"/>
          </a:solidFill>
          <a:ln/>
          <a:effectLst>
            <a:outerShdw sx="100000" sy="100000" kx="0" ky="0" algn="bl" rotWithShape="0" blurRad="203200" dist="50800" dir="5400000">
              <a:srgbClr val="0E141B">
                <a:alpha val="24000"/>
              </a:srgbClr>
            </a:outerShdw>
          </a:effectLst>
        </p:spPr>
      </p:sp>
      <p:sp>
        <p:nvSpPr>
          <p:cNvPr id="61" name="Shape 50"/>
          <p:cNvSpPr/>
          <p:nvPr/>
        </p:nvSpPr>
        <p:spPr>
          <a:xfrm>
            <a:off x="10076688" y="2276856"/>
            <a:ext cx="1444752" cy="3090672"/>
          </a:xfrm>
          <a:prstGeom prst="roundRect">
            <a:avLst>
              <a:gd name="adj" fmla="val 4114"/>
            </a:avLst>
          </a:prstGeom>
          <a:solidFill>
            <a:srgbClr val="F6F8FA"/>
          </a:solidFill>
          <a:ln/>
        </p:spPr>
      </p:sp>
      <p:sp>
        <p:nvSpPr>
          <p:cNvPr id="62" name="Shape 51"/>
          <p:cNvSpPr/>
          <p:nvPr/>
        </p:nvSpPr>
        <p:spPr>
          <a:xfrm>
            <a:off x="10634732" y="2327148"/>
            <a:ext cx="328664" cy="91440"/>
          </a:xfrm>
          <a:prstGeom prst="roundRect">
            <a:avLst>
              <a:gd name="adj" fmla="val 50000"/>
            </a:avLst>
          </a:prstGeom>
          <a:solidFill>
            <a:srgbClr val="1A222C"/>
          </a:solidFill>
          <a:ln/>
        </p:spPr>
      </p:sp>
      <p:sp>
        <p:nvSpPr>
          <p:cNvPr id="63" name="Shape 52"/>
          <p:cNvSpPr/>
          <p:nvPr/>
        </p:nvSpPr>
        <p:spPr>
          <a:xfrm>
            <a:off x="10561320" y="5298948"/>
            <a:ext cx="475488" cy="32004"/>
          </a:xfrm>
          <a:prstGeom prst="roundRect">
            <a:avLst>
              <a:gd name="adj" fmla="val 51429"/>
            </a:avLst>
          </a:prstGeom>
          <a:solidFill>
            <a:srgbClr val="C3CBD4"/>
          </a:solidFill>
          <a:ln/>
        </p:spPr>
      </p:sp>
      <p:sp>
        <p:nvSpPr>
          <p:cNvPr id="64" name="Text 53"/>
          <p:cNvSpPr txBox="1"/>
          <p:nvPr/>
        </p:nvSpPr>
        <p:spPr>
          <a:xfrm>
            <a:off x="10165701" y="2318004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5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595" dirty="0"/>
          </a:p>
        </p:txBody>
      </p:sp>
      <p:pic>
        <p:nvPicPr>
          <p:cNvPr id="6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69527" y="2333549"/>
            <a:ext cx="95860" cy="95860"/>
          </a:xfrm>
          <a:prstGeom prst="rect">
            <a:avLst/>
          </a:prstGeom>
        </p:spPr>
      </p:pic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92776" y="2333549"/>
            <a:ext cx="95860" cy="95860"/>
          </a:xfrm>
          <a:prstGeom prst="rect">
            <a:avLst/>
          </a:prstGeom>
        </p:spPr>
      </p:pic>
      <p:pic>
        <p:nvPicPr>
          <p:cNvPr id="6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316025" y="2329891"/>
            <a:ext cx="105004" cy="105004"/>
          </a:xfrm>
          <a:prstGeom prst="rect">
            <a:avLst/>
          </a:prstGeom>
        </p:spPr>
      </p:pic>
      <p:sp>
        <p:nvSpPr>
          <p:cNvPr id="68" name="Shape 54"/>
          <p:cNvSpPr/>
          <p:nvPr/>
        </p:nvSpPr>
        <p:spPr>
          <a:xfrm>
            <a:off x="10076688" y="2491740"/>
            <a:ext cx="1444752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Shape 55"/>
          <p:cNvSpPr/>
          <p:nvPr/>
        </p:nvSpPr>
        <p:spPr>
          <a:xfrm>
            <a:off x="10076688" y="2850185"/>
            <a:ext cx="1444752" cy="7315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70" name="Text 56"/>
          <p:cNvSpPr txBox="1"/>
          <p:nvPr/>
        </p:nvSpPr>
        <p:spPr>
          <a:xfrm>
            <a:off x="10186416" y="249174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 queue</a:t>
            </a:r>
            <a:endParaRPr lang="en-US" sz="850" dirty="0"/>
          </a:p>
        </p:txBody>
      </p:sp>
      <p:sp>
        <p:nvSpPr>
          <p:cNvPr id="71" name="Shape 57"/>
          <p:cNvSpPr/>
          <p:nvPr/>
        </p:nvSpPr>
        <p:spPr>
          <a:xfrm>
            <a:off x="10149840" y="2948940"/>
            <a:ext cx="1298448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72" name="Shape 58"/>
          <p:cNvSpPr/>
          <p:nvPr/>
        </p:nvSpPr>
        <p:spPr>
          <a:xfrm>
            <a:off x="10232136" y="3044952"/>
            <a:ext cx="210312" cy="210312"/>
          </a:xfrm>
          <a:prstGeom prst="roundRect">
            <a:avLst>
              <a:gd name="adj" fmla="val 50000"/>
            </a:avLst>
          </a:prstGeom>
          <a:solidFill>
            <a:srgbClr val="FFF0E5"/>
          </a:solidFill>
          <a:ln/>
        </p:spPr>
      </p:sp>
      <p:pic>
        <p:nvPicPr>
          <p:cNvPr id="7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73284" y="3090672"/>
            <a:ext cx="118872" cy="118872"/>
          </a:xfrm>
          <a:prstGeom prst="rect">
            <a:avLst/>
          </a:prstGeom>
        </p:spPr>
      </p:pic>
      <p:sp>
        <p:nvSpPr>
          <p:cNvPr id="74" name="Text 59"/>
          <p:cNvSpPr txBox="1"/>
          <p:nvPr/>
        </p:nvSpPr>
        <p:spPr>
          <a:xfrm>
            <a:off x="10506456" y="3012948"/>
            <a:ext cx="8869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</a:t>
            </a:r>
            <a:endParaRPr lang="en-US" sz="720" dirty="0"/>
          </a:p>
        </p:txBody>
      </p:sp>
      <p:sp>
        <p:nvSpPr>
          <p:cNvPr id="75" name="Text 60"/>
          <p:cNvSpPr txBox="1"/>
          <p:nvPr/>
        </p:nvSpPr>
        <p:spPr>
          <a:xfrm>
            <a:off x="10506456" y="3168396"/>
            <a:ext cx="886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riders · 2 min</a:t>
            </a:r>
            <a:endParaRPr lang="en-US" sz="620" dirty="0"/>
          </a:p>
        </p:txBody>
      </p:sp>
      <p:sp>
        <p:nvSpPr>
          <p:cNvPr id="76" name="Shape 61"/>
          <p:cNvSpPr/>
          <p:nvPr/>
        </p:nvSpPr>
        <p:spPr>
          <a:xfrm>
            <a:off x="10149840" y="3424428"/>
            <a:ext cx="1298448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</p:spPr>
      </p:sp>
      <p:sp>
        <p:nvSpPr>
          <p:cNvPr id="77" name="Shape 62"/>
          <p:cNvSpPr/>
          <p:nvPr/>
        </p:nvSpPr>
        <p:spPr>
          <a:xfrm>
            <a:off x="10232136" y="3520440"/>
            <a:ext cx="210312" cy="210312"/>
          </a:xfrm>
          <a:prstGeom prst="roundRect">
            <a:avLst>
              <a:gd name="adj" fmla="val 50000"/>
            </a:avLst>
          </a:prstGeom>
          <a:solidFill>
            <a:srgbClr val="F0F3F7"/>
          </a:solidFill>
          <a:ln/>
        </p:spPr>
      </p:sp>
      <p:pic>
        <p:nvPicPr>
          <p:cNvPr id="7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73284" y="3566160"/>
            <a:ext cx="118872" cy="118872"/>
          </a:xfrm>
          <a:prstGeom prst="rect">
            <a:avLst/>
          </a:prstGeom>
        </p:spPr>
      </p:pic>
      <p:sp>
        <p:nvSpPr>
          <p:cNvPr id="79" name="Text 63"/>
          <p:cNvSpPr txBox="1"/>
          <p:nvPr/>
        </p:nvSpPr>
        <p:spPr>
          <a:xfrm>
            <a:off x="10506456" y="3488436"/>
            <a:ext cx="8869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Coke Plant</a:t>
            </a:r>
            <a:endParaRPr lang="en-US" sz="720" dirty="0"/>
          </a:p>
        </p:txBody>
      </p:sp>
      <p:sp>
        <p:nvSpPr>
          <p:cNvPr id="80" name="Text 64"/>
          <p:cNvSpPr txBox="1"/>
          <p:nvPr/>
        </p:nvSpPr>
        <p:spPr>
          <a:xfrm>
            <a:off x="10506456" y="3643884"/>
            <a:ext cx="886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rider · then Admin</a:t>
            </a:r>
            <a:endParaRPr lang="en-US" sz="620" dirty="0"/>
          </a:p>
        </p:txBody>
      </p:sp>
      <p:sp>
        <p:nvSpPr>
          <p:cNvPr id="81" name="Text 65"/>
          <p:cNvSpPr txBox="1"/>
          <p:nvPr/>
        </p:nvSpPr>
        <p:spPr>
          <a:xfrm>
            <a:off x="10168128" y="3954780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80" kern="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RIDER OTP</a:t>
            </a:r>
            <a:endParaRPr lang="en-US" sz="550" dirty="0"/>
          </a:p>
        </p:txBody>
      </p:sp>
      <p:sp>
        <p:nvSpPr>
          <p:cNvPr id="82" name="Shape 66"/>
          <p:cNvSpPr/>
          <p:nvPr/>
        </p:nvSpPr>
        <p:spPr>
          <a:xfrm>
            <a:off x="10149840" y="4137660"/>
            <a:ext cx="283464" cy="365760"/>
          </a:xfrm>
          <a:prstGeom prst="roundRect">
            <a:avLst>
              <a:gd name="adj" fmla="val 19355"/>
            </a:avLst>
          </a:prstGeom>
          <a:solidFill>
            <a:srgbClr val="1A222C"/>
          </a:solidFill>
          <a:ln/>
        </p:spPr>
      </p:sp>
      <p:sp>
        <p:nvSpPr>
          <p:cNvPr id="83" name="Text 67"/>
          <p:cNvSpPr txBox="1"/>
          <p:nvPr/>
        </p:nvSpPr>
        <p:spPr>
          <a:xfrm>
            <a:off x="10149840" y="4137660"/>
            <a:ext cx="283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84" name="Shape 68"/>
          <p:cNvSpPr/>
          <p:nvPr/>
        </p:nvSpPr>
        <p:spPr>
          <a:xfrm>
            <a:off x="10488168" y="4137660"/>
            <a:ext cx="283464" cy="365760"/>
          </a:xfrm>
          <a:prstGeom prst="roundRect">
            <a:avLst>
              <a:gd name="adj" fmla="val 19355"/>
            </a:avLst>
          </a:prstGeom>
          <a:solidFill>
            <a:srgbClr val="1A222C"/>
          </a:solidFill>
          <a:ln/>
        </p:spPr>
      </p:sp>
      <p:sp>
        <p:nvSpPr>
          <p:cNvPr id="85" name="Text 69"/>
          <p:cNvSpPr txBox="1"/>
          <p:nvPr/>
        </p:nvSpPr>
        <p:spPr>
          <a:xfrm>
            <a:off x="10488168" y="4137660"/>
            <a:ext cx="283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86" name="Shape 70"/>
          <p:cNvSpPr/>
          <p:nvPr/>
        </p:nvSpPr>
        <p:spPr>
          <a:xfrm>
            <a:off x="10826496" y="4137660"/>
            <a:ext cx="283464" cy="36576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7" name="Shape 71"/>
          <p:cNvSpPr/>
          <p:nvPr/>
        </p:nvSpPr>
        <p:spPr>
          <a:xfrm>
            <a:off x="11164824" y="4137660"/>
            <a:ext cx="283464" cy="36576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8" name="Shape 72"/>
          <p:cNvSpPr/>
          <p:nvPr/>
        </p:nvSpPr>
        <p:spPr>
          <a:xfrm>
            <a:off x="10149840" y="4613148"/>
            <a:ext cx="782361" cy="310896"/>
          </a:xfrm>
          <a:prstGeom prst="roundRect">
            <a:avLst>
              <a:gd name="adj" fmla="val 17647"/>
            </a:avLst>
          </a:prstGeom>
          <a:solidFill>
            <a:srgbClr val="00A896"/>
          </a:solidFill>
          <a:ln/>
        </p:spPr>
      </p:sp>
      <p:sp>
        <p:nvSpPr>
          <p:cNvPr id="89" name="Text 73"/>
          <p:cNvSpPr txBox="1"/>
          <p:nvPr/>
        </p:nvSpPr>
        <p:spPr>
          <a:xfrm>
            <a:off x="10149840" y="4613148"/>
            <a:ext cx="78236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trip</a:t>
            </a:r>
            <a:endParaRPr lang="en-US" sz="750" dirty="0"/>
          </a:p>
        </p:txBody>
      </p:sp>
      <p:sp>
        <p:nvSpPr>
          <p:cNvPr id="90" name="Shape 74"/>
          <p:cNvSpPr/>
          <p:nvPr/>
        </p:nvSpPr>
        <p:spPr>
          <a:xfrm>
            <a:off x="10982676" y="4613148"/>
            <a:ext cx="429036" cy="310896"/>
          </a:xfrm>
          <a:prstGeom prst="roundRect">
            <a:avLst>
              <a:gd name="adj" fmla="val 17647"/>
            </a:avLst>
          </a:prstGeom>
          <a:solidFill>
            <a:srgbClr val="C02617"/>
          </a:solidFill>
          <a:ln/>
        </p:spPr>
      </p:sp>
      <p:sp>
        <p:nvSpPr>
          <p:cNvPr id="91" name="Text 75"/>
          <p:cNvSpPr txBox="1"/>
          <p:nvPr/>
        </p:nvSpPr>
        <p:spPr>
          <a:xfrm>
            <a:off x="10982676" y="4613148"/>
            <a:ext cx="4290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ECO TECH  ·  Plant Ride for LHS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6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58368"/>
            <a:ext cx="110578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40" kern="0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trip, seen from three sides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79576"/>
            <a:ext cx="95097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lane below is one person's experience. The dotted moments are where a lane hands over to the next.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1755648"/>
            <a:ext cx="1719072" cy="1115568"/>
          </a:xfrm>
          <a:prstGeom prst="roundRect">
            <a:avLst>
              <a:gd name="adj" fmla="val 9836"/>
            </a:avLst>
          </a:prstGeom>
          <a:solidFill>
            <a:srgbClr val="F3F6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" y="1956816"/>
            <a:ext cx="420624" cy="420624"/>
          </a:xfrm>
          <a:prstGeom prst="ellipse">
            <a:avLst/>
          </a:prstGeom>
          <a:solidFill>
            <a:srgbClr val="FFEDE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458" y="2066178"/>
            <a:ext cx="201900" cy="2019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68096" y="2450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2432304" y="1755648"/>
            <a:ext cx="1721449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41B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96896" y="1938528"/>
            <a:ext cx="274320" cy="274320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596896" y="1938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2596896" y="2286000"/>
            <a:ext cx="13922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300057" y="1755648"/>
            <a:ext cx="1721449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41B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64649" y="1938528"/>
            <a:ext cx="274320" cy="274320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464649" y="1938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4464649" y="2286000"/>
            <a:ext cx="13922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vehicle &amp; driver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167811" y="1755648"/>
            <a:ext cx="1721449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41B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332403" y="1938528"/>
            <a:ext cx="274320" cy="274320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332403" y="1938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6332403" y="2286000"/>
            <a:ext cx="13922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the cab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035564" y="1755648"/>
            <a:ext cx="1721449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41B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200156" y="1938528"/>
            <a:ext cx="274320" cy="274320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200156" y="1938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8200156" y="2286000"/>
            <a:ext cx="13922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Boards with OTP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9903318" y="1755648"/>
            <a:ext cx="1721449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41B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10067910" y="1938528"/>
            <a:ext cx="274320" cy="274320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067910" y="1938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10067910" y="2286000"/>
            <a:ext cx="13922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the trip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566928" y="3035808"/>
            <a:ext cx="1719072" cy="1115568"/>
          </a:xfrm>
          <a:prstGeom prst="roundRect">
            <a:avLst>
              <a:gd name="adj" fmla="val 9836"/>
            </a:avLst>
          </a:prstGeom>
          <a:solidFill>
            <a:srgbClr val="F3F6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68096" y="3236976"/>
            <a:ext cx="420624" cy="420624"/>
          </a:xfrm>
          <a:prstGeom prst="ellipse">
            <a:avLst/>
          </a:prstGeom>
          <a:solidFill>
            <a:srgbClr val="FFEDE0"/>
          </a:solidFill>
          <a:ln/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458" y="3346338"/>
            <a:ext cx="201900" cy="201900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768096" y="3730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</a:t>
            </a:r>
            <a:endParaRPr lang="en-US" sz="1350" dirty="0"/>
          </a:p>
        </p:txBody>
      </p:sp>
      <p:sp>
        <p:nvSpPr>
          <p:cNvPr id="35" name="Shape 31"/>
          <p:cNvSpPr/>
          <p:nvPr/>
        </p:nvSpPr>
        <p:spPr>
          <a:xfrm>
            <a:off x="2432304" y="3035808"/>
            <a:ext cx="1721449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41B">
                <a:alpha val="10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2596896" y="3218688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2596896" y="3218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38" name="Text 34"/>
          <p:cNvSpPr txBox="1"/>
          <p:nvPr/>
        </p:nvSpPr>
        <p:spPr>
          <a:xfrm>
            <a:off x="2596896" y="3566160"/>
            <a:ext cx="13922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duty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4300057" y="3035808"/>
            <a:ext cx="1721449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41B">
                <a:alpha val="10000"/>
              </a:srgbClr>
            </a:outerShdw>
          </a:effectLst>
        </p:spPr>
      </p:sp>
      <p:sp>
        <p:nvSpPr>
          <p:cNvPr id="40" name="Shape 36"/>
          <p:cNvSpPr/>
          <p:nvPr/>
        </p:nvSpPr>
        <p:spPr>
          <a:xfrm>
            <a:off x="4464649" y="3218688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1" name="Text 37"/>
          <p:cNvSpPr txBox="1"/>
          <p:nvPr/>
        </p:nvSpPr>
        <p:spPr>
          <a:xfrm>
            <a:off x="4464649" y="3218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42" name="Text 38"/>
          <p:cNvSpPr txBox="1"/>
          <p:nvPr/>
        </p:nvSpPr>
        <p:spPr>
          <a:xfrm>
            <a:off x="4464649" y="3566160"/>
            <a:ext cx="13922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the pickup</a:t>
            </a:r>
            <a:endParaRPr lang="en-US" sz="1050" dirty="0"/>
          </a:p>
        </p:txBody>
      </p:sp>
      <p:sp>
        <p:nvSpPr>
          <p:cNvPr id="43" name="Shape 39"/>
          <p:cNvSpPr/>
          <p:nvPr/>
        </p:nvSpPr>
        <p:spPr>
          <a:xfrm>
            <a:off x="6167811" y="3035808"/>
            <a:ext cx="1721449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41B">
                <a:alpha val="10000"/>
              </a:srgbClr>
            </a:outerShdw>
          </a:effectLst>
        </p:spPr>
      </p:sp>
      <p:sp>
        <p:nvSpPr>
          <p:cNvPr id="44" name="Shape 40"/>
          <p:cNvSpPr/>
          <p:nvPr/>
        </p:nvSpPr>
        <p:spPr>
          <a:xfrm>
            <a:off x="6332403" y="3218688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5" name="Text 41"/>
          <p:cNvSpPr txBox="1"/>
          <p:nvPr/>
        </p:nvSpPr>
        <p:spPr>
          <a:xfrm>
            <a:off x="6332403" y="3218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46" name="Text 42"/>
          <p:cNvSpPr txBox="1"/>
          <p:nvPr/>
        </p:nvSpPr>
        <p:spPr>
          <a:xfrm>
            <a:off x="6332403" y="3566160"/>
            <a:ext cx="13922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the sequence</a:t>
            </a:r>
            <a:endParaRPr lang="en-US" sz="1050" dirty="0"/>
          </a:p>
        </p:txBody>
      </p:sp>
      <p:sp>
        <p:nvSpPr>
          <p:cNvPr id="47" name="Shape 43"/>
          <p:cNvSpPr/>
          <p:nvPr/>
        </p:nvSpPr>
        <p:spPr>
          <a:xfrm>
            <a:off x="8035564" y="3035808"/>
            <a:ext cx="1721449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41B">
                <a:alpha val="10000"/>
              </a:srgbClr>
            </a:outerShdw>
          </a:effectLst>
        </p:spPr>
      </p:sp>
      <p:sp>
        <p:nvSpPr>
          <p:cNvPr id="48" name="Shape 44"/>
          <p:cNvSpPr/>
          <p:nvPr/>
        </p:nvSpPr>
        <p:spPr>
          <a:xfrm>
            <a:off x="8200156" y="3218688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9" name="Text 45"/>
          <p:cNvSpPr txBox="1"/>
          <p:nvPr/>
        </p:nvSpPr>
        <p:spPr>
          <a:xfrm>
            <a:off x="8200156" y="3218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50" name="Text 46"/>
          <p:cNvSpPr txBox="1"/>
          <p:nvPr/>
        </p:nvSpPr>
        <p:spPr>
          <a:xfrm>
            <a:off x="8200156" y="3566160"/>
            <a:ext cx="13922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OTP</a:t>
            </a:r>
            <a:endParaRPr lang="en-US" sz="1050" dirty="0"/>
          </a:p>
        </p:txBody>
      </p:sp>
      <p:sp>
        <p:nvSpPr>
          <p:cNvPr id="51" name="Shape 47"/>
          <p:cNvSpPr/>
          <p:nvPr/>
        </p:nvSpPr>
        <p:spPr>
          <a:xfrm>
            <a:off x="9903318" y="3035808"/>
            <a:ext cx="1721449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41B">
                <a:alpha val="10000"/>
              </a:srgbClr>
            </a:outerShdw>
          </a:effectLst>
        </p:spPr>
      </p:sp>
      <p:sp>
        <p:nvSpPr>
          <p:cNvPr id="52" name="Shape 48"/>
          <p:cNvSpPr/>
          <p:nvPr/>
        </p:nvSpPr>
        <p:spPr>
          <a:xfrm>
            <a:off x="10067910" y="3218688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3" name="Text 49"/>
          <p:cNvSpPr txBox="1"/>
          <p:nvPr/>
        </p:nvSpPr>
        <p:spPr>
          <a:xfrm>
            <a:off x="10067910" y="3218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54" name="Text 50"/>
          <p:cNvSpPr txBox="1"/>
          <p:nvPr/>
        </p:nvSpPr>
        <p:spPr>
          <a:xfrm>
            <a:off x="10067910" y="3566160"/>
            <a:ext cx="13922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trip</a:t>
            </a:r>
            <a:endParaRPr lang="en-US" sz="1050" dirty="0"/>
          </a:p>
        </p:txBody>
      </p:sp>
      <p:sp>
        <p:nvSpPr>
          <p:cNvPr id="55" name="Shape 51"/>
          <p:cNvSpPr/>
          <p:nvPr/>
        </p:nvSpPr>
        <p:spPr>
          <a:xfrm>
            <a:off x="566928" y="4315968"/>
            <a:ext cx="1719072" cy="1115568"/>
          </a:xfrm>
          <a:prstGeom prst="roundRect">
            <a:avLst>
              <a:gd name="adj" fmla="val 9836"/>
            </a:avLst>
          </a:prstGeom>
          <a:solidFill>
            <a:srgbClr val="0E141B"/>
          </a:solidFill>
          <a:ln/>
        </p:spPr>
      </p:sp>
      <p:sp>
        <p:nvSpPr>
          <p:cNvPr id="56" name="Shape 52"/>
          <p:cNvSpPr/>
          <p:nvPr/>
        </p:nvSpPr>
        <p:spPr>
          <a:xfrm>
            <a:off x="768096" y="4517136"/>
            <a:ext cx="420624" cy="420624"/>
          </a:xfrm>
          <a:prstGeom prst="ellipse">
            <a:avLst/>
          </a:prstGeom>
          <a:solidFill>
            <a:srgbClr val="22303F"/>
          </a:solidFill>
          <a:ln/>
        </p:spPr>
      </p:sp>
      <p:pic>
        <p:nvPicPr>
          <p:cNvPr id="5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458" y="4626498"/>
            <a:ext cx="201900" cy="201900"/>
          </a:xfrm>
          <a:prstGeom prst="rect">
            <a:avLst/>
          </a:prstGeom>
        </p:spPr>
      </p:pic>
      <p:sp>
        <p:nvSpPr>
          <p:cNvPr id="58" name="Text 53"/>
          <p:cNvSpPr txBox="1"/>
          <p:nvPr/>
        </p:nvSpPr>
        <p:spPr>
          <a:xfrm>
            <a:off x="768096" y="5010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&amp; desk</a:t>
            </a:r>
            <a:endParaRPr lang="en-US" sz="1350" dirty="0"/>
          </a:p>
        </p:txBody>
      </p:sp>
      <p:sp>
        <p:nvSpPr>
          <p:cNvPr id="59" name="Shape 54"/>
          <p:cNvSpPr/>
          <p:nvPr/>
        </p:nvSpPr>
        <p:spPr>
          <a:xfrm>
            <a:off x="2432304" y="4315968"/>
            <a:ext cx="1721449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41B">
                <a:alpha val="10000"/>
              </a:srgbClr>
            </a:outerShdw>
          </a:effectLst>
        </p:spPr>
      </p:sp>
      <p:sp>
        <p:nvSpPr>
          <p:cNvPr id="60" name="Shape 55"/>
          <p:cNvSpPr/>
          <p:nvPr/>
        </p:nvSpPr>
        <p:spPr>
          <a:xfrm>
            <a:off x="2596896" y="4498848"/>
            <a:ext cx="274320" cy="274320"/>
          </a:xfrm>
          <a:prstGeom prst="ellipse">
            <a:avLst/>
          </a:prstGeom>
          <a:solidFill>
            <a:srgbClr val="0E141B"/>
          </a:solidFill>
          <a:ln/>
        </p:spPr>
      </p:sp>
      <p:sp>
        <p:nvSpPr>
          <p:cNvPr id="61" name="Text 56"/>
          <p:cNvSpPr txBox="1"/>
          <p:nvPr/>
        </p:nvSpPr>
        <p:spPr>
          <a:xfrm>
            <a:off x="2596896" y="4498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62" name="Text 57"/>
          <p:cNvSpPr txBox="1"/>
          <p:nvPr/>
        </p:nvSpPr>
        <p:spPr>
          <a:xfrm>
            <a:off x="2596896" y="4846320"/>
            <a:ext cx="13922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rules</a:t>
            </a:r>
            <a:endParaRPr lang="en-US" sz="1050" dirty="0"/>
          </a:p>
        </p:txBody>
      </p:sp>
      <p:sp>
        <p:nvSpPr>
          <p:cNvPr id="63" name="Shape 58"/>
          <p:cNvSpPr/>
          <p:nvPr/>
        </p:nvSpPr>
        <p:spPr>
          <a:xfrm>
            <a:off x="4300057" y="4315968"/>
            <a:ext cx="1721449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41B">
                <a:alpha val="10000"/>
              </a:srgbClr>
            </a:outerShdw>
          </a:effectLst>
        </p:spPr>
      </p:sp>
      <p:sp>
        <p:nvSpPr>
          <p:cNvPr id="64" name="Shape 59"/>
          <p:cNvSpPr/>
          <p:nvPr/>
        </p:nvSpPr>
        <p:spPr>
          <a:xfrm>
            <a:off x="4464649" y="4498848"/>
            <a:ext cx="274320" cy="274320"/>
          </a:xfrm>
          <a:prstGeom prst="ellipse">
            <a:avLst/>
          </a:prstGeom>
          <a:solidFill>
            <a:srgbClr val="0E141B"/>
          </a:solidFill>
          <a:ln/>
        </p:spPr>
      </p:sp>
      <p:sp>
        <p:nvSpPr>
          <p:cNvPr id="65" name="Text 60"/>
          <p:cNvSpPr txBox="1"/>
          <p:nvPr/>
        </p:nvSpPr>
        <p:spPr>
          <a:xfrm>
            <a:off x="4464649" y="4498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66" name="Text 61"/>
          <p:cNvSpPr txBox="1"/>
          <p:nvPr/>
        </p:nvSpPr>
        <p:spPr>
          <a:xfrm>
            <a:off x="4464649" y="4846320"/>
            <a:ext cx="13922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the board</a:t>
            </a:r>
            <a:endParaRPr lang="en-US" sz="1050" dirty="0"/>
          </a:p>
        </p:txBody>
      </p:sp>
      <p:sp>
        <p:nvSpPr>
          <p:cNvPr id="67" name="Shape 62"/>
          <p:cNvSpPr/>
          <p:nvPr/>
        </p:nvSpPr>
        <p:spPr>
          <a:xfrm>
            <a:off x="6167811" y="4315968"/>
            <a:ext cx="1721449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41B">
                <a:alpha val="10000"/>
              </a:srgbClr>
            </a:outerShdw>
          </a:effectLst>
        </p:spPr>
      </p:sp>
      <p:sp>
        <p:nvSpPr>
          <p:cNvPr id="68" name="Shape 63"/>
          <p:cNvSpPr/>
          <p:nvPr/>
        </p:nvSpPr>
        <p:spPr>
          <a:xfrm>
            <a:off x="6332403" y="4498848"/>
            <a:ext cx="274320" cy="274320"/>
          </a:xfrm>
          <a:prstGeom prst="ellipse">
            <a:avLst/>
          </a:prstGeom>
          <a:solidFill>
            <a:srgbClr val="0E141B"/>
          </a:solidFill>
          <a:ln/>
        </p:spPr>
      </p:sp>
      <p:sp>
        <p:nvSpPr>
          <p:cNvPr id="69" name="Text 64"/>
          <p:cNvSpPr txBox="1"/>
          <p:nvPr/>
        </p:nvSpPr>
        <p:spPr>
          <a:xfrm>
            <a:off x="6332403" y="4498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70" name="Text 65"/>
          <p:cNvSpPr txBox="1"/>
          <p:nvPr/>
        </p:nvSpPr>
        <p:spPr>
          <a:xfrm>
            <a:off x="6332403" y="4846320"/>
            <a:ext cx="13922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exceptions</a:t>
            </a:r>
            <a:endParaRPr lang="en-US" sz="1050" dirty="0"/>
          </a:p>
        </p:txBody>
      </p:sp>
      <p:sp>
        <p:nvSpPr>
          <p:cNvPr id="71" name="Shape 66"/>
          <p:cNvSpPr/>
          <p:nvPr/>
        </p:nvSpPr>
        <p:spPr>
          <a:xfrm>
            <a:off x="8035564" y="4315968"/>
            <a:ext cx="1721449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41B">
                <a:alpha val="10000"/>
              </a:srgbClr>
            </a:outerShdw>
          </a:effectLst>
        </p:spPr>
      </p:sp>
      <p:sp>
        <p:nvSpPr>
          <p:cNvPr id="72" name="Shape 67"/>
          <p:cNvSpPr/>
          <p:nvPr/>
        </p:nvSpPr>
        <p:spPr>
          <a:xfrm>
            <a:off x="8200156" y="4498848"/>
            <a:ext cx="274320" cy="274320"/>
          </a:xfrm>
          <a:prstGeom prst="ellipse">
            <a:avLst/>
          </a:prstGeom>
          <a:solidFill>
            <a:srgbClr val="0E141B"/>
          </a:solidFill>
          <a:ln/>
        </p:spPr>
      </p:sp>
      <p:sp>
        <p:nvSpPr>
          <p:cNvPr id="73" name="Text 68"/>
          <p:cNvSpPr txBox="1"/>
          <p:nvPr/>
        </p:nvSpPr>
        <p:spPr>
          <a:xfrm>
            <a:off x="8200156" y="4498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74" name="Text 69"/>
          <p:cNvSpPr txBox="1"/>
          <p:nvPr/>
        </p:nvSpPr>
        <p:spPr>
          <a:xfrm>
            <a:off x="8200156" y="4846320"/>
            <a:ext cx="13922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compliance</a:t>
            </a:r>
            <a:endParaRPr lang="en-US" sz="1050" dirty="0"/>
          </a:p>
        </p:txBody>
      </p:sp>
      <p:sp>
        <p:nvSpPr>
          <p:cNvPr id="75" name="Shape 70"/>
          <p:cNvSpPr/>
          <p:nvPr/>
        </p:nvSpPr>
        <p:spPr>
          <a:xfrm>
            <a:off x="9903318" y="4315968"/>
            <a:ext cx="1721449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41B">
                <a:alpha val="10000"/>
              </a:srgbClr>
            </a:outerShdw>
          </a:effectLst>
        </p:spPr>
      </p:sp>
      <p:sp>
        <p:nvSpPr>
          <p:cNvPr id="76" name="Shape 71"/>
          <p:cNvSpPr/>
          <p:nvPr/>
        </p:nvSpPr>
        <p:spPr>
          <a:xfrm>
            <a:off x="10067910" y="4498848"/>
            <a:ext cx="274320" cy="274320"/>
          </a:xfrm>
          <a:prstGeom prst="ellipse">
            <a:avLst/>
          </a:prstGeom>
          <a:solidFill>
            <a:srgbClr val="0E141B"/>
          </a:solidFill>
          <a:ln/>
        </p:spPr>
      </p:sp>
      <p:sp>
        <p:nvSpPr>
          <p:cNvPr id="77" name="Text 72"/>
          <p:cNvSpPr txBox="1"/>
          <p:nvPr/>
        </p:nvSpPr>
        <p:spPr>
          <a:xfrm>
            <a:off x="10067910" y="4498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78" name="Text 73"/>
          <p:cNvSpPr txBox="1"/>
          <p:nvPr/>
        </p:nvSpPr>
        <p:spPr>
          <a:xfrm>
            <a:off x="10067910" y="4846320"/>
            <a:ext cx="13922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 the cost centre</a:t>
            </a:r>
            <a:endParaRPr lang="en-US" sz="1050" dirty="0"/>
          </a:p>
        </p:txBody>
      </p:sp>
      <p:sp>
        <p:nvSpPr>
          <p:cNvPr id="79" name="Shape 74"/>
          <p:cNvSpPr/>
          <p:nvPr/>
        </p:nvSpPr>
        <p:spPr>
          <a:xfrm>
            <a:off x="3238165" y="2898648"/>
            <a:ext cx="109728" cy="109728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80" name="Shape 75"/>
          <p:cNvSpPr/>
          <p:nvPr/>
        </p:nvSpPr>
        <p:spPr>
          <a:xfrm>
            <a:off x="3238165" y="4178808"/>
            <a:ext cx="109728" cy="109728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81" name="Shape 76"/>
          <p:cNvSpPr/>
          <p:nvPr/>
        </p:nvSpPr>
        <p:spPr>
          <a:xfrm>
            <a:off x="5105918" y="2898648"/>
            <a:ext cx="109728" cy="109728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82" name="Shape 77"/>
          <p:cNvSpPr/>
          <p:nvPr/>
        </p:nvSpPr>
        <p:spPr>
          <a:xfrm>
            <a:off x="5105918" y="4178808"/>
            <a:ext cx="109728" cy="109728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83" name="Shape 78"/>
          <p:cNvSpPr/>
          <p:nvPr/>
        </p:nvSpPr>
        <p:spPr>
          <a:xfrm>
            <a:off x="6973672" y="2898648"/>
            <a:ext cx="109728" cy="109728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84" name="Shape 79"/>
          <p:cNvSpPr/>
          <p:nvPr/>
        </p:nvSpPr>
        <p:spPr>
          <a:xfrm>
            <a:off x="6973672" y="4178808"/>
            <a:ext cx="109728" cy="109728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85" name="Shape 80"/>
          <p:cNvSpPr/>
          <p:nvPr/>
        </p:nvSpPr>
        <p:spPr>
          <a:xfrm>
            <a:off x="8841425" y="2898648"/>
            <a:ext cx="109728" cy="109728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86" name="Shape 81"/>
          <p:cNvSpPr/>
          <p:nvPr/>
        </p:nvSpPr>
        <p:spPr>
          <a:xfrm>
            <a:off x="8841425" y="4178808"/>
            <a:ext cx="109728" cy="109728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87" name="Shape 82"/>
          <p:cNvSpPr/>
          <p:nvPr/>
        </p:nvSpPr>
        <p:spPr>
          <a:xfrm>
            <a:off x="10709178" y="2898648"/>
            <a:ext cx="109728" cy="109728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88" name="Shape 83"/>
          <p:cNvSpPr/>
          <p:nvPr/>
        </p:nvSpPr>
        <p:spPr>
          <a:xfrm>
            <a:off x="10709178" y="4178808"/>
            <a:ext cx="109728" cy="109728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89" name="Shape 84"/>
          <p:cNvSpPr/>
          <p:nvPr/>
        </p:nvSpPr>
        <p:spPr>
          <a:xfrm>
            <a:off x="566928" y="5577840"/>
            <a:ext cx="11057839" cy="566928"/>
          </a:xfrm>
          <a:prstGeom prst="roundRect">
            <a:avLst>
              <a:gd name="adj" fmla="val 19355"/>
            </a:avLst>
          </a:prstGeom>
          <a:solidFill>
            <a:srgbClr val="0E141B"/>
          </a:solidFill>
          <a:ln/>
        </p:spPr>
      </p:sp>
      <p:sp>
        <p:nvSpPr>
          <p:cNvPr id="90" name="Text 85"/>
          <p:cNvSpPr txBox="1"/>
          <p:nvPr/>
        </p:nvSpPr>
        <p:spPr>
          <a:xfrm>
            <a:off x="859536" y="5577840"/>
            <a:ext cx="104726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each row left to right.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dots mark the handovers - a rider's booking becomes a driver's pickup, and both become a line on the desk's live board.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A3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ECO TECH  ·  Plant Ride for LHS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3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1 OF 3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58368"/>
            <a:ext cx="110578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rider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627632"/>
            <a:ext cx="3072384" cy="1920240"/>
          </a:xfrm>
          <a:prstGeom prst="roundRect">
            <a:avLst>
              <a:gd name="adj" fmla="val 5714"/>
            </a:avLst>
          </a:prstGeom>
          <a:solidFill>
            <a:srgbClr val="18222D"/>
          </a:solidFill>
          <a:ln w="12700">
            <a:solidFill>
              <a:srgbClr val="3446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847088"/>
            <a:ext cx="603504" cy="603504"/>
          </a:xfrm>
          <a:prstGeom prst="ellipse">
            <a:avLst/>
          </a:prstGeom>
          <a:solidFill>
            <a:srgbClr val="22303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159" y="2003999"/>
            <a:ext cx="289682" cy="28968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41248" y="256032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871216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3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LHS employee who needs to get from one part of the plant to another, and does not want to phone the transport desk to do it.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950208" y="1627632"/>
            <a:ext cx="2399690" cy="1920240"/>
          </a:xfrm>
          <a:prstGeom prst="roundRect">
            <a:avLst>
              <a:gd name="adj" fmla="val 5714"/>
            </a:avLst>
          </a:prstGeom>
          <a:solidFill>
            <a:srgbClr val="18222D"/>
          </a:solidFill>
          <a:ln w="12700">
            <a:solidFill>
              <a:srgbClr val="34465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69664" y="1828800"/>
            <a:ext cx="420624" cy="420624"/>
          </a:xfrm>
          <a:prstGeom prst="ellipse">
            <a:avLst/>
          </a:prstGeom>
          <a:solidFill>
            <a:srgbClr val="22303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026" y="1938162"/>
            <a:ext cx="201900" cy="2019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169664" y="2340864"/>
            <a:ext cx="19607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30" kern="0" dirty="0">
                <a:solidFill>
                  <a:srgbClr val="A3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4169664" y="2542032"/>
            <a:ext cx="196077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to the right place on time, without waiting in the open.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587642" y="1627632"/>
            <a:ext cx="2399690" cy="1920240"/>
          </a:xfrm>
          <a:prstGeom prst="roundRect">
            <a:avLst>
              <a:gd name="adj" fmla="val 5714"/>
            </a:avLst>
          </a:prstGeom>
          <a:solidFill>
            <a:srgbClr val="18222D"/>
          </a:solidFill>
          <a:ln w="12700">
            <a:solidFill>
              <a:srgbClr val="34465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807098" y="1828800"/>
            <a:ext cx="420624" cy="420624"/>
          </a:xfrm>
          <a:prstGeom prst="ellipse">
            <a:avLst/>
          </a:prstGeom>
          <a:solidFill>
            <a:srgbClr val="22303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6461" y="1938162"/>
            <a:ext cx="201900" cy="2019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807098" y="2340864"/>
            <a:ext cx="19607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30" kern="0" dirty="0">
                <a:solidFill>
                  <a:srgbClr val="A3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</a:t>
            </a:r>
            <a:endParaRPr lang="en-US" sz="800" dirty="0"/>
          </a:p>
        </p:txBody>
      </p:sp>
      <p:sp>
        <p:nvSpPr>
          <p:cNvPr id="20" name="Text 15"/>
          <p:cNvSpPr txBox="1"/>
          <p:nvPr/>
        </p:nvSpPr>
        <p:spPr>
          <a:xfrm>
            <a:off x="6807098" y="2542032"/>
            <a:ext cx="196077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app, mobile web, or a kiosk at the gate.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9225077" y="1627632"/>
            <a:ext cx="2399690" cy="1920240"/>
          </a:xfrm>
          <a:prstGeom prst="roundRect">
            <a:avLst>
              <a:gd name="adj" fmla="val 5714"/>
            </a:avLst>
          </a:prstGeom>
          <a:solidFill>
            <a:srgbClr val="18222D"/>
          </a:solidFill>
          <a:ln w="12700">
            <a:solidFill>
              <a:srgbClr val="34465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444533" y="1828800"/>
            <a:ext cx="420624" cy="420624"/>
          </a:xfrm>
          <a:prstGeom prst="ellipse">
            <a:avLst/>
          </a:prstGeom>
          <a:solidFill>
            <a:srgbClr val="22303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3895" y="1938162"/>
            <a:ext cx="201900" cy="2019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444533" y="2340864"/>
            <a:ext cx="19607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30" kern="0" dirty="0">
                <a:solidFill>
                  <a:srgbClr val="A3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 OF TRUTH</a:t>
            </a:r>
            <a:endParaRPr lang="en-US" sz="800" dirty="0"/>
          </a:p>
        </p:txBody>
      </p:sp>
      <p:sp>
        <p:nvSpPr>
          <p:cNvPr id="25" name="Text 19"/>
          <p:cNvSpPr txBox="1"/>
          <p:nvPr/>
        </p:nvSpPr>
        <p:spPr>
          <a:xfrm>
            <a:off x="9444533" y="2542032"/>
            <a:ext cx="196077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the vehicle number and a live ETA within seconds of booking.</a:t>
            </a:r>
            <a:endParaRPr lang="en-US" sz="1050" dirty="0"/>
          </a:p>
        </p:txBody>
      </p:sp>
      <p:sp>
        <p:nvSpPr>
          <p:cNvPr id="26" name="Text 20"/>
          <p:cNvSpPr txBox="1"/>
          <p:nvPr/>
        </p:nvSpPr>
        <p:spPr>
          <a:xfrm>
            <a:off x="566928" y="3803904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FF9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JOURNEY, END TO END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566928" y="4096512"/>
            <a:ext cx="1690573" cy="1700784"/>
          </a:xfrm>
          <a:prstGeom prst="roundRect">
            <a:avLst>
              <a:gd name="adj" fmla="val 6491"/>
            </a:avLst>
          </a:prstGeom>
          <a:solidFill>
            <a:srgbClr val="18222D"/>
          </a:solidFill>
          <a:ln w="12700">
            <a:solidFill>
              <a:srgbClr val="34465A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49808" y="4279392"/>
            <a:ext cx="310896" cy="310896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749808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1727149" y="4279392"/>
            <a:ext cx="310896" cy="310896"/>
          </a:xfrm>
          <a:prstGeom prst="ellipse">
            <a:avLst/>
          </a:prstGeom>
          <a:solidFill>
            <a:srgbClr val="22303F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7982" y="4360225"/>
            <a:ext cx="149230" cy="14923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749808" y="4681728"/>
            <a:ext cx="13248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&amp; set route</a:t>
            </a:r>
            <a:endParaRPr lang="en-US" sz="1050" dirty="0"/>
          </a:p>
        </p:txBody>
      </p:sp>
      <p:sp>
        <p:nvSpPr>
          <p:cNvPr id="33" name="Text 26"/>
          <p:cNvSpPr txBox="1"/>
          <p:nvPr/>
        </p:nvSpPr>
        <p:spPr>
          <a:xfrm>
            <a:off x="749808" y="5029200"/>
            <a:ext cx="13248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A3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places, or pick from the stop list</a:t>
            </a:r>
            <a:endParaRPr lang="en-US" sz="850" dirty="0"/>
          </a:p>
        </p:txBody>
      </p:sp>
      <p:sp>
        <p:nvSpPr>
          <p:cNvPr id="34" name="Shape 27"/>
          <p:cNvSpPr/>
          <p:nvPr/>
        </p:nvSpPr>
        <p:spPr>
          <a:xfrm>
            <a:off x="2280361" y="4846320"/>
            <a:ext cx="137160" cy="137160"/>
          </a:xfrm>
          <a:prstGeom prst="rightArrow">
            <a:avLst/>
          </a:prstGeom>
          <a:solidFill>
            <a:srgbClr val="34465A"/>
          </a:solidFill>
          <a:ln/>
        </p:spPr>
      </p:sp>
      <p:sp>
        <p:nvSpPr>
          <p:cNvPr id="35" name="Shape 28"/>
          <p:cNvSpPr/>
          <p:nvPr/>
        </p:nvSpPr>
        <p:spPr>
          <a:xfrm>
            <a:off x="2440381" y="4096512"/>
            <a:ext cx="1690573" cy="1700784"/>
          </a:xfrm>
          <a:prstGeom prst="roundRect">
            <a:avLst>
              <a:gd name="adj" fmla="val 6491"/>
            </a:avLst>
          </a:prstGeom>
          <a:solidFill>
            <a:srgbClr val="18222D"/>
          </a:solidFill>
          <a:ln w="12700">
            <a:solidFill>
              <a:srgbClr val="34465A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2623261" y="4279392"/>
            <a:ext cx="310896" cy="310896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2623261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38" name="Shape 31"/>
          <p:cNvSpPr/>
          <p:nvPr/>
        </p:nvSpPr>
        <p:spPr>
          <a:xfrm>
            <a:off x="3600602" y="4279392"/>
            <a:ext cx="310896" cy="310896"/>
          </a:xfrm>
          <a:prstGeom prst="ellipse">
            <a:avLst/>
          </a:prstGeom>
          <a:solidFill>
            <a:srgbClr val="22303F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1435" y="4360225"/>
            <a:ext cx="149230" cy="149230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2623261" y="4681728"/>
            <a:ext cx="13248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details</a:t>
            </a:r>
            <a:endParaRPr lang="en-US" sz="1050" dirty="0"/>
          </a:p>
        </p:txBody>
      </p:sp>
      <p:sp>
        <p:nvSpPr>
          <p:cNvPr id="41" name="Text 33"/>
          <p:cNvSpPr txBox="1"/>
          <p:nvPr/>
        </p:nvSpPr>
        <p:spPr>
          <a:xfrm>
            <a:off x="2623261" y="5029200"/>
            <a:ext cx="13248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A3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No., name, email, contact - editable</a:t>
            </a:r>
            <a:endParaRPr lang="en-US" sz="850" dirty="0"/>
          </a:p>
        </p:txBody>
      </p:sp>
      <p:sp>
        <p:nvSpPr>
          <p:cNvPr id="42" name="Shape 34"/>
          <p:cNvSpPr/>
          <p:nvPr/>
        </p:nvSpPr>
        <p:spPr>
          <a:xfrm>
            <a:off x="4153814" y="4846320"/>
            <a:ext cx="137160" cy="137160"/>
          </a:xfrm>
          <a:prstGeom prst="rightArrow">
            <a:avLst/>
          </a:prstGeom>
          <a:solidFill>
            <a:srgbClr val="34465A"/>
          </a:solidFill>
          <a:ln/>
        </p:spPr>
      </p:sp>
      <p:sp>
        <p:nvSpPr>
          <p:cNvPr id="43" name="Shape 35"/>
          <p:cNvSpPr/>
          <p:nvPr/>
        </p:nvSpPr>
        <p:spPr>
          <a:xfrm>
            <a:off x="4313834" y="4096512"/>
            <a:ext cx="1690573" cy="1700784"/>
          </a:xfrm>
          <a:prstGeom prst="roundRect">
            <a:avLst>
              <a:gd name="adj" fmla="val 6491"/>
            </a:avLst>
          </a:prstGeom>
          <a:solidFill>
            <a:srgbClr val="18222D"/>
          </a:solidFill>
          <a:ln w="12700">
            <a:solidFill>
              <a:srgbClr val="34465A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4496714" y="4279392"/>
            <a:ext cx="310896" cy="310896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45" name="Text 37"/>
          <p:cNvSpPr txBox="1"/>
          <p:nvPr/>
        </p:nvSpPr>
        <p:spPr>
          <a:xfrm>
            <a:off x="4496714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46" name="Shape 38"/>
          <p:cNvSpPr/>
          <p:nvPr/>
        </p:nvSpPr>
        <p:spPr>
          <a:xfrm>
            <a:off x="5474056" y="4279392"/>
            <a:ext cx="310896" cy="310896"/>
          </a:xfrm>
          <a:prstGeom prst="ellipse">
            <a:avLst/>
          </a:prstGeom>
          <a:solidFill>
            <a:srgbClr val="22303F"/>
          </a:solidFill>
          <a:ln/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54889" y="4360225"/>
            <a:ext cx="149230" cy="149230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4496714" y="4681728"/>
            <a:ext cx="13248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ride</a:t>
            </a:r>
            <a:endParaRPr lang="en-US" sz="1050" dirty="0"/>
          </a:p>
        </p:txBody>
      </p:sp>
      <p:sp>
        <p:nvSpPr>
          <p:cNvPr id="49" name="Text 40"/>
          <p:cNvSpPr txBox="1"/>
          <p:nvPr/>
        </p:nvSpPr>
        <p:spPr>
          <a:xfrm>
            <a:off x="4496714" y="5029200"/>
            <a:ext cx="13248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A3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Shuttle, shared or exclusive, with ETA</a:t>
            </a:r>
            <a:endParaRPr lang="en-US" sz="850" dirty="0"/>
          </a:p>
        </p:txBody>
      </p:sp>
      <p:sp>
        <p:nvSpPr>
          <p:cNvPr id="50" name="Shape 41"/>
          <p:cNvSpPr/>
          <p:nvPr/>
        </p:nvSpPr>
        <p:spPr>
          <a:xfrm>
            <a:off x="6027268" y="4846320"/>
            <a:ext cx="137160" cy="137160"/>
          </a:xfrm>
          <a:prstGeom prst="rightArrow">
            <a:avLst/>
          </a:prstGeom>
          <a:solidFill>
            <a:srgbClr val="34465A"/>
          </a:solidFill>
          <a:ln/>
        </p:spPr>
      </p:sp>
      <p:sp>
        <p:nvSpPr>
          <p:cNvPr id="51" name="Shape 42"/>
          <p:cNvSpPr/>
          <p:nvPr/>
        </p:nvSpPr>
        <p:spPr>
          <a:xfrm>
            <a:off x="6187288" y="4096512"/>
            <a:ext cx="1690573" cy="1700784"/>
          </a:xfrm>
          <a:prstGeom prst="roundRect">
            <a:avLst>
              <a:gd name="adj" fmla="val 6491"/>
            </a:avLst>
          </a:prstGeom>
          <a:solidFill>
            <a:srgbClr val="18222D"/>
          </a:solidFill>
          <a:ln w="12700">
            <a:solidFill>
              <a:srgbClr val="34465A"/>
            </a:solidFill>
            <a:prstDash val="solid"/>
          </a:ln>
        </p:spPr>
      </p:sp>
      <p:sp>
        <p:nvSpPr>
          <p:cNvPr id="52" name="Shape 43"/>
          <p:cNvSpPr/>
          <p:nvPr/>
        </p:nvSpPr>
        <p:spPr>
          <a:xfrm>
            <a:off x="6370168" y="4279392"/>
            <a:ext cx="310896" cy="310896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53" name="Text 44"/>
          <p:cNvSpPr txBox="1"/>
          <p:nvPr/>
        </p:nvSpPr>
        <p:spPr>
          <a:xfrm>
            <a:off x="6370168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54" name="Shape 45"/>
          <p:cNvSpPr/>
          <p:nvPr/>
        </p:nvSpPr>
        <p:spPr>
          <a:xfrm>
            <a:off x="7347509" y="4279392"/>
            <a:ext cx="310896" cy="310896"/>
          </a:xfrm>
          <a:prstGeom prst="ellipse">
            <a:avLst/>
          </a:prstGeom>
          <a:solidFill>
            <a:srgbClr val="22303F"/>
          </a:solidFill>
          <a:ln/>
        </p:spPr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8342" y="4360225"/>
            <a:ext cx="149230" cy="149230"/>
          </a:xfrm>
          <a:prstGeom prst="rect">
            <a:avLst/>
          </a:prstGeom>
        </p:spPr>
      </p:pic>
      <p:sp>
        <p:nvSpPr>
          <p:cNvPr id="56" name="Text 46"/>
          <p:cNvSpPr txBox="1"/>
          <p:nvPr/>
        </p:nvSpPr>
        <p:spPr>
          <a:xfrm>
            <a:off x="6370168" y="4681728"/>
            <a:ext cx="13248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confirmation</a:t>
            </a:r>
            <a:endParaRPr lang="en-US" sz="1050" dirty="0"/>
          </a:p>
        </p:txBody>
      </p:sp>
      <p:sp>
        <p:nvSpPr>
          <p:cNvPr id="57" name="Text 47"/>
          <p:cNvSpPr txBox="1"/>
          <p:nvPr/>
        </p:nvSpPr>
        <p:spPr>
          <a:xfrm>
            <a:off x="6370168" y="5029200"/>
            <a:ext cx="13248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A3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no., driver contact, tracking link</a:t>
            </a:r>
            <a:endParaRPr lang="en-US" sz="850" dirty="0"/>
          </a:p>
        </p:txBody>
      </p:sp>
      <p:sp>
        <p:nvSpPr>
          <p:cNvPr id="58" name="Shape 48"/>
          <p:cNvSpPr/>
          <p:nvPr/>
        </p:nvSpPr>
        <p:spPr>
          <a:xfrm>
            <a:off x="7900721" y="4846320"/>
            <a:ext cx="137160" cy="137160"/>
          </a:xfrm>
          <a:prstGeom prst="rightArrow">
            <a:avLst/>
          </a:prstGeom>
          <a:solidFill>
            <a:srgbClr val="34465A"/>
          </a:solidFill>
          <a:ln/>
        </p:spPr>
      </p:sp>
      <p:sp>
        <p:nvSpPr>
          <p:cNvPr id="59" name="Shape 49"/>
          <p:cNvSpPr/>
          <p:nvPr/>
        </p:nvSpPr>
        <p:spPr>
          <a:xfrm>
            <a:off x="8060741" y="4096512"/>
            <a:ext cx="1690573" cy="1700784"/>
          </a:xfrm>
          <a:prstGeom prst="roundRect">
            <a:avLst>
              <a:gd name="adj" fmla="val 6491"/>
            </a:avLst>
          </a:prstGeom>
          <a:solidFill>
            <a:srgbClr val="18222D"/>
          </a:solidFill>
          <a:ln w="12700">
            <a:solidFill>
              <a:srgbClr val="34465A"/>
            </a:solidFill>
            <a:prstDash val="solid"/>
          </a:ln>
        </p:spPr>
      </p:sp>
      <p:sp>
        <p:nvSpPr>
          <p:cNvPr id="60" name="Shape 50"/>
          <p:cNvSpPr/>
          <p:nvPr/>
        </p:nvSpPr>
        <p:spPr>
          <a:xfrm>
            <a:off x="8243621" y="4279392"/>
            <a:ext cx="310896" cy="310896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61" name="Text 51"/>
          <p:cNvSpPr txBox="1"/>
          <p:nvPr/>
        </p:nvSpPr>
        <p:spPr>
          <a:xfrm>
            <a:off x="8243621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  <p:sp>
        <p:nvSpPr>
          <p:cNvPr id="62" name="Shape 52"/>
          <p:cNvSpPr/>
          <p:nvPr/>
        </p:nvSpPr>
        <p:spPr>
          <a:xfrm>
            <a:off x="9220962" y="4279392"/>
            <a:ext cx="310896" cy="310896"/>
          </a:xfrm>
          <a:prstGeom prst="ellipse">
            <a:avLst/>
          </a:prstGeom>
          <a:solidFill>
            <a:srgbClr val="22303F"/>
          </a:solidFill>
          <a:ln/>
        </p:spPr>
      </p:sp>
      <p:pic>
        <p:nvPicPr>
          <p:cNvPr id="6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01795" y="4360225"/>
            <a:ext cx="149230" cy="149230"/>
          </a:xfrm>
          <a:prstGeom prst="rect">
            <a:avLst/>
          </a:prstGeom>
        </p:spPr>
      </p:pic>
      <p:sp>
        <p:nvSpPr>
          <p:cNvPr id="64" name="Text 53"/>
          <p:cNvSpPr txBox="1"/>
          <p:nvPr/>
        </p:nvSpPr>
        <p:spPr>
          <a:xfrm>
            <a:off x="8243621" y="4681728"/>
            <a:ext cx="13248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&amp; board</a:t>
            </a:r>
            <a:endParaRPr lang="en-US" sz="1050" dirty="0"/>
          </a:p>
        </p:txBody>
      </p:sp>
      <p:sp>
        <p:nvSpPr>
          <p:cNvPr id="65" name="Text 54"/>
          <p:cNvSpPr txBox="1"/>
          <p:nvPr/>
        </p:nvSpPr>
        <p:spPr>
          <a:xfrm>
            <a:off x="8243621" y="5029200"/>
            <a:ext cx="13248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A3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map, then a 4-digit OTP</a:t>
            </a:r>
            <a:endParaRPr lang="en-US" sz="850" dirty="0"/>
          </a:p>
        </p:txBody>
      </p:sp>
      <p:sp>
        <p:nvSpPr>
          <p:cNvPr id="66" name="Shape 55"/>
          <p:cNvSpPr/>
          <p:nvPr/>
        </p:nvSpPr>
        <p:spPr>
          <a:xfrm>
            <a:off x="9774174" y="4846320"/>
            <a:ext cx="137160" cy="137160"/>
          </a:xfrm>
          <a:prstGeom prst="rightArrow">
            <a:avLst/>
          </a:prstGeom>
          <a:solidFill>
            <a:srgbClr val="34465A"/>
          </a:solidFill>
          <a:ln/>
        </p:spPr>
      </p:sp>
      <p:sp>
        <p:nvSpPr>
          <p:cNvPr id="67" name="Shape 56"/>
          <p:cNvSpPr/>
          <p:nvPr/>
        </p:nvSpPr>
        <p:spPr>
          <a:xfrm>
            <a:off x="9934194" y="4096512"/>
            <a:ext cx="1690573" cy="1700784"/>
          </a:xfrm>
          <a:prstGeom prst="roundRect">
            <a:avLst>
              <a:gd name="adj" fmla="val 6491"/>
            </a:avLst>
          </a:prstGeom>
          <a:solidFill>
            <a:srgbClr val="18222D"/>
          </a:solidFill>
          <a:ln w="12700">
            <a:solidFill>
              <a:srgbClr val="34465A"/>
            </a:solidFill>
            <a:prstDash val="solid"/>
          </a:ln>
        </p:spPr>
      </p:sp>
      <p:sp>
        <p:nvSpPr>
          <p:cNvPr id="68" name="Shape 57"/>
          <p:cNvSpPr/>
          <p:nvPr/>
        </p:nvSpPr>
        <p:spPr>
          <a:xfrm>
            <a:off x="10117074" y="4279392"/>
            <a:ext cx="310896" cy="310896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69" name="Text 58"/>
          <p:cNvSpPr txBox="1"/>
          <p:nvPr/>
        </p:nvSpPr>
        <p:spPr>
          <a:xfrm>
            <a:off x="10117074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50" dirty="0"/>
          </a:p>
        </p:txBody>
      </p:sp>
      <p:sp>
        <p:nvSpPr>
          <p:cNvPr id="70" name="Shape 59"/>
          <p:cNvSpPr/>
          <p:nvPr/>
        </p:nvSpPr>
        <p:spPr>
          <a:xfrm>
            <a:off x="11094415" y="4279392"/>
            <a:ext cx="310896" cy="310896"/>
          </a:xfrm>
          <a:prstGeom prst="ellipse">
            <a:avLst/>
          </a:prstGeom>
          <a:solidFill>
            <a:srgbClr val="22303F"/>
          </a:solidFill>
          <a:ln/>
        </p:spPr>
      </p:sp>
      <p:pic>
        <p:nvPicPr>
          <p:cNvPr id="7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75248" y="4360225"/>
            <a:ext cx="149230" cy="149230"/>
          </a:xfrm>
          <a:prstGeom prst="rect">
            <a:avLst/>
          </a:prstGeom>
        </p:spPr>
      </p:pic>
      <p:sp>
        <p:nvSpPr>
          <p:cNvPr id="72" name="Text 60"/>
          <p:cNvSpPr txBox="1"/>
          <p:nvPr/>
        </p:nvSpPr>
        <p:spPr>
          <a:xfrm>
            <a:off x="10117074" y="4681728"/>
            <a:ext cx="13248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 &amp; rate</a:t>
            </a:r>
            <a:endParaRPr lang="en-US" sz="1050" dirty="0"/>
          </a:p>
        </p:txBody>
      </p:sp>
      <p:sp>
        <p:nvSpPr>
          <p:cNvPr id="73" name="Text 61"/>
          <p:cNvSpPr txBox="1"/>
          <p:nvPr/>
        </p:nvSpPr>
        <p:spPr>
          <a:xfrm>
            <a:off x="10117074" y="5029200"/>
            <a:ext cx="13248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A3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Auto-close at the drop, then a quick rating</a:t>
            </a:r>
            <a:endParaRPr lang="en-US" sz="850" dirty="0"/>
          </a:p>
        </p:txBody>
      </p:sp>
      <p:sp>
        <p:nvSpPr>
          <p:cNvPr id="74" name="Text 62"/>
          <p:cNvSpPr txBox="1"/>
          <p:nvPr/>
        </p:nvSpPr>
        <p:spPr>
          <a:xfrm>
            <a:off x="566928" y="5907024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A3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steps, and only two of them need any typing.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ECO TECH  ·  Plant Ride for LHS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6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 JOURNEY  ·  STEPS 1-3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58368"/>
            <a:ext cx="110578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40" kern="0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app, set the route, pick a ride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365760" cy="365760"/>
          </a:xfrm>
          <a:prstGeom prst="ellipse">
            <a:avLst/>
          </a:prstGeom>
          <a:solidFill>
            <a:srgbClr val="0E141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1335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42416" y="1316736"/>
            <a:ext cx="30031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42416" y="1554480"/>
            <a:ext cx="30031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places and one-tap rebooking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77569" y="1920240"/>
            <a:ext cx="2057400" cy="4206240"/>
          </a:xfrm>
          <a:prstGeom prst="roundRect">
            <a:avLst>
              <a:gd name="adj" fmla="val 3778"/>
            </a:avLst>
          </a:prstGeom>
          <a:solidFill>
            <a:srgbClr val="1A222C"/>
          </a:solidFill>
          <a:ln/>
          <a:effectLst>
            <a:outerShdw sx="100000" sy="100000" kx="0" ky="0" algn="bl" rotWithShape="0" blurRad="203200" dist="50800" dir="5400000">
              <a:srgbClr val="0E141B">
                <a:alpha val="2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341577" y="1984248"/>
            <a:ext cx="1929384" cy="4078224"/>
          </a:xfrm>
          <a:prstGeom prst="roundRect">
            <a:avLst>
              <a:gd name="adj" fmla="val 3081"/>
            </a:avLst>
          </a:prstGeom>
          <a:solidFill>
            <a:srgbClr val="F6F8FA"/>
          </a:solidFill>
          <a:ln/>
        </p:spPr>
      </p:sp>
      <p:sp>
        <p:nvSpPr>
          <p:cNvPr id="12" name="Shape 10"/>
          <p:cNvSpPr/>
          <p:nvPr/>
        </p:nvSpPr>
        <p:spPr>
          <a:xfrm>
            <a:off x="2086813" y="2034540"/>
            <a:ext cx="438912" cy="91440"/>
          </a:xfrm>
          <a:prstGeom prst="roundRect">
            <a:avLst>
              <a:gd name="adj" fmla="val 50000"/>
            </a:avLst>
          </a:prstGeom>
          <a:solidFill>
            <a:srgbClr val="1A222C"/>
          </a:solidFill>
          <a:ln/>
        </p:spPr>
      </p:sp>
      <p:sp>
        <p:nvSpPr>
          <p:cNvPr id="13" name="Shape 11"/>
          <p:cNvSpPr/>
          <p:nvPr/>
        </p:nvSpPr>
        <p:spPr>
          <a:xfrm>
            <a:off x="2068525" y="5993892"/>
            <a:ext cx="475488" cy="32004"/>
          </a:xfrm>
          <a:prstGeom prst="roundRect">
            <a:avLst>
              <a:gd name="adj" fmla="val 51429"/>
            </a:avLst>
          </a:prstGeom>
          <a:solidFill>
            <a:srgbClr val="C3CBD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460449" y="2025396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7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457" y="2040941"/>
            <a:ext cx="128016" cy="128016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049" y="2040941"/>
            <a:ext cx="128016" cy="128016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6641" y="2037283"/>
            <a:ext cx="137160" cy="13716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1341577" y="2199132"/>
            <a:ext cx="1929384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1469593" y="2253996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morning,</a:t>
            </a:r>
            <a:endParaRPr lang="en-US" sz="640" dirty="0"/>
          </a:p>
        </p:txBody>
      </p:sp>
      <p:sp>
        <p:nvSpPr>
          <p:cNvPr id="20" name="Text 15"/>
          <p:cNvSpPr txBox="1"/>
          <p:nvPr/>
        </p:nvSpPr>
        <p:spPr>
          <a:xfrm>
            <a:off x="1469593" y="24003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Raghavan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2905201" y="2308860"/>
            <a:ext cx="256032" cy="256032"/>
          </a:xfrm>
          <a:prstGeom prst="ellipse">
            <a:avLst/>
          </a:prstGeom>
          <a:solidFill>
            <a:srgbClr val="D6DDE5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2905201" y="23088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600" dirty="0"/>
          </a:p>
        </p:txBody>
      </p:sp>
      <p:sp>
        <p:nvSpPr>
          <p:cNvPr id="23" name="Shape 18"/>
          <p:cNvSpPr/>
          <p:nvPr/>
        </p:nvSpPr>
        <p:spPr>
          <a:xfrm>
            <a:off x="1433017" y="2766060"/>
            <a:ext cx="174650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E141B">
                <a:alpha val="9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2745" y="2907792"/>
            <a:ext cx="128016" cy="12801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743913" y="276606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to?</a:t>
            </a:r>
            <a:endParaRPr lang="en-US" sz="750" dirty="0"/>
          </a:p>
        </p:txBody>
      </p:sp>
      <p:sp>
        <p:nvSpPr>
          <p:cNvPr id="26" name="Text 20"/>
          <p:cNvSpPr txBox="1"/>
          <p:nvPr/>
        </p:nvSpPr>
        <p:spPr>
          <a:xfrm>
            <a:off x="1451305" y="3296412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80" kern="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PLACES</a:t>
            </a:r>
            <a:endParaRPr lang="en-US" sz="550" dirty="0"/>
          </a:p>
        </p:txBody>
      </p:sp>
      <p:sp>
        <p:nvSpPr>
          <p:cNvPr id="27" name="Shape 21"/>
          <p:cNvSpPr/>
          <p:nvPr/>
        </p:nvSpPr>
        <p:spPr>
          <a:xfrm>
            <a:off x="1433017" y="3479292"/>
            <a:ext cx="1746504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</p:spPr>
      </p:sp>
      <p:sp>
        <p:nvSpPr>
          <p:cNvPr id="28" name="Shape 22"/>
          <p:cNvSpPr/>
          <p:nvPr/>
        </p:nvSpPr>
        <p:spPr>
          <a:xfrm>
            <a:off x="1515313" y="3575304"/>
            <a:ext cx="210312" cy="210312"/>
          </a:xfrm>
          <a:prstGeom prst="roundRect">
            <a:avLst>
              <a:gd name="adj" fmla="val 50000"/>
            </a:avLst>
          </a:prstGeom>
          <a:solidFill>
            <a:srgbClr val="F0F3F7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6461" y="3621024"/>
            <a:ext cx="118872" cy="11887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789633" y="3543300"/>
            <a:ext cx="13350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Block</a:t>
            </a:r>
            <a:endParaRPr lang="en-US" sz="720" dirty="0"/>
          </a:p>
        </p:txBody>
      </p:sp>
      <p:sp>
        <p:nvSpPr>
          <p:cNvPr id="31" name="Text 24"/>
          <p:cNvSpPr txBox="1"/>
          <p:nvPr/>
        </p:nvSpPr>
        <p:spPr>
          <a:xfrm>
            <a:off x="1789633" y="3698748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department</a:t>
            </a:r>
            <a:endParaRPr lang="en-US" sz="620" dirty="0"/>
          </a:p>
        </p:txBody>
      </p:sp>
      <p:sp>
        <p:nvSpPr>
          <p:cNvPr id="32" name="Shape 25"/>
          <p:cNvSpPr/>
          <p:nvPr/>
        </p:nvSpPr>
        <p:spPr>
          <a:xfrm>
            <a:off x="1433017" y="3954780"/>
            <a:ext cx="1746504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</p:spPr>
      </p:sp>
      <p:sp>
        <p:nvSpPr>
          <p:cNvPr id="33" name="Shape 26"/>
          <p:cNvSpPr/>
          <p:nvPr/>
        </p:nvSpPr>
        <p:spPr>
          <a:xfrm>
            <a:off x="1515313" y="4050792"/>
            <a:ext cx="210312" cy="210312"/>
          </a:xfrm>
          <a:prstGeom prst="roundRect">
            <a:avLst>
              <a:gd name="adj" fmla="val 50000"/>
            </a:avLst>
          </a:prstGeom>
          <a:solidFill>
            <a:srgbClr val="F0F3F7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6461" y="4096512"/>
            <a:ext cx="118872" cy="11887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789633" y="4018788"/>
            <a:ext cx="13350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Furnace</a:t>
            </a:r>
            <a:endParaRPr lang="en-US" sz="720" dirty="0"/>
          </a:p>
        </p:txBody>
      </p:sp>
      <p:sp>
        <p:nvSpPr>
          <p:cNvPr id="36" name="Text 28"/>
          <p:cNvSpPr txBox="1"/>
          <p:nvPr/>
        </p:nvSpPr>
        <p:spPr>
          <a:xfrm>
            <a:off x="1789633" y="417423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trip · Fri</a:t>
            </a:r>
            <a:endParaRPr lang="en-US" sz="620" dirty="0"/>
          </a:p>
        </p:txBody>
      </p:sp>
      <p:sp>
        <p:nvSpPr>
          <p:cNvPr id="37" name="Shape 29"/>
          <p:cNvSpPr/>
          <p:nvPr/>
        </p:nvSpPr>
        <p:spPr>
          <a:xfrm>
            <a:off x="1433017" y="4430268"/>
            <a:ext cx="1746504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</p:spPr>
      </p:sp>
      <p:sp>
        <p:nvSpPr>
          <p:cNvPr id="38" name="Shape 30"/>
          <p:cNvSpPr/>
          <p:nvPr/>
        </p:nvSpPr>
        <p:spPr>
          <a:xfrm>
            <a:off x="1515313" y="4526280"/>
            <a:ext cx="210312" cy="210312"/>
          </a:xfrm>
          <a:prstGeom prst="roundRect">
            <a:avLst>
              <a:gd name="adj" fmla="val 50000"/>
            </a:avLst>
          </a:prstGeom>
          <a:solidFill>
            <a:srgbClr val="F0F3F7"/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6461" y="4572000"/>
            <a:ext cx="118872" cy="118872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1789633" y="4494276"/>
            <a:ext cx="13350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Strip Mill</a:t>
            </a:r>
            <a:endParaRPr lang="en-US" sz="720" dirty="0"/>
          </a:p>
        </p:txBody>
      </p:sp>
      <p:sp>
        <p:nvSpPr>
          <p:cNvPr id="41" name="Text 32"/>
          <p:cNvSpPr txBox="1"/>
          <p:nvPr/>
        </p:nvSpPr>
        <p:spPr>
          <a:xfrm>
            <a:off x="1789633" y="4649724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trips this week</a:t>
            </a:r>
            <a:endParaRPr lang="en-US" sz="620" dirty="0"/>
          </a:p>
        </p:txBody>
      </p:sp>
      <p:sp>
        <p:nvSpPr>
          <p:cNvPr id="42" name="Shape 33"/>
          <p:cNvSpPr/>
          <p:nvPr/>
        </p:nvSpPr>
        <p:spPr>
          <a:xfrm>
            <a:off x="1433017" y="4960620"/>
            <a:ext cx="1746504" cy="457200"/>
          </a:xfrm>
          <a:prstGeom prst="roundRect">
            <a:avLst>
              <a:gd name="adj" fmla="val 12000"/>
            </a:avLst>
          </a:prstGeom>
          <a:solidFill>
            <a:srgbClr val="E2F6F3"/>
          </a:solidFill>
          <a:ln/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42745" y="5120640"/>
            <a:ext cx="137160" cy="137160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1743913" y="502462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Shuttle S3 leaves Gate 2</a:t>
            </a:r>
            <a:endParaRPr lang="en-US" sz="660" dirty="0"/>
          </a:p>
        </p:txBody>
      </p:sp>
      <p:sp>
        <p:nvSpPr>
          <p:cNvPr id="45" name="Text 35"/>
          <p:cNvSpPr txBox="1"/>
          <p:nvPr/>
        </p:nvSpPr>
        <p:spPr>
          <a:xfrm>
            <a:off x="1743913" y="518922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4 min · 5 seats free</a:t>
            </a:r>
            <a:endParaRPr lang="en-US" sz="600" dirty="0"/>
          </a:p>
        </p:txBody>
      </p:sp>
      <p:sp>
        <p:nvSpPr>
          <p:cNvPr id="46" name="Shape 36"/>
          <p:cNvSpPr/>
          <p:nvPr/>
        </p:nvSpPr>
        <p:spPr>
          <a:xfrm>
            <a:off x="1341577" y="5472684"/>
            <a:ext cx="1929384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Shape 37"/>
          <p:cNvSpPr/>
          <p:nvPr/>
        </p:nvSpPr>
        <p:spPr>
          <a:xfrm>
            <a:off x="1341577" y="5472684"/>
            <a:ext cx="1929384" cy="7315"/>
          </a:xfrm>
          <a:prstGeom prst="rect">
            <a:avLst/>
          </a:prstGeom>
          <a:solidFill>
            <a:srgbClr val="E8EDF2"/>
          </a:solidFill>
          <a:ln/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4170" y="5559552"/>
            <a:ext cx="137160" cy="137160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1341577" y="5710428"/>
            <a:ext cx="48234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550" dirty="0"/>
          </a:p>
        </p:txBody>
      </p:sp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96516" y="5559552"/>
            <a:ext cx="137160" cy="137160"/>
          </a:xfrm>
          <a:prstGeom prst="rect">
            <a:avLst/>
          </a:prstGeom>
        </p:spPr>
      </p:pic>
      <p:sp>
        <p:nvSpPr>
          <p:cNvPr id="51" name="Text 39"/>
          <p:cNvSpPr txBox="1"/>
          <p:nvPr/>
        </p:nvSpPr>
        <p:spPr>
          <a:xfrm>
            <a:off x="1823923" y="5710428"/>
            <a:ext cx="48234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Rides</a:t>
            </a:r>
            <a:endParaRPr lang="en-US" sz="550" dirty="0"/>
          </a:p>
        </p:txBody>
      </p:sp>
      <p:pic>
        <p:nvPicPr>
          <p:cNvPr id="5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78862" y="5559552"/>
            <a:ext cx="137160" cy="137160"/>
          </a:xfrm>
          <a:prstGeom prst="rect">
            <a:avLst/>
          </a:prstGeom>
        </p:spPr>
      </p:pic>
      <p:sp>
        <p:nvSpPr>
          <p:cNvPr id="53" name="Text 40"/>
          <p:cNvSpPr txBox="1"/>
          <p:nvPr/>
        </p:nvSpPr>
        <p:spPr>
          <a:xfrm>
            <a:off x="2306269" y="5710428"/>
            <a:ext cx="48234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550" dirty="0"/>
          </a:p>
        </p:txBody>
      </p:sp>
      <p:pic>
        <p:nvPicPr>
          <p:cNvPr id="5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61208" y="5559552"/>
            <a:ext cx="137160" cy="137160"/>
          </a:xfrm>
          <a:prstGeom prst="rect">
            <a:avLst/>
          </a:prstGeom>
        </p:spPr>
      </p:pic>
      <p:sp>
        <p:nvSpPr>
          <p:cNvPr id="55" name="Text 41"/>
          <p:cNvSpPr txBox="1"/>
          <p:nvPr/>
        </p:nvSpPr>
        <p:spPr>
          <a:xfrm>
            <a:off x="2788615" y="5710428"/>
            <a:ext cx="48234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</a:t>
            </a:r>
            <a:endParaRPr lang="en-US" sz="550" dirty="0"/>
          </a:p>
        </p:txBody>
      </p:sp>
      <p:sp>
        <p:nvSpPr>
          <p:cNvPr id="56" name="Text 42"/>
          <p:cNvSpPr txBox="1"/>
          <p:nvPr/>
        </p:nvSpPr>
        <p:spPr>
          <a:xfrm>
            <a:off x="566928" y="6217920"/>
            <a:ext cx="34786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Rebooking a regular trip takes one tap.</a:t>
            </a:r>
            <a:endParaRPr lang="en-US" sz="950" dirty="0"/>
          </a:p>
        </p:txBody>
      </p:sp>
      <p:sp>
        <p:nvSpPr>
          <p:cNvPr id="57" name="Shape 43"/>
          <p:cNvSpPr/>
          <p:nvPr/>
        </p:nvSpPr>
        <p:spPr>
          <a:xfrm>
            <a:off x="4356506" y="1335024"/>
            <a:ext cx="365760" cy="365760"/>
          </a:xfrm>
          <a:prstGeom prst="ellipse">
            <a:avLst/>
          </a:prstGeom>
          <a:solidFill>
            <a:srgbClr val="0E141B"/>
          </a:solidFill>
          <a:ln/>
        </p:spPr>
      </p:sp>
      <p:sp>
        <p:nvSpPr>
          <p:cNvPr id="58" name="Text 44"/>
          <p:cNvSpPr txBox="1"/>
          <p:nvPr/>
        </p:nvSpPr>
        <p:spPr>
          <a:xfrm>
            <a:off x="4356506" y="1335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59" name="Text 45"/>
          <p:cNvSpPr txBox="1"/>
          <p:nvPr/>
        </p:nvSpPr>
        <p:spPr>
          <a:xfrm>
            <a:off x="4831994" y="1316736"/>
            <a:ext cx="30031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&amp; details</a:t>
            </a:r>
            <a:endParaRPr lang="en-US" sz="1300" dirty="0"/>
          </a:p>
        </p:txBody>
      </p:sp>
      <p:sp>
        <p:nvSpPr>
          <p:cNvPr id="60" name="Text 46"/>
          <p:cNvSpPr txBox="1"/>
          <p:nvPr/>
        </p:nvSpPr>
        <p:spPr>
          <a:xfrm>
            <a:off x="4831994" y="1554480"/>
            <a:ext cx="30031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Auto-filled from HRMS, still editable</a:t>
            </a:r>
            <a:endParaRPr lang="en-US" sz="950" dirty="0"/>
          </a:p>
        </p:txBody>
      </p:sp>
      <p:sp>
        <p:nvSpPr>
          <p:cNvPr id="61" name="Shape 47"/>
          <p:cNvSpPr/>
          <p:nvPr/>
        </p:nvSpPr>
        <p:spPr>
          <a:xfrm>
            <a:off x="5067148" y="1920240"/>
            <a:ext cx="2057400" cy="4206240"/>
          </a:xfrm>
          <a:prstGeom prst="roundRect">
            <a:avLst>
              <a:gd name="adj" fmla="val 3778"/>
            </a:avLst>
          </a:prstGeom>
          <a:solidFill>
            <a:srgbClr val="1A222C"/>
          </a:solidFill>
          <a:ln/>
          <a:effectLst>
            <a:outerShdw sx="100000" sy="100000" kx="0" ky="0" algn="bl" rotWithShape="0" blurRad="203200" dist="50800" dir="5400000">
              <a:srgbClr val="0E141B">
                <a:alpha val="24000"/>
              </a:srgbClr>
            </a:outerShdw>
          </a:effectLst>
        </p:spPr>
      </p:sp>
      <p:sp>
        <p:nvSpPr>
          <p:cNvPr id="62" name="Shape 48"/>
          <p:cNvSpPr/>
          <p:nvPr/>
        </p:nvSpPr>
        <p:spPr>
          <a:xfrm>
            <a:off x="5131156" y="1984248"/>
            <a:ext cx="1929384" cy="4078224"/>
          </a:xfrm>
          <a:prstGeom prst="roundRect">
            <a:avLst>
              <a:gd name="adj" fmla="val 3081"/>
            </a:avLst>
          </a:prstGeom>
          <a:solidFill>
            <a:srgbClr val="F6F8FA"/>
          </a:solidFill>
          <a:ln/>
        </p:spPr>
      </p:sp>
      <p:sp>
        <p:nvSpPr>
          <p:cNvPr id="63" name="Shape 49"/>
          <p:cNvSpPr/>
          <p:nvPr/>
        </p:nvSpPr>
        <p:spPr>
          <a:xfrm>
            <a:off x="5876392" y="2034540"/>
            <a:ext cx="438912" cy="91440"/>
          </a:xfrm>
          <a:prstGeom prst="roundRect">
            <a:avLst>
              <a:gd name="adj" fmla="val 50000"/>
            </a:avLst>
          </a:prstGeom>
          <a:solidFill>
            <a:srgbClr val="1A222C"/>
          </a:solidFill>
          <a:ln/>
        </p:spPr>
      </p:sp>
      <p:sp>
        <p:nvSpPr>
          <p:cNvPr id="64" name="Shape 50"/>
          <p:cNvSpPr/>
          <p:nvPr/>
        </p:nvSpPr>
        <p:spPr>
          <a:xfrm>
            <a:off x="5858104" y="5993892"/>
            <a:ext cx="475488" cy="32004"/>
          </a:xfrm>
          <a:prstGeom prst="roundRect">
            <a:avLst>
              <a:gd name="adj" fmla="val 51429"/>
            </a:avLst>
          </a:prstGeom>
          <a:solidFill>
            <a:srgbClr val="C3CBD4"/>
          </a:solidFill>
          <a:ln/>
        </p:spPr>
      </p:sp>
      <p:sp>
        <p:nvSpPr>
          <p:cNvPr id="65" name="Text 51"/>
          <p:cNvSpPr txBox="1"/>
          <p:nvPr/>
        </p:nvSpPr>
        <p:spPr>
          <a:xfrm>
            <a:off x="5250028" y="2025396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700" dirty="0"/>
          </a:p>
        </p:txBody>
      </p:sp>
      <p:pic>
        <p:nvPicPr>
          <p:cNvPr id="6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57036" y="2040941"/>
            <a:ext cx="128016" cy="128016"/>
          </a:xfrm>
          <a:prstGeom prst="rect">
            <a:avLst/>
          </a:prstGeom>
        </p:spPr>
      </p:pic>
      <p:pic>
        <p:nvPicPr>
          <p:cNvPr id="6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21628" y="2040941"/>
            <a:ext cx="128016" cy="128016"/>
          </a:xfrm>
          <a:prstGeom prst="rect">
            <a:avLst/>
          </a:prstGeom>
        </p:spPr>
      </p:pic>
      <p:pic>
        <p:nvPicPr>
          <p:cNvPr id="6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86220" y="2037283"/>
            <a:ext cx="137160" cy="137160"/>
          </a:xfrm>
          <a:prstGeom prst="rect">
            <a:avLst/>
          </a:prstGeom>
        </p:spPr>
      </p:pic>
      <p:sp>
        <p:nvSpPr>
          <p:cNvPr id="69" name="Shape 52"/>
          <p:cNvSpPr/>
          <p:nvPr/>
        </p:nvSpPr>
        <p:spPr>
          <a:xfrm>
            <a:off x="5131156" y="2199132"/>
            <a:ext cx="1929384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Shape 53"/>
          <p:cNvSpPr/>
          <p:nvPr/>
        </p:nvSpPr>
        <p:spPr>
          <a:xfrm>
            <a:off x="5131156" y="2557577"/>
            <a:ext cx="1929384" cy="7315"/>
          </a:xfrm>
          <a:prstGeom prst="rect">
            <a:avLst/>
          </a:prstGeom>
          <a:solidFill>
            <a:srgbClr val="E8EDF2"/>
          </a:solidFill>
          <a:ln/>
        </p:spPr>
      </p:sp>
      <p:pic>
        <p:nvPicPr>
          <p:cNvPr id="7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40884" y="2322576"/>
            <a:ext cx="118872" cy="118872"/>
          </a:xfrm>
          <a:prstGeom prst="rect">
            <a:avLst/>
          </a:prstGeom>
        </p:spPr>
      </p:pic>
      <p:sp>
        <p:nvSpPr>
          <p:cNvPr id="72" name="Text 54"/>
          <p:cNvSpPr txBox="1"/>
          <p:nvPr/>
        </p:nvSpPr>
        <p:spPr>
          <a:xfrm>
            <a:off x="5432908" y="2199132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 details</a:t>
            </a:r>
            <a:endParaRPr lang="en-US" sz="850" dirty="0"/>
          </a:p>
        </p:txBody>
      </p:sp>
      <p:sp>
        <p:nvSpPr>
          <p:cNvPr id="73" name="Shape 55"/>
          <p:cNvSpPr/>
          <p:nvPr/>
        </p:nvSpPr>
        <p:spPr>
          <a:xfrm>
            <a:off x="5222596" y="2619756"/>
            <a:ext cx="1746504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4" name="Shape 56"/>
          <p:cNvSpPr/>
          <p:nvPr/>
        </p:nvSpPr>
        <p:spPr>
          <a:xfrm>
            <a:off x="5332324" y="2775204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5" name="Text 57"/>
          <p:cNvSpPr txBox="1"/>
          <p:nvPr/>
        </p:nvSpPr>
        <p:spPr>
          <a:xfrm>
            <a:off x="5515204" y="269290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</a:t>
            </a:r>
            <a:endParaRPr lang="en-US" sz="720" dirty="0"/>
          </a:p>
        </p:txBody>
      </p:sp>
      <p:sp>
        <p:nvSpPr>
          <p:cNvPr id="76" name="Shape 58"/>
          <p:cNvSpPr/>
          <p:nvPr/>
        </p:nvSpPr>
        <p:spPr>
          <a:xfrm>
            <a:off x="5378044" y="2894076"/>
            <a:ext cx="10973" cy="18288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77" name="Shape 59"/>
          <p:cNvSpPr/>
          <p:nvPr/>
        </p:nvSpPr>
        <p:spPr>
          <a:xfrm>
            <a:off x="5332324" y="3058668"/>
            <a:ext cx="100584" cy="100584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78" name="Text 60"/>
          <p:cNvSpPr txBox="1"/>
          <p:nvPr/>
        </p:nvSpPr>
        <p:spPr>
          <a:xfrm>
            <a:off x="5515204" y="29763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Furnace</a:t>
            </a:r>
            <a:endParaRPr lang="en-US" sz="720" dirty="0"/>
          </a:p>
        </p:txBody>
      </p:sp>
      <p:pic>
        <p:nvPicPr>
          <p:cNvPr id="79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49644" y="2894076"/>
            <a:ext cx="128016" cy="128016"/>
          </a:xfrm>
          <a:prstGeom prst="rect">
            <a:avLst/>
          </a:prstGeom>
        </p:spPr>
      </p:pic>
      <p:sp>
        <p:nvSpPr>
          <p:cNvPr id="80" name="Text 61"/>
          <p:cNvSpPr txBox="1"/>
          <p:nvPr/>
        </p:nvSpPr>
        <p:spPr>
          <a:xfrm>
            <a:off x="5240884" y="3442716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80" kern="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DETAILS</a:t>
            </a:r>
            <a:endParaRPr lang="en-US" sz="550" dirty="0"/>
          </a:p>
        </p:txBody>
      </p:sp>
      <p:sp>
        <p:nvSpPr>
          <p:cNvPr id="81" name="Shape 62"/>
          <p:cNvSpPr/>
          <p:nvPr/>
        </p:nvSpPr>
        <p:spPr>
          <a:xfrm>
            <a:off x="5222596" y="3625596"/>
            <a:ext cx="174650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7780">
            <a:solidFill>
              <a:srgbClr val="E85D04"/>
            </a:solidFill>
            <a:prstDash val="solid"/>
          </a:ln>
        </p:spPr>
      </p:sp>
      <p:sp>
        <p:nvSpPr>
          <p:cNvPr id="82" name="Text 63"/>
          <p:cNvSpPr txBox="1"/>
          <p:nvPr/>
        </p:nvSpPr>
        <p:spPr>
          <a:xfrm>
            <a:off x="5332324" y="3662172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No.</a:t>
            </a:r>
            <a:endParaRPr lang="en-US" sz="560" dirty="0"/>
          </a:p>
        </p:txBody>
      </p:sp>
      <p:sp>
        <p:nvSpPr>
          <p:cNvPr id="83" name="Text 64"/>
          <p:cNvSpPr txBox="1"/>
          <p:nvPr/>
        </p:nvSpPr>
        <p:spPr>
          <a:xfrm>
            <a:off x="5332324" y="3799332"/>
            <a:ext cx="1325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LHS-40218</a:t>
            </a:r>
            <a:endParaRPr lang="en-US" sz="680" dirty="0"/>
          </a:p>
        </p:txBody>
      </p:sp>
      <p:pic>
        <p:nvPicPr>
          <p:cNvPr id="84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767932" y="3749040"/>
            <a:ext cx="137160" cy="137160"/>
          </a:xfrm>
          <a:prstGeom prst="rect">
            <a:avLst/>
          </a:prstGeom>
        </p:spPr>
      </p:pic>
      <p:sp>
        <p:nvSpPr>
          <p:cNvPr id="85" name="Shape 65"/>
          <p:cNvSpPr/>
          <p:nvPr/>
        </p:nvSpPr>
        <p:spPr>
          <a:xfrm>
            <a:off x="5222596" y="4064508"/>
            <a:ext cx="174650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6" name="Text 66"/>
          <p:cNvSpPr txBox="1"/>
          <p:nvPr/>
        </p:nvSpPr>
        <p:spPr>
          <a:xfrm>
            <a:off x="5332324" y="410108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name</a:t>
            </a:r>
            <a:endParaRPr lang="en-US" sz="560" dirty="0"/>
          </a:p>
        </p:txBody>
      </p:sp>
      <p:sp>
        <p:nvSpPr>
          <p:cNvPr id="87" name="Text 67"/>
          <p:cNvSpPr txBox="1"/>
          <p:nvPr/>
        </p:nvSpPr>
        <p:spPr>
          <a:xfrm>
            <a:off x="5332324" y="4238244"/>
            <a:ext cx="1325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Raghavan</a:t>
            </a:r>
            <a:endParaRPr lang="en-US" sz="680" dirty="0"/>
          </a:p>
        </p:txBody>
      </p:sp>
      <p:pic>
        <p:nvPicPr>
          <p:cNvPr id="88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67932" y="4187952"/>
            <a:ext cx="137160" cy="137160"/>
          </a:xfrm>
          <a:prstGeom prst="rect">
            <a:avLst/>
          </a:prstGeom>
        </p:spPr>
      </p:pic>
      <p:sp>
        <p:nvSpPr>
          <p:cNvPr id="89" name="Shape 68"/>
          <p:cNvSpPr/>
          <p:nvPr/>
        </p:nvSpPr>
        <p:spPr>
          <a:xfrm>
            <a:off x="5222596" y="4503420"/>
            <a:ext cx="174650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0" name="Text 69"/>
          <p:cNvSpPr txBox="1"/>
          <p:nvPr/>
        </p:nvSpPr>
        <p:spPr>
          <a:xfrm>
            <a:off x="5332324" y="4539996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ID</a:t>
            </a:r>
            <a:endParaRPr lang="en-US" sz="560" dirty="0"/>
          </a:p>
        </p:txBody>
      </p:sp>
      <p:sp>
        <p:nvSpPr>
          <p:cNvPr id="91" name="Text 70"/>
          <p:cNvSpPr txBox="1"/>
          <p:nvPr/>
        </p:nvSpPr>
        <p:spPr>
          <a:xfrm>
            <a:off x="5332324" y="4677156"/>
            <a:ext cx="1325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a.raghavan@lhs.co.in</a:t>
            </a:r>
            <a:endParaRPr lang="en-US" sz="680" dirty="0"/>
          </a:p>
        </p:txBody>
      </p:sp>
      <p:pic>
        <p:nvPicPr>
          <p:cNvPr id="92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767932" y="4626864"/>
            <a:ext cx="137160" cy="137160"/>
          </a:xfrm>
          <a:prstGeom prst="rect">
            <a:avLst/>
          </a:prstGeom>
        </p:spPr>
      </p:pic>
      <p:sp>
        <p:nvSpPr>
          <p:cNvPr id="93" name="Shape 71"/>
          <p:cNvSpPr/>
          <p:nvPr/>
        </p:nvSpPr>
        <p:spPr>
          <a:xfrm>
            <a:off x="5222596" y="4942332"/>
            <a:ext cx="174650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4" name="Text 72"/>
          <p:cNvSpPr txBox="1"/>
          <p:nvPr/>
        </p:nvSpPr>
        <p:spPr>
          <a:xfrm>
            <a:off x="5332324" y="4978908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number</a:t>
            </a:r>
            <a:endParaRPr lang="en-US" sz="560" dirty="0"/>
          </a:p>
        </p:txBody>
      </p:sp>
      <p:sp>
        <p:nvSpPr>
          <p:cNvPr id="95" name="Text 73"/>
          <p:cNvSpPr txBox="1"/>
          <p:nvPr/>
        </p:nvSpPr>
        <p:spPr>
          <a:xfrm>
            <a:off x="5332324" y="5116068"/>
            <a:ext cx="1325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98xxx 41227</a:t>
            </a:r>
            <a:endParaRPr lang="en-US" sz="680" dirty="0"/>
          </a:p>
        </p:txBody>
      </p:sp>
      <p:pic>
        <p:nvPicPr>
          <p:cNvPr id="96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767932" y="5065776"/>
            <a:ext cx="137160" cy="137160"/>
          </a:xfrm>
          <a:prstGeom prst="rect">
            <a:avLst/>
          </a:prstGeom>
        </p:spPr>
      </p:pic>
      <p:sp>
        <p:nvSpPr>
          <p:cNvPr id="97" name="Shape 74"/>
          <p:cNvSpPr/>
          <p:nvPr/>
        </p:nvSpPr>
        <p:spPr>
          <a:xfrm>
            <a:off x="5222596" y="5436108"/>
            <a:ext cx="1746504" cy="347472"/>
          </a:xfrm>
          <a:prstGeom prst="roundRect">
            <a:avLst>
              <a:gd name="adj" fmla="val 15789"/>
            </a:avLst>
          </a:prstGeom>
          <a:solidFill>
            <a:srgbClr val="E85D04"/>
          </a:solidFill>
          <a:ln/>
        </p:spPr>
      </p:sp>
      <p:sp>
        <p:nvSpPr>
          <p:cNvPr id="98" name="Text 75"/>
          <p:cNvSpPr txBox="1"/>
          <p:nvPr/>
        </p:nvSpPr>
        <p:spPr>
          <a:xfrm>
            <a:off x="5222596" y="5436108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ride options</a:t>
            </a:r>
            <a:endParaRPr lang="en-US" sz="750" dirty="0"/>
          </a:p>
        </p:txBody>
      </p:sp>
      <p:sp>
        <p:nvSpPr>
          <p:cNvPr id="99" name="Text 76"/>
          <p:cNvSpPr txBox="1"/>
          <p:nvPr/>
        </p:nvSpPr>
        <p:spPr>
          <a:xfrm>
            <a:off x="4356506" y="6217920"/>
            <a:ext cx="34786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type unless the HR record is stale.</a:t>
            </a:r>
            <a:endParaRPr lang="en-US" sz="950" dirty="0"/>
          </a:p>
        </p:txBody>
      </p:sp>
      <p:sp>
        <p:nvSpPr>
          <p:cNvPr id="100" name="Shape 77"/>
          <p:cNvSpPr/>
          <p:nvPr/>
        </p:nvSpPr>
        <p:spPr>
          <a:xfrm>
            <a:off x="8146085" y="1335024"/>
            <a:ext cx="365760" cy="365760"/>
          </a:xfrm>
          <a:prstGeom prst="ellipse">
            <a:avLst/>
          </a:prstGeom>
          <a:solidFill>
            <a:srgbClr val="0E141B"/>
          </a:solidFill>
          <a:ln/>
        </p:spPr>
      </p:sp>
      <p:sp>
        <p:nvSpPr>
          <p:cNvPr id="101" name="Text 78"/>
          <p:cNvSpPr txBox="1"/>
          <p:nvPr/>
        </p:nvSpPr>
        <p:spPr>
          <a:xfrm>
            <a:off x="8146085" y="1335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02" name="Text 79"/>
          <p:cNvSpPr txBox="1"/>
          <p:nvPr/>
        </p:nvSpPr>
        <p:spPr>
          <a:xfrm>
            <a:off x="8621573" y="1316736"/>
            <a:ext cx="30031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 options</a:t>
            </a:r>
            <a:endParaRPr lang="en-US" sz="1300" dirty="0"/>
          </a:p>
        </p:txBody>
      </p:sp>
      <p:sp>
        <p:nvSpPr>
          <p:cNvPr id="103" name="Text 80"/>
          <p:cNvSpPr txBox="1"/>
          <p:nvPr/>
        </p:nvSpPr>
        <p:spPr>
          <a:xfrm>
            <a:off x="8621573" y="1554480"/>
            <a:ext cx="30031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option shows ETA and free seats</a:t>
            </a:r>
            <a:endParaRPr lang="en-US" sz="950" dirty="0"/>
          </a:p>
        </p:txBody>
      </p:sp>
      <p:sp>
        <p:nvSpPr>
          <p:cNvPr id="104" name="Shape 81"/>
          <p:cNvSpPr/>
          <p:nvPr/>
        </p:nvSpPr>
        <p:spPr>
          <a:xfrm>
            <a:off x="8856726" y="1920240"/>
            <a:ext cx="2057400" cy="4206240"/>
          </a:xfrm>
          <a:prstGeom prst="roundRect">
            <a:avLst>
              <a:gd name="adj" fmla="val 3778"/>
            </a:avLst>
          </a:prstGeom>
          <a:solidFill>
            <a:srgbClr val="1A222C"/>
          </a:solidFill>
          <a:ln/>
          <a:effectLst>
            <a:outerShdw sx="100000" sy="100000" kx="0" ky="0" algn="bl" rotWithShape="0" blurRad="203200" dist="50800" dir="5400000">
              <a:srgbClr val="0E141B">
                <a:alpha val="24000"/>
              </a:srgbClr>
            </a:outerShdw>
          </a:effectLst>
        </p:spPr>
      </p:sp>
      <p:sp>
        <p:nvSpPr>
          <p:cNvPr id="105" name="Shape 82"/>
          <p:cNvSpPr/>
          <p:nvPr/>
        </p:nvSpPr>
        <p:spPr>
          <a:xfrm>
            <a:off x="8920734" y="1984248"/>
            <a:ext cx="1929384" cy="4078224"/>
          </a:xfrm>
          <a:prstGeom prst="roundRect">
            <a:avLst>
              <a:gd name="adj" fmla="val 3081"/>
            </a:avLst>
          </a:prstGeom>
          <a:solidFill>
            <a:srgbClr val="F6F8FA"/>
          </a:solidFill>
          <a:ln/>
        </p:spPr>
      </p:sp>
      <p:sp>
        <p:nvSpPr>
          <p:cNvPr id="106" name="Shape 83"/>
          <p:cNvSpPr/>
          <p:nvPr/>
        </p:nvSpPr>
        <p:spPr>
          <a:xfrm>
            <a:off x="9665970" y="2034540"/>
            <a:ext cx="438912" cy="91440"/>
          </a:xfrm>
          <a:prstGeom prst="roundRect">
            <a:avLst>
              <a:gd name="adj" fmla="val 50000"/>
            </a:avLst>
          </a:prstGeom>
          <a:solidFill>
            <a:srgbClr val="1A222C"/>
          </a:solidFill>
          <a:ln/>
        </p:spPr>
      </p:sp>
      <p:sp>
        <p:nvSpPr>
          <p:cNvPr id="107" name="Shape 84"/>
          <p:cNvSpPr/>
          <p:nvPr/>
        </p:nvSpPr>
        <p:spPr>
          <a:xfrm>
            <a:off x="9647682" y="5993892"/>
            <a:ext cx="475488" cy="32004"/>
          </a:xfrm>
          <a:prstGeom prst="roundRect">
            <a:avLst>
              <a:gd name="adj" fmla="val 51429"/>
            </a:avLst>
          </a:prstGeom>
          <a:solidFill>
            <a:srgbClr val="C3CBD4"/>
          </a:solidFill>
          <a:ln/>
        </p:spPr>
      </p:sp>
      <p:sp>
        <p:nvSpPr>
          <p:cNvPr id="108" name="Text 85"/>
          <p:cNvSpPr txBox="1"/>
          <p:nvPr/>
        </p:nvSpPr>
        <p:spPr>
          <a:xfrm>
            <a:off x="9039606" y="2025396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700" dirty="0"/>
          </a:p>
        </p:txBody>
      </p:sp>
      <p:pic>
        <p:nvPicPr>
          <p:cNvPr id="109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246614" y="2040941"/>
            <a:ext cx="128016" cy="128016"/>
          </a:xfrm>
          <a:prstGeom prst="rect">
            <a:avLst/>
          </a:prstGeom>
        </p:spPr>
      </p:pic>
      <p:pic>
        <p:nvPicPr>
          <p:cNvPr id="110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411206" y="2040941"/>
            <a:ext cx="128016" cy="128016"/>
          </a:xfrm>
          <a:prstGeom prst="rect">
            <a:avLst/>
          </a:prstGeom>
        </p:spPr>
      </p:pic>
      <p:pic>
        <p:nvPicPr>
          <p:cNvPr id="111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575798" y="2037283"/>
            <a:ext cx="137160" cy="137160"/>
          </a:xfrm>
          <a:prstGeom prst="rect">
            <a:avLst/>
          </a:prstGeom>
        </p:spPr>
      </p:pic>
      <p:sp>
        <p:nvSpPr>
          <p:cNvPr id="112" name="Shape 86"/>
          <p:cNvSpPr/>
          <p:nvPr/>
        </p:nvSpPr>
        <p:spPr>
          <a:xfrm>
            <a:off x="8920734" y="2199132"/>
            <a:ext cx="1929384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3" name="Shape 87"/>
          <p:cNvSpPr/>
          <p:nvPr/>
        </p:nvSpPr>
        <p:spPr>
          <a:xfrm>
            <a:off x="8920734" y="2557577"/>
            <a:ext cx="1929384" cy="7315"/>
          </a:xfrm>
          <a:prstGeom prst="rect">
            <a:avLst/>
          </a:prstGeom>
          <a:solidFill>
            <a:srgbClr val="E8EDF2"/>
          </a:solidFill>
          <a:ln/>
        </p:spPr>
      </p:sp>
      <p:pic>
        <p:nvPicPr>
          <p:cNvPr id="114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030462" y="2322576"/>
            <a:ext cx="118872" cy="118872"/>
          </a:xfrm>
          <a:prstGeom prst="rect">
            <a:avLst/>
          </a:prstGeom>
        </p:spPr>
      </p:pic>
      <p:sp>
        <p:nvSpPr>
          <p:cNvPr id="115" name="Text 88"/>
          <p:cNvSpPr txBox="1"/>
          <p:nvPr/>
        </p:nvSpPr>
        <p:spPr>
          <a:xfrm>
            <a:off x="9222486" y="2199132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your ride</a:t>
            </a:r>
            <a:endParaRPr lang="en-US" sz="850" dirty="0"/>
          </a:p>
        </p:txBody>
      </p:sp>
      <p:sp>
        <p:nvSpPr>
          <p:cNvPr id="116" name="Shape 89"/>
          <p:cNvSpPr/>
          <p:nvPr/>
        </p:nvSpPr>
        <p:spPr>
          <a:xfrm>
            <a:off x="9012174" y="2656332"/>
            <a:ext cx="1746504" cy="603504"/>
          </a:xfrm>
          <a:prstGeom prst="roundRect">
            <a:avLst>
              <a:gd name="adj" fmla="val 10606"/>
            </a:avLst>
          </a:prstGeom>
          <a:solidFill>
            <a:srgbClr val="E2F6F3"/>
          </a:solidFill>
          <a:ln w="17780">
            <a:solidFill>
              <a:srgbClr val="00A896"/>
            </a:solidFill>
            <a:prstDash val="solid"/>
          </a:ln>
        </p:spPr>
      </p:sp>
      <p:sp>
        <p:nvSpPr>
          <p:cNvPr id="117" name="Shape 90"/>
          <p:cNvSpPr/>
          <p:nvPr/>
        </p:nvSpPr>
        <p:spPr>
          <a:xfrm>
            <a:off x="9103614" y="283006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pic>
        <p:nvPicPr>
          <p:cNvPr id="118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144762" y="2871216"/>
            <a:ext cx="173736" cy="173736"/>
          </a:xfrm>
          <a:prstGeom prst="rect">
            <a:avLst/>
          </a:prstGeom>
        </p:spPr>
      </p:pic>
      <p:sp>
        <p:nvSpPr>
          <p:cNvPr id="119" name="Text 91"/>
          <p:cNvSpPr txBox="1"/>
          <p:nvPr/>
        </p:nvSpPr>
        <p:spPr>
          <a:xfrm>
            <a:off x="9432798" y="274777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Shuttle S3</a:t>
            </a:r>
            <a:endParaRPr lang="en-US" sz="700" dirty="0"/>
          </a:p>
        </p:txBody>
      </p:sp>
      <p:sp>
        <p:nvSpPr>
          <p:cNvPr id="120" name="Text 92"/>
          <p:cNvSpPr txBox="1"/>
          <p:nvPr/>
        </p:nvSpPr>
        <p:spPr>
          <a:xfrm>
            <a:off x="9432798" y="29306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1 loop · 5 seats free</a:t>
            </a:r>
            <a:endParaRPr lang="en-US" sz="590" dirty="0"/>
          </a:p>
        </p:txBody>
      </p:sp>
      <p:sp>
        <p:nvSpPr>
          <p:cNvPr id="121" name="Text 93"/>
          <p:cNvSpPr txBox="1"/>
          <p:nvPr/>
        </p:nvSpPr>
        <p:spPr>
          <a:xfrm>
            <a:off x="10283190" y="276606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min</a:t>
            </a:r>
            <a:endParaRPr lang="en-US" sz="800" dirty="0"/>
          </a:p>
        </p:txBody>
      </p:sp>
      <p:sp>
        <p:nvSpPr>
          <p:cNvPr id="122" name="Text 94"/>
          <p:cNvSpPr txBox="1"/>
          <p:nvPr/>
        </p:nvSpPr>
        <p:spPr>
          <a:xfrm>
            <a:off x="10283190" y="2939796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</a:t>
            </a:r>
            <a:endParaRPr lang="en-US" sz="560" dirty="0"/>
          </a:p>
        </p:txBody>
      </p:sp>
      <p:sp>
        <p:nvSpPr>
          <p:cNvPr id="123" name="Shape 95"/>
          <p:cNvSpPr/>
          <p:nvPr/>
        </p:nvSpPr>
        <p:spPr>
          <a:xfrm>
            <a:off x="9012174" y="3296412"/>
            <a:ext cx="1746504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24" name="Shape 96"/>
          <p:cNvSpPr/>
          <p:nvPr/>
        </p:nvSpPr>
        <p:spPr>
          <a:xfrm>
            <a:off x="9103614" y="347014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0F3F7"/>
          </a:solidFill>
          <a:ln/>
        </p:spPr>
      </p:sp>
      <p:pic>
        <p:nvPicPr>
          <p:cNvPr id="125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144762" y="3511296"/>
            <a:ext cx="173736" cy="173736"/>
          </a:xfrm>
          <a:prstGeom prst="rect">
            <a:avLst/>
          </a:prstGeom>
        </p:spPr>
      </p:pic>
      <p:sp>
        <p:nvSpPr>
          <p:cNvPr id="126" name="Text 97"/>
          <p:cNvSpPr txBox="1"/>
          <p:nvPr/>
        </p:nvSpPr>
        <p:spPr>
          <a:xfrm>
            <a:off x="9432798" y="338785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cab C-21</a:t>
            </a:r>
            <a:endParaRPr lang="en-US" sz="700" dirty="0"/>
          </a:p>
        </p:txBody>
      </p:sp>
      <p:sp>
        <p:nvSpPr>
          <p:cNvPr id="127" name="Text 98"/>
          <p:cNvSpPr txBox="1"/>
          <p:nvPr/>
        </p:nvSpPr>
        <p:spPr>
          <a:xfrm>
            <a:off x="9432798" y="35707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3 seats taken</a:t>
            </a:r>
            <a:endParaRPr lang="en-US" sz="590" dirty="0"/>
          </a:p>
        </p:txBody>
      </p:sp>
      <p:sp>
        <p:nvSpPr>
          <p:cNvPr id="128" name="Text 99"/>
          <p:cNvSpPr txBox="1"/>
          <p:nvPr/>
        </p:nvSpPr>
        <p:spPr>
          <a:xfrm>
            <a:off x="10283190" y="340614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min</a:t>
            </a:r>
            <a:endParaRPr lang="en-US" sz="800" dirty="0"/>
          </a:p>
        </p:txBody>
      </p:sp>
      <p:sp>
        <p:nvSpPr>
          <p:cNvPr id="129" name="Text 100"/>
          <p:cNvSpPr txBox="1"/>
          <p:nvPr/>
        </p:nvSpPr>
        <p:spPr>
          <a:xfrm>
            <a:off x="10283190" y="3579876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</a:t>
            </a:r>
            <a:endParaRPr lang="en-US" sz="560" dirty="0"/>
          </a:p>
        </p:txBody>
      </p:sp>
      <p:sp>
        <p:nvSpPr>
          <p:cNvPr id="130" name="Shape 101"/>
          <p:cNvSpPr/>
          <p:nvPr/>
        </p:nvSpPr>
        <p:spPr>
          <a:xfrm>
            <a:off x="9012174" y="3936492"/>
            <a:ext cx="1746504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1" name="Shape 102"/>
          <p:cNvSpPr/>
          <p:nvPr/>
        </p:nvSpPr>
        <p:spPr>
          <a:xfrm>
            <a:off x="9103614" y="411022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0F3F7"/>
          </a:solidFill>
          <a:ln/>
        </p:spPr>
      </p:sp>
      <p:pic>
        <p:nvPicPr>
          <p:cNvPr id="132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144762" y="4151376"/>
            <a:ext cx="173736" cy="173736"/>
          </a:xfrm>
          <a:prstGeom prst="rect">
            <a:avLst/>
          </a:prstGeom>
        </p:spPr>
      </p:pic>
      <p:sp>
        <p:nvSpPr>
          <p:cNvPr id="133" name="Text 103"/>
          <p:cNvSpPr txBox="1"/>
          <p:nvPr/>
        </p:nvSpPr>
        <p:spPr>
          <a:xfrm>
            <a:off x="9432798" y="402793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cab</a:t>
            </a:r>
            <a:endParaRPr lang="en-US" sz="700" dirty="0"/>
          </a:p>
        </p:txBody>
      </p:sp>
      <p:sp>
        <p:nvSpPr>
          <p:cNvPr id="134" name="Text 104"/>
          <p:cNvSpPr txBox="1"/>
          <p:nvPr/>
        </p:nvSpPr>
        <p:spPr>
          <a:xfrm>
            <a:off x="9432798" y="421081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approval from your HOD</a:t>
            </a:r>
            <a:endParaRPr lang="en-US" sz="590" dirty="0"/>
          </a:p>
        </p:txBody>
      </p:sp>
      <p:sp>
        <p:nvSpPr>
          <p:cNvPr id="135" name="Text 105"/>
          <p:cNvSpPr txBox="1"/>
          <p:nvPr/>
        </p:nvSpPr>
        <p:spPr>
          <a:xfrm>
            <a:off x="10283190" y="404622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min</a:t>
            </a:r>
            <a:endParaRPr lang="en-US" sz="800" dirty="0"/>
          </a:p>
        </p:txBody>
      </p:sp>
      <p:sp>
        <p:nvSpPr>
          <p:cNvPr id="136" name="Text 106"/>
          <p:cNvSpPr txBox="1"/>
          <p:nvPr/>
        </p:nvSpPr>
        <p:spPr>
          <a:xfrm>
            <a:off x="10283190" y="4219956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</a:t>
            </a:r>
            <a:endParaRPr lang="en-US" sz="560" dirty="0"/>
          </a:p>
        </p:txBody>
      </p:sp>
      <p:sp>
        <p:nvSpPr>
          <p:cNvPr id="137" name="Shape 107"/>
          <p:cNvSpPr/>
          <p:nvPr/>
        </p:nvSpPr>
        <p:spPr>
          <a:xfrm>
            <a:off x="9012174" y="4576572"/>
            <a:ext cx="1746504" cy="365760"/>
          </a:xfrm>
          <a:prstGeom prst="roundRect">
            <a:avLst>
              <a:gd name="adj" fmla="val 15000"/>
            </a:avLst>
          </a:prstGeom>
          <a:solidFill>
            <a:srgbClr val="FDF3DC"/>
          </a:solidFill>
          <a:ln/>
        </p:spPr>
      </p:sp>
      <p:pic>
        <p:nvPicPr>
          <p:cNvPr id="138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103614" y="4690872"/>
            <a:ext cx="128016" cy="128016"/>
          </a:xfrm>
          <a:prstGeom prst="rect">
            <a:avLst/>
          </a:prstGeom>
        </p:spPr>
      </p:pic>
      <p:sp>
        <p:nvSpPr>
          <p:cNvPr id="139" name="Text 108"/>
          <p:cNvSpPr txBox="1"/>
          <p:nvPr/>
        </p:nvSpPr>
        <p:spPr>
          <a:xfrm>
            <a:off x="9286494" y="45765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Pick-up runs carry 3 riders max</a:t>
            </a:r>
            <a:endParaRPr lang="en-US" sz="600" dirty="0"/>
          </a:p>
        </p:txBody>
      </p:sp>
      <p:sp>
        <p:nvSpPr>
          <p:cNvPr id="140" name="Shape 109"/>
          <p:cNvSpPr/>
          <p:nvPr/>
        </p:nvSpPr>
        <p:spPr>
          <a:xfrm>
            <a:off x="9012174" y="4997196"/>
            <a:ext cx="1746504" cy="310896"/>
          </a:xfrm>
          <a:prstGeom prst="roundRect">
            <a:avLst>
              <a:gd name="adj" fmla="val 17647"/>
            </a:avLst>
          </a:prstGeom>
          <a:solidFill>
            <a:srgbClr val="F0F3F7"/>
          </a:solidFill>
          <a:ln/>
        </p:spPr>
      </p:sp>
      <p:sp>
        <p:nvSpPr>
          <p:cNvPr id="141" name="Text 110"/>
          <p:cNvSpPr txBox="1"/>
          <p:nvPr/>
        </p:nvSpPr>
        <p:spPr>
          <a:xfrm>
            <a:off x="9121902" y="499719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centre</a:t>
            </a:r>
            <a:endParaRPr lang="en-US" sz="600" dirty="0"/>
          </a:p>
        </p:txBody>
      </p:sp>
      <p:sp>
        <p:nvSpPr>
          <p:cNvPr id="142" name="Text 111"/>
          <p:cNvSpPr txBox="1"/>
          <p:nvPr/>
        </p:nvSpPr>
        <p:spPr>
          <a:xfrm>
            <a:off x="9935718" y="4997196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CC-4471 Ops</a:t>
            </a:r>
            <a:endParaRPr lang="en-US" sz="620" dirty="0"/>
          </a:p>
        </p:txBody>
      </p:sp>
      <p:sp>
        <p:nvSpPr>
          <p:cNvPr id="143" name="Shape 112"/>
          <p:cNvSpPr/>
          <p:nvPr/>
        </p:nvSpPr>
        <p:spPr>
          <a:xfrm>
            <a:off x="9012174" y="5436108"/>
            <a:ext cx="1746504" cy="347472"/>
          </a:xfrm>
          <a:prstGeom prst="roundRect">
            <a:avLst>
              <a:gd name="adj" fmla="val 15789"/>
            </a:avLst>
          </a:prstGeom>
          <a:solidFill>
            <a:srgbClr val="E85D04"/>
          </a:solidFill>
          <a:ln/>
        </p:spPr>
      </p:sp>
      <p:sp>
        <p:nvSpPr>
          <p:cNvPr id="144" name="Text 113"/>
          <p:cNvSpPr txBox="1"/>
          <p:nvPr/>
        </p:nvSpPr>
        <p:spPr>
          <a:xfrm>
            <a:off x="9012174" y="5436108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ride</a:t>
            </a:r>
            <a:endParaRPr lang="en-US" sz="750" dirty="0"/>
          </a:p>
        </p:txBody>
      </p:sp>
      <p:sp>
        <p:nvSpPr>
          <p:cNvPr id="145" name="Text 114"/>
          <p:cNvSpPr txBox="1"/>
          <p:nvPr/>
        </p:nvSpPr>
        <p:spPr>
          <a:xfrm>
            <a:off x="8146085" y="6217920"/>
            <a:ext cx="34786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centre is pre-filled; policy decides if it can change.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ECO TECH  ·  Plant Ride for LHS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6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 JOURNEY  ·  STEPS 4-5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58368"/>
            <a:ext cx="110578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40" kern="0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Confirmation, live tracking and OTP boarding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365760" cy="365760"/>
          </a:xfrm>
          <a:prstGeom prst="ellipse">
            <a:avLst/>
          </a:prstGeom>
          <a:solidFill>
            <a:srgbClr val="0E141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1335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42416" y="1316736"/>
            <a:ext cx="30031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42416" y="1554480"/>
            <a:ext cx="30031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needed to find the cab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77569" y="1920240"/>
            <a:ext cx="2057400" cy="4206240"/>
          </a:xfrm>
          <a:prstGeom prst="roundRect">
            <a:avLst>
              <a:gd name="adj" fmla="val 3778"/>
            </a:avLst>
          </a:prstGeom>
          <a:solidFill>
            <a:srgbClr val="1A222C"/>
          </a:solidFill>
          <a:ln/>
          <a:effectLst>
            <a:outerShdw sx="100000" sy="100000" kx="0" ky="0" algn="bl" rotWithShape="0" blurRad="203200" dist="50800" dir="5400000">
              <a:srgbClr val="0E141B">
                <a:alpha val="2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341577" y="1984248"/>
            <a:ext cx="1929384" cy="4078224"/>
          </a:xfrm>
          <a:prstGeom prst="roundRect">
            <a:avLst>
              <a:gd name="adj" fmla="val 3081"/>
            </a:avLst>
          </a:prstGeom>
          <a:solidFill>
            <a:srgbClr val="F6F8FA"/>
          </a:solidFill>
          <a:ln/>
        </p:spPr>
      </p:sp>
      <p:sp>
        <p:nvSpPr>
          <p:cNvPr id="12" name="Shape 10"/>
          <p:cNvSpPr/>
          <p:nvPr/>
        </p:nvSpPr>
        <p:spPr>
          <a:xfrm>
            <a:off x="2086813" y="2034540"/>
            <a:ext cx="438912" cy="91440"/>
          </a:xfrm>
          <a:prstGeom prst="roundRect">
            <a:avLst>
              <a:gd name="adj" fmla="val 50000"/>
            </a:avLst>
          </a:prstGeom>
          <a:solidFill>
            <a:srgbClr val="1A222C"/>
          </a:solidFill>
          <a:ln/>
        </p:spPr>
      </p:sp>
      <p:sp>
        <p:nvSpPr>
          <p:cNvPr id="13" name="Shape 11"/>
          <p:cNvSpPr/>
          <p:nvPr/>
        </p:nvSpPr>
        <p:spPr>
          <a:xfrm>
            <a:off x="2068525" y="5993892"/>
            <a:ext cx="475488" cy="32004"/>
          </a:xfrm>
          <a:prstGeom prst="roundRect">
            <a:avLst>
              <a:gd name="adj" fmla="val 51429"/>
            </a:avLst>
          </a:prstGeom>
          <a:solidFill>
            <a:srgbClr val="C3CBD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460449" y="2025396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7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457" y="2040941"/>
            <a:ext cx="128016" cy="128016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049" y="2040941"/>
            <a:ext cx="128016" cy="128016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6641" y="2037283"/>
            <a:ext cx="137160" cy="13716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1341577" y="2199132"/>
            <a:ext cx="1929384" cy="78638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Shape 14"/>
          <p:cNvSpPr/>
          <p:nvPr/>
        </p:nvSpPr>
        <p:spPr>
          <a:xfrm>
            <a:off x="2132533" y="2318004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4829" y="2400300"/>
            <a:ext cx="182880" cy="1828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41577" y="2702052"/>
            <a:ext cx="1929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confirmed</a:t>
            </a:r>
            <a:endParaRPr lang="en-US" sz="9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7881" y="3168396"/>
            <a:ext cx="137160" cy="13716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707337" y="306781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time</a:t>
            </a:r>
            <a:endParaRPr lang="en-US" sz="580" dirty="0"/>
          </a:p>
        </p:txBody>
      </p:sp>
      <p:sp>
        <p:nvSpPr>
          <p:cNvPr id="24" name="Text 17"/>
          <p:cNvSpPr txBox="1"/>
          <p:nvPr/>
        </p:nvSpPr>
        <p:spPr>
          <a:xfrm>
            <a:off x="1707337" y="320497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Sep 2026 · 14:05</a:t>
            </a:r>
            <a:endParaRPr lang="en-US" sz="680" dirty="0"/>
          </a:p>
        </p:txBody>
      </p:sp>
      <p:sp>
        <p:nvSpPr>
          <p:cNvPr id="25" name="Shape 18"/>
          <p:cNvSpPr/>
          <p:nvPr/>
        </p:nvSpPr>
        <p:spPr>
          <a:xfrm>
            <a:off x="1469593" y="3406140"/>
            <a:ext cx="1673352" cy="5486"/>
          </a:xfrm>
          <a:prstGeom prst="rect">
            <a:avLst/>
          </a:prstGeom>
          <a:solidFill>
            <a:srgbClr val="E8EDF2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7881" y="3534156"/>
            <a:ext cx="137160" cy="13716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707337" y="343357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number</a:t>
            </a:r>
            <a:endParaRPr lang="en-US" sz="580" dirty="0"/>
          </a:p>
        </p:txBody>
      </p:sp>
      <p:sp>
        <p:nvSpPr>
          <p:cNvPr id="28" name="Text 20"/>
          <p:cNvSpPr txBox="1"/>
          <p:nvPr/>
        </p:nvSpPr>
        <p:spPr>
          <a:xfrm>
            <a:off x="1707337" y="357073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 12 AB 4412 · C-12</a:t>
            </a:r>
            <a:endParaRPr lang="en-US" sz="680" dirty="0"/>
          </a:p>
        </p:txBody>
      </p:sp>
      <p:sp>
        <p:nvSpPr>
          <p:cNvPr id="29" name="Shape 21"/>
          <p:cNvSpPr/>
          <p:nvPr/>
        </p:nvSpPr>
        <p:spPr>
          <a:xfrm>
            <a:off x="1469593" y="3771900"/>
            <a:ext cx="1673352" cy="5486"/>
          </a:xfrm>
          <a:prstGeom prst="rect">
            <a:avLst/>
          </a:prstGeom>
          <a:solidFill>
            <a:srgbClr val="E8EDF2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7881" y="3899916"/>
            <a:ext cx="137160" cy="13716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1707337" y="379933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contact</a:t>
            </a:r>
            <a:endParaRPr lang="en-US" sz="580" dirty="0"/>
          </a:p>
        </p:txBody>
      </p:sp>
      <p:sp>
        <p:nvSpPr>
          <p:cNvPr id="32" name="Text 23"/>
          <p:cNvSpPr txBox="1"/>
          <p:nvPr/>
        </p:nvSpPr>
        <p:spPr>
          <a:xfrm>
            <a:off x="1707337" y="393649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Kumar · +91 98xxx 77201</a:t>
            </a:r>
            <a:endParaRPr lang="en-US" sz="680" dirty="0"/>
          </a:p>
        </p:txBody>
      </p:sp>
      <p:sp>
        <p:nvSpPr>
          <p:cNvPr id="33" name="Shape 24"/>
          <p:cNvSpPr/>
          <p:nvPr/>
        </p:nvSpPr>
        <p:spPr>
          <a:xfrm>
            <a:off x="1469593" y="4137660"/>
            <a:ext cx="1673352" cy="5486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34" name="Shape 25"/>
          <p:cNvSpPr/>
          <p:nvPr/>
        </p:nvSpPr>
        <p:spPr>
          <a:xfrm>
            <a:off x="1433017" y="4192524"/>
            <a:ext cx="1746504" cy="475488"/>
          </a:xfrm>
          <a:prstGeom prst="roundRect">
            <a:avLst>
              <a:gd name="adj" fmla="val 13462"/>
            </a:avLst>
          </a:prstGeom>
          <a:solidFill>
            <a:srgbClr val="1A222C"/>
          </a:solidFill>
          <a:ln/>
        </p:spPr>
      </p:sp>
      <p:sp>
        <p:nvSpPr>
          <p:cNvPr id="35" name="Text 26"/>
          <p:cNvSpPr txBox="1"/>
          <p:nvPr/>
        </p:nvSpPr>
        <p:spPr>
          <a:xfrm>
            <a:off x="1542745" y="423824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" b="1" spc="80" kern="0" dirty="0">
                <a:solidFill>
                  <a:srgbClr val="8494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BOARDING OTP</a:t>
            </a:r>
            <a:endParaRPr lang="en-US" sz="540" dirty="0"/>
          </a:p>
        </p:txBody>
      </p:sp>
      <p:sp>
        <p:nvSpPr>
          <p:cNvPr id="36" name="Text 27"/>
          <p:cNvSpPr txBox="1"/>
          <p:nvPr/>
        </p:nvSpPr>
        <p:spPr>
          <a:xfrm>
            <a:off x="1542745" y="439369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4  8  2  6</a:t>
            </a:r>
            <a:endParaRPr lang="en-US" sz="1100" dirty="0"/>
          </a:p>
        </p:txBody>
      </p:sp>
      <p:sp>
        <p:nvSpPr>
          <p:cNvPr id="37" name="Shape 28"/>
          <p:cNvSpPr/>
          <p:nvPr/>
        </p:nvSpPr>
        <p:spPr>
          <a:xfrm>
            <a:off x="1433017" y="4759452"/>
            <a:ext cx="1746504" cy="347472"/>
          </a:xfrm>
          <a:prstGeom prst="roundRect">
            <a:avLst>
              <a:gd name="adj" fmla="val 15789"/>
            </a:avLst>
          </a:prstGeom>
          <a:solidFill>
            <a:srgbClr val="E85D04"/>
          </a:solidFill>
          <a:ln/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79321" y="4873752"/>
            <a:ext cx="118872" cy="118872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1542745" y="4759452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this vehicle live</a:t>
            </a:r>
            <a:endParaRPr lang="en-US" sz="750" dirty="0"/>
          </a:p>
        </p:txBody>
      </p:sp>
      <p:sp>
        <p:nvSpPr>
          <p:cNvPr id="40" name="Shape 30"/>
          <p:cNvSpPr/>
          <p:nvPr/>
        </p:nvSpPr>
        <p:spPr>
          <a:xfrm>
            <a:off x="1433017" y="5180076"/>
            <a:ext cx="174650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9321" y="5276088"/>
            <a:ext cx="118872" cy="118872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1542745" y="5180076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trip</a:t>
            </a:r>
            <a:endParaRPr lang="en-US" sz="750" dirty="0"/>
          </a:p>
        </p:txBody>
      </p:sp>
      <p:sp>
        <p:nvSpPr>
          <p:cNvPr id="43" name="Shape 32"/>
          <p:cNvSpPr/>
          <p:nvPr/>
        </p:nvSpPr>
        <p:spPr>
          <a:xfrm>
            <a:off x="1433017" y="5637276"/>
            <a:ext cx="1746504" cy="384048"/>
          </a:xfrm>
          <a:prstGeom prst="roundRect">
            <a:avLst>
              <a:gd name="adj" fmla="val 14286"/>
            </a:avLst>
          </a:prstGeom>
          <a:solidFill>
            <a:srgbClr val="F0F3F7"/>
          </a:solidFill>
          <a:ln/>
        </p:spPr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4457" y="5756148"/>
            <a:ext cx="137160" cy="137160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1725625" y="563727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cancellation until 13:55</a:t>
            </a:r>
            <a:endParaRPr lang="en-US" sz="590" dirty="0"/>
          </a:p>
        </p:txBody>
      </p:sp>
      <p:sp>
        <p:nvSpPr>
          <p:cNvPr id="46" name="Shape 34"/>
          <p:cNvSpPr/>
          <p:nvPr/>
        </p:nvSpPr>
        <p:spPr>
          <a:xfrm>
            <a:off x="1433017" y="6094476"/>
            <a:ext cx="174650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pic>
        <p:nvPicPr>
          <p:cNvPr id="4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24457" y="6213348"/>
            <a:ext cx="137160" cy="137160"/>
          </a:xfrm>
          <a:prstGeom prst="rect">
            <a:avLst/>
          </a:prstGeom>
        </p:spPr>
      </p:pic>
      <p:sp>
        <p:nvSpPr>
          <p:cNvPr id="48" name="Text 35"/>
          <p:cNvSpPr txBox="1"/>
          <p:nvPr/>
        </p:nvSpPr>
        <p:spPr>
          <a:xfrm>
            <a:off x="1725625" y="609447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calendar</a:t>
            </a:r>
            <a:endParaRPr lang="en-US" sz="590" dirty="0"/>
          </a:p>
        </p:txBody>
      </p:sp>
      <p:pic>
        <p:nvPicPr>
          <p:cNvPr id="4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78353" y="6217920"/>
            <a:ext cx="137160" cy="137160"/>
          </a:xfrm>
          <a:prstGeom prst="rect">
            <a:avLst/>
          </a:prstGeom>
        </p:spPr>
      </p:pic>
      <p:sp>
        <p:nvSpPr>
          <p:cNvPr id="50" name="Text 36"/>
          <p:cNvSpPr txBox="1"/>
          <p:nvPr/>
        </p:nvSpPr>
        <p:spPr>
          <a:xfrm>
            <a:off x="566928" y="6217920"/>
            <a:ext cx="34786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number and driver contact remove the call to the desk.</a:t>
            </a:r>
            <a:endParaRPr lang="en-US" sz="950" dirty="0"/>
          </a:p>
        </p:txBody>
      </p:sp>
      <p:sp>
        <p:nvSpPr>
          <p:cNvPr id="51" name="Shape 37"/>
          <p:cNvSpPr/>
          <p:nvPr/>
        </p:nvSpPr>
        <p:spPr>
          <a:xfrm>
            <a:off x="4356506" y="1335024"/>
            <a:ext cx="365760" cy="365760"/>
          </a:xfrm>
          <a:prstGeom prst="ellipse">
            <a:avLst/>
          </a:prstGeom>
          <a:solidFill>
            <a:srgbClr val="0E141B"/>
          </a:solidFill>
          <a:ln/>
        </p:spPr>
      </p:sp>
      <p:sp>
        <p:nvSpPr>
          <p:cNvPr id="52" name="Text 38"/>
          <p:cNvSpPr txBox="1"/>
          <p:nvPr/>
        </p:nvSpPr>
        <p:spPr>
          <a:xfrm>
            <a:off x="4356506" y="1335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53" name="Text 39"/>
          <p:cNvSpPr txBox="1"/>
          <p:nvPr/>
        </p:nvSpPr>
        <p:spPr>
          <a:xfrm>
            <a:off x="4831994" y="1316736"/>
            <a:ext cx="30031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tracking</a:t>
            </a:r>
            <a:endParaRPr lang="en-US" sz="1300" dirty="0"/>
          </a:p>
        </p:txBody>
      </p:sp>
      <p:sp>
        <p:nvSpPr>
          <p:cNvPr id="54" name="Text 40"/>
          <p:cNvSpPr txBox="1"/>
          <p:nvPr/>
        </p:nvSpPr>
        <p:spPr>
          <a:xfrm>
            <a:off x="4831994" y="1554480"/>
            <a:ext cx="30031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link works outside the app too</a:t>
            </a:r>
            <a:endParaRPr lang="en-US" sz="950" dirty="0"/>
          </a:p>
        </p:txBody>
      </p:sp>
      <p:sp>
        <p:nvSpPr>
          <p:cNvPr id="55" name="Shape 41"/>
          <p:cNvSpPr/>
          <p:nvPr/>
        </p:nvSpPr>
        <p:spPr>
          <a:xfrm>
            <a:off x="5067148" y="1920240"/>
            <a:ext cx="2057400" cy="4206240"/>
          </a:xfrm>
          <a:prstGeom prst="roundRect">
            <a:avLst>
              <a:gd name="adj" fmla="val 3778"/>
            </a:avLst>
          </a:prstGeom>
          <a:solidFill>
            <a:srgbClr val="1A222C"/>
          </a:solidFill>
          <a:ln/>
          <a:effectLst>
            <a:outerShdw sx="100000" sy="100000" kx="0" ky="0" algn="bl" rotWithShape="0" blurRad="203200" dist="50800" dir="5400000">
              <a:srgbClr val="0E141B">
                <a:alpha val="24000"/>
              </a:srgbClr>
            </a:outerShdw>
          </a:effectLst>
        </p:spPr>
      </p:sp>
      <p:sp>
        <p:nvSpPr>
          <p:cNvPr id="56" name="Shape 42"/>
          <p:cNvSpPr/>
          <p:nvPr/>
        </p:nvSpPr>
        <p:spPr>
          <a:xfrm>
            <a:off x="5131156" y="1984248"/>
            <a:ext cx="1929384" cy="4078224"/>
          </a:xfrm>
          <a:prstGeom prst="roundRect">
            <a:avLst>
              <a:gd name="adj" fmla="val 3081"/>
            </a:avLst>
          </a:prstGeom>
          <a:solidFill>
            <a:srgbClr val="F6F8FA"/>
          </a:solidFill>
          <a:ln/>
        </p:spPr>
      </p:sp>
      <p:sp>
        <p:nvSpPr>
          <p:cNvPr id="57" name="Shape 43"/>
          <p:cNvSpPr/>
          <p:nvPr/>
        </p:nvSpPr>
        <p:spPr>
          <a:xfrm>
            <a:off x="5876392" y="2034540"/>
            <a:ext cx="438912" cy="91440"/>
          </a:xfrm>
          <a:prstGeom prst="roundRect">
            <a:avLst>
              <a:gd name="adj" fmla="val 50000"/>
            </a:avLst>
          </a:prstGeom>
          <a:solidFill>
            <a:srgbClr val="1A222C"/>
          </a:solidFill>
          <a:ln/>
        </p:spPr>
      </p:sp>
      <p:sp>
        <p:nvSpPr>
          <p:cNvPr id="58" name="Shape 44"/>
          <p:cNvSpPr/>
          <p:nvPr/>
        </p:nvSpPr>
        <p:spPr>
          <a:xfrm>
            <a:off x="5858104" y="5993892"/>
            <a:ext cx="475488" cy="32004"/>
          </a:xfrm>
          <a:prstGeom prst="roundRect">
            <a:avLst>
              <a:gd name="adj" fmla="val 51429"/>
            </a:avLst>
          </a:prstGeom>
          <a:solidFill>
            <a:srgbClr val="C3CBD4"/>
          </a:solidFill>
          <a:ln/>
        </p:spPr>
      </p:sp>
      <p:sp>
        <p:nvSpPr>
          <p:cNvPr id="59" name="Text 45"/>
          <p:cNvSpPr txBox="1"/>
          <p:nvPr/>
        </p:nvSpPr>
        <p:spPr>
          <a:xfrm>
            <a:off x="5250028" y="2025396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700" dirty="0"/>
          </a:p>
        </p:txBody>
      </p:sp>
      <p:pic>
        <p:nvPicPr>
          <p:cNvPr id="6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57036" y="2040941"/>
            <a:ext cx="128016" cy="128016"/>
          </a:xfrm>
          <a:prstGeom prst="rect">
            <a:avLst/>
          </a:prstGeom>
        </p:spPr>
      </p:pic>
      <p:pic>
        <p:nvPicPr>
          <p:cNvPr id="6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21628" y="2040941"/>
            <a:ext cx="128016" cy="128016"/>
          </a:xfrm>
          <a:prstGeom prst="rect">
            <a:avLst/>
          </a:prstGeom>
        </p:spPr>
      </p:pic>
      <p:pic>
        <p:nvPicPr>
          <p:cNvPr id="6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86220" y="2037283"/>
            <a:ext cx="137160" cy="137160"/>
          </a:xfrm>
          <a:prstGeom prst="rect">
            <a:avLst/>
          </a:prstGeom>
        </p:spPr>
      </p:pic>
      <p:sp>
        <p:nvSpPr>
          <p:cNvPr id="63" name="Shape 46"/>
          <p:cNvSpPr/>
          <p:nvPr/>
        </p:nvSpPr>
        <p:spPr>
          <a:xfrm>
            <a:off x="5131156" y="2199132"/>
            <a:ext cx="1929384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Shape 47"/>
          <p:cNvSpPr/>
          <p:nvPr/>
        </p:nvSpPr>
        <p:spPr>
          <a:xfrm>
            <a:off x="5131156" y="2557577"/>
            <a:ext cx="1929384" cy="7315"/>
          </a:xfrm>
          <a:prstGeom prst="rect">
            <a:avLst/>
          </a:prstGeom>
          <a:solidFill>
            <a:srgbClr val="E8EDF2"/>
          </a:solidFill>
          <a:ln/>
        </p:spPr>
      </p:sp>
      <p:pic>
        <p:nvPicPr>
          <p:cNvPr id="6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40884" y="2322576"/>
            <a:ext cx="118872" cy="118872"/>
          </a:xfrm>
          <a:prstGeom prst="rect">
            <a:avLst/>
          </a:prstGeom>
        </p:spPr>
      </p:pic>
      <p:sp>
        <p:nvSpPr>
          <p:cNvPr id="66" name="Text 48"/>
          <p:cNvSpPr txBox="1"/>
          <p:nvPr/>
        </p:nvSpPr>
        <p:spPr>
          <a:xfrm>
            <a:off x="5432908" y="2199132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 C-12 on the way</a:t>
            </a:r>
            <a:endParaRPr lang="en-US" sz="850" dirty="0"/>
          </a:p>
        </p:txBody>
      </p:sp>
      <p:sp>
        <p:nvSpPr>
          <p:cNvPr id="67" name="Shape 49"/>
          <p:cNvSpPr/>
          <p:nvPr/>
        </p:nvSpPr>
        <p:spPr>
          <a:xfrm>
            <a:off x="5131156" y="2564892"/>
            <a:ext cx="1929384" cy="2139696"/>
          </a:xfrm>
          <a:prstGeom prst="rect">
            <a:avLst/>
          </a:prstGeom>
          <a:solidFill>
            <a:srgbClr val="EDF1F5"/>
          </a:solidFill>
          <a:ln/>
        </p:spPr>
      </p:sp>
      <p:sp>
        <p:nvSpPr>
          <p:cNvPr id="68" name="Shape 50"/>
          <p:cNvSpPr/>
          <p:nvPr/>
        </p:nvSpPr>
        <p:spPr>
          <a:xfrm>
            <a:off x="5246919" y="2778862"/>
            <a:ext cx="501640" cy="427939"/>
          </a:xfrm>
          <a:prstGeom prst="rect">
            <a:avLst/>
          </a:prstGeom>
          <a:solidFill>
            <a:srgbClr val="E1E7EE"/>
          </a:solidFill>
          <a:ln/>
        </p:spPr>
      </p:sp>
      <p:sp>
        <p:nvSpPr>
          <p:cNvPr id="69" name="Shape 51"/>
          <p:cNvSpPr/>
          <p:nvPr/>
        </p:nvSpPr>
        <p:spPr>
          <a:xfrm>
            <a:off x="5902909" y="2693274"/>
            <a:ext cx="578815" cy="342351"/>
          </a:xfrm>
          <a:prstGeom prst="rect">
            <a:avLst/>
          </a:prstGeom>
          <a:solidFill>
            <a:srgbClr val="E1E7EE"/>
          </a:solidFill>
          <a:ln/>
        </p:spPr>
      </p:sp>
      <p:sp>
        <p:nvSpPr>
          <p:cNvPr id="70" name="Shape 52"/>
          <p:cNvSpPr/>
          <p:nvPr/>
        </p:nvSpPr>
        <p:spPr>
          <a:xfrm>
            <a:off x="6597487" y="2864449"/>
            <a:ext cx="385877" cy="470733"/>
          </a:xfrm>
          <a:prstGeom prst="rect">
            <a:avLst/>
          </a:prstGeom>
          <a:solidFill>
            <a:srgbClr val="E1E7EE"/>
          </a:solidFill>
          <a:ln/>
        </p:spPr>
      </p:sp>
      <p:sp>
        <p:nvSpPr>
          <p:cNvPr id="71" name="Shape 53"/>
          <p:cNvSpPr/>
          <p:nvPr/>
        </p:nvSpPr>
        <p:spPr>
          <a:xfrm>
            <a:off x="5285506" y="3805916"/>
            <a:ext cx="463052" cy="513527"/>
          </a:xfrm>
          <a:prstGeom prst="rect">
            <a:avLst/>
          </a:prstGeom>
          <a:solidFill>
            <a:srgbClr val="E1E7EE"/>
          </a:solidFill>
          <a:ln/>
        </p:spPr>
      </p:sp>
      <p:sp>
        <p:nvSpPr>
          <p:cNvPr id="72" name="Shape 54"/>
          <p:cNvSpPr/>
          <p:nvPr/>
        </p:nvSpPr>
        <p:spPr>
          <a:xfrm>
            <a:off x="5980085" y="3891504"/>
            <a:ext cx="424464" cy="427939"/>
          </a:xfrm>
          <a:prstGeom prst="rect">
            <a:avLst/>
          </a:prstGeom>
          <a:solidFill>
            <a:srgbClr val="E1E7EE"/>
          </a:solidFill>
          <a:ln/>
        </p:spPr>
      </p:sp>
      <p:sp>
        <p:nvSpPr>
          <p:cNvPr id="73" name="Shape 55"/>
          <p:cNvSpPr/>
          <p:nvPr/>
        </p:nvSpPr>
        <p:spPr>
          <a:xfrm>
            <a:off x="6520312" y="3763122"/>
            <a:ext cx="463052" cy="556321"/>
          </a:xfrm>
          <a:prstGeom prst="rect">
            <a:avLst/>
          </a:prstGeom>
          <a:solidFill>
            <a:srgbClr val="E1E7EE"/>
          </a:solidFill>
          <a:ln/>
        </p:spPr>
      </p:sp>
      <p:sp>
        <p:nvSpPr>
          <p:cNvPr id="74" name="Shape 56"/>
          <p:cNvSpPr/>
          <p:nvPr/>
        </p:nvSpPr>
        <p:spPr>
          <a:xfrm>
            <a:off x="5787146" y="3292389"/>
            <a:ext cx="270114" cy="299557"/>
          </a:xfrm>
          <a:prstGeom prst="rect">
            <a:avLst/>
          </a:prstGeom>
          <a:solidFill>
            <a:srgbClr val="E1E7EE"/>
          </a:solidFill>
          <a:ln/>
        </p:spPr>
      </p:sp>
      <p:sp>
        <p:nvSpPr>
          <p:cNvPr id="75" name="Shape 57"/>
          <p:cNvSpPr/>
          <p:nvPr/>
        </p:nvSpPr>
        <p:spPr>
          <a:xfrm>
            <a:off x="5131156" y="3463564"/>
            <a:ext cx="1929384" cy="7488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6" name="Shape 58"/>
          <p:cNvSpPr/>
          <p:nvPr/>
        </p:nvSpPr>
        <p:spPr>
          <a:xfrm>
            <a:off x="5825734" y="2564892"/>
            <a:ext cx="74889" cy="21396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7" name="Shape 59"/>
          <p:cNvSpPr/>
          <p:nvPr/>
        </p:nvSpPr>
        <p:spPr>
          <a:xfrm>
            <a:off x="6481724" y="2564892"/>
            <a:ext cx="74889" cy="21396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8" name="Shape 60"/>
          <p:cNvSpPr/>
          <p:nvPr/>
        </p:nvSpPr>
        <p:spPr>
          <a:xfrm>
            <a:off x="5131156" y="4405031"/>
            <a:ext cx="1929384" cy="7488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9" name="Shape 61"/>
          <p:cNvSpPr/>
          <p:nvPr/>
        </p:nvSpPr>
        <p:spPr>
          <a:xfrm>
            <a:off x="5362682" y="3463564"/>
            <a:ext cx="1119043" cy="64191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80" name="Shape 62"/>
          <p:cNvSpPr/>
          <p:nvPr/>
        </p:nvSpPr>
        <p:spPr>
          <a:xfrm>
            <a:off x="6481724" y="2950037"/>
            <a:ext cx="64191" cy="524226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81" name="Shape 63"/>
          <p:cNvSpPr/>
          <p:nvPr/>
        </p:nvSpPr>
        <p:spPr>
          <a:xfrm>
            <a:off x="5324094" y="3426988"/>
            <a:ext cx="105156" cy="105156"/>
          </a:xfrm>
          <a:prstGeom prst="ellipse">
            <a:avLst/>
          </a:prstGeom>
          <a:solidFill>
            <a:srgbClr val="00A896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82" name="Shape 64"/>
          <p:cNvSpPr/>
          <p:nvPr/>
        </p:nvSpPr>
        <p:spPr>
          <a:xfrm>
            <a:off x="6452784" y="2875148"/>
            <a:ext cx="105156" cy="1051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83" name="Shape 65"/>
          <p:cNvSpPr/>
          <p:nvPr/>
        </p:nvSpPr>
        <p:spPr>
          <a:xfrm>
            <a:off x="5864322" y="3372124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E85D04"/>
          </a:solidFill>
          <a:ln/>
          <a:effectLst>
            <a:outerShdw sx="100000" sy="100000" kx="0" ky="0" algn="bl" rotWithShape="0" blurRad="101600" dist="12700" dir="5400000">
              <a:srgbClr val="0E141B">
                <a:alpha val="9000"/>
              </a:srgbClr>
            </a:outerShdw>
          </a:effectLst>
        </p:spPr>
      </p:sp>
      <p:pic>
        <p:nvPicPr>
          <p:cNvPr id="8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23758" y="3422416"/>
            <a:ext cx="155448" cy="155448"/>
          </a:xfrm>
          <a:prstGeom prst="rect">
            <a:avLst/>
          </a:prstGeom>
        </p:spPr>
      </p:pic>
      <p:sp>
        <p:nvSpPr>
          <p:cNvPr id="85" name="Shape 66"/>
          <p:cNvSpPr/>
          <p:nvPr/>
        </p:nvSpPr>
        <p:spPr>
          <a:xfrm>
            <a:off x="5259172" y="2674620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E141B">
                <a:alpha val="9000"/>
              </a:srgbClr>
            </a:outerShdw>
          </a:effectLst>
        </p:spPr>
      </p:sp>
      <p:sp>
        <p:nvSpPr>
          <p:cNvPr id="86" name="Text 67"/>
          <p:cNvSpPr txBox="1"/>
          <p:nvPr/>
        </p:nvSpPr>
        <p:spPr>
          <a:xfrm>
            <a:off x="5259172" y="2674620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Arriving in 6 min</a:t>
            </a:r>
            <a:endParaRPr lang="en-US" sz="660" dirty="0"/>
          </a:p>
        </p:txBody>
      </p:sp>
      <p:sp>
        <p:nvSpPr>
          <p:cNvPr id="87" name="Shape 68"/>
          <p:cNvSpPr/>
          <p:nvPr/>
        </p:nvSpPr>
        <p:spPr>
          <a:xfrm>
            <a:off x="6658204" y="309524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E141B">
                <a:alpha val="9000"/>
              </a:srgbClr>
            </a:outerShdw>
          </a:effectLst>
        </p:spPr>
      </p:sp>
      <p:pic>
        <p:nvPicPr>
          <p:cNvPr id="8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708496" y="3145536"/>
            <a:ext cx="173736" cy="173736"/>
          </a:xfrm>
          <a:prstGeom prst="rect">
            <a:avLst/>
          </a:prstGeom>
        </p:spPr>
      </p:pic>
      <p:sp>
        <p:nvSpPr>
          <p:cNvPr id="89" name="Shape 69"/>
          <p:cNvSpPr/>
          <p:nvPr/>
        </p:nvSpPr>
        <p:spPr>
          <a:xfrm>
            <a:off x="5204308" y="4558284"/>
            <a:ext cx="178308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E141B">
                <a:alpha val="9000"/>
              </a:srgbClr>
            </a:outerShdw>
          </a:effectLst>
        </p:spPr>
      </p:sp>
      <p:sp>
        <p:nvSpPr>
          <p:cNvPr id="90" name="Shape 70"/>
          <p:cNvSpPr/>
          <p:nvPr/>
        </p:nvSpPr>
        <p:spPr>
          <a:xfrm>
            <a:off x="5314036" y="4668012"/>
            <a:ext cx="310896" cy="310896"/>
          </a:xfrm>
          <a:prstGeom prst="ellipse">
            <a:avLst/>
          </a:prstGeom>
          <a:solidFill>
            <a:srgbClr val="D6DDE5"/>
          </a:solidFill>
          <a:ln/>
        </p:spPr>
      </p:sp>
      <p:sp>
        <p:nvSpPr>
          <p:cNvPr id="91" name="Text 71"/>
          <p:cNvSpPr txBox="1"/>
          <p:nvPr/>
        </p:nvSpPr>
        <p:spPr>
          <a:xfrm>
            <a:off x="5314036" y="46680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</a:t>
            </a:r>
            <a:endParaRPr lang="en-US" sz="640" dirty="0"/>
          </a:p>
        </p:txBody>
      </p:sp>
      <p:sp>
        <p:nvSpPr>
          <p:cNvPr id="92" name="Text 72"/>
          <p:cNvSpPr txBox="1"/>
          <p:nvPr/>
        </p:nvSpPr>
        <p:spPr>
          <a:xfrm>
            <a:off x="5679796" y="464972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Kumar</a:t>
            </a:r>
            <a:endParaRPr lang="en-US" sz="700" dirty="0"/>
          </a:p>
        </p:txBody>
      </p:sp>
      <p:sp>
        <p:nvSpPr>
          <p:cNvPr id="93" name="Text 73"/>
          <p:cNvSpPr txBox="1"/>
          <p:nvPr/>
        </p:nvSpPr>
        <p:spPr>
          <a:xfrm>
            <a:off x="5679796" y="481431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 12 AB 4412 · C-12</a:t>
            </a:r>
            <a:endParaRPr lang="en-US" sz="580" dirty="0"/>
          </a:p>
        </p:txBody>
      </p:sp>
      <p:sp>
        <p:nvSpPr>
          <p:cNvPr id="94" name="Shape 74"/>
          <p:cNvSpPr/>
          <p:nvPr/>
        </p:nvSpPr>
        <p:spPr>
          <a:xfrm>
            <a:off x="6585052" y="4649724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2F6F3"/>
          </a:solidFill>
          <a:ln/>
        </p:spPr>
      </p:sp>
      <p:pic>
        <p:nvPicPr>
          <p:cNvPr id="9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35344" y="4709160"/>
            <a:ext cx="192024" cy="192024"/>
          </a:xfrm>
          <a:prstGeom prst="rect">
            <a:avLst/>
          </a:prstGeom>
        </p:spPr>
      </p:pic>
      <p:sp>
        <p:nvSpPr>
          <p:cNvPr id="96" name="Shape 75"/>
          <p:cNvSpPr/>
          <p:nvPr/>
        </p:nvSpPr>
        <p:spPr>
          <a:xfrm>
            <a:off x="5295748" y="5052060"/>
            <a:ext cx="1600200" cy="5486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97" name="Shape 76"/>
          <p:cNvSpPr/>
          <p:nvPr/>
        </p:nvSpPr>
        <p:spPr>
          <a:xfrm>
            <a:off x="5442052" y="5180076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8" name="Shape 77"/>
          <p:cNvSpPr/>
          <p:nvPr/>
        </p:nvSpPr>
        <p:spPr>
          <a:xfrm>
            <a:off x="5551780" y="5221224"/>
            <a:ext cx="289560" cy="25603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9" name="Text 78"/>
          <p:cNvSpPr txBox="1"/>
          <p:nvPr/>
        </p:nvSpPr>
        <p:spPr>
          <a:xfrm>
            <a:off x="5240884" y="53263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</a:t>
            </a:r>
            <a:endParaRPr lang="en-US" sz="520" dirty="0"/>
          </a:p>
        </p:txBody>
      </p:sp>
      <p:sp>
        <p:nvSpPr>
          <p:cNvPr id="100" name="Shape 79"/>
          <p:cNvSpPr/>
          <p:nvPr/>
        </p:nvSpPr>
        <p:spPr>
          <a:xfrm>
            <a:off x="5841340" y="5180076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1" name="Shape 80"/>
          <p:cNvSpPr/>
          <p:nvPr/>
        </p:nvSpPr>
        <p:spPr>
          <a:xfrm>
            <a:off x="5951068" y="5221224"/>
            <a:ext cx="289560" cy="25603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2" name="Text 81"/>
          <p:cNvSpPr txBox="1"/>
          <p:nvPr/>
        </p:nvSpPr>
        <p:spPr>
          <a:xfrm>
            <a:off x="5640172" y="53263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assigned</a:t>
            </a:r>
            <a:endParaRPr lang="en-US" sz="520" dirty="0"/>
          </a:p>
        </p:txBody>
      </p:sp>
      <p:sp>
        <p:nvSpPr>
          <p:cNvPr id="103" name="Shape 82"/>
          <p:cNvSpPr/>
          <p:nvPr/>
        </p:nvSpPr>
        <p:spPr>
          <a:xfrm>
            <a:off x="6240628" y="5180076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4" name="Shape 83"/>
          <p:cNvSpPr/>
          <p:nvPr/>
        </p:nvSpPr>
        <p:spPr>
          <a:xfrm>
            <a:off x="6350356" y="5221224"/>
            <a:ext cx="289560" cy="25603"/>
          </a:xfrm>
          <a:prstGeom prst="rect">
            <a:avLst/>
          </a:prstGeom>
          <a:solidFill>
            <a:srgbClr val="D6DDE5"/>
          </a:solidFill>
          <a:ln/>
        </p:spPr>
      </p:sp>
      <p:sp>
        <p:nvSpPr>
          <p:cNvPr id="105" name="Text 84"/>
          <p:cNvSpPr txBox="1"/>
          <p:nvPr/>
        </p:nvSpPr>
        <p:spPr>
          <a:xfrm>
            <a:off x="6039460" y="53263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way</a:t>
            </a:r>
            <a:endParaRPr lang="en-US" sz="520" dirty="0"/>
          </a:p>
        </p:txBody>
      </p:sp>
      <p:sp>
        <p:nvSpPr>
          <p:cNvPr id="106" name="Shape 85"/>
          <p:cNvSpPr/>
          <p:nvPr/>
        </p:nvSpPr>
        <p:spPr>
          <a:xfrm>
            <a:off x="6639916" y="5180076"/>
            <a:ext cx="109728" cy="109728"/>
          </a:xfrm>
          <a:prstGeom prst="ellipse">
            <a:avLst/>
          </a:prstGeom>
          <a:solidFill>
            <a:srgbClr val="D6DDE5"/>
          </a:solidFill>
          <a:ln/>
        </p:spPr>
      </p:sp>
      <p:sp>
        <p:nvSpPr>
          <p:cNvPr id="107" name="Text 86"/>
          <p:cNvSpPr txBox="1"/>
          <p:nvPr/>
        </p:nvSpPr>
        <p:spPr>
          <a:xfrm>
            <a:off x="6438748" y="53263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your stop</a:t>
            </a:r>
            <a:endParaRPr lang="en-US" sz="520" dirty="0"/>
          </a:p>
        </p:txBody>
      </p:sp>
      <p:sp>
        <p:nvSpPr>
          <p:cNvPr id="108" name="Text 87"/>
          <p:cNvSpPr txBox="1"/>
          <p:nvPr/>
        </p:nvSpPr>
        <p:spPr>
          <a:xfrm>
            <a:off x="4356506" y="6217920"/>
            <a:ext cx="34786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Shareable link: the same view without a login.</a:t>
            </a:r>
            <a:endParaRPr lang="en-US" sz="950" dirty="0"/>
          </a:p>
        </p:txBody>
      </p:sp>
      <p:sp>
        <p:nvSpPr>
          <p:cNvPr id="109" name="Shape 88"/>
          <p:cNvSpPr/>
          <p:nvPr/>
        </p:nvSpPr>
        <p:spPr>
          <a:xfrm>
            <a:off x="8146085" y="1335024"/>
            <a:ext cx="365760" cy="365760"/>
          </a:xfrm>
          <a:prstGeom prst="ellipse">
            <a:avLst/>
          </a:prstGeom>
          <a:solidFill>
            <a:srgbClr val="0E141B"/>
          </a:solidFill>
          <a:ln/>
        </p:spPr>
      </p:sp>
      <p:sp>
        <p:nvSpPr>
          <p:cNvPr id="110" name="Text 89"/>
          <p:cNvSpPr txBox="1"/>
          <p:nvPr/>
        </p:nvSpPr>
        <p:spPr>
          <a:xfrm>
            <a:off x="8146085" y="1335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111" name="Text 90"/>
          <p:cNvSpPr txBox="1"/>
          <p:nvPr/>
        </p:nvSpPr>
        <p:spPr>
          <a:xfrm>
            <a:off x="8621573" y="1316736"/>
            <a:ext cx="30031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Boarding</a:t>
            </a:r>
            <a:endParaRPr lang="en-US" sz="1300" dirty="0"/>
          </a:p>
        </p:txBody>
      </p:sp>
      <p:sp>
        <p:nvSpPr>
          <p:cNvPr id="112" name="Text 91"/>
          <p:cNvSpPr txBox="1"/>
          <p:nvPr/>
        </p:nvSpPr>
        <p:spPr>
          <a:xfrm>
            <a:off x="8621573" y="1554480"/>
            <a:ext cx="30031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cab is here - confirm it is yours</a:t>
            </a:r>
            <a:endParaRPr lang="en-US" sz="950" dirty="0"/>
          </a:p>
        </p:txBody>
      </p:sp>
      <p:sp>
        <p:nvSpPr>
          <p:cNvPr id="113" name="Shape 92"/>
          <p:cNvSpPr/>
          <p:nvPr/>
        </p:nvSpPr>
        <p:spPr>
          <a:xfrm>
            <a:off x="8856726" y="1920240"/>
            <a:ext cx="2057400" cy="4206240"/>
          </a:xfrm>
          <a:prstGeom prst="roundRect">
            <a:avLst>
              <a:gd name="adj" fmla="val 3778"/>
            </a:avLst>
          </a:prstGeom>
          <a:solidFill>
            <a:srgbClr val="1A222C"/>
          </a:solidFill>
          <a:ln/>
          <a:effectLst>
            <a:outerShdw sx="100000" sy="100000" kx="0" ky="0" algn="bl" rotWithShape="0" blurRad="203200" dist="50800" dir="5400000">
              <a:srgbClr val="0E141B">
                <a:alpha val="24000"/>
              </a:srgbClr>
            </a:outerShdw>
          </a:effectLst>
        </p:spPr>
      </p:sp>
      <p:sp>
        <p:nvSpPr>
          <p:cNvPr id="114" name="Shape 93"/>
          <p:cNvSpPr/>
          <p:nvPr/>
        </p:nvSpPr>
        <p:spPr>
          <a:xfrm>
            <a:off x="8920734" y="1984248"/>
            <a:ext cx="1929384" cy="4078224"/>
          </a:xfrm>
          <a:prstGeom prst="roundRect">
            <a:avLst>
              <a:gd name="adj" fmla="val 3081"/>
            </a:avLst>
          </a:prstGeom>
          <a:solidFill>
            <a:srgbClr val="F6F8FA"/>
          </a:solidFill>
          <a:ln/>
        </p:spPr>
      </p:sp>
      <p:sp>
        <p:nvSpPr>
          <p:cNvPr id="115" name="Shape 94"/>
          <p:cNvSpPr/>
          <p:nvPr/>
        </p:nvSpPr>
        <p:spPr>
          <a:xfrm>
            <a:off x="9665970" y="2034540"/>
            <a:ext cx="438912" cy="91440"/>
          </a:xfrm>
          <a:prstGeom prst="roundRect">
            <a:avLst>
              <a:gd name="adj" fmla="val 50000"/>
            </a:avLst>
          </a:prstGeom>
          <a:solidFill>
            <a:srgbClr val="1A222C"/>
          </a:solidFill>
          <a:ln/>
        </p:spPr>
      </p:sp>
      <p:sp>
        <p:nvSpPr>
          <p:cNvPr id="116" name="Shape 95"/>
          <p:cNvSpPr/>
          <p:nvPr/>
        </p:nvSpPr>
        <p:spPr>
          <a:xfrm>
            <a:off x="9647682" y="5993892"/>
            <a:ext cx="475488" cy="32004"/>
          </a:xfrm>
          <a:prstGeom prst="roundRect">
            <a:avLst>
              <a:gd name="adj" fmla="val 51429"/>
            </a:avLst>
          </a:prstGeom>
          <a:solidFill>
            <a:srgbClr val="C3CBD4"/>
          </a:solidFill>
          <a:ln/>
        </p:spPr>
      </p:sp>
      <p:sp>
        <p:nvSpPr>
          <p:cNvPr id="117" name="Text 96"/>
          <p:cNvSpPr txBox="1"/>
          <p:nvPr/>
        </p:nvSpPr>
        <p:spPr>
          <a:xfrm>
            <a:off x="9039606" y="2025396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700" dirty="0"/>
          </a:p>
        </p:txBody>
      </p:sp>
      <p:pic>
        <p:nvPicPr>
          <p:cNvPr id="118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246614" y="2040941"/>
            <a:ext cx="128016" cy="128016"/>
          </a:xfrm>
          <a:prstGeom prst="rect">
            <a:avLst/>
          </a:prstGeom>
        </p:spPr>
      </p:pic>
      <p:pic>
        <p:nvPicPr>
          <p:cNvPr id="119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411206" y="2040941"/>
            <a:ext cx="128016" cy="128016"/>
          </a:xfrm>
          <a:prstGeom prst="rect">
            <a:avLst/>
          </a:prstGeom>
        </p:spPr>
      </p:pic>
      <p:pic>
        <p:nvPicPr>
          <p:cNvPr id="120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575798" y="2037283"/>
            <a:ext cx="137160" cy="137160"/>
          </a:xfrm>
          <a:prstGeom prst="rect">
            <a:avLst/>
          </a:prstGeom>
        </p:spPr>
      </p:pic>
      <p:sp>
        <p:nvSpPr>
          <p:cNvPr id="121" name="Shape 97"/>
          <p:cNvSpPr/>
          <p:nvPr/>
        </p:nvSpPr>
        <p:spPr>
          <a:xfrm>
            <a:off x="8920734" y="2199132"/>
            <a:ext cx="1929384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2" name="Shape 98"/>
          <p:cNvSpPr/>
          <p:nvPr/>
        </p:nvSpPr>
        <p:spPr>
          <a:xfrm>
            <a:off x="8920734" y="2557577"/>
            <a:ext cx="1929384" cy="7315"/>
          </a:xfrm>
          <a:prstGeom prst="rect">
            <a:avLst/>
          </a:prstGeom>
          <a:solidFill>
            <a:srgbClr val="E8EDF2"/>
          </a:solidFill>
          <a:ln/>
        </p:spPr>
      </p:sp>
      <p:pic>
        <p:nvPicPr>
          <p:cNvPr id="123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030462" y="2322576"/>
            <a:ext cx="118872" cy="118872"/>
          </a:xfrm>
          <a:prstGeom prst="rect">
            <a:avLst/>
          </a:prstGeom>
        </p:spPr>
      </p:pic>
      <p:sp>
        <p:nvSpPr>
          <p:cNvPr id="124" name="Text 99"/>
          <p:cNvSpPr txBox="1"/>
          <p:nvPr/>
        </p:nvSpPr>
        <p:spPr>
          <a:xfrm>
            <a:off x="9222486" y="2199132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cab has arrived</a:t>
            </a:r>
            <a:endParaRPr lang="en-US" sz="850" dirty="0"/>
          </a:p>
        </p:txBody>
      </p:sp>
      <p:sp>
        <p:nvSpPr>
          <p:cNvPr id="125" name="Shape 100"/>
          <p:cNvSpPr/>
          <p:nvPr/>
        </p:nvSpPr>
        <p:spPr>
          <a:xfrm>
            <a:off x="9012174" y="2674620"/>
            <a:ext cx="1746504" cy="493776"/>
          </a:xfrm>
          <a:prstGeom prst="roundRect">
            <a:avLst>
              <a:gd name="adj" fmla="val 12963"/>
            </a:avLst>
          </a:prstGeom>
          <a:solidFill>
            <a:srgbClr val="E2F6F3"/>
          </a:solidFill>
          <a:ln/>
        </p:spPr>
      </p:sp>
      <p:pic>
        <p:nvPicPr>
          <p:cNvPr id="126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121902" y="2834640"/>
            <a:ext cx="182880" cy="182880"/>
          </a:xfrm>
          <a:prstGeom prst="rect">
            <a:avLst/>
          </a:prstGeom>
        </p:spPr>
      </p:pic>
      <p:sp>
        <p:nvSpPr>
          <p:cNvPr id="127" name="Text 101"/>
          <p:cNvSpPr txBox="1"/>
          <p:nvPr/>
        </p:nvSpPr>
        <p:spPr>
          <a:xfrm>
            <a:off x="9377934" y="274777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C-12 is at Gate 2</a:t>
            </a:r>
            <a:endParaRPr lang="en-US" sz="700" dirty="0"/>
          </a:p>
        </p:txBody>
      </p:sp>
      <p:sp>
        <p:nvSpPr>
          <p:cNvPr id="128" name="Text 102"/>
          <p:cNvSpPr txBox="1"/>
          <p:nvPr/>
        </p:nvSpPr>
        <p:spPr>
          <a:xfrm>
            <a:off x="9377934" y="293065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· 5 min hold</a:t>
            </a:r>
            <a:endParaRPr lang="en-US" sz="590" dirty="0"/>
          </a:p>
        </p:txBody>
      </p:sp>
      <p:sp>
        <p:nvSpPr>
          <p:cNvPr id="129" name="Shape 103"/>
          <p:cNvSpPr/>
          <p:nvPr/>
        </p:nvSpPr>
        <p:spPr>
          <a:xfrm>
            <a:off x="9012174" y="3296412"/>
            <a:ext cx="1746504" cy="1115568"/>
          </a:xfrm>
          <a:prstGeom prst="roundRect">
            <a:avLst>
              <a:gd name="adj" fmla="val 6557"/>
            </a:avLst>
          </a:prstGeom>
          <a:solidFill>
            <a:srgbClr val="1A222C"/>
          </a:solidFill>
          <a:ln/>
        </p:spPr>
      </p:sp>
      <p:sp>
        <p:nvSpPr>
          <p:cNvPr id="130" name="Text 104"/>
          <p:cNvSpPr txBox="1"/>
          <p:nvPr/>
        </p:nvSpPr>
        <p:spPr>
          <a:xfrm>
            <a:off x="9012174" y="3406140"/>
            <a:ext cx="1746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" b="1" spc="90" kern="0" dirty="0">
                <a:solidFill>
                  <a:srgbClr val="8494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THIS TO THE DRIVER</a:t>
            </a:r>
            <a:endParaRPr lang="en-US" sz="540" dirty="0"/>
          </a:p>
        </p:txBody>
      </p:sp>
      <p:sp>
        <p:nvSpPr>
          <p:cNvPr id="131" name="Shape 105"/>
          <p:cNvSpPr/>
          <p:nvPr/>
        </p:nvSpPr>
        <p:spPr>
          <a:xfrm>
            <a:off x="9126474" y="3625596"/>
            <a:ext cx="310896" cy="420624"/>
          </a:xfrm>
          <a:prstGeom prst="roundRect">
            <a:avLst>
              <a:gd name="adj" fmla="val 17647"/>
            </a:avLst>
          </a:prstGeom>
          <a:solidFill>
            <a:srgbClr val="27364A"/>
          </a:solidFill>
          <a:ln/>
        </p:spPr>
      </p:sp>
      <p:sp>
        <p:nvSpPr>
          <p:cNvPr id="132" name="Text 106"/>
          <p:cNvSpPr txBox="1"/>
          <p:nvPr/>
        </p:nvSpPr>
        <p:spPr>
          <a:xfrm>
            <a:off x="9126474" y="3625596"/>
            <a:ext cx="310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33" name="Shape 107"/>
          <p:cNvSpPr/>
          <p:nvPr/>
        </p:nvSpPr>
        <p:spPr>
          <a:xfrm>
            <a:off x="9528810" y="3625596"/>
            <a:ext cx="310896" cy="420624"/>
          </a:xfrm>
          <a:prstGeom prst="roundRect">
            <a:avLst>
              <a:gd name="adj" fmla="val 17647"/>
            </a:avLst>
          </a:prstGeom>
          <a:solidFill>
            <a:srgbClr val="27364A"/>
          </a:solidFill>
          <a:ln/>
        </p:spPr>
      </p:sp>
      <p:sp>
        <p:nvSpPr>
          <p:cNvPr id="134" name="Text 108"/>
          <p:cNvSpPr txBox="1"/>
          <p:nvPr/>
        </p:nvSpPr>
        <p:spPr>
          <a:xfrm>
            <a:off x="9528810" y="3625596"/>
            <a:ext cx="310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00" dirty="0"/>
          </a:p>
        </p:txBody>
      </p:sp>
      <p:sp>
        <p:nvSpPr>
          <p:cNvPr id="135" name="Shape 109"/>
          <p:cNvSpPr/>
          <p:nvPr/>
        </p:nvSpPr>
        <p:spPr>
          <a:xfrm>
            <a:off x="9931146" y="3625596"/>
            <a:ext cx="310896" cy="420624"/>
          </a:xfrm>
          <a:prstGeom prst="roundRect">
            <a:avLst>
              <a:gd name="adj" fmla="val 17647"/>
            </a:avLst>
          </a:prstGeom>
          <a:solidFill>
            <a:srgbClr val="27364A"/>
          </a:solidFill>
          <a:ln/>
        </p:spPr>
      </p:sp>
      <p:sp>
        <p:nvSpPr>
          <p:cNvPr id="136" name="Text 110"/>
          <p:cNvSpPr txBox="1"/>
          <p:nvPr/>
        </p:nvSpPr>
        <p:spPr>
          <a:xfrm>
            <a:off x="9931146" y="3625596"/>
            <a:ext cx="310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7" name="Shape 111"/>
          <p:cNvSpPr/>
          <p:nvPr/>
        </p:nvSpPr>
        <p:spPr>
          <a:xfrm>
            <a:off x="10333482" y="3625596"/>
            <a:ext cx="310896" cy="420624"/>
          </a:xfrm>
          <a:prstGeom prst="roundRect">
            <a:avLst>
              <a:gd name="adj" fmla="val 17647"/>
            </a:avLst>
          </a:prstGeom>
          <a:solidFill>
            <a:srgbClr val="27364A"/>
          </a:solidFill>
          <a:ln/>
        </p:spPr>
      </p:sp>
      <p:sp>
        <p:nvSpPr>
          <p:cNvPr id="138" name="Text 112"/>
          <p:cNvSpPr txBox="1"/>
          <p:nvPr/>
        </p:nvSpPr>
        <p:spPr>
          <a:xfrm>
            <a:off x="10333482" y="3625596"/>
            <a:ext cx="310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139" name="Text 113"/>
          <p:cNvSpPr txBox="1"/>
          <p:nvPr/>
        </p:nvSpPr>
        <p:spPr>
          <a:xfrm>
            <a:off x="9012174" y="4119372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849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driver types this to start the trip</a:t>
            </a:r>
            <a:endParaRPr lang="en-US" sz="580" dirty="0"/>
          </a:p>
        </p:txBody>
      </p:sp>
      <p:sp>
        <p:nvSpPr>
          <p:cNvPr id="140" name="Shape 114"/>
          <p:cNvSpPr/>
          <p:nvPr/>
        </p:nvSpPr>
        <p:spPr>
          <a:xfrm>
            <a:off x="9012174" y="4539996"/>
            <a:ext cx="1746504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1" name="Shape 115"/>
          <p:cNvSpPr/>
          <p:nvPr/>
        </p:nvSpPr>
        <p:spPr>
          <a:xfrm>
            <a:off x="9094470" y="4663440"/>
            <a:ext cx="210312" cy="210312"/>
          </a:xfrm>
          <a:prstGeom prst="roundRect">
            <a:avLst>
              <a:gd name="adj" fmla="val 50000"/>
            </a:avLst>
          </a:prstGeom>
          <a:solidFill>
            <a:srgbClr val="F0F3F7"/>
          </a:solidFill>
          <a:ln/>
        </p:spPr>
      </p:sp>
      <p:pic>
        <p:nvPicPr>
          <p:cNvPr id="142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135618" y="4709160"/>
            <a:ext cx="118872" cy="118872"/>
          </a:xfrm>
          <a:prstGeom prst="rect">
            <a:avLst/>
          </a:prstGeom>
        </p:spPr>
      </p:pic>
      <p:sp>
        <p:nvSpPr>
          <p:cNvPr id="143" name="Text 116"/>
          <p:cNvSpPr txBox="1"/>
          <p:nvPr/>
        </p:nvSpPr>
        <p:spPr>
          <a:xfrm>
            <a:off x="9368790" y="4604004"/>
            <a:ext cx="13350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riders on this pick-up</a:t>
            </a:r>
            <a:endParaRPr lang="en-US" sz="720" dirty="0"/>
          </a:p>
        </p:txBody>
      </p:sp>
      <p:sp>
        <p:nvSpPr>
          <p:cNvPr id="144" name="Text 117"/>
          <p:cNvSpPr txBox="1"/>
          <p:nvPr/>
        </p:nvSpPr>
        <p:spPr>
          <a:xfrm>
            <a:off x="9368790" y="4759452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4 held free by policy</a:t>
            </a:r>
            <a:endParaRPr lang="en-US" sz="620" dirty="0"/>
          </a:p>
        </p:txBody>
      </p:sp>
      <p:sp>
        <p:nvSpPr>
          <p:cNvPr id="145" name="Shape 118"/>
          <p:cNvSpPr/>
          <p:nvPr/>
        </p:nvSpPr>
        <p:spPr>
          <a:xfrm>
            <a:off x="9012174" y="5088636"/>
            <a:ext cx="174650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6" name="Text 119"/>
          <p:cNvSpPr txBox="1"/>
          <p:nvPr/>
        </p:nvSpPr>
        <p:spPr>
          <a:xfrm>
            <a:off x="9012174" y="5088636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cannot find the cab</a:t>
            </a:r>
            <a:endParaRPr lang="en-US" sz="750" dirty="0"/>
          </a:p>
        </p:txBody>
      </p:sp>
      <p:sp>
        <p:nvSpPr>
          <p:cNvPr id="147" name="Text 120"/>
          <p:cNvSpPr txBox="1"/>
          <p:nvPr/>
        </p:nvSpPr>
        <p:spPr>
          <a:xfrm>
            <a:off x="8146085" y="6217920"/>
            <a:ext cx="34786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proves the right rider is in the right cab.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ECO TECH  ·  Plant Ride for LHS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6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 JOURNEY  ·  STEPS 7-8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58368"/>
            <a:ext cx="110578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40" kern="0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cab, at the drop, and afterwards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365760" cy="365760"/>
          </a:xfrm>
          <a:prstGeom prst="ellipse">
            <a:avLst/>
          </a:prstGeom>
          <a:solidFill>
            <a:srgbClr val="0E141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1335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42416" y="1316736"/>
            <a:ext cx="30031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trip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42416" y="1554480"/>
            <a:ext cx="30031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Progress, co-riders and a way out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77569" y="1920240"/>
            <a:ext cx="2057400" cy="4206240"/>
          </a:xfrm>
          <a:prstGeom prst="roundRect">
            <a:avLst>
              <a:gd name="adj" fmla="val 3778"/>
            </a:avLst>
          </a:prstGeom>
          <a:solidFill>
            <a:srgbClr val="1A222C"/>
          </a:solidFill>
          <a:ln/>
          <a:effectLst>
            <a:outerShdw sx="100000" sy="100000" kx="0" ky="0" algn="bl" rotWithShape="0" blurRad="203200" dist="50800" dir="5400000">
              <a:srgbClr val="0E141B">
                <a:alpha val="2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341577" y="1984248"/>
            <a:ext cx="1929384" cy="4078224"/>
          </a:xfrm>
          <a:prstGeom prst="roundRect">
            <a:avLst>
              <a:gd name="adj" fmla="val 3081"/>
            </a:avLst>
          </a:prstGeom>
          <a:solidFill>
            <a:srgbClr val="F6F8FA"/>
          </a:solidFill>
          <a:ln/>
        </p:spPr>
      </p:sp>
      <p:sp>
        <p:nvSpPr>
          <p:cNvPr id="12" name="Shape 10"/>
          <p:cNvSpPr/>
          <p:nvPr/>
        </p:nvSpPr>
        <p:spPr>
          <a:xfrm>
            <a:off x="2086813" y="2034540"/>
            <a:ext cx="438912" cy="91440"/>
          </a:xfrm>
          <a:prstGeom prst="roundRect">
            <a:avLst>
              <a:gd name="adj" fmla="val 50000"/>
            </a:avLst>
          </a:prstGeom>
          <a:solidFill>
            <a:srgbClr val="1A222C"/>
          </a:solidFill>
          <a:ln/>
        </p:spPr>
      </p:sp>
      <p:sp>
        <p:nvSpPr>
          <p:cNvPr id="13" name="Shape 11"/>
          <p:cNvSpPr/>
          <p:nvPr/>
        </p:nvSpPr>
        <p:spPr>
          <a:xfrm>
            <a:off x="2068525" y="5993892"/>
            <a:ext cx="475488" cy="32004"/>
          </a:xfrm>
          <a:prstGeom prst="roundRect">
            <a:avLst>
              <a:gd name="adj" fmla="val 51429"/>
            </a:avLst>
          </a:prstGeom>
          <a:solidFill>
            <a:srgbClr val="C3CBD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460449" y="2025396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7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457" y="2040941"/>
            <a:ext cx="128016" cy="128016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049" y="2040941"/>
            <a:ext cx="128016" cy="128016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6641" y="2037283"/>
            <a:ext cx="137160" cy="13716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1341577" y="2199132"/>
            <a:ext cx="1929384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4"/>
          <p:cNvSpPr/>
          <p:nvPr/>
        </p:nvSpPr>
        <p:spPr>
          <a:xfrm>
            <a:off x="1341577" y="2557577"/>
            <a:ext cx="1929384" cy="7315"/>
          </a:xfrm>
          <a:prstGeom prst="rect">
            <a:avLst/>
          </a:prstGeom>
          <a:solidFill>
            <a:srgbClr val="E8EDF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1305" y="2322576"/>
            <a:ext cx="118872" cy="11887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43329" y="2199132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 in progress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1341577" y="2564892"/>
            <a:ext cx="1929384" cy="1188720"/>
          </a:xfrm>
          <a:prstGeom prst="rect">
            <a:avLst/>
          </a:prstGeom>
          <a:solidFill>
            <a:srgbClr val="EDF1F5"/>
          </a:solidFill>
          <a:ln/>
        </p:spPr>
      </p:sp>
      <p:sp>
        <p:nvSpPr>
          <p:cNvPr id="23" name="Shape 17"/>
          <p:cNvSpPr/>
          <p:nvPr/>
        </p:nvSpPr>
        <p:spPr>
          <a:xfrm>
            <a:off x="1457340" y="2683764"/>
            <a:ext cx="501640" cy="237744"/>
          </a:xfrm>
          <a:prstGeom prst="rect">
            <a:avLst/>
          </a:prstGeom>
          <a:solidFill>
            <a:srgbClr val="E1E7EE"/>
          </a:solidFill>
          <a:ln/>
        </p:spPr>
      </p:sp>
      <p:sp>
        <p:nvSpPr>
          <p:cNvPr id="24" name="Shape 18"/>
          <p:cNvSpPr/>
          <p:nvPr/>
        </p:nvSpPr>
        <p:spPr>
          <a:xfrm>
            <a:off x="2113331" y="2636215"/>
            <a:ext cx="578815" cy="190195"/>
          </a:xfrm>
          <a:prstGeom prst="rect">
            <a:avLst/>
          </a:prstGeom>
          <a:solidFill>
            <a:srgbClr val="E1E7EE"/>
          </a:solidFill>
          <a:ln/>
        </p:spPr>
      </p:sp>
      <p:sp>
        <p:nvSpPr>
          <p:cNvPr id="25" name="Shape 19"/>
          <p:cNvSpPr/>
          <p:nvPr/>
        </p:nvSpPr>
        <p:spPr>
          <a:xfrm>
            <a:off x="2807909" y="2731313"/>
            <a:ext cx="385877" cy="261518"/>
          </a:xfrm>
          <a:prstGeom prst="rect">
            <a:avLst/>
          </a:prstGeom>
          <a:solidFill>
            <a:srgbClr val="E1E7EE"/>
          </a:solidFill>
          <a:ln/>
        </p:spPr>
      </p:sp>
      <p:sp>
        <p:nvSpPr>
          <p:cNvPr id="26" name="Shape 20"/>
          <p:cNvSpPr/>
          <p:nvPr/>
        </p:nvSpPr>
        <p:spPr>
          <a:xfrm>
            <a:off x="1495928" y="3254350"/>
            <a:ext cx="463052" cy="285293"/>
          </a:xfrm>
          <a:prstGeom prst="rect">
            <a:avLst/>
          </a:prstGeom>
          <a:solidFill>
            <a:srgbClr val="E1E7EE"/>
          </a:solidFill>
          <a:ln/>
        </p:spPr>
      </p:sp>
      <p:sp>
        <p:nvSpPr>
          <p:cNvPr id="27" name="Shape 21"/>
          <p:cNvSpPr/>
          <p:nvPr/>
        </p:nvSpPr>
        <p:spPr>
          <a:xfrm>
            <a:off x="2190506" y="3301898"/>
            <a:ext cx="424464" cy="237744"/>
          </a:xfrm>
          <a:prstGeom prst="rect">
            <a:avLst/>
          </a:prstGeom>
          <a:solidFill>
            <a:srgbClr val="E1E7EE"/>
          </a:solidFill>
          <a:ln/>
        </p:spPr>
      </p:sp>
      <p:sp>
        <p:nvSpPr>
          <p:cNvPr id="28" name="Shape 22"/>
          <p:cNvSpPr/>
          <p:nvPr/>
        </p:nvSpPr>
        <p:spPr>
          <a:xfrm>
            <a:off x="2730734" y="3230575"/>
            <a:ext cx="463052" cy="309067"/>
          </a:xfrm>
          <a:prstGeom prst="rect">
            <a:avLst/>
          </a:prstGeom>
          <a:solidFill>
            <a:srgbClr val="E1E7EE"/>
          </a:solidFill>
          <a:ln/>
        </p:spPr>
      </p:sp>
      <p:sp>
        <p:nvSpPr>
          <p:cNvPr id="29" name="Shape 23"/>
          <p:cNvSpPr/>
          <p:nvPr/>
        </p:nvSpPr>
        <p:spPr>
          <a:xfrm>
            <a:off x="1997568" y="2969057"/>
            <a:ext cx="270114" cy="166421"/>
          </a:xfrm>
          <a:prstGeom prst="rect">
            <a:avLst/>
          </a:prstGeom>
          <a:solidFill>
            <a:srgbClr val="E1E7EE"/>
          </a:solidFill>
          <a:ln/>
        </p:spPr>
      </p:sp>
      <p:sp>
        <p:nvSpPr>
          <p:cNvPr id="30" name="Shape 24"/>
          <p:cNvSpPr/>
          <p:nvPr/>
        </p:nvSpPr>
        <p:spPr>
          <a:xfrm>
            <a:off x="1341577" y="3064154"/>
            <a:ext cx="1929384" cy="416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5"/>
          <p:cNvSpPr/>
          <p:nvPr/>
        </p:nvSpPr>
        <p:spPr>
          <a:xfrm>
            <a:off x="2036155" y="2564892"/>
            <a:ext cx="41605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26"/>
          <p:cNvSpPr/>
          <p:nvPr/>
        </p:nvSpPr>
        <p:spPr>
          <a:xfrm>
            <a:off x="2692146" y="2564892"/>
            <a:ext cx="41605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27"/>
          <p:cNvSpPr/>
          <p:nvPr/>
        </p:nvSpPr>
        <p:spPr>
          <a:xfrm>
            <a:off x="1341577" y="3587191"/>
            <a:ext cx="1929384" cy="416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28"/>
          <p:cNvSpPr/>
          <p:nvPr/>
        </p:nvSpPr>
        <p:spPr>
          <a:xfrm>
            <a:off x="1573103" y="3064154"/>
            <a:ext cx="1119043" cy="35662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5" name="Shape 29"/>
          <p:cNvSpPr/>
          <p:nvPr/>
        </p:nvSpPr>
        <p:spPr>
          <a:xfrm>
            <a:off x="2692146" y="2778862"/>
            <a:ext cx="35662" cy="291236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6" name="Shape 30"/>
          <p:cNvSpPr/>
          <p:nvPr/>
        </p:nvSpPr>
        <p:spPr>
          <a:xfrm>
            <a:off x="1534516" y="3027578"/>
            <a:ext cx="105156" cy="105156"/>
          </a:xfrm>
          <a:prstGeom prst="ellipse">
            <a:avLst/>
          </a:prstGeom>
          <a:solidFill>
            <a:srgbClr val="00A896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2663205" y="2737256"/>
            <a:ext cx="105156" cy="1051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2422032" y="2972714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E85D04"/>
          </a:solidFill>
          <a:ln/>
          <a:effectLst>
            <a:outerShdw sx="100000" sy="100000" kx="0" ky="0" algn="bl" rotWithShape="0" blurRad="101600" dist="12700" dir="5400000">
              <a:srgbClr val="0E141B">
                <a:alpha val="9000"/>
              </a:srgbClr>
            </a:outerShdw>
          </a:effectLst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1468" y="3023006"/>
            <a:ext cx="155448" cy="155448"/>
          </a:xfrm>
          <a:prstGeom prst="rect">
            <a:avLst/>
          </a:prstGeom>
        </p:spPr>
      </p:pic>
      <p:sp>
        <p:nvSpPr>
          <p:cNvPr id="40" name="Shape 33"/>
          <p:cNvSpPr/>
          <p:nvPr/>
        </p:nvSpPr>
        <p:spPr>
          <a:xfrm>
            <a:off x="1469593" y="2674620"/>
            <a:ext cx="1225296" cy="292608"/>
          </a:xfrm>
          <a:prstGeom prst="roundRect">
            <a:avLst>
              <a:gd name="adj" fmla="val 50000"/>
            </a:avLst>
          </a:prstGeom>
          <a:solidFill>
            <a:srgbClr val="1A222C"/>
          </a:solidFill>
          <a:ln/>
        </p:spPr>
      </p:sp>
      <p:sp>
        <p:nvSpPr>
          <p:cNvPr id="41" name="Text 34"/>
          <p:cNvSpPr txBox="1"/>
          <p:nvPr/>
        </p:nvSpPr>
        <p:spPr>
          <a:xfrm>
            <a:off x="1469593" y="2674620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7 min · 2.4 km</a:t>
            </a:r>
            <a:endParaRPr lang="en-US" sz="600" dirty="0"/>
          </a:p>
        </p:txBody>
      </p:sp>
      <p:sp>
        <p:nvSpPr>
          <p:cNvPr id="42" name="Text 35"/>
          <p:cNvSpPr txBox="1"/>
          <p:nvPr/>
        </p:nvSpPr>
        <p:spPr>
          <a:xfrm>
            <a:off x="1451305" y="38267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80" kern="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STOPS ON THIS RUN</a:t>
            </a:r>
            <a:endParaRPr lang="en-US" sz="550" dirty="0"/>
          </a:p>
        </p:txBody>
      </p:sp>
      <p:sp>
        <p:nvSpPr>
          <p:cNvPr id="43" name="Shape 36"/>
          <p:cNvSpPr/>
          <p:nvPr/>
        </p:nvSpPr>
        <p:spPr>
          <a:xfrm>
            <a:off x="1506169" y="4073652"/>
            <a:ext cx="118872" cy="1188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4" name="Shape 37"/>
          <p:cNvSpPr/>
          <p:nvPr/>
        </p:nvSpPr>
        <p:spPr>
          <a:xfrm>
            <a:off x="1559204" y="4192524"/>
            <a:ext cx="12802" cy="210312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45" name="Text 38"/>
          <p:cNvSpPr txBox="1"/>
          <p:nvPr/>
        </p:nvSpPr>
        <p:spPr>
          <a:xfrm>
            <a:off x="1725625" y="400050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</a:t>
            </a:r>
            <a:endParaRPr lang="en-US" sz="680" dirty="0"/>
          </a:p>
        </p:txBody>
      </p:sp>
      <p:sp>
        <p:nvSpPr>
          <p:cNvPr id="46" name="Text 39"/>
          <p:cNvSpPr txBox="1"/>
          <p:nvPr/>
        </p:nvSpPr>
        <p:spPr>
          <a:xfrm>
            <a:off x="2557729" y="4000500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boarded</a:t>
            </a:r>
            <a:endParaRPr lang="en-US" sz="580" dirty="0"/>
          </a:p>
        </p:txBody>
      </p:sp>
      <p:sp>
        <p:nvSpPr>
          <p:cNvPr id="47" name="Shape 40"/>
          <p:cNvSpPr/>
          <p:nvPr/>
        </p:nvSpPr>
        <p:spPr>
          <a:xfrm>
            <a:off x="1506169" y="4402836"/>
            <a:ext cx="118872" cy="118872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48" name="Shape 41"/>
          <p:cNvSpPr/>
          <p:nvPr/>
        </p:nvSpPr>
        <p:spPr>
          <a:xfrm>
            <a:off x="1559204" y="4521708"/>
            <a:ext cx="12802" cy="210312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49" name="Text 42"/>
          <p:cNvSpPr txBox="1"/>
          <p:nvPr/>
        </p:nvSpPr>
        <p:spPr>
          <a:xfrm>
            <a:off x="1725625" y="432968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Coke Plant</a:t>
            </a:r>
            <a:endParaRPr lang="en-US" sz="680" dirty="0"/>
          </a:p>
        </p:txBody>
      </p:sp>
      <p:sp>
        <p:nvSpPr>
          <p:cNvPr id="50" name="Text 43"/>
          <p:cNvSpPr txBox="1"/>
          <p:nvPr/>
        </p:nvSpPr>
        <p:spPr>
          <a:xfrm>
            <a:off x="2557729" y="4329684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stop</a:t>
            </a:r>
            <a:endParaRPr lang="en-US" sz="580" dirty="0"/>
          </a:p>
        </p:txBody>
      </p:sp>
      <p:sp>
        <p:nvSpPr>
          <p:cNvPr id="51" name="Shape 44"/>
          <p:cNvSpPr/>
          <p:nvPr/>
        </p:nvSpPr>
        <p:spPr>
          <a:xfrm>
            <a:off x="1506169" y="4732020"/>
            <a:ext cx="118872" cy="118872"/>
          </a:xfrm>
          <a:prstGeom prst="ellipse">
            <a:avLst/>
          </a:prstGeom>
          <a:solidFill>
            <a:srgbClr val="9AA6B2"/>
          </a:solidFill>
          <a:ln/>
        </p:spPr>
      </p:sp>
      <p:sp>
        <p:nvSpPr>
          <p:cNvPr id="52" name="Text 45"/>
          <p:cNvSpPr txBox="1"/>
          <p:nvPr/>
        </p:nvSpPr>
        <p:spPr>
          <a:xfrm>
            <a:off x="1725625" y="465886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Furnace</a:t>
            </a:r>
            <a:endParaRPr lang="en-US" sz="680" dirty="0"/>
          </a:p>
        </p:txBody>
      </p:sp>
      <p:sp>
        <p:nvSpPr>
          <p:cNvPr id="53" name="Text 46"/>
          <p:cNvSpPr txBox="1"/>
          <p:nvPr/>
        </p:nvSpPr>
        <p:spPr>
          <a:xfrm>
            <a:off x="2557729" y="4658868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drop</a:t>
            </a:r>
            <a:endParaRPr lang="en-US" sz="580" dirty="0"/>
          </a:p>
        </p:txBody>
      </p:sp>
      <p:sp>
        <p:nvSpPr>
          <p:cNvPr id="54" name="Shape 47"/>
          <p:cNvSpPr/>
          <p:nvPr/>
        </p:nvSpPr>
        <p:spPr>
          <a:xfrm>
            <a:off x="1433017" y="5033772"/>
            <a:ext cx="1746504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55" name="Shape 48"/>
          <p:cNvSpPr/>
          <p:nvPr/>
        </p:nvSpPr>
        <p:spPr>
          <a:xfrm>
            <a:off x="1515313" y="5129784"/>
            <a:ext cx="210312" cy="210312"/>
          </a:xfrm>
          <a:prstGeom prst="roundRect">
            <a:avLst>
              <a:gd name="adj" fmla="val 50000"/>
            </a:avLst>
          </a:prstGeom>
          <a:solidFill>
            <a:srgbClr val="F0F3F7"/>
          </a:solidFill>
          <a:ln/>
        </p:spPr>
      </p:sp>
      <p:pic>
        <p:nvPicPr>
          <p:cNvPr id="5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6461" y="5175504"/>
            <a:ext cx="118872" cy="118872"/>
          </a:xfrm>
          <a:prstGeom prst="rect">
            <a:avLst/>
          </a:prstGeom>
        </p:spPr>
      </p:pic>
      <p:sp>
        <p:nvSpPr>
          <p:cNvPr id="57" name="Text 49"/>
          <p:cNvSpPr txBox="1"/>
          <p:nvPr/>
        </p:nvSpPr>
        <p:spPr>
          <a:xfrm>
            <a:off x="1789633" y="5097780"/>
            <a:ext cx="13350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with 2 colleagues</a:t>
            </a:r>
            <a:endParaRPr lang="en-US" sz="720" dirty="0"/>
          </a:p>
        </p:txBody>
      </p:sp>
      <p:sp>
        <p:nvSpPr>
          <p:cNvPr id="58" name="Text 50"/>
          <p:cNvSpPr txBox="1"/>
          <p:nvPr/>
        </p:nvSpPr>
        <p:spPr>
          <a:xfrm>
            <a:off x="1789633" y="5253228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4 held free</a:t>
            </a:r>
            <a:endParaRPr lang="en-US" sz="620" dirty="0"/>
          </a:p>
        </p:txBody>
      </p:sp>
      <p:sp>
        <p:nvSpPr>
          <p:cNvPr id="59" name="Shape 51"/>
          <p:cNvSpPr/>
          <p:nvPr/>
        </p:nvSpPr>
        <p:spPr>
          <a:xfrm>
            <a:off x="1433017" y="5527548"/>
            <a:ext cx="93040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0" name="Text 52"/>
          <p:cNvSpPr txBox="1"/>
          <p:nvPr/>
        </p:nvSpPr>
        <p:spPr>
          <a:xfrm>
            <a:off x="1433017" y="5527548"/>
            <a:ext cx="9304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trip</a:t>
            </a:r>
            <a:endParaRPr lang="en-US" sz="750" dirty="0"/>
          </a:p>
        </p:txBody>
      </p:sp>
      <p:sp>
        <p:nvSpPr>
          <p:cNvPr id="61" name="Shape 53"/>
          <p:cNvSpPr/>
          <p:nvPr/>
        </p:nvSpPr>
        <p:spPr>
          <a:xfrm>
            <a:off x="2414168" y="5527548"/>
            <a:ext cx="710489" cy="310896"/>
          </a:xfrm>
          <a:prstGeom prst="roundRect">
            <a:avLst>
              <a:gd name="adj" fmla="val 17647"/>
            </a:avLst>
          </a:prstGeom>
          <a:solidFill>
            <a:srgbClr val="C02617"/>
          </a:solidFill>
          <a:ln/>
        </p:spPr>
      </p:sp>
      <p:sp>
        <p:nvSpPr>
          <p:cNvPr id="62" name="Text 54"/>
          <p:cNvSpPr txBox="1"/>
          <p:nvPr/>
        </p:nvSpPr>
        <p:spPr>
          <a:xfrm>
            <a:off x="2414168" y="5527548"/>
            <a:ext cx="7104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</a:t>
            </a:r>
            <a:endParaRPr lang="en-US" sz="750" dirty="0"/>
          </a:p>
        </p:txBody>
      </p:sp>
      <p:sp>
        <p:nvSpPr>
          <p:cNvPr id="63" name="Text 55"/>
          <p:cNvSpPr txBox="1"/>
          <p:nvPr/>
        </p:nvSpPr>
        <p:spPr>
          <a:xfrm>
            <a:off x="566928" y="6217920"/>
            <a:ext cx="34786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reaches the desk and security with live location.</a:t>
            </a:r>
            <a:endParaRPr lang="en-US" sz="950" dirty="0"/>
          </a:p>
        </p:txBody>
      </p:sp>
      <p:sp>
        <p:nvSpPr>
          <p:cNvPr id="64" name="Shape 56"/>
          <p:cNvSpPr/>
          <p:nvPr/>
        </p:nvSpPr>
        <p:spPr>
          <a:xfrm>
            <a:off x="4356506" y="1335024"/>
            <a:ext cx="365760" cy="365760"/>
          </a:xfrm>
          <a:prstGeom prst="ellipse">
            <a:avLst/>
          </a:prstGeom>
          <a:solidFill>
            <a:srgbClr val="0E141B"/>
          </a:solidFill>
          <a:ln/>
        </p:spPr>
      </p:sp>
      <p:sp>
        <p:nvSpPr>
          <p:cNvPr id="65" name="Text 57"/>
          <p:cNvSpPr txBox="1"/>
          <p:nvPr/>
        </p:nvSpPr>
        <p:spPr>
          <a:xfrm>
            <a:off x="4356506" y="1335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66" name="Text 58"/>
          <p:cNvSpPr txBox="1"/>
          <p:nvPr/>
        </p:nvSpPr>
        <p:spPr>
          <a:xfrm>
            <a:off x="4831994" y="1316736"/>
            <a:ext cx="30031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 closed</a:t>
            </a:r>
            <a:endParaRPr lang="en-US" sz="1300" dirty="0"/>
          </a:p>
        </p:txBody>
      </p:sp>
      <p:sp>
        <p:nvSpPr>
          <p:cNvPr id="67" name="Text 59"/>
          <p:cNvSpPr txBox="1"/>
          <p:nvPr/>
        </p:nvSpPr>
        <p:spPr>
          <a:xfrm>
            <a:off x="4831994" y="1554480"/>
            <a:ext cx="30031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ends it; the rating takes a second</a:t>
            </a:r>
            <a:endParaRPr lang="en-US" sz="950" dirty="0"/>
          </a:p>
        </p:txBody>
      </p:sp>
      <p:sp>
        <p:nvSpPr>
          <p:cNvPr id="68" name="Shape 60"/>
          <p:cNvSpPr/>
          <p:nvPr/>
        </p:nvSpPr>
        <p:spPr>
          <a:xfrm>
            <a:off x="5067148" y="1920240"/>
            <a:ext cx="2057400" cy="4206240"/>
          </a:xfrm>
          <a:prstGeom prst="roundRect">
            <a:avLst>
              <a:gd name="adj" fmla="val 3778"/>
            </a:avLst>
          </a:prstGeom>
          <a:solidFill>
            <a:srgbClr val="1A222C"/>
          </a:solidFill>
          <a:ln/>
          <a:effectLst>
            <a:outerShdw sx="100000" sy="100000" kx="0" ky="0" algn="bl" rotWithShape="0" blurRad="203200" dist="50800" dir="5400000">
              <a:srgbClr val="0E141B">
                <a:alpha val="24000"/>
              </a:srgbClr>
            </a:outerShdw>
          </a:effectLst>
        </p:spPr>
      </p:sp>
      <p:sp>
        <p:nvSpPr>
          <p:cNvPr id="69" name="Shape 61"/>
          <p:cNvSpPr/>
          <p:nvPr/>
        </p:nvSpPr>
        <p:spPr>
          <a:xfrm>
            <a:off x="5131156" y="1984248"/>
            <a:ext cx="1929384" cy="4078224"/>
          </a:xfrm>
          <a:prstGeom prst="roundRect">
            <a:avLst>
              <a:gd name="adj" fmla="val 3081"/>
            </a:avLst>
          </a:prstGeom>
          <a:solidFill>
            <a:srgbClr val="F6F8FA"/>
          </a:solidFill>
          <a:ln/>
        </p:spPr>
      </p:sp>
      <p:sp>
        <p:nvSpPr>
          <p:cNvPr id="70" name="Shape 62"/>
          <p:cNvSpPr/>
          <p:nvPr/>
        </p:nvSpPr>
        <p:spPr>
          <a:xfrm>
            <a:off x="5876392" y="2034540"/>
            <a:ext cx="438912" cy="91440"/>
          </a:xfrm>
          <a:prstGeom prst="roundRect">
            <a:avLst>
              <a:gd name="adj" fmla="val 50000"/>
            </a:avLst>
          </a:prstGeom>
          <a:solidFill>
            <a:srgbClr val="1A222C"/>
          </a:solidFill>
          <a:ln/>
        </p:spPr>
      </p:sp>
      <p:sp>
        <p:nvSpPr>
          <p:cNvPr id="71" name="Shape 63"/>
          <p:cNvSpPr/>
          <p:nvPr/>
        </p:nvSpPr>
        <p:spPr>
          <a:xfrm>
            <a:off x="5858104" y="5993892"/>
            <a:ext cx="475488" cy="32004"/>
          </a:xfrm>
          <a:prstGeom prst="roundRect">
            <a:avLst>
              <a:gd name="adj" fmla="val 51429"/>
            </a:avLst>
          </a:prstGeom>
          <a:solidFill>
            <a:srgbClr val="C3CBD4"/>
          </a:solidFill>
          <a:ln/>
        </p:spPr>
      </p:sp>
      <p:sp>
        <p:nvSpPr>
          <p:cNvPr id="72" name="Text 64"/>
          <p:cNvSpPr txBox="1"/>
          <p:nvPr/>
        </p:nvSpPr>
        <p:spPr>
          <a:xfrm>
            <a:off x="5250028" y="2025396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700" dirty="0"/>
          </a:p>
        </p:txBody>
      </p:sp>
      <p:pic>
        <p:nvPicPr>
          <p:cNvPr id="7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7036" y="2040941"/>
            <a:ext cx="128016" cy="128016"/>
          </a:xfrm>
          <a:prstGeom prst="rect">
            <a:avLst/>
          </a:prstGeom>
        </p:spPr>
      </p:pic>
      <p:pic>
        <p:nvPicPr>
          <p:cNvPr id="7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1628" y="2040941"/>
            <a:ext cx="128016" cy="128016"/>
          </a:xfrm>
          <a:prstGeom prst="rect">
            <a:avLst/>
          </a:prstGeom>
        </p:spPr>
      </p:pic>
      <p:pic>
        <p:nvPicPr>
          <p:cNvPr id="7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6220" y="2037283"/>
            <a:ext cx="137160" cy="137160"/>
          </a:xfrm>
          <a:prstGeom prst="rect">
            <a:avLst/>
          </a:prstGeom>
        </p:spPr>
      </p:pic>
      <p:sp>
        <p:nvSpPr>
          <p:cNvPr id="76" name="Shape 65"/>
          <p:cNvSpPr/>
          <p:nvPr/>
        </p:nvSpPr>
        <p:spPr>
          <a:xfrm>
            <a:off x="5131156" y="2199132"/>
            <a:ext cx="1929384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7" name="Shape 66"/>
          <p:cNvSpPr/>
          <p:nvPr/>
        </p:nvSpPr>
        <p:spPr>
          <a:xfrm>
            <a:off x="5131156" y="2557577"/>
            <a:ext cx="1929384" cy="7315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78" name="Text 67"/>
          <p:cNvSpPr txBox="1"/>
          <p:nvPr/>
        </p:nvSpPr>
        <p:spPr>
          <a:xfrm>
            <a:off x="5240884" y="2199132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 complete</a:t>
            </a:r>
            <a:endParaRPr lang="en-US" sz="850" dirty="0"/>
          </a:p>
        </p:txBody>
      </p:sp>
      <p:sp>
        <p:nvSpPr>
          <p:cNvPr id="79" name="Shape 68"/>
          <p:cNvSpPr/>
          <p:nvPr/>
        </p:nvSpPr>
        <p:spPr>
          <a:xfrm>
            <a:off x="5222596" y="2674620"/>
            <a:ext cx="1746504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0" name="Text 69"/>
          <p:cNvSpPr txBox="1"/>
          <p:nvPr/>
        </p:nvSpPr>
        <p:spPr>
          <a:xfrm>
            <a:off x="5314036" y="274777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  to  Blast Furnace</a:t>
            </a:r>
            <a:endParaRPr lang="en-US" sz="700" dirty="0"/>
          </a:p>
        </p:txBody>
      </p:sp>
      <p:sp>
        <p:nvSpPr>
          <p:cNvPr id="81" name="Text 70"/>
          <p:cNvSpPr txBox="1"/>
          <p:nvPr/>
        </p:nvSpPr>
        <p:spPr>
          <a:xfrm>
            <a:off x="5314036" y="293065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14:05 - 14:23  ·  3.4 km  ·  Shared</a:t>
            </a:r>
            <a:endParaRPr lang="en-US" sz="590" dirty="0"/>
          </a:p>
        </p:txBody>
      </p:sp>
      <p:sp>
        <p:nvSpPr>
          <p:cNvPr id="82" name="Shape 71"/>
          <p:cNvSpPr/>
          <p:nvPr/>
        </p:nvSpPr>
        <p:spPr>
          <a:xfrm>
            <a:off x="5314036" y="3131820"/>
            <a:ext cx="1563624" cy="5486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83" name="Text 72"/>
          <p:cNvSpPr txBox="1"/>
          <p:nvPr/>
        </p:nvSpPr>
        <p:spPr>
          <a:xfrm>
            <a:off x="5314036" y="31775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Charged to</a:t>
            </a:r>
            <a:endParaRPr lang="en-US" sz="600" dirty="0"/>
          </a:p>
        </p:txBody>
      </p:sp>
      <p:sp>
        <p:nvSpPr>
          <p:cNvPr id="84" name="Text 73"/>
          <p:cNvSpPr txBox="1"/>
          <p:nvPr/>
        </p:nvSpPr>
        <p:spPr>
          <a:xfrm>
            <a:off x="6091276" y="31775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CC-4471 Ops</a:t>
            </a:r>
            <a:endParaRPr lang="en-US" sz="640" dirty="0"/>
          </a:p>
        </p:txBody>
      </p:sp>
      <p:sp>
        <p:nvSpPr>
          <p:cNvPr id="85" name="Text 74"/>
          <p:cNvSpPr txBox="1"/>
          <p:nvPr/>
        </p:nvSpPr>
        <p:spPr>
          <a:xfrm>
            <a:off x="5131156" y="3570732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was the ride?</a:t>
            </a:r>
            <a:endParaRPr lang="en-US" sz="850" dirty="0"/>
          </a:p>
        </p:txBody>
      </p:sp>
      <p:pic>
        <p:nvPicPr>
          <p:cNvPr id="8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46624" y="3826764"/>
            <a:ext cx="219456" cy="219456"/>
          </a:xfrm>
          <a:prstGeom prst="rect">
            <a:avLst/>
          </a:prstGeom>
        </p:spPr>
      </p:pic>
      <p:pic>
        <p:nvPicPr>
          <p:cNvPr id="8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6372" y="3826764"/>
            <a:ext cx="219456" cy="219456"/>
          </a:xfrm>
          <a:prstGeom prst="rect">
            <a:avLst/>
          </a:prstGeom>
        </p:spPr>
      </p:pic>
      <p:pic>
        <p:nvPicPr>
          <p:cNvPr id="8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86120" y="3826764"/>
            <a:ext cx="219456" cy="219456"/>
          </a:xfrm>
          <a:prstGeom prst="rect">
            <a:avLst/>
          </a:prstGeom>
        </p:spPr>
      </p:pic>
      <p:pic>
        <p:nvPicPr>
          <p:cNvPr id="8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55868" y="3826764"/>
            <a:ext cx="219456" cy="219456"/>
          </a:xfrm>
          <a:prstGeom prst="rect">
            <a:avLst/>
          </a:prstGeom>
        </p:spPr>
      </p:pic>
      <p:pic>
        <p:nvPicPr>
          <p:cNvPr id="9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25616" y="3826764"/>
            <a:ext cx="219456" cy="219456"/>
          </a:xfrm>
          <a:prstGeom prst="rect">
            <a:avLst/>
          </a:prstGeom>
        </p:spPr>
      </p:pic>
      <p:sp>
        <p:nvSpPr>
          <p:cNvPr id="91" name="Shape 75"/>
          <p:cNvSpPr/>
          <p:nvPr/>
        </p:nvSpPr>
        <p:spPr>
          <a:xfrm>
            <a:off x="5222596" y="4174236"/>
            <a:ext cx="827532" cy="292608"/>
          </a:xfrm>
          <a:prstGeom prst="roundRect">
            <a:avLst>
              <a:gd name="adj" fmla="val 50000"/>
            </a:avLst>
          </a:prstGeom>
          <a:solidFill>
            <a:srgbClr val="E2F6F3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2" name="Text 76"/>
          <p:cNvSpPr txBox="1"/>
          <p:nvPr/>
        </p:nvSpPr>
        <p:spPr>
          <a:xfrm>
            <a:off x="5222596" y="4174236"/>
            <a:ext cx="827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time</a:t>
            </a:r>
            <a:endParaRPr lang="en-US" sz="620" dirty="0"/>
          </a:p>
        </p:txBody>
      </p:sp>
      <p:sp>
        <p:nvSpPr>
          <p:cNvPr id="93" name="Shape 77"/>
          <p:cNvSpPr/>
          <p:nvPr/>
        </p:nvSpPr>
        <p:spPr>
          <a:xfrm>
            <a:off x="6141568" y="4174236"/>
            <a:ext cx="827532" cy="292608"/>
          </a:xfrm>
          <a:prstGeom prst="roundRect">
            <a:avLst>
              <a:gd name="adj" fmla="val 50000"/>
            </a:avLst>
          </a:prstGeom>
          <a:solidFill>
            <a:srgbClr val="E2F6F3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4" name="Text 78"/>
          <p:cNvSpPr txBox="1"/>
          <p:nvPr/>
        </p:nvSpPr>
        <p:spPr>
          <a:xfrm>
            <a:off x="6141568" y="4174236"/>
            <a:ext cx="827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cab</a:t>
            </a:r>
            <a:endParaRPr lang="en-US" sz="620" dirty="0"/>
          </a:p>
        </p:txBody>
      </p:sp>
      <p:sp>
        <p:nvSpPr>
          <p:cNvPr id="95" name="Shape 79"/>
          <p:cNvSpPr/>
          <p:nvPr/>
        </p:nvSpPr>
        <p:spPr>
          <a:xfrm>
            <a:off x="5222596" y="4521708"/>
            <a:ext cx="82753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6" name="Text 80"/>
          <p:cNvSpPr txBox="1"/>
          <p:nvPr/>
        </p:nvSpPr>
        <p:spPr>
          <a:xfrm>
            <a:off x="5222596" y="4521708"/>
            <a:ext cx="827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wait</a:t>
            </a:r>
            <a:endParaRPr lang="en-US" sz="620" dirty="0"/>
          </a:p>
        </p:txBody>
      </p:sp>
      <p:sp>
        <p:nvSpPr>
          <p:cNvPr id="97" name="Shape 81"/>
          <p:cNvSpPr/>
          <p:nvPr/>
        </p:nvSpPr>
        <p:spPr>
          <a:xfrm>
            <a:off x="6141568" y="4521708"/>
            <a:ext cx="82753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8" name="Text 82"/>
          <p:cNvSpPr txBox="1"/>
          <p:nvPr/>
        </p:nvSpPr>
        <p:spPr>
          <a:xfrm>
            <a:off x="6141568" y="4521708"/>
            <a:ext cx="827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find</a:t>
            </a:r>
            <a:endParaRPr lang="en-US" sz="620" dirty="0"/>
          </a:p>
        </p:txBody>
      </p:sp>
      <p:sp>
        <p:nvSpPr>
          <p:cNvPr id="99" name="Shape 83"/>
          <p:cNvSpPr/>
          <p:nvPr/>
        </p:nvSpPr>
        <p:spPr>
          <a:xfrm>
            <a:off x="5222596" y="4942332"/>
            <a:ext cx="1746504" cy="365760"/>
          </a:xfrm>
          <a:prstGeom prst="roundRect">
            <a:avLst>
              <a:gd name="adj" fmla="val 15000"/>
            </a:avLst>
          </a:prstGeom>
          <a:solidFill>
            <a:srgbClr val="F0F3F7"/>
          </a:solidFill>
          <a:ln/>
        </p:spPr>
      </p:sp>
      <p:sp>
        <p:nvSpPr>
          <p:cNvPr id="100" name="Text 84"/>
          <p:cNvSpPr txBox="1"/>
          <p:nvPr/>
        </p:nvSpPr>
        <p:spPr>
          <a:xfrm>
            <a:off x="5332324" y="49423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note (optional)</a:t>
            </a:r>
            <a:endParaRPr lang="en-US" sz="600" dirty="0"/>
          </a:p>
        </p:txBody>
      </p:sp>
      <p:sp>
        <p:nvSpPr>
          <p:cNvPr id="101" name="Shape 85"/>
          <p:cNvSpPr/>
          <p:nvPr/>
        </p:nvSpPr>
        <p:spPr>
          <a:xfrm>
            <a:off x="5222596" y="5436108"/>
            <a:ext cx="1746504" cy="347472"/>
          </a:xfrm>
          <a:prstGeom prst="roundRect">
            <a:avLst>
              <a:gd name="adj" fmla="val 15789"/>
            </a:avLst>
          </a:prstGeom>
          <a:solidFill>
            <a:srgbClr val="E85D04"/>
          </a:solidFill>
          <a:ln/>
        </p:spPr>
      </p:sp>
      <p:sp>
        <p:nvSpPr>
          <p:cNvPr id="102" name="Text 86"/>
          <p:cNvSpPr txBox="1"/>
          <p:nvPr/>
        </p:nvSpPr>
        <p:spPr>
          <a:xfrm>
            <a:off x="5222596" y="5436108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750" dirty="0"/>
          </a:p>
        </p:txBody>
      </p:sp>
      <p:sp>
        <p:nvSpPr>
          <p:cNvPr id="103" name="Text 87"/>
          <p:cNvSpPr txBox="1"/>
          <p:nvPr/>
        </p:nvSpPr>
        <p:spPr>
          <a:xfrm>
            <a:off x="4356506" y="6217920"/>
            <a:ext cx="34786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feed the vendor SLA report, not just a score.</a:t>
            </a:r>
            <a:endParaRPr lang="en-US" sz="950" dirty="0"/>
          </a:p>
        </p:txBody>
      </p:sp>
      <p:sp>
        <p:nvSpPr>
          <p:cNvPr id="104" name="Shape 88"/>
          <p:cNvSpPr/>
          <p:nvPr/>
        </p:nvSpPr>
        <p:spPr>
          <a:xfrm>
            <a:off x="8146085" y="1335024"/>
            <a:ext cx="365760" cy="365760"/>
          </a:xfrm>
          <a:prstGeom prst="ellipse">
            <a:avLst/>
          </a:prstGeom>
          <a:solidFill>
            <a:srgbClr val="0E141B"/>
          </a:solidFill>
          <a:ln/>
        </p:spPr>
      </p:sp>
      <p:sp>
        <p:nvSpPr>
          <p:cNvPr id="105" name="Text 89"/>
          <p:cNvSpPr txBox="1"/>
          <p:nvPr/>
        </p:nvSpPr>
        <p:spPr>
          <a:xfrm>
            <a:off x="8146085" y="1335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106" name="Text 90"/>
          <p:cNvSpPr txBox="1"/>
          <p:nvPr/>
        </p:nvSpPr>
        <p:spPr>
          <a:xfrm>
            <a:off x="8621573" y="1316736"/>
            <a:ext cx="30031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 history</a:t>
            </a:r>
            <a:endParaRPr lang="en-US" sz="1300" dirty="0"/>
          </a:p>
        </p:txBody>
      </p:sp>
      <p:sp>
        <p:nvSpPr>
          <p:cNvPr id="107" name="Text 91"/>
          <p:cNvSpPr txBox="1"/>
          <p:nvPr/>
        </p:nvSpPr>
        <p:spPr>
          <a:xfrm>
            <a:off x="8621573" y="1554480"/>
            <a:ext cx="30031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ride, always retrievable</a:t>
            </a:r>
            <a:endParaRPr lang="en-US" sz="950" dirty="0"/>
          </a:p>
        </p:txBody>
      </p:sp>
      <p:sp>
        <p:nvSpPr>
          <p:cNvPr id="108" name="Shape 92"/>
          <p:cNvSpPr/>
          <p:nvPr/>
        </p:nvSpPr>
        <p:spPr>
          <a:xfrm>
            <a:off x="8856726" y="1920240"/>
            <a:ext cx="2057400" cy="4206240"/>
          </a:xfrm>
          <a:prstGeom prst="roundRect">
            <a:avLst>
              <a:gd name="adj" fmla="val 3778"/>
            </a:avLst>
          </a:prstGeom>
          <a:solidFill>
            <a:srgbClr val="1A222C"/>
          </a:solidFill>
          <a:ln/>
          <a:effectLst>
            <a:outerShdw sx="100000" sy="100000" kx="0" ky="0" algn="bl" rotWithShape="0" blurRad="203200" dist="50800" dir="5400000">
              <a:srgbClr val="0E141B">
                <a:alpha val="24000"/>
              </a:srgbClr>
            </a:outerShdw>
          </a:effectLst>
        </p:spPr>
      </p:sp>
      <p:sp>
        <p:nvSpPr>
          <p:cNvPr id="109" name="Shape 93"/>
          <p:cNvSpPr/>
          <p:nvPr/>
        </p:nvSpPr>
        <p:spPr>
          <a:xfrm>
            <a:off x="8920734" y="1984248"/>
            <a:ext cx="1929384" cy="4078224"/>
          </a:xfrm>
          <a:prstGeom prst="roundRect">
            <a:avLst>
              <a:gd name="adj" fmla="val 3081"/>
            </a:avLst>
          </a:prstGeom>
          <a:solidFill>
            <a:srgbClr val="F6F8FA"/>
          </a:solidFill>
          <a:ln/>
        </p:spPr>
      </p:sp>
      <p:sp>
        <p:nvSpPr>
          <p:cNvPr id="110" name="Shape 94"/>
          <p:cNvSpPr/>
          <p:nvPr/>
        </p:nvSpPr>
        <p:spPr>
          <a:xfrm>
            <a:off x="9665970" y="2034540"/>
            <a:ext cx="438912" cy="91440"/>
          </a:xfrm>
          <a:prstGeom prst="roundRect">
            <a:avLst>
              <a:gd name="adj" fmla="val 50000"/>
            </a:avLst>
          </a:prstGeom>
          <a:solidFill>
            <a:srgbClr val="1A222C"/>
          </a:solidFill>
          <a:ln/>
        </p:spPr>
      </p:sp>
      <p:sp>
        <p:nvSpPr>
          <p:cNvPr id="111" name="Shape 95"/>
          <p:cNvSpPr/>
          <p:nvPr/>
        </p:nvSpPr>
        <p:spPr>
          <a:xfrm>
            <a:off x="9647682" y="5993892"/>
            <a:ext cx="475488" cy="32004"/>
          </a:xfrm>
          <a:prstGeom prst="roundRect">
            <a:avLst>
              <a:gd name="adj" fmla="val 51429"/>
            </a:avLst>
          </a:prstGeom>
          <a:solidFill>
            <a:srgbClr val="C3CBD4"/>
          </a:solidFill>
          <a:ln/>
        </p:spPr>
      </p:sp>
      <p:sp>
        <p:nvSpPr>
          <p:cNvPr id="112" name="Text 96"/>
          <p:cNvSpPr txBox="1"/>
          <p:nvPr/>
        </p:nvSpPr>
        <p:spPr>
          <a:xfrm>
            <a:off x="9039606" y="2025396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700" dirty="0"/>
          </a:p>
        </p:txBody>
      </p:sp>
      <p:pic>
        <p:nvPicPr>
          <p:cNvPr id="11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46614" y="2040941"/>
            <a:ext cx="128016" cy="128016"/>
          </a:xfrm>
          <a:prstGeom prst="rect">
            <a:avLst/>
          </a:prstGeom>
        </p:spPr>
      </p:pic>
      <p:pic>
        <p:nvPicPr>
          <p:cNvPr id="11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411206" y="2040941"/>
            <a:ext cx="128016" cy="128016"/>
          </a:xfrm>
          <a:prstGeom prst="rect">
            <a:avLst/>
          </a:prstGeom>
        </p:spPr>
      </p:pic>
      <p:pic>
        <p:nvPicPr>
          <p:cNvPr id="115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575798" y="2037283"/>
            <a:ext cx="137160" cy="137160"/>
          </a:xfrm>
          <a:prstGeom prst="rect">
            <a:avLst/>
          </a:prstGeom>
        </p:spPr>
      </p:pic>
      <p:sp>
        <p:nvSpPr>
          <p:cNvPr id="116" name="Shape 97"/>
          <p:cNvSpPr/>
          <p:nvPr/>
        </p:nvSpPr>
        <p:spPr>
          <a:xfrm>
            <a:off x="8920734" y="2199132"/>
            <a:ext cx="1929384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7" name="Shape 98"/>
          <p:cNvSpPr/>
          <p:nvPr/>
        </p:nvSpPr>
        <p:spPr>
          <a:xfrm>
            <a:off x="8920734" y="2557577"/>
            <a:ext cx="1929384" cy="7315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118" name="Text 99"/>
          <p:cNvSpPr txBox="1"/>
          <p:nvPr/>
        </p:nvSpPr>
        <p:spPr>
          <a:xfrm>
            <a:off x="9030462" y="2199132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trips</a:t>
            </a:r>
            <a:endParaRPr lang="en-US" sz="850" dirty="0"/>
          </a:p>
        </p:txBody>
      </p:sp>
      <p:pic>
        <p:nvPicPr>
          <p:cNvPr id="1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575798" y="2318004"/>
            <a:ext cx="137160" cy="137160"/>
          </a:xfrm>
          <a:prstGeom prst="rect">
            <a:avLst/>
          </a:prstGeom>
        </p:spPr>
      </p:pic>
      <p:sp>
        <p:nvSpPr>
          <p:cNvPr id="120" name="Text 100"/>
          <p:cNvSpPr txBox="1"/>
          <p:nvPr/>
        </p:nvSpPr>
        <p:spPr>
          <a:xfrm>
            <a:off x="9012174" y="2638044"/>
            <a:ext cx="582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620" dirty="0"/>
          </a:p>
        </p:txBody>
      </p:sp>
      <p:sp>
        <p:nvSpPr>
          <p:cNvPr id="121" name="Shape 101"/>
          <p:cNvSpPr/>
          <p:nvPr/>
        </p:nvSpPr>
        <p:spPr>
          <a:xfrm>
            <a:off x="9594342" y="2638044"/>
            <a:ext cx="582168" cy="274320"/>
          </a:xfrm>
          <a:prstGeom prst="roundRect">
            <a:avLst>
              <a:gd name="adj" fmla="val 16667"/>
            </a:avLst>
          </a:prstGeom>
          <a:solidFill>
            <a:srgbClr val="1A222C"/>
          </a:solidFill>
          <a:ln/>
        </p:spPr>
      </p:sp>
      <p:sp>
        <p:nvSpPr>
          <p:cNvPr id="122" name="Text 102"/>
          <p:cNvSpPr txBox="1"/>
          <p:nvPr/>
        </p:nvSpPr>
        <p:spPr>
          <a:xfrm>
            <a:off x="9594342" y="2638044"/>
            <a:ext cx="582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</a:t>
            </a:r>
            <a:endParaRPr lang="en-US" sz="620" dirty="0"/>
          </a:p>
        </p:txBody>
      </p:sp>
      <p:sp>
        <p:nvSpPr>
          <p:cNvPr id="123" name="Text 103"/>
          <p:cNvSpPr txBox="1"/>
          <p:nvPr/>
        </p:nvSpPr>
        <p:spPr>
          <a:xfrm>
            <a:off x="10176510" y="2638044"/>
            <a:ext cx="582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620" dirty="0"/>
          </a:p>
        </p:txBody>
      </p:sp>
      <p:sp>
        <p:nvSpPr>
          <p:cNvPr id="124" name="Shape 104"/>
          <p:cNvSpPr/>
          <p:nvPr/>
        </p:nvSpPr>
        <p:spPr>
          <a:xfrm>
            <a:off x="9012174" y="2930652"/>
            <a:ext cx="1746504" cy="5486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125" name="Shape 105"/>
          <p:cNvSpPr/>
          <p:nvPr/>
        </p:nvSpPr>
        <p:spPr>
          <a:xfrm>
            <a:off x="9012174" y="3040380"/>
            <a:ext cx="1746504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26" name="Text 106"/>
          <p:cNvSpPr txBox="1"/>
          <p:nvPr/>
        </p:nvSpPr>
        <p:spPr>
          <a:xfrm>
            <a:off x="9121902" y="306781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· 14:05</a:t>
            </a:r>
            <a:endParaRPr lang="en-US" sz="560" dirty="0"/>
          </a:p>
        </p:txBody>
      </p:sp>
      <p:sp>
        <p:nvSpPr>
          <p:cNvPr id="127" name="Text 107"/>
          <p:cNvSpPr txBox="1"/>
          <p:nvPr/>
        </p:nvSpPr>
        <p:spPr>
          <a:xfrm>
            <a:off x="9121902" y="320497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 → Blast Furnace</a:t>
            </a:r>
            <a:endParaRPr lang="en-US" sz="660" dirty="0"/>
          </a:p>
        </p:txBody>
      </p:sp>
      <p:sp>
        <p:nvSpPr>
          <p:cNvPr id="128" name="Text 108"/>
          <p:cNvSpPr txBox="1"/>
          <p:nvPr/>
        </p:nvSpPr>
        <p:spPr>
          <a:xfrm>
            <a:off x="9121902" y="3369564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· 3.4 km</a:t>
            </a:r>
            <a:endParaRPr lang="en-US" sz="580" dirty="0"/>
          </a:p>
        </p:txBody>
      </p:sp>
      <p:sp>
        <p:nvSpPr>
          <p:cNvPr id="129" name="Shape 109"/>
          <p:cNvSpPr/>
          <p:nvPr/>
        </p:nvSpPr>
        <p:spPr>
          <a:xfrm>
            <a:off x="10136886" y="3076956"/>
            <a:ext cx="566928" cy="155448"/>
          </a:xfrm>
          <a:prstGeom prst="roundRect">
            <a:avLst>
              <a:gd name="adj" fmla="val 50000"/>
            </a:avLst>
          </a:prstGeom>
          <a:solidFill>
            <a:srgbClr val="E2F6F3"/>
          </a:solidFill>
          <a:ln/>
        </p:spPr>
      </p:sp>
      <p:sp>
        <p:nvSpPr>
          <p:cNvPr id="130" name="Text 110"/>
          <p:cNvSpPr txBox="1"/>
          <p:nvPr/>
        </p:nvSpPr>
        <p:spPr>
          <a:xfrm>
            <a:off x="10136886" y="3076956"/>
            <a:ext cx="566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560" dirty="0"/>
          </a:p>
        </p:txBody>
      </p:sp>
      <p:sp>
        <p:nvSpPr>
          <p:cNvPr id="131" name="Shape 111"/>
          <p:cNvSpPr/>
          <p:nvPr/>
        </p:nvSpPr>
        <p:spPr>
          <a:xfrm>
            <a:off x="9012174" y="3607308"/>
            <a:ext cx="1746504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2" name="Text 112"/>
          <p:cNvSpPr txBox="1"/>
          <p:nvPr/>
        </p:nvSpPr>
        <p:spPr>
          <a:xfrm>
            <a:off x="9121902" y="363474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· 09:12</a:t>
            </a:r>
            <a:endParaRPr lang="en-US" sz="560" dirty="0"/>
          </a:p>
        </p:txBody>
      </p:sp>
      <p:sp>
        <p:nvSpPr>
          <p:cNvPr id="133" name="Text 113"/>
          <p:cNvSpPr txBox="1"/>
          <p:nvPr/>
        </p:nvSpPr>
        <p:spPr>
          <a:xfrm>
            <a:off x="9121902" y="377190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Township → Gate 5</a:t>
            </a:r>
            <a:endParaRPr lang="en-US" sz="660" dirty="0"/>
          </a:p>
        </p:txBody>
      </p:sp>
      <p:sp>
        <p:nvSpPr>
          <p:cNvPr id="134" name="Text 114"/>
          <p:cNvSpPr txBox="1"/>
          <p:nvPr/>
        </p:nvSpPr>
        <p:spPr>
          <a:xfrm>
            <a:off x="9121902" y="393649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Shuttle · 5.1 km</a:t>
            </a:r>
            <a:endParaRPr lang="en-US" sz="580" dirty="0"/>
          </a:p>
        </p:txBody>
      </p:sp>
      <p:sp>
        <p:nvSpPr>
          <p:cNvPr id="135" name="Shape 115"/>
          <p:cNvSpPr/>
          <p:nvPr/>
        </p:nvSpPr>
        <p:spPr>
          <a:xfrm>
            <a:off x="10136886" y="3643884"/>
            <a:ext cx="566928" cy="155448"/>
          </a:xfrm>
          <a:prstGeom prst="roundRect">
            <a:avLst>
              <a:gd name="adj" fmla="val 50000"/>
            </a:avLst>
          </a:prstGeom>
          <a:solidFill>
            <a:srgbClr val="E2F6F3"/>
          </a:solidFill>
          <a:ln/>
        </p:spPr>
      </p:sp>
      <p:sp>
        <p:nvSpPr>
          <p:cNvPr id="136" name="Text 116"/>
          <p:cNvSpPr txBox="1"/>
          <p:nvPr/>
        </p:nvSpPr>
        <p:spPr>
          <a:xfrm>
            <a:off x="10136886" y="3643884"/>
            <a:ext cx="566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560" dirty="0"/>
          </a:p>
        </p:txBody>
      </p:sp>
      <p:sp>
        <p:nvSpPr>
          <p:cNvPr id="137" name="Shape 117"/>
          <p:cNvSpPr/>
          <p:nvPr/>
        </p:nvSpPr>
        <p:spPr>
          <a:xfrm>
            <a:off x="9012174" y="4174236"/>
            <a:ext cx="1746504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8" name="Text 118"/>
          <p:cNvSpPr txBox="1"/>
          <p:nvPr/>
        </p:nvSpPr>
        <p:spPr>
          <a:xfrm>
            <a:off x="9121902" y="4201668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 · 17:40</a:t>
            </a:r>
            <a:endParaRPr lang="en-US" sz="560" dirty="0"/>
          </a:p>
        </p:txBody>
      </p:sp>
      <p:sp>
        <p:nvSpPr>
          <p:cNvPr id="139" name="Text 119"/>
          <p:cNvSpPr txBox="1"/>
          <p:nvPr/>
        </p:nvSpPr>
        <p:spPr>
          <a:xfrm>
            <a:off x="9121902" y="433882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→ Main Gate</a:t>
            </a:r>
            <a:endParaRPr lang="en-US" sz="660" dirty="0"/>
          </a:p>
        </p:txBody>
      </p:sp>
      <p:sp>
        <p:nvSpPr>
          <p:cNvPr id="140" name="Text 120"/>
          <p:cNvSpPr txBox="1"/>
          <p:nvPr/>
        </p:nvSpPr>
        <p:spPr>
          <a:xfrm>
            <a:off x="9121902" y="450342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· 2.2 km</a:t>
            </a:r>
            <a:endParaRPr lang="en-US" sz="580" dirty="0"/>
          </a:p>
        </p:txBody>
      </p:sp>
      <p:sp>
        <p:nvSpPr>
          <p:cNvPr id="141" name="Shape 121"/>
          <p:cNvSpPr/>
          <p:nvPr/>
        </p:nvSpPr>
        <p:spPr>
          <a:xfrm>
            <a:off x="10136886" y="4210812"/>
            <a:ext cx="566928" cy="155448"/>
          </a:xfrm>
          <a:prstGeom prst="roundRect">
            <a:avLst>
              <a:gd name="adj" fmla="val 50000"/>
            </a:avLst>
          </a:prstGeom>
          <a:solidFill>
            <a:srgbClr val="E2F6F3"/>
          </a:solidFill>
          <a:ln/>
        </p:spPr>
      </p:sp>
      <p:sp>
        <p:nvSpPr>
          <p:cNvPr id="142" name="Text 122"/>
          <p:cNvSpPr txBox="1"/>
          <p:nvPr/>
        </p:nvSpPr>
        <p:spPr>
          <a:xfrm>
            <a:off x="10136886" y="4210812"/>
            <a:ext cx="566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560" dirty="0"/>
          </a:p>
        </p:txBody>
      </p:sp>
      <p:sp>
        <p:nvSpPr>
          <p:cNvPr id="143" name="Shape 123"/>
          <p:cNvSpPr/>
          <p:nvPr/>
        </p:nvSpPr>
        <p:spPr>
          <a:xfrm>
            <a:off x="9012174" y="4741164"/>
            <a:ext cx="1746504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4" name="Text 124"/>
          <p:cNvSpPr txBox="1"/>
          <p:nvPr/>
        </p:nvSpPr>
        <p:spPr>
          <a:xfrm>
            <a:off x="9121902" y="4768596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 · 08:05</a:t>
            </a:r>
            <a:endParaRPr lang="en-US" sz="560" dirty="0"/>
          </a:p>
        </p:txBody>
      </p:sp>
      <p:sp>
        <p:nvSpPr>
          <p:cNvPr id="145" name="Text 125"/>
          <p:cNvSpPr txBox="1"/>
          <p:nvPr/>
        </p:nvSpPr>
        <p:spPr>
          <a:xfrm>
            <a:off x="9121902" y="490575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 → Sinter Plant</a:t>
            </a:r>
            <a:endParaRPr lang="en-US" sz="660" dirty="0"/>
          </a:p>
        </p:txBody>
      </p:sp>
      <p:sp>
        <p:nvSpPr>
          <p:cNvPr id="146" name="Text 126"/>
          <p:cNvSpPr txBox="1"/>
          <p:nvPr/>
        </p:nvSpPr>
        <p:spPr>
          <a:xfrm>
            <a:off x="9121902" y="507034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no-show</a:t>
            </a:r>
            <a:endParaRPr lang="en-US" sz="580" dirty="0"/>
          </a:p>
        </p:txBody>
      </p:sp>
      <p:sp>
        <p:nvSpPr>
          <p:cNvPr id="147" name="Shape 127"/>
          <p:cNvSpPr/>
          <p:nvPr/>
        </p:nvSpPr>
        <p:spPr>
          <a:xfrm>
            <a:off x="10136886" y="4777740"/>
            <a:ext cx="566928" cy="155448"/>
          </a:xfrm>
          <a:prstGeom prst="roundRect">
            <a:avLst>
              <a:gd name="adj" fmla="val 50000"/>
            </a:avLst>
          </a:prstGeom>
          <a:solidFill>
            <a:srgbClr val="FBE9E7"/>
          </a:solidFill>
          <a:ln/>
        </p:spPr>
      </p:sp>
      <p:sp>
        <p:nvSpPr>
          <p:cNvPr id="148" name="Text 128"/>
          <p:cNvSpPr txBox="1"/>
          <p:nvPr/>
        </p:nvSpPr>
        <p:spPr>
          <a:xfrm>
            <a:off x="10136886" y="4777740"/>
            <a:ext cx="566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C026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560" dirty="0"/>
          </a:p>
        </p:txBody>
      </p:sp>
      <p:sp>
        <p:nvSpPr>
          <p:cNvPr id="149" name="Shape 129"/>
          <p:cNvSpPr/>
          <p:nvPr/>
        </p:nvSpPr>
        <p:spPr>
          <a:xfrm>
            <a:off x="8920734" y="5472684"/>
            <a:ext cx="1929384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0" name="Shape 130"/>
          <p:cNvSpPr/>
          <p:nvPr/>
        </p:nvSpPr>
        <p:spPr>
          <a:xfrm>
            <a:off x="8920734" y="5472684"/>
            <a:ext cx="1929384" cy="7315"/>
          </a:xfrm>
          <a:prstGeom prst="rect">
            <a:avLst/>
          </a:prstGeom>
          <a:solidFill>
            <a:srgbClr val="E8EDF2"/>
          </a:solidFill>
          <a:ln/>
        </p:spPr>
      </p:sp>
      <p:pic>
        <p:nvPicPr>
          <p:cNvPr id="151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093327" y="5559552"/>
            <a:ext cx="137160" cy="137160"/>
          </a:xfrm>
          <a:prstGeom prst="rect">
            <a:avLst/>
          </a:prstGeom>
        </p:spPr>
      </p:pic>
      <p:sp>
        <p:nvSpPr>
          <p:cNvPr id="152" name="Text 131"/>
          <p:cNvSpPr txBox="1"/>
          <p:nvPr/>
        </p:nvSpPr>
        <p:spPr>
          <a:xfrm>
            <a:off x="8920734" y="5710428"/>
            <a:ext cx="48234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550" dirty="0"/>
          </a:p>
        </p:txBody>
      </p:sp>
      <p:pic>
        <p:nvPicPr>
          <p:cNvPr id="153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575673" y="5559552"/>
            <a:ext cx="137160" cy="137160"/>
          </a:xfrm>
          <a:prstGeom prst="rect">
            <a:avLst/>
          </a:prstGeom>
        </p:spPr>
      </p:pic>
      <p:sp>
        <p:nvSpPr>
          <p:cNvPr id="154" name="Text 132"/>
          <p:cNvSpPr txBox="1"/>
          <p:nvPr/>
        </p:nvSpPr>
        <p:spPr>
          <a:xfrm>
            <a:off x="9403080" y="5710428"/>
            <a:ext cx="48234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Rides</a:t>
            </a:r>
            <a:endParaRPr lang="en-US" sz="550" dirty="0"/>
          </a:p>
        </p:txBody>
      </p:sp>
      <p:pic>
        <p:nvPicPr>
          <p:cNvPr id="155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058019" y="5559552"/>
            <a:ext cx="137160" cy="137160"/>
          </a:xfrm>
          <a:prstGeom prst="rect">
            <a:avLst/>
          </a:prstGeom>
        </p:spPr>
      </p:pic>
      <p:sp>
        <p:nvSpPr>
          <p:cNvPr id="156" name="Text 133"/>
          <p:cNvSpPr txBox="1"/>
          <p:nvPr/>
        </p:nvSpPr>
        <p:spPr>
          <a:xfrm>
            <a:off x="9885426" y="5710428"/>
            <a:ext cx="48234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550" dirty="0"/>
          </a:p>
        </p:txBody>
      </p:sp>
      <p:pic>
        <p:nvPicPr>
          <p:cNvPr id="157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540365" y="5559552"/>
            <a:ext cx="137160" cy="137160"/>
          </a:xfrm>
          <a:prstGeom prst="rect">
            <a:avLst/>
          </a:prstGeom>
        </p:spPr>
      </p:pic>
      <p:sp>
        <p:nvSpPr>
          <p:cNvPr id="158" name="Text 134"/>
          <p:cNvSpPr txBox="1"/>
          <p:nvPr/>
        </p:nvSpPr>
        <p:spPr>
          <a:xfrm>
            <a:off x="10367772" y="5710428"/>
            <a:ext cx="48234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</a:t>
            </a:r>
            <a:endParaRPr lang="en-US" sz="550" dirty="0"/>
          </a:p>
        </p:txBody>
      </p:sp>
      <p:sp>
        <p:nvSpPr>
          <p:cNvPr id="159" name="Text 135"/>
          <p:cNvSpPr txBox="1"/>
          <p:nvPr/>
        </p:nvSpPr>
        <p:spPr>
          <a:xfrm>
            <a:off x="8146085" y="6217920"/>
            <a:ext cx="34786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expense queries and for the desk's audit trail.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A3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ECO TECH  ·  Plant Ride for LHS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3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2 OF 3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58368"/>
            <a:ext cx="110578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driver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627632"/>
            <a:ext cx="3072384" cy="1920240"/>
          </a:xfrm>
          <a:prstGeom prst="roundRect">
            <a:avLst>
              <a:gd name="adj" fmla="val 5714"/>
            </a:avLst>
          </a:prstGeom>
          <a:solidFill>
            <a:srgbClr val="18222D"/>
          </a:solidFill>
          <a:ln w="12700">
            <a:solidFill>
              <a:srgbClr val="3446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847088"/>
            <a:ext cx="603504" cy="603504"/>
          </a:xfrm>
          <a:prstGeom prst="ellipse">
            <a:avLst/>
          </a:prstGeom>
          <a:solidFill>
            <a:srgbClr val="22303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159" y="2003999"/>
            <a:ext cx="289682" cy="28968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41248" y="256032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871216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3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Own-fleet or vendor. Often wearing gloves, often in sunlight, and not interested in a complicated app.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950208" y="1627632"/>
            <a:ext cx="2399690" cy="1920240"/>
          </a:xfrm>
          <a:prstGeom prst="roundRect">
            <a:avLst>
              <a:gd name="adj" fmla="val 5714"/>
            </a:avLst>
          </a:prstGeom>
          <a:solidFill>
            <a:srgbClr val="18222D"/>
          </a:solidFill>
          <a:ln w="12700">
            <a:solidFill>
              <a:srgbClr val="34465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69664" y="1828800"/>
            <a:ext cx="420624" cy="420624"/>
          </a:xfrm>
          <a:prstGeom prst="ellipse">
            <a:avLst/>
          </a:prstGeom>
          <a:solidFill>
            <a:srgbClr val="22303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026" y="1938162"/>
            <a:ext cx="201900" cy="2019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169664" y="2340864"/>
            <a:ext cx="19607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30" kern="0" dirty="0">
                <a:solidFill>
                  <a:srgbClr val="A3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4169664" y="2542032"/>
            <a:ext cx="196077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the trip queue safely, and get credited for every trip run.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587642" y="1627632"/>
            <a:ext cx="2399690" cy="1920240"/>
          </a:xfrm>
          <a:prstGeom prst="roundRect">
            <a:avLst>
              <a:gd name="adj" fmla="val 5714"/>
            </a:avLst>
          </a:prstGeom>
          <a:solidFill>
            <a:srgbClr val="18222D"/>
          </a:solidFill>
          <a:ln w="12700">
            <a:solidFill>
              <a:srgbClr val="34465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807098" y="1828800"/>
            <a:ext cx="420624" cy="420624"/>
          </a:xfrm>
          <a:prstGeom prst="ellipse">
            <a:avLst/>
          </a:prstGeom>
          <a:solidFill>
            <a:srgbClr val="22303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6461" y="1938162"/>
            <a:ext cx="201900" cy="2019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807098" y="2340864"/>
            <a:ext cx="19607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30" kern="0" dirty="0">
                <a:solidFill>
                  <a:srgbClr val="A3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</a:t>
            </a:r>
            <a:endParaRPr lang="en-US" sz="800" dirty="0"/>
          </a:p>
        </p:txBody>
      </p:sp>
      <p:sp>
        <p:nvSpPr>
          <p:cNvPr id="20" name="Text 15"/>
          <p:cNvSpPr txBox="1"/>
          <p:nvPr/>
        </p:nvSpPr>
        <p:spPr>
          <a:xfrm>
            <a:off x="6807098" y="2542032"/>
            <a:ext cx="196077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phone mounted in the cab. Big targets, Hindi and English.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9225077" y="1627632"/>
            <a:ext cx="2399690" cy="1920240"/>
          </a:xfrm>
          <a:prstGeom prst="roundRect">
            <a:avLst>
              <a:gd name="adj" fmla="val 5714"/>
            </a:avLst>
          </a:prstGeom>
          <a:solidFill>
            <a:srgbClr val="18222D"/>
          </a:solidFill>
          <a:ln w="12700">
            <a:solidFill>
              <a:srgbClr val="34465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444533" y="1828800"/>
            <a:ext cx="420624" cy="420624"/>
          </a:xfrm>
          <a:prstGeom prst="ellipse">
            <a:avLst/>
          </a:prstGeom>
          <a:solidFill>
            <a:srgbClr val="22303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3895" y="1938162"/>
            <a:ext cx="201900" cy="2019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444533" y="2340864"/>
            <a:ext cx="19607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30" kern="0" dirty="0">
                <a:solidFill>
                  <a:srgbClr val="A3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 OF TRUTH</a:t>
            </a:r>
            <a:endParaRPr lang="en-US" sz="800" dirty="0"/>
          </a:p>
        </p:txBody>
      </p:sp>
      <p:sp>
        <p:nvSpPr>
          <p:cNvPr id="25" name="Text 19"/>
          <p:cNvSpPr txBox="1"/>
          <p:nvPr/>
        </p:nvSpPr>
        <p:spPr>
          <a:xfrm>
            <a:off x="9444533" y="2542032"/>
            <a:ext cx="196077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queue tells them the next pickup without a call from the desk.</a:t>
            </a:r>
            <a:endParaRPr lang="en-US" sz="1050" dirty="0"/>
          </a:p>
        </p:txBody>
      </p:sp>
      <p:sp>
        <p:nvSpPr>
          <p:cNvPr id="26" name="Text 20"/>
          <p:cNvSpPr txBox="1"/>
          <p:nvPr/>
        </p:nvSpPr>
        <p:spPr>
          <a:xfrm>
            <a:off x="566928" y="3803904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FF9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JOURNEY, END TO END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566928" y="4096512"/>
            <a:ext cx="1690573" cy="1700784"/>
          </a:xfrm>
          <a:prstGeom prst="roundRect">
            <a:avLst>
              <a:gd name="adj" fmla="val 6491"/>
            </a:avLst>
          </a:prstGeom>
          <a:solidFill>
            <a:srgbClr val="18222D"/>
          </a:solidFill>
          <a:ln w="12700">
            <a:solidFill>
              <a:srgbClr val="34465A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49808" y="4279392"/>
            <a:ext cx="310896" cy="310896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749808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1727149" y="4279392"/>
            <a:ext cx="310896" cy="310896"/>
          </a:xfrm>
          <a:prstGeom prst="ellipse">
            <a:avLst/>
          </a:prstGeom>
          <a:solidFill>
            <a:srgbClr val="22303F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7982" y="4360225"/>
            <a:ext cx="149230" cy="14923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749808" y="4681728"/>
            <a:ext cx="13248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duty</a:t>
            </a:r>
            <a:endParaRPr lang="en-US" sz="1050" dirty="0"/>
          </a:p>
        </p:txBody>
      </p:sp>
      <p:sp>
        <p:nvSpPr>
          <p:cNvPr id="33" name="Text 26"/>
          <p:cNvSpPr txBox="1"/>
          <p:nvPr/>
        </p:nvSpPr>
        <p:spPr>
          <a:xfrm>
            <a:off x="749808" y="5029200"/>
            <a:ext cx="13248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A3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and OTP, vehicle and gate pass check</a:t>
            </a:r>
            <a:endParaRPr lang="en-US" sz="850" dirty="0"/>
          </a:p>
        </p:txBody>
      </p:sp>
      <p:sp>
        <p:nvSpPr>
          <p:cNvPr id="34" name="Shape 27"/>
          <p:cNvSpPr/>
          <p:nvPr/>
        </p:nvSpPr>
        <p:spPr>
          <a:xfrm>
            <a:off x="2280361" y="4846320"/>
            <a:ext cx="137160" cy="137160"/>
          </a:xfrm>
          <a:prstGeom prst="rightArrow">
            <a:avLst/>
          </a:prstGeom>
          <a:solidFill>
            <a:srgbClr val="34465A"/>
          </a:solidFill>
          <a:ln/>
        </p:spPr>
      </p:sp>
      <p:sp>
        <p:nvSpPr>
          <p:cNvPr id="35" name="Shape 28"/>
          <p:cNvSpPr/>
          <p:nvPr/>
        </p:nvSpPr>
        <p:spPr>
          <a:xfrm>
            <a:off x="2440381" y="4096512"/>
            <a:ext cx="1690573" cy="1700784"/>
          </a:xfrm>
          <a:prstGeom prst="roundRect">
            <a:avLst>
              <a:gd name="adj" fmla="val 6491"/>
            </a:avLst>
          </a:prstGeom>
          <a:solidFill>
            <a:srgbClr val="18222D"/>
          </a:solidFill>
          <a:ln w="12700">
            <a:solidFill>
              <a:srgbClr val="34465A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2623261" y="4279392"/>
            <a:ext cx="310896" cy="310896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2623261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38" name="Shape 31"/>
          <p:cNvSpPr/>
          <p:nvPr/>
        </p:nvSpPr>
        <p:spPr>
          <a:xfrm>
            <a:off x="3600602" y="4279392"/>
            <a:ext cx="310896" cy="310896"/>
          </a:xfrm>
          <a:prstGeom prst="ellipse">
            <a:avLst/>
          </a:prstGeom>
          <a:solidFill>
            <a:srgbClr val="22303F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1435" y="4360225"/>
            <a:ext cx="149230" cy="149230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2623261" y="4681728"/>
            <a:ext cx="13248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check</a:t>
            </a:r>
            <a:endParaRPr lang="en-US" sz="1050" dirty="0"/>
          </a:p>
        </p:txBody>
      </p:sp>
      <p:sp>
        <p:nvSpPr>
          <p:cNvPr id="41" name="Text 33"/>
          <p:cNvSpPr txBox="1"/>
          <p:nvPr/>
        </p:nvSpPr>
        <p:spPr>
          <a:xfrm>
            <a:off x="2623261" y="5029200"/>
            <a:ext cx="13248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A3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Tyres, lights, belts, fuel, odometer photo</a:t>
            </a:r>
            <a:endParaRPr lang="en-US" sz="850" dirty="0"/>
          </a:p>
        </p:txBody>
      </p:sp>
      <p:sp>
        <p:nvSpPr>
          <p:cNvPr id="42" name="Shape 34"/>
          <p:cNvSpPr/>
          <p:nvPr/>
        </p:nvSpPr>
        <p:spPr>
          <a:xfrm>
            <a:off x="4153814" y="4846320"/>
            <a:ext cx="137160" cy="137160"/>
          </a:xfrm>
          <a:prstGeom prst="rightArrow">
            <a:avLst/>
          </a:prstGeom>
          <a:solidFill>
            <a:srgbClr val="34465A"/>
          </a:solidFill>
          <a:ln/>
        </p:spPr>
      </p:sp>
      <p:sp>
        <p:nvSpPr>
          <p:cNvPr id="43" name="Shape 35"/>
          <p:cNvSpPr/>
          <p:nvPr/>
        </p:nvSpPr>
        <p:spPr>
          <a:xfrm>
            <a:off x="4313834" y="4096512"/>
            <a:ext cx="1690573" cy="1700784"/>
          </a:xfrm>
          <a:prstGeom prst="roundRect">
            <a:avLst>
              <a:gd name="adj" fmla="val 6491"/>
            </a:avLst>
          </a:prstGeom>
          <a:solidFill>
            <a:srgbClr val="18222D"/>
          </a:solidFill>
          <a:ln w="12700">
            <a:solidFill>
              <a:srgbClr val="34465A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4496714" y="4279392"/>
            <a:ext cx="310896" cy="310896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45" name="Text 37"/>
          <p:cNvSpPr txBox="1"/>
          <p:nvPr/>
        </p:nvSpPr>
        <p:spPr>
          <a:xfrm>
            <a:off x="4496714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46" name="Shape 38"/>
          <p:cNvSpPr/>
          <p:nvPr/>
        </p:nvSpPr>
        <p:spPr>
          <a:xfrm>
            <a:off x="5474056" y="4279392"/>
            <a:ext cx="310896" cy="310896"/>
          </a:xfrm>
          <a:prstGeom prst="ellipse">
            <a:avLst/>
          </a:prstGeom>
          <a:solidFill>
            <a:srgbClr val="22303F"/>
          </a:solidFill>
          <a:ln/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54889" y="4360225"/>
            <a:ext cx="149230" cy="149230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4496714" y="4681728"/>
            <a:ext cx="13248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the queue</a:t>
            </a:r>
            <a:endParaRPr lang="en-US" sz="1050" dirty="0"/>
          </a:p>
        </p:txBody>
      </p:sp>
      <p:sp>
        <p:nvSpPr>
          <p:cNvPr id="49" name="Text 40"/>
          <p:cNvSpPr txBox="1"/>
          <p:nvPr/>
        </p:nvSpPr>
        <p:spPr>
          <a:xfrm>
            <a:off x="4496714" y="5029200"/>
            <a:ext cx="13248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A3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Pickups in configured route sequence</a:t>
            </a:r>
            <a:endParaRPr lang="en-US" sz="850" dirty="0"/>
          </a:p>
        </p:txBody>
      </p:sp>
      <p:sp>
        <p:nvSpPr>
          <p:cNvPr id="50" name="Shape 41"/>
          <p:cNvSpPr/>
          <p:nvPr/>
        </p:nvSpPr>
        <p:spPr>
          <a:xfrm>
            <a:off x="6027268" y="4846320"/>
            <a:ext cx="137160" cy="137160"/>
          </a:xfrm>
          <a:prstGeom prst="rightArrow">
            <a:avLst/>
          </a:prstGeom>
          <a:solidFill>
            <a:srgbClr val="34465A"/>
          </a:solidFill>
          <a:ln/>
        </p:spPr>
      </p:sp>
      <p:sp>
        <p:nvSpPr>
          <p:cNvPr id="51" name="Shape 42"/>
          <p:cNvSpPr/>
          <p:nvPr/>
        </p:nvSpPr>
        <p:spPr>
          <a:xfrm>
            <a:off x="6187288" y="4096512"/>
            <a:ext cx="1690573" cy="1700784"/>
          </a:xfrm>
          <a:prstGeom prst="roundRect">
            <a:avLst>
              <a:gd name="adj" fmla="val 6491"/>
            </a:avLst>
          </a:prstGeom>
          <a:solidFill>
            <a:srgbClr val="18222D"/>
          </a:solidFill>
          <a:ln w="12700">
            <a:solidFill>
              <a:srgbClr val="34465A"/>
            </a:solidFill>
            <a:prstDash val="solid"/>
          </a:ln>
        </p:spPr>
      </p:sp>
      <p:sp>
        <p:nvSpPr>
          <p:cNvPr id="52" name="Shape 43"/>
          <p:cNvSpPr/>
          <p:nvPr/>
        </p:nvSpPr>
        <p:spPr>
          <a:xfrm>
            <a:off x="6370168" y="4279392"/>
            <a:ext cx="310896" cy="310896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53" name="Text 44"/>
          <p:cNvSpPr txBox="1"/>
          <p:nvPr/>
        </p:nvSpPr>
        <p:spPr>
          <a:xfrm>
            <a:off x="6370168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54" name="Shape 45"/>
          <p:cNvSpPr/>
          <p:nvPr/>
        </p:nvSpPr>
        <p:spPr>
          <a:xfrm>
            <a:off x="7347509" y="4279392"/>
            <a:ext cx="310896" cy="310896"/>
          </a:xfrm>
          <a:prstGeom prst="ellipse">
            <a:avLst/>
          </a:prstGeom>
          <a:solidFill>
            <a:srgbClr val="22303F"/>
          </a:solidFill>
          <a:ln/>
        </p:spPr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8342" y="4360225"/>
            <a:ext cx="149230" cy="149230"/>
          </a:xfrm>
          <a:prstGeom prst="rect">
            <a:avLst/>
          </a:prstGeom>
        </p:spPr>
      </p:pic>
      <p:sp>
        <p:nvSpPr>
          <p:cNvPr id="56" name="Text 46"/>
          <p:cNvSpPr txBox="1"/>
          <p:nvPr/>
        </p:nvSpPr>
        <p:spPr>
          <a:xfrm>
            <a:off x="6370168" y="4681728"/>
            <a:ext cx="13248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 &amp; pick up</a:t>
            </a:r>
            <a:endParaRPr lang="en-US" sz="1050" dirty="0"/>
          </a:p>
        </p:txBody>
      </p:sp>
      <p:sp>
        <p:nvSpPr>
          <p:cNvPr id="57" name="Text 47"/>
          <p:cNvSpPr txBox="1"/>
          <p:nvPr/>
        </p:nvSpPr>
        <p:spPr>
          <a:xfrm>
            <a:off x="6370168" y="5029200"/>
            <a:ext cx="13248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A3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nav, OTP starts the trip</a:t>
            </a:r>
            <a:endParaRPr lang="en-US" sz="850" dirty="0"/>
          </a:p>
        </p:txBody>
      </p:sp>
      <p:sp>
        <p:nvSpPr>
          <p:cNvPr id="58" name="Shape 48"/>
          <p:cNvSpPr/>
          <p:nvPr/>
        </p:nvSpPr>
        <p:spPr>
          <a:xfrm>
            <a:off x="7900721" y="4846320"/>
            <a:ext cx="137160" cy="137160"/>
          </a:xfrm>
          <a:prstGeom prst="rightArrow">
            <a:avLst/>
          </a:prstGeom>
          <a:solidFill>
            <a:srgbClr val="34465A"/>
          </a:solidFill>
          <a:ln/>
        </p:spPr>
      </p:sp>
      <p:sp>
        <p:nvSpPr>
          <p:cNvPr id="59" name="Shape 49"/>
          <p:cNvSpPr/>
          <p:nvPr/>
        </p:nvSpPr>
        <p:spPr>
          <a:xfrm>
            <a:off x="8060741" y="4096512"/>
            <a:ext cx="1690573" cy="1700784"/>
          </a:xfrm>
          <a:prstGeom prst="roundRect">
            <a:avLst>
              <a:gd name="adj" fmla="val 6491"/>
            </a:avLst>
          </a:prstGeom>
          <a:solidFill>
            <a:srgbClr val="18222D"/>
          </a:solidFill>
          <a:ln w="12700">
            <a:solidFill>
              <a:srgbClr val="34465A"/>
            </a:solidFill>
            <a:prstDash val="solid"/>
          </a:ln>
        </p:spPr>
      </p:sp>
      <p:sp>
        <p:nvSpPr>
          <p:cNvPr id="60" name="Shape 50"/>
          <p:cNvSpPr/>
          <p:nvPr/>
        </p:nvSpPr>
        <p:spPr>
          <a:xfrm>
            <a:off x="8243621" y="4279392"/>
            <a:ext cx="310896" cy="310896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61" name="Text 51"/>
          <p:cNvSpPr txBox="1"/>
          <p:nvPr/>
        </p:nvSpPr>
        <p:spPr>
          <a:xfrm>
            <a:off x="8243621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  <p:sp>
        <p:nvSpPr>
          <p:cNvPr id="62" name="Shape 52"/>
          <p:cNvSpPr/>
          <p:nvPr/>
        </p:nvSpPr>
        <p:spPr>
          <a:xfrm>
            <a:off x="9220962" y="4279392"/>
            <a:ext cx="310896" cy="310896"/>
          </a:xfrm>
          <a:prstGeom prst="ellipse">
            <a:avLst/>
          </a:prstGeom>
          <a:solidFill>
            <a:srgbClr val="22303F"/>
          </a:solidFill>
          <a:ln/>
        </p:spPr>
      </p:sp>
      <p:pic>
        <p:nvPicPr>
          <p:cNvPr id="6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01795" y="4360225"/>
            <a:ext cx="149230" cy="149230"/>
          </a:xfrm>
          <a:prstGeom prst="rect">
            <a:avLst/>
          </a:prstGeom>
        </p:spPr>
      </p:pic>
      <p:sp>
        <p:nvSpPr>
          <p:cNvPr id="64" name="Text 53"/>
          <p:cNvSpPr txBox="1"/>
          <p:nvPr/>
        </p:nvSpPr>
        <p:spPr>
          <a:xfrm>
            <a:off x="8243621" y="4681728"/>
            <a:ext cx="13248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&amp; auto-close</a:t>
            </a:r>
            <a:endParaRPr lang="en-US" sz="1050" dirty="0"/>
          </a:p>
        </p:txBody>
      </p:sp>
      <p:sp>
        <p:nvSpPr>
          <p:cNvPr id="65" name="Text 54"/>
          <p:cNvSpPr txBox="1"/>
          <p:nvPr/>
        </p:nvSpPr>
        <p:spPr>
          <a:xfrm>
            <a:off x="8243621" y="5029200"/>
            <a:ext cx="13248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A3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 closes the trip at the stop</a:t>
            </a:r>
            <a:endParaRPr lang="en-US" sz="850" dirty="0"/>
          </a:p>
        </p:txBody>
      </p:sp>
      <p:sp>
        <p:nvSpPr>
          <p:cNvPr id="66" name="Shape 55"/>
          <p:cNvSpPr/>
          <p:nvPr/>
        </p:nvSpPr>
        <p:spPr>
          <a:xfrm>
            <a:off x="9774174" y="4846320"/>
            <a:ext cx="137160" cy="137160"/>
          </a:xfrm>
          <a:prstGeom prst="rightArrow">
            <a:avLst/>
          </a:prstGeom>
          <a:solidFill>
            <a:srgbClr val="34465A"/>
          </a:solidFill>
          <a:ln/>
        </p:spPr>
      </p:sp>
      <p:sp>
        <p:nvSpPr>
          <p:cNvPr id="67" name="Shape 56"/>
          <p:cNvSpPr/>
          <p:nvPr/>
        </p:nvSpPr>
        <p:spPr>
          <a:xfrm>
            <a:off x="9934194" y="4096512"/>
            <a:ext cx="1690573" cy="1700784"/>
          </a:xfrm>
          <a:prstGeom prst="roundRect">
            <a:avLst>
              <a:gd name="adj" fmla="val 6491"/>
            </a:avLst>
          </a:prstGeom>
          <a:solidFill>
            <a:srgbClr val="18222D"/>
          </a:solidFill>
          <a:ln w="12700">
            <a:solidFill>
              <a:srgbClr val="34465A"/>
            </a:solidFill>
            <a:prstDash val="solid"/>
          </a:ln>
        </p:spPr>
      </p:sp>
      <p:sp>
        <p:nvSpPr>
          <p:cNvPr id="68" name="Shape 57"/>
          <p:cNvSpPr/>
          <p:nvPr/>
        </p:nvSpPr>
        <p:spPr>
          <a:xfrm>
            <a:off x="10117074" y="4279392"/>
            <a:ext cx="310896" cy="310896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69" name="Text 58"/>
          <p:cNvSpPr txBox="1"/>
          <p:nvPr/>
        </p:nvSpPr>
        <p:spPr>
          <a:xfrm>
            <a:off x="10117074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50" dirty="0"/>
          </a:p>
        </p:txBody>
      </p:sp>
      <p:sp>
        <p:nvSpPr>
          <p:cNvPr id="70" name="Shape 59"/>
          <p:cNvSpPr/>
          <p:nvPr/>
        </p:nvSpPr>
        <p:spPr>
          <a:xfrm>
            <a:off x="11094415" y="4279392"/>
            <a:ext cx="310896" cy="310896"/>
          </a:xfrm>
          <a:prstGeom prst="ellipse">
            <a:avLst/>
          </a:prstGeom>
          <a:solidFill>
            <a:srgbClr val="22303F"/>
          </a:solidFill>
          <a:ln/>
        </p:spPr>
      </p:sp>
      <p:pic>
        <p:nvPicPr>
          <p:cNvPr id="7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75248" y="4360225"/>
            <a:ext cx="149230" cy="149230"/>
          </a:xfrm>
          <a:prstGeom prst="rect">
            <a:avLst/>
          </a:prstGeom>
        </p:spPr>
      </p:pic>
      <p:sp>
        <p:nvSpPr>
          <p:cNvPr id="72" name="Text 60"/>
          <p:cNvSpPr txBox="1"/>
          <p:nvPr/>
        </p:nvSpPr>
        <p:spPr>
          <a:xfrm>
            <a:off x="10117074" y="4681728"/>
            <a:ext cx="13248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duty</a:t>
            </a:r>
            <a:endParaRPr lang="en-US" sz="1050" dirty="0"/>
          </a:p>
        </p:txBody>
      </p:sp>
      <p:sp>
        <p:nvSpPr>
          <p:cNvPr id="73" name="Text 61"/>
          <p:cNvSpPr txBox="1"/>
          <p:nvPr/>
        </p:nvSpPr>
        <p:spPr>
          <a:xfrm>
            <a:off x="10117074" y="5029200"/>
            <a:ext cx="13248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A3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reading, fuel entry, duty-hours check</a:t>
            </a:r>
            <a:endParaRPr lang="en-US" sz="850" dirty="0"/>
          </a:p>
        </p:txBody>
      </p:sp>
      <p:sp>
        <p:nvSpPr>
          <p:cNvPr id="74" name="Text 62"/>
          <p:cNvSpPr txBox="1"/>
          <p:nvPr/>
        </p:nvSpPr>
        <p:spPr>
          <a:xfrm>
            <a:off x="566928" y="5907024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A3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 are paid only when they are logged in the app - that is what keeps the live data honest.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ECO TECH  ·  Plant Ride for LHS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6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JOURNEY  ·  STEPS 1-2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58368"/>
            <a:ext cx="110578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40" kern="0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Signing on, and proving the vehicle is fit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365760" cy="365760"/>
          </a:xfrm>
          <a:prstGeom prst="ellipse">
            <a:avLst/>
          </a:prstGeom>
          <a:solidFill>
            <a:srgbClr val="0E141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1335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42416" y="1316736"/>
            <a:ext cx="30031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42416" y="1554480"/>
            <a:ext cx="30031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and OTP, no password to forget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77569" y="1920240"/>
            <a:ext cx="2057400" cy="4206240"/>
          </a:xfrm>
          <a:prstGeom prst="roundRect">
            <a:avLst>
              <a:gd name="adj" fmla="val 3778"/>
            </a:avLst>
          </a:prstGeom>
          <a:solidFill>
            <a:srgbClr val="1A222C"/>
          </a:solidFill>
          <a:ln/>
          <a:effectLst>
            <a:outerShdw sx="100000" sy="100000" kx="0" ky="0" algn="bl" rotWithShape="0" blurRad="203200" dist="50800" dir="5400000">
              <a:srgbClr val="0E141B">
                <a:alpha val="2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341577" y="1984248"/>
            <a:ext cx="1929384" cy="4078224"/>
          </a:xfrm>
          <a:prstGeom prst="roundRect">
            <a:avLst>
              <a:gd name="adj" fmla="val 3081"/>
            </a:avLst>
          </a:prstGeom>
          <a:solidFill>
            <a:srgbClr val="F6F8FA"/>
          </a:solidFill>
          <a:ln/>
        </p:spPr>
      </p:sp>
      <p:sp>
        <p:nvSpPr>
          <p:cNvPr id="12" name="Shape 10"/>
          <p:cNvSpPr/>
          <p:nvPr/>
        </p:nvSpPr>
        <p:spPr>
          <a:xfrm>
            <a:off x="2086813" y="2034540"/>
            <a:ext cx="438912" cy="91440"/>
          </a:xfrm>
          <a:prstGeom prst="roundRect">
            <a:avLst>
              <a:gd name="adj" fmla="val 50000"/>
            </a:avLst>
          </a:prstGeom>
          <a:solidFill>
            <a:srgbClr val="1A222C"/>
          </a:solidFill>
          <a:ln/>
        </p:spPr>
      </p:sp>
      <p:sp>
        <p:nvSpPr>
          <p:cNvPr id="13" name="Shape 11"/>
          <p:cNvSpPr/>
          <p:nvPr/>
        </p:nvSpPr>
        <p:spPr>
          <a:xfrm>
            <a:off x="2068525" y="5993892"/>
            <a:ext cx="475488" cy="32004"/>
          </a:xfrm>
          <a:prstGeom prst="roundRect">
            <a:avLst>
              <a:gd name="adj" fmla="val 51429"/>
            </a:avLst>
          </a:prstGeom>
          <a:solidFill>
            <a:srgbClr val="C3CBD4"/>
          </a:solidFill>
          <a:ln/>
        </p:spPr>
      </p:sp>
      <p:sp>
        <p:nvSpPr>
          <p:cNvPr id="14" name="Shape 12"/>
          <p:cNvSpPr/>
          <p:nvPr/>
        </p:nvSpPr>
        <p:spPr>
          <a:xfrm>
            <a:off x="1341577" y="1984248"/>
            <a:ext cx="1929384" cy="4078224"/>
          </a:xfrm>
          <a:prstGeom prst="rect">
            <a:avLst/>
          </a:prstGeom>
          <a:solidFill>
            <a:srgbClr val="1119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460449" y="2025396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7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457" y="2040941"/>
            <a:ext cx="128016" cy="128016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049" y="2040941"/>
            <a:ext cx="128016" cy="128016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6641" y="2037283"/>
            <a:ext cx="137160" cy="13716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2068525" y="2473452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E85D04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965" y="2610612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41577" y="3040380"/>
            <a:ext cx="1929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Ride  Driver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1341577" y="3278124"/>
            <a:ext cx="1929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849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LHS transport</a:t>
            </a:r>
            <a:endParaRPr lang="en-US" sz="640" dirty="0"/>
          </a:p>
        </p:txBody>
      </p:sp>
      <p:sp>
        <p:nvSpPr>
          <p:cNvPr id="23" name="Text 17"/>
          <p:cNvSpPr txBox="1"/>
          <p:nvPr/>
        </p:nvSpPr>
        <p:spPr>
          <a:xfrm>
            <a:off x="1451305" y="3607308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80" kern="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ID</a:t>
            </a:r>
            <a:endParaRPr lang="en-US" sz="550" dirty="0"/>
          </a:p>
        </p:txBody>
      </p:sp>
      <p:sp>
        <p:nvSpPr>
          <p:cNvPr id="24" name="Shape 18"/>
          <p:cNvSpPr/>
          <p:nvPr/>
        </p:nvSpPr>
        <p:spPr>
          <a:xfrm>
            <a:off x="1433017" y="3771900"/>
            <a:ext cx="1746504" cy="384048"/>
          </a:xfrm>
          <a:prstGeom prst="roundRect">
            <a:avLst>
              <a:gd name="adj" fmla="val 14286"/>
            </a:avLst>
          </a:prstGeom>
          <a:solidFill>
            <a:srgbClr val="1E2934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1561033" y="37719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DRV-2281</a:t>
            </a:r>
            <a:endParaRPr lang="en-US" sz="800" dirty="0"/>
          </a:p>
        </p:txBody>
      </p:sp>
      <p:sp>
        <p:nvSpPr>
          <p:cNvPr id="26" name="Text 20"/>
          <p:cNvSpPr txBox="1"/>
          <p:nvPr/>
        </p:nvSpPr>
        <p:spPr>
          <a:xfrm>
            <a:off x="1451305" y="4283964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80" kern="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 PASSWORD</a:t>
            </a:r>
            <a:endParaRPr lang="en-US" sz="550" dirty="0"/>
          </a:p>
        </p:txBody>
      </p:sp>
      <p:sp>
        <p:nvSpPr>
          <p:cNvPr id="27" name="Shape 21"/>
          <p:cNvSpPr/>
          <p:nvPr/>
        </p:nvSpPr>
        <p:spPr>
          <a:xfrm>
            <a:off x="1433017" y="4448556"/>
            <a:ext cx="381762" cy="420624"/>
          </a:xfrm>
          <a:prstGeom prst="roundRect">
            <a:avLst>
              <a:gd name="adj" fmla="val 14371"/>
            </a:avLst>
          </a:prstGeom>
          <a:solidFill>
            <a:srgbClr val="1E2934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1433017" y="4448556"/>
            <a:ext cx="3817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1887931" y="4448556"/>
            <a:ext cx="381762" cy="420624"/>
          </a:xfrm>
          <a:prstGeom prst="roundRect">
            <a:avLst>
              <a:gd name="adj" fmla="val 14371"/>
            </a:avLst>
          </a:prstGeom>
          <a:solidFill>
            <a:srgbClr val="1E2934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1887931" y="4448556"/>
            <a:ext cx="3817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2342845" y="4448556"/>
            <a:ext cx="381762" cy="420624"/>
          </a:xfrm>
          <a:prstGeom prst="roundRect">
            <a:avLst>
              <a:gd name="adj" fmla="val 14371"/>
            </a:avLst>
          </a:prstGeom>
          <a:solidFill>
            <a:srgbClr val="1E2934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2342845" y="4448556"/>
            <a:ext cx="3817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2797759" y="4448556"/>
            <a:ext cx="381762" cy="420624"/>
          </a:xfrm>
          <a:prstGeom prst="roundRect">
            <a:avLst>
              <a:gd name="adj" fmla="val 14371"/>
            </a:avLst>
          </a:prstGeom>
          <a:solidFill>
            <a:srgbClr val="161F29"/>
          </a:solidFill>
          <a:ln w="12700">
            <a:solidFill>
              <a:srgbClr val="27364A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1433017" y="5052060"/>
            <a:ext cx="1746504" cy="384048"/>
          </a:xfrm>
          <a:prstGeom prst="roundRect">
            <a:avLst>
              <a:gd name="adj" fmla="val 14286"/>
            </a:avLst>
          </a:prstGeom>
          <a:solidFill>
            <a:srgbClr val="E85D04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1433017" y="5052060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on for duty</a:t>
            </a:r>
            <a:endParaRPr lang="en-US" sz="750" dirty="0"/>
          </a:p>
        </p:txBody>
      </p:sp>
      <p:sp>
        <p:nvSpPr>
          <p:cNvPr id="36" name="Shape 30"/>
          <p:cNvSpPr/>
          <p:nvPr/>
        </p:nvSpPr>
        <p:spPr>
          <a:xfrm>
            <a:off x="1433017" y="5527548"/>
            <a:ext cx="1746504" cy="365760"/>
          </a:xfrm>
          <a:prstGeom prst="roundRect">
            <a:avLst>
              <a:gd name="adj" fmla="val 15000"/>
            </a:avLst>
          </a:prstGeom>
          <a:solidFill>
            <a:srgbClr val="1E2934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2745" y="5641848"/>
            <a:ext cx="137160" cy="137160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743913" y="55275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C3C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 /  हिंदी</a:t>
            </a:r>
            <a:endParaRPr lang="en-US" sz="640" dirty="0"/>
          </a:p>
        </p:txBody>
      </p:sp>
      <p:sp>
        <p:nvSpPr>
          <p:cNvPr id="39" name="Text 32"/>
          <p:cNvSpPr txBox="1"/>
          <p:nvPr/>
        </p:nvSpPr>
        <p:spPr>
          <a:xfrm>
            <a:off x="566928" y="6217920"/>
            <a:ext cx="34786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password. The OTP goes to the registered number.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4356506" y="1335024"/>
            <a:ext cx="365760" cy="365760"/>
          </a:xfrm>
          <a:prstGeom prst="ellipse">
            <a:avLst/>
          </a:prstGeom>
          <a:solidFill>
            <a:srgbClr val="0E141B"/>
          </a:solidFill>
          <a:ln/>
        </p:spPr>
      </p:sp>
      <p:sp>
        <p:nvSpPr>
          <p:cNvPr id="41" name="Text 34"/>
          <p:cNvSpPr txBox="1"/>
          <p:nvPr/>
        </p:nvSpPr>
        <p:spPr>
          <a:xfrm>
            <a:off x="4356506" y="1335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42" name="Text 35"/>
          <p:cNvSpPr txBox="1"/>
          <p:nvPr/>
        </p:nvSpPr>
        <p:spPr>
          <a:xfrm>
            <a:off x="4831994" y="1316736"/>
            <a:ext cx="30031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check</a:t>
            </a:r>
            <a:endParaRPr lang="en-US" sz="1300" dirty="0"/>
          </a:p>
        </p:txBody>
      </p:sp>
      <p:sp>
        <p:nvSpPr>
          <p:cNvPr id="43" name="Text 36"/>
          <p:cNvSpPr txBox="1"/>
          <p:nvPr/>
        </p:nvSpPr>
        <p:spPr>
          <a:xfrm>
            <a:off x="4831994" y="1554480"/>
            <a:ext cx="30031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the queue until it is done</a:t>
            </a:r>
            <a:endParaRPr lang="en-US" sz="950" dirty="0"/>
          </a:p>
        </p:txBody>
      </p:sp>
      <p:sp>
        <p:nvSpPr>
          <p:cNvPr id="44" name="Shape 37"/>
          <p:cNvSpPr/>
          <p:nvPr/>
        </p:nvSpPr>
        <p:spPr>
          <a:xfrm>
            <a:off x="5067148" y="1920240"/>
            <a:ext cx="2057400" cy="4206240"/>
          </a:xfrm>
          <a:prstGeom prst="roundRect">
            <a:avLst>
              <a:gd name="adj" fmla="val 3778"/>
            </a:avLst>
          </a:prstGeom>
          <a:solidFill>
            <a:srgbClr val="1A222C"/>
          </a:solidFill>
          <a:ln/>
          <a:effectLst>
            <a:outerShdw sx="100000" sy="100000" kx="0" ky="0" algn="bl" rotWithShape="0" blurRad="203200" dist="50800" dir="5400000">
              <a:srgbClr val="0E141B">
                <a:alpha val="2400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5131156" y="1984248"/>
            <a:ext cx="1929384" cy="4078224"/>
          </a:xfrm>
          <a:prstGeom prst="roundRect">
            <a:avLst>
              <a:gd name="adj" fmla="val 3081"/>
            </a:avLst>
          </a:prstGeom>
          <a:solidFill>
            <a:srgbClr val="F6F8FA"/>
          </a:solidFill>
          <a:ln/>
        </p:spPr>
      </p:sp>
      <p:sp>
        <p:nvSpPr>
          <p:cNvPr id="46" name="Shape 39"/>
          <p:cNvSpPr/>
          <p:nvPr/>
        </p:nvSpPr>
        <p:spPr>
          <a:xfrm>
            <a:off x="5876392" y="2034540"/>
            <a:ext cx="438912" cy="91440"/>
          </a:xfrm>
          <a:prstGeom prst="roundRect">
            <a:avLst>
              <a:gd name="adj" fmla="val 50000"/>
            </a:avLst>
          </a:prstGeom>
          <a:solidFill>
            <a:srgbClr val="1A222C"/>
          </a:solidFill>
          <a:ln/>
        </p:spPr>
      </p:sp>
      <p:sp>
        <p:nvSpPr>
          <p:cNvPr id="47" name="Shape 40"/>
          <p:cNvSpPr/>
          <p:nvPr/>
        </p:nvSpPr>
        <p:spPr>
          <a:xfrm>
            <a:off x="5858104" y="5993892"/>
            <a:ext cx="475488" cy="32004"/>
          </a:xfrm>
          <a:prstGeom prst="roundRect">
            <a:avLst>
              <a:gd name="adj" fmla="val 51429"/>
            </a:avLst>
          </a:prstGeom>
          <a:solidFill>
            <a:srgbClr val="C3CBD4"/>
          </a:solidFill>
          <a:ln/>
        </p:spPr>
      </p:sp>
      <p:sp>
        <p:nvSpPr>
          <p:cNvPr id="48" name="Text 41"/>
          <p:cNvSpPr txBox="1"/>
          <p:nvPr/>
        </p:nvSpPr>
        <p:spPr>
          <a:xfrm>
            <a:off x="5250028" y="2025396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700" dirty="0"/>
          </a:p>
        </p:txBody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7036" y="2040941"/>
            <a:ext cx="128016" cy="128016"/>
          </a:xfrm>
          <a:prstGeom prst="rect">
            <a:avLst/>
          </a:prstGeom>
        </p:spPr>
      </p:pic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1628" y="2040941"/>
            <a:ext cx="128016" cy="128016"/>
          </a:xfrm>
          <a:prstGeom prst="rect">
            <a:avLst/>
          </a:prstGeom>
        </p:spPr>
      </p:pic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6220" y="2037283"/>
            <a:ext cx="137160" cy="137160"/>
          </a:xfrm>
          <a:prstGeom prst="rect">
            <a:avLst/>
          </a:prstGeom>
        </p:spPr>
      </p:pic>
      <p:sp>
        <p:nvSpPr>
          <p:cNvPr id="52" name="Shape 42"/>
          <p:cNvSpPr/>
          <p:nvPr/>
        </p:nvSpPr>
        <p:spPr>
          <a:xfrm>
            <a:off x="5131156" y="2199132"/>
            <a:ext cx="1929384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Shape 43"/>
          <p:cNvSpPr/>
          <p:nvPr/>
        </p:nvSpPr>
        <p:spPr>
          <a:xfrm>
            <a:off x="5131156" y="2557577"/>
            <a:ext cx="1929384" cy="7315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54" name="Text 44"/>
          <p:cNvSpPr txBox="1"/>
          <p:nvPr/>
        </p:nvSpPr>
        <p:spPr>
          <a:xfrm>
            <a:off x="5240884" y="2199132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Start-of-duty check</a:t>
            </a:r>
            <a:endParaRPr lang="en-US" sz="850" dirty="0"/>
          </a:p>
        </p:txBody>
      </p:sp>
      <p:sp>
        <p:nvSpPr>
          <p:cNvPr id="55" name="Shape 45"/>
          <p:cNvSpPr/>
          <p:nvPr/>
        </p:nvSpPr>
        <p:spPr>
          <a:xfrm>
            <a:off x="5222596" y="2628900"/>
            <a:ext cx="1746504" cy="420624"/>
          </a:xfrm>
          <a:prstGeom prst="roundRect">
            <a:avLst>
              <a:gd name="adj" fmla="val 15217"/>
            </a:avLst>
          </a:prstGeom>
          <a:solidFill>
            <a:srgbClr val="F0F3F7"/>
          </a:solidFill>
          <a:ln/>
        </p:spPr>
      </p:sp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2324" y="2756916"/>
            <a:ext cx="164592" cy="164592"/>
          </a:xfrm>
          <a:prstGeom prst="rect">
            <a:avLst/>
          </a:prstGeom>
        </p:spPr>
      </p:pic>
      <p:sp>
        <p:nvSpPr>
          <p:cNvPr id="57" name="Text 46"/>
          <p:cNvSpPr txBox="1"/>
          <p:nvPr/>
        </p:nvSpPr>
        <p:spPr>
          <a:xfrm>
            <a:off x="5570068" y="26746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 12 AB 4412 · C-12</a:t>
            </a:r>
            <a:endParaRPr lang="en-US" sz="680" dirty="0"/>
          </a:p>
        </p:txBody>
      </p:sp>
      <p:sp>
        <p:nvSpPr>
          <p:cNvPr id="58" name="Text 47"/>
          <p:cNvSpPr txBox="1"/>
          <p:nvPr/>
        </p:nvSpPr>
        <p:spPr>
          <a:xfrm>
            <a:off x="5570068" y="283921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pass GP-7741 · valid</a:t>
            </a:r>
            <a:endParaRPr lang="en-US" sz="580" dirty="0"/>
          </a:p>
        </p:txBody>
      </p:sp>
      <p:sp>
        <p:nvSpPr>
          <p:cNvPr id="59" name="Shape 48"/>
          <p:cNvSpPr/>
          <p:nvPr/>
        </p:nvSpPr>
        <p:spPr>
          <a:xfrm>
            <a:off x="5222596" y="3140964"/>
            <a:ext cx="174650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0" name="Shape 49"/>
          <p:cNvSpPr/>
          <p:nvPr/>
        </p:nvSpPr>
        <p:spPr>
          <a:xfrm>
            <a:off x="5304892" y="3214116"/>
            <a:ext cx="164592" cy="16459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29580" y="3238805"/>
            <a:ext cx="114300" cy="114300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5542636" y="314096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Tyres and pressure</a:t>
            </a:r>
            <a:endParaRPr lang="en-US" sz="630" dirty="0"/>
          </a:p>
        </p:txBody>
      </p:sp>
      <p:sp>
        <p:nvSpPr>
          <p:cNvPr id="63" name="Shape 51"/>
          <p:cNvSpPr/>
          <p:nvPr/>
        </p:nvSpPr>
        <p:spPr>
          <a:xfrm>
            <a:off x="5222596" y="3488436"/>
            <a:ext cx="174650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4" name="Shape 52"/>
          <p:cNvSpPr/>
          <p:nvPr/>
        </p:nvSpPr>
        <p:spPr>
          <a:xfrm>
            <a:off x="5304892" y="3561588"/>
            <a:ext cx="164592" cy="16459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29580" y="3586277"/>
            <a:ext cx="114300" cy="114300"/>
          </a:xfrm>
          <a:prstGeom prst="rect">
            <a:avLst/>
          </a:prstGeom>
        </p:spPr>
      </p:pic>
      <p:sp>
        <p:nvSpPr>
          <p:cNvPr id="66" name="Text 53"/>
          <p:cNvSpPr txBox="1"/>
          <p:nvPr/>
        </p:nvSpPr>
        <p:spPr>
          <a:xfrm>
            <a:off x="5542636" y="348843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Lights and indicators</a:t>
            </a:r>
            <a:endParaRPr lang="en-US" sz="630" dirty="0"/>
          </a:p>
        </p:txBody>
      </p:sp>
      <p:sp>
        <p:nvSpPr>
          <p:cNvPr id="67" name="Shape 54"/>
          <p:cNvSpPr/>
          <p:nvPr/>
        </p:nvSpPr>
        <p:spPr>
          <a:xfrm>
            <a:off x="5222596" y="3835908"/>
            <a:ext cx="174650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8" name="Shape 55"/>
          <p:cNvSpPr/>
          <p:nvPr/>
        </p:nvSpPr>
        <p:spPr>
          <a:xfrm>
            <a:off x="5304892" y="3909060"/>
            <a:ext cx="164592" cy="16459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29580" y="3933749"/>
            <a:ext cx="114300" cy="114300"/>
          </a:xfrm>
          <a:prstGeom prst="rect">
            <a:avLst/>
          </a:prstGeom>
        </p:spPr>
      </p:pic>
      <p:sp>
        <p:nvSpPr>
          <p:cNvPr id="70" name="Text 56"/>
          <p:cNvSpPr txBox="1"/>
          <p:nvPr/>
        </p:nvSpPr>
        <p:spPr>
          <a:xfrm>
            <a:off x="5542636" y="383590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belts (all seats)</a:t>
            </a:r>
            <a:endParaRPr lang="en-US" sz="630" dirty="0"/>
          </a:p>
        </p:txBody>
      </p:sp>
      <p:sp>
        <p:nvSpPr>
          <p:cNvPr id="71" name="Shape 57"/>
          <p:cNvSpPr/>
          <p:nvPr/>
        </p:nvSpPr>
        <p:spPr>
          <a:xfrm>
            <a:off x="5222596" y="4183380"/>
            <a:ext cx="174650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2" name="Shape 58"/>
          <p:cNvSpPr/>
          <p:nvPr/>
        </p:nvSpPr>
        <p:spPr>
          <a:xfrm>
            <a:off x="5304892" y="4256532"/>
            <a:ext cx="164592" cy="16459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7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29580" y="4281221"/>
            <a:ext cx="114300" cy="114300"/>
          </a:xfrm>
          <a:prstGeom prst="rect">
            <a:avLst/>
          </a:prstGeom>
        </p:spPr>
      </p:pic>
      <p:sp>
        <p:nvSpPr>
          <p:cNvPr id="74" name="Text 59"/>
          <p:cNvSpPr txBox="1"/>
          <p:nvPr/>
        </p:nvSpPr>
        <p:spPr>
          <a:xfrm>
            <a:off x="5542636" y="418338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level</a:t>
            </a:r>
            <a:endParaRPr lang="en-US" sz="630" dirty="0"/>
          </a:p>
        </p:txBody>
      </p:sp>
      <p:sp>
        <p:nvSpPr>
          <p:cNvPr id="75" name="Shape 60"/>
          <p:cNvSpPr/>
          <p:nvPr/>
        </p:nvSpPr>
        <p:spPr>
          <a:xfrm>
            <a:off x="5222596" y="4530852"/>
            <a:ext cx="174650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6" name="Shape 61"/>
          <p:cNvSpPr/>
          <p:nvPr/>
        </p:nvSpPr>
        <p:spPr>
          <a:xfrm>
            <a:off x="5304892" y="4604004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C3CBD4"/>
            </a:solidFill>
            <a:prstDash val="solid"/>
          </a:ln>
        </p:spPr>
      </p:sp>
      <p:sp>
        <p:nvSpPr>
          <p:cNvPr id="77" name="Text 62"/>
          <p:cNvSpPr txBox="1"/>
          <p:nvPr/>
        </p:nvSpPr>
        <p:spPr>
          <a:xfrm>
            <a:off x="5542636" y="453085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First-aid and extinguisher</a:t>
            </a:r>
            <a:endParaRPr lang="en-US" sz="630" dirty="0"/>
          </a:p>
        </p:txBody>
      </p:sp>
      <p:sp>
        <p:nvSpPr>
          <p:cNvPr id="78" name="Shape 63"/>
          <p:cNvSpPr/>
          <p:nvPr/>
        </p:nvSpPr>
        <p:spPr>
          <a:xfrm>
            <a:off x="5222596" y="4896612"/>
            <a:ext cx="174650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dash"/>
          </a:ln>
        </p:spPr>
      </p:sp>
      <p:pic>
        <p:nvPicPr>
          <p:cNvPr id="7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32324" y="5020056"/>
            <a:ext cx="137160" cy="137160"/>
          </a:xfrm>
          <a:prstGeom prst="rect">
            <a:avLst/>
          </a:prstGeom>
        </p:spPr>
      </p:pic>
      <p:sp>
        <p:nvSpPr>
          <p:cNvPr id="80" name="Text 64"/>
          <p:cNvSpPr txBox="1"/>
          <p:nvPr/>
        </p:nvSpPr>
        <p:spPr>
          <a:xfrm>
            <a:off x="5533492" y="489661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Odometer photo · 41 208 km</a:t>
            </a:r>
            <a:endParaRPr lang="en-US" sz="600" dirty="0"/>
          </a:p>
        </p:txBody>
      </p:sp>
      <p:sp>
        <p:nvSpPr>
          <p:cNvPr id="81" name="Shape 65"/>
          <p:cNvSpPr/>
          <p:nvPr/>
        </p:nvSpPr>
        <p:spPr>
          <a:xfrm>
            <a:off x="5222596" y="5454396"/>
            <a:ext cx="1746504" cy="347472"/>
          </a:xfrm>
          <a:prstGeom prst="roundRect">
            <a:avLst>
              <a:gd name="adj" fmla="val 15789"/>
            </a:avLst>
          </a:prstGeom>
          <a:solidFill>
            <a:srgbClr val="E85D04"/>
          </a:solidFill>
          <a:ln/>
        </p:spPr>
      </p:sp>
      <p:sp>
        <p:nvSpPr>
          <p:cNvPr id="82" name="Text 66"/>
          <p:cNvSpPr txBox="1"/>
          <p:nvPr/>
        </p:nvSpPr>
        <p:spPr>
          <a:xfrm>
            <a:off x="5222596" y="5454396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check (4 of 5)</a:t>
            </a:r>
            <a:endParaRPr lang="en-US" sz="750" dirty="0"/>
          </a:p>
        </p:txBody>
      </p:sp>
      <p:sp>
        <p:nvSpPr>
          <p:cNvPr id="83" name="Text 67"/>
          <p:cNvSpPr txBox="1"/>
          <p:nvPr/>
        </p:nvSpPr>
        <p:spPr>
          <a:xfrm>
            <a:off x="4356506" y="6217920"/>
            <a:ext cx="34786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KM reading here starts the day's distance log.</a:t>
            </a:r>
            <a:endParaRPr lang="en-US" sz="950" dirty="0"/>
          </a:p>
        </p:txBody>
      </p:sp>
      <p:sp>
        <p:nvSpPr>
          <p:cNvPr id="84" name="Shape 68"/>
          <p:cNvSpPr/>
          <p:nvPr/>
        </p:nvSpPr>
        <p:spPr>
          <a:xfrm>
            <a:off x="8146085" y="1335024"/>
            <a:ext cx="365760" cy="365760"/>
          </a:xfrm>
          <a:prstGeom prst="ellipse">
            <a:avLst/>
          </a:prstGeom>
          <a:solidFill>
            <a:srgbClr val="0E141B"/>
          </a:solidFill>
          <a:ln/>
        </p:spPr>
      </p:sp>
      <p:sp>
        <p:nvSpPr>
          <p:cNvPr id="85" name="Text 69"/>
          <p:cNvSpPr txBox="1"/>
          <p:nvPr/>
        </p:nvSpPr>
        <p:spPr>
          <a:xfrm>
            <a:off x="8146085" y="1335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86" name="Text 70"/>
          <p:cNvSpPr txBox="1"/>
          <p:nvPr/>
        </p:nvSpPr>
        <p:spPr>
          <a:xfrm>
            <a:off x="8621573" y="1316736"/>
            <a:ext cx="30031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trips</a:t>
            </a:r>
            <a:endParaRPr lang="en-US" sz="1300" dirty="0"/>
          </a:p>
        </p:txBody>
      </p:sp>
      <p:sp>
        <p:nvSpPr>
          <p:cNvPr id="87" name="Text 71"/>
          <p:cNvSpPr txBox="1"/>
          <p:nvPr/>
        </p:nvSpPr>
        <p:spPr>
          <a:xfrm>
            <a:off x="8621573" y="1554480"/>
            <a:ext cx="30031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is checked before dispatch</a:t>
            </a:r>
            <a:endParaRPr lang="en-US" sz="950" dirty="0"/>
          </a:p>
        </p:txBody>
      </p:sp>
      <p:sp>
        <p:nvSpPr>
          <p:cNvPr id="88" name="Shape 72"/>
          <p:cNvSpPr/>
          <p:nvPr/>
        </p:nvSpPr>
        <p:spPr>
          <a:xfrm>
            <a:off x="8856726" y="1920240"/>
            <a:ext cx="2057400" cy="4206240"/>
          </a:xfrm>
          <a:prstGeom prst="roundRect">
            <a:avLst>
              <a:gd name="adj" fmla="val 3778"/>
            </a:avLst>
          </a:prstGeom>
          <a:solidFill>
            <a:srgbClr val="1A222C"/>
          </a:solidFill>
          <a:ln/>
          <a:effectLst>
            <a:outerShdw sx="100000" sy="100000" kx="0" ky="0" algn="bl" rotWithShape="0" blurRad="203200" dist="50800" dir="5400000">
              <a:srgbClr val="0E141B">
                <a:alpha val="24000"/>
              </a:srgbClr>
            </a:outerShdw>
          </a:effectLst>
        </p:spPr>
      </p:sp>
      <p:sp>
        <p:nvSpPr>
          <p:cNvPr id="89" name="Shape 73"/>
          <p:cNvSpPr/>
          <p:nvPr/>
        </p:nvSpPr>
        <p:spPr>
          <a:xfrm>
            <a:off x="8920734" y="1984248"/>
            <a:ext cx="1929384" cy="4078224"/>
          </a:xfrm>
          <a:prstGeom prst="roundRect">
            <a:avLst>
              <a:gd name="adj" fmla="val 3081"/>
            </a:avLst>
          </a:prstGeom>
          <a:solidFill>
            <a:srgbClr val="F6F8FA"/>
          </a:solidFill>
          <a:ln/>
        </p:spPr>
      </p:sp>
      <p:sp>
        <p:nvSpPr>
          <p:cNvPr id="90" name="Shape 74"/>
          <p:cNvSpPr/>
          <p:nvPr/>
        </p:nvSpPr>
        <p:spPr>
          <a:xfrm>
            <a:off x="9665970" y="2034540"/>
            <a:ext cx="438912" cy="91440"/>
          </a:xfrm>
          <a:prstGeom prst="roundRect">
            <a:avLst>
              <a:gd name="adj" fmla="val 50000"/>
            </a:avLst>
          </a:prstGeom>
          <a:solidFill>
            <a:srgbClr val="1A222C"/>
          </a:solidFill>
          <a:ln/>
        </p:spPr>
      </p:sp>
      <p:sp>
        <p:nvSpPr>
          <p:cNvPr id="91" name="Shape 75"/>
          <p:cNvSpPr/>
          <p:nvPr/>
        </p:nvSpPr>
        <p:spPr>
          <a:xfrm>
            <a:off x="9647682" y="5993892"/>
            <a:ext cx="475488" cy="32004"/>
          </a:xfrm>
          <a:prstGeom prst="roundRect">
            <a:avLst>
              <a:gd name="adj" fmla="val 51429"/>
            </a:avLst>
          </a:prstGeom>
          <a:solidFill>
            <a:srgbClr val="C3CBD4"/>
          </a:solidFill>
          <a:ln/>
        </p:spPr>
      </p:sp>
      <p:sp>
        <p:nvSpPr>
          <p:cNvPr id="92" name="Text 76"/>
          <p:cNvSpPr txBox="1"/>
          <p:nvPr/>
        </p:nvSpPr>
        <p:spPr>
          <a:xfrm>
            <a:off x="9039606" y="2025396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700" dirty="0"/>
          </a:p>
        </p:txBody>
      </p:sp>
      <p:pic>
        <p:nvPicPr>
          <p:cNvPr id="9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46614" y="2040941"/>
            <a:ext cx="128016" cy="128016"/>
          </a:xfrm>
          <a:prstGeom prst="rect">
            <a:avLst/>
          </a:prstGeom>
        </p:spPr>
      </p:pic>
      <p:pic>
        <p:nvPicPr>
          <p:cNvPr id="9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411206" y="2040941"/>
            <a:ext cx="128016" cy="128016"/>
          </a:xfrm>
          <a:prstGeom prst="rect">
            <a:avLst/>
          </a:prstGeom>
        </p:spPr>
      </p:pic>
      <p:pic>
        <p:nvPicPr>
          <p:cNvPr id="95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575798" y="2037283"/>
            <a:ext cx="137160" cy="137160"/>
          </a:xfrm>
          <a:prstGeom prst="rect">
            <a:avLst/>
          </a:prstGeom>
        </p:spPr>
      </p:pic>
      <p:sp>
        <p:nvSpPr>
          <p:cNvPr id="96" name="Shape 77"/>
          <p:cNvSpPr/>
          <p:nvPr/>
        </p:nvSpPr>
        <p:spPr>
          <a:xfrm>
            <a:off x="8920734" y="2199132"/>
            <a:ext cx="1929384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Shape 78"/>
          <p:cNvSpPr/>
          <p:nvPr/>
        </p:nvSpPr>
        <p:spPr>
          <a:xfrm>
            <a:off x="8920734" y="2557577"/>
            <a:ext cx="1929384" cy="7315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98" name="Text 79"/>
          <p:cNvSpPr txBox="1"/>
          <p:nvPr/>
        </p:nvSpPr>
        <p:spPr>
          <a:xfrm>
            <a:off x="9030462" y="2199132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Duty status</a:t>
            </a:r>
            <a:endParaRPr lang="en-US" sz="850" dirty="0"/>
          </a:p>
        </p:txBody>
      </p:sp>
      <p:sp>
        <p:nvSpPr>
          <p:cNvPr id="99" name="Shape 80"/>
          <p:cNvSpPr/>
          <p:nvPr/>
        </p:nvSpPr>
        <p:spPr>
          <a:xfrm>
            <a:off x="9012174" y="2638044"/>
            <a:ext cx="1746504" cy="585216"/>
          </a:xfrm>
          <a:prstGeom prst="roundRect">
            <a:avLst>
              <a:gd name="adj" fmla="val 12500"/>
            </a:avLst>
          </a:prstGeom>
          <a:solidFill>
            <a:srgbClr val="E2F6F3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0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40190" y="2811780"/>
            <a:ext cx="237744" cy="237744"/>
          </a:xfrm>
          <a:prstGeom prst="rect">
            <a:avLst/>
          </a:prstGeom>
        </p:spPr>
      </p:pic>
      <p:sp>
        <p:nvSpPr>
          <p:cNvPr id="101" name="Text 81"/>
          <p:cNvSpPr txBox="1"/>
          <p:nvPr/>
        </p:nvSpPr>
        <p:spPr>
          <a:xfrm>
            <a:off x="9451086" y="27386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duty</a:t>
            </a:r>
            <a:endParaRPr lang="en-US" sz="900" dirty="0"/>
          </a:p>
        </p:txBody>
      </p:sp>
      <p:sp>
        <p:nvSpPr>
          <p:cNvPr id="102" name="Text 82"/>
          <p:cNvSpPr txBox="1"/>
          <p:nvPr/>
        </p:nvSpPr>
        <p:spPr>
          <a:xfrm>
            <a:off x="9451086" y="293979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06:02 · 1h 48m</a:t>
            </a:r>
            <a:endParaRPr lang="en-US" sz="600" dirty="0"/>
          </a:p>
        </p:txBody>
      </p:sp>
      <p:sp>
        <p:nvSpPr>
          <p:cNvPr id="103" name="Text 83"/>
          <p:cNvSpPr txBox="1"/>
          <p:nvPr/>
        </p:nvSpPr>
        <p:spPr>
          <a:xfrm>
            <a:off x="9030462" y="3332988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80" kern="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CHECKED</a:t>
            </a:r>
            <a:endParaRPr lang="en-US" sz="550" dirty="0"/>
          </a:p>
        </p:txBody>
      </p:sp>
      <p:sp>
        <p:nvSpPr>
          <p:cNvPr id="104" name="Shape 84"/>
          <p:cNvSpPr/>
          <p:nvPr/>
        </p:nvSpPr>
        <p:spPr>
          <a:xfrm>
            <a:off x="9012174" y="3506724"/>
            <a:ext cx="1746504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pic>
        <p:nvPicPr>
          <p:cNvPr id="10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03614" y="3598164"/>
            <a:ext cx="146304" cy="146304"/>
          </a:xfrm>
          <a:prstGeom prst="rect">
            <a:avLst/>
          </a:prstGeom>
        </p:spPr>
      </p:pic>
      <p:sp>
        <p:nvSpPr>
          <p:cNvPr id="106" name="Text 85"/>
          <p:cNvSpPr txBox="1"/>
          <p:nvPr/>
        </p:nvSpPr>
        <p:spPr>
          <a:xfrm>
            <a:off x="9323070" y="352501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licence</a:t>
            </a:r>
            <a:endParaRPr lang="en-US" sz="630" dirty="0"/>
          </a:p>
        </p:txBody>
      </p:sp>
      <p:sp>
        <p:nvSpPr>
          <p:cNvPr id="107" name="Text 86"/>
          <p:cNvSpPr txBox="1"/>
          <p:nvPr/>
        </p:nvSpPr>
        <p:spPr>
          <a:xfrm>
            <a:off x="9323070" y="3671316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to 03/2029</a:t>
            </a:r>
            <a:endParaRPr lang="en-US" sz="550" dirty="0"/>
          </a:p>
        </p:txBody>
      </p:sp>
      <p:sp>
        <p:nvSpPr>
          <p:cNvPr id="108" name="Shape 87"/>
          <p:cNvSpPr/>
          <p:nvPr/>
        </p:nvSpPr>
        <p:spPr>
          <a:xfrm>
            <a:off x="9012174" y="3872484"/>
            <a:ext cx="1746504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pic>
        <p:nvPicPr>
          <p:cNvPr id="109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03614" y="3963924"/>
            <a:ext cx="146304" cy="146304"/>
          </a:xfrm>
          <a:prstGeom prst="rect">
            <a:avLst/>
          </a:prstGeom>
        </p:spPr>
      </p:pic>
      <p:sp>
        <p:nvSpPr>
          <p:cNvPr id="110" name="Text 88"/>
          <p:cNvSpPr txBox="1"/>
          <p:nvPr/>
        </p:nvSpPr>
        <p:spPr>
          <a:xfrm>
            <a:off x="9323070" y="389077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insurance</a:t>
            </a:r>
            <a:endParaRPr lang="en-US" sz="630" dirty="0"/>
          </a:p>
        </p:txBody>
      </p:sp>
      <p:sp>
        <p:nvSpPr>
          <p:cNvPr id="111" name="Text 89"/>
          <p:cNvSpPr txBox="1"/>
          <p:nvPr/>
        </p:nvSpPr>
        <p:spPr>
          <a:xfrm>
            <a:off x="9323070" y="4037076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to 11/2026</a:t>
            </a:r>
            <a:endParaRPr lang="en-US" sz="550" dirty="0"/>
          </a:p>
        </p:txBody>
      </p:sp>
      <p:sp>
        <p:nvSpPr>
          <p:cNvPr id="112" name="Shape 90"/>
          <p:cNvSpPr/>
          <p:nvPr/>
        </p:nvSpPr>
        <p:spPr>
          <a:xfrm>
            <a:off x="9012174" y="4238244"/>
            <a:ext cx="1746504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pic>
        <p:nvPicPr>
          <p:cNvPr id="113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103614" y="4329684"/>
            <a:ext cx="146304" cy="146304"/>
          </a:xfrm>
          <a:prstGeom prst="rect">
            <a:avLst/>
          </a:prstGeom>
        </p:spPr>
      </p:pic>
      <p:sp>
        <p:nvSpPr>
          <p:cNvPr id="114" name="Text 91"/>
          <p:cNvSpPr txBox="1"/>
          <p:nvPr/>
        </p:nvSpPr>
        <p:spPr>
          <a:xfrm>
            <a:off x="9323070" y="425653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certificate</a:t>
            </a:r>
            <a:endParaRPr lang="en-US" sz="630" dirty="0"/>
          </a:p>
        </p:txBody>
      </p:sp>
      <p:sp>
        <p:nvSpPr>
          <p:cNvPr id="115" name="Text 92"/>
          <p:cNvSpPr txBox="1"/>
          <p:nvPr/>
        </p:nvSpPr>
        <p:spPr>
          <a:xfrm>
            <a:off x="9323070" y="4402836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to 06/2027</a:t>
            </a:r>
            <a:endParaRPr lang="en-US" sz="550" dirty="0"/>
          </a:p>
        </p:txBody>
      </p:sp>
      <p:sp>
        <p:nvSpPr>
          <p:cNvPr id="116" name="Shape 93"/>
          <p:cNvSpPr/>
          <p:nvPr/>
        </p:nvSpPr>
        <p:spPr>
          <a:xfrm>
            <a:off x="9012174" y="4604004"/>
            <a:ext cx="1746504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pic>
        <p:nvPicPr>
          <p:cNvPr id="117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103614" y="4695444"/>
            <a:ext cx="146304" cy="146304"/>
          </a:xfrm>
          <a:prstGeom prst="rect">
            <a:avLst/>
          </a:prstGeom>
        </p:spPr>
      </p:pic>
      <p:sp>
        <p:nvSpPr>
          <p:cNvPr id="118" name="Text 94"/>
          <p:cNvSpPr txBox="1"/>
          <p:nvPr/>
        </p:nvSpPr>
        <p:spPr>
          <a:xfrm>
            <a:off x="9323070" y="462229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 certificate</a:t>
            </a:r>
            <a:endParaRPr lang="en-US" sz="630" dirty="0"/>
          </a:p>
        </p:txBody>
      </p:sp>
      <p:sp>
        <p:nvSpPr>
          <p:cNvPr id="119" name="Text 95"/>
          <p:cNvSpPr txBox="1"/>
          <p:nvPr/>
        </p:nvSpPr>
        <p:spPr>
          <a:xfrm>
            <a:off x="9323070" y="4768596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E8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expires in 6 days</a:t>
            </a:r>
            <a:endParaRPr lang="en-US" sz="550" dirty="0"/>
          </a:p>
        </p:txBody>
      </p:sp>
      <p:sp>
        <p:nvSpPr>
          <p:cNvPr id="120" name="Shape 96"/>
          <p:cNvSpPr/>
          <p:nvPr/>
        </p:nvSpPr>
        <p:spPr>
          <a:xfrm>
            <a:off x="9012174" y="4988052"/>
            <a:ext cx="1746504" cy="347472"/>
          </a:xfrm>
          <a:prstGeom prst="roundRect">
            <a:avLst>
              <a:gd name="adj" fmla="val 15789"/>
            </a:avLst>
          </a:prstGeom>
          <a:solidFill>
            <a:srgbClr val="FBE9E7"/>
          </a:solidFill>
          <a:ln/>
        </p:spPr>
      </p:sp>
      <p:pic>
        <p:nvPicPr>
          <p:cNvPr id="121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103614" y="5088636"/>
            <a:ext cx="146304" cy="146304"/>
          </a:xfrm>
          <a:prstGeom prst="rect">
            <a:avLst/>
          </a:prstGeom>
        </p:spPr>
      </p:pic>
      <p:sp>
        <p:nvSpPr>
          <p:cNvPr id="122" name="Text 97"/>
          <p:cNvSpPr txBox="1"/>
          <p:nvPr/>
        </p:nvSpPr>
        <p:spPr>
          <a:xfrm>
            <a:off x="9304782" y="4988052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expired document blocks dispatch</a:t>
            </a:r>
            <a:endParaRPr lang="en-US" sz="560" dirty="0"/>
          </a:p>
        </p:txBody>
      </p:sp>
      <p:sp>
        <p:nvSpPr>
          <p:cNvPr id="123" name="Shape 98"/>
          <p:cNvSpPr/>
          <p:nvPr/>
        </p:nvSpPr>
        <p:spPr>
          <a:xfrm>
            <a:off x="8920734" y="5472684"/>
            <a:ext cx="1929384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4" name="Shape 99"/>
          <p:cNvSpPr/>
          <p:nvPr/>
        </p:nvSpPr>
        <p:spPr>
          <a:xfrm>
            <a:off x="8920734" y="5472684"/>
            <a:ext cx="1929384" cy="7315"/>
          </a:xfrm>
          <a:prstGeom prst="rect">
            <a:avLst/>
          </a:prstGeom>
          <a:solidFill>
            <a:srgbClr val="E8EDF2"/>
          </a:solidFill>
          <a:ln/>
        </p:spPr>
      </p:sp>
      <p:pic>
        <p:nvPicPr>
          <p:cNvPr id="1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093327" y="5559552"/>
            <a:ext cx="137160" cy="137160"/>
          </a:xfrm>
          <a:prstGeom prst="rect">
            <a:avLst/>
          </a:prstGeom>
        </p:spPr>
      </p:pic>
      <p:sp>
        <p:nvSpPr>
          <p:cNvPr id="126" name="Text 100"/>
          <p:cNvSpPr txBox="1"/>
          <p:nvPr/>
        </p:nvSpPr>
        <p:spPr>
          <a:xfrm>
            <a:off x="8920734" y="5710428"/>
            <a:ext cx="48234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</a:t>
            </a:r>
            <a:endParaRPr lang="en-US" sz="550" dirty="0"/>
          </a:p>
        </p:txBody>
      </p:sp>
      <p:pic>
        <p:nvPicPr>
          <p:cNvPr id="127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575673" y="5559552"/>
            <a:ext cx="137160" cy="137160"/>
          </a:xfrm>
          <a:prstGeom prst="rect">
            <a:avLst/>
          </a:prstGeom>
        </p:spPr>
      </p:pic>
      <p:sp>
        <p:nvSpPr>
          <p:cNvPr id="128" name="Text 101"/>
          <p:cNvSpPr txBox="1"/>
          <p:nvPr/>
        </p:nvSpPr>
        <p:spPr>
          <a:xfrm>
            <a:off x="9403080" y="5710428"/>
            <a:ext cx="48234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</a:t>
            </a:r>
            <a:endParaRPr lang="en-US" sz="550" dirty="0"/>
          </a:p>
        </p:txBody>
      </p:sp>
      <p:pic>
        <p:nvPicPr>
          <p:cNvPr id="129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058019" y="5559552"/>
            <a:ext cx="137160" cy="137160"/>
          </a:xfrm>
          <a:prstGeom prst="rect">
            <a:avLst/>
          </a:prstGeom>
        </p:spPr>
      </p:pic>
      <p:sp>
        <p:nvSpPr>
          <p:cNvPr id="130" name="Text 102"/>
          <p:cNvSpPr txBox="1"/>
          <p:nvPr/>
        </p:nvSpPr>
        <p:spPr>
          <a:xfrm>
            <a:off x="9885426" y="5710428"/>
            <a:ext cx="48234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</a:t>
            </a:r>
            <a:endParaRPr lang="en-US" sz="550" dirty="0"/>
          </a:p>
        </p:txBody>
      </p:sp>
      <p:pic>
        <p:nvPicPr>
          <p:cNvPr id="131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540365" y="5559552"/>
            <a:ext cx="137160" cy="137160"/>
          </a:xfrm>
          <a:prstGeom prst="rect">
            <a:avLst/>
          </a:prstGeom>
        </p:spPr>
      </p:pic>
      <p:sp>
        <p:nvSpPr>
          <p:cNvPr id="132" name="Text 103"/>
          <p:cNvSpPr txBox="1"/>
          <p:nvPr/>
        </p:nvSpPr>
        <p:spPr>
          <a:xfrm>
            <a:off x="10367772" y="5710428"/>
            <a:ext cx="48234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</a:t>
            </a:r>
            <a:endParaRPr lang="en-US" sz="550" dirty="0"/>
          </a:p>
        </p:txBody>
      </p:sp>
      <p:sp>
        <p:nvSpPr>
          <p:cNvPr id="133" name="Text 104"/>
          <p:cNvSpPr txBox="1"/>
          <p:nvPr/>
        </p:nvSpPr>
        <p:spPr>
          <a:xfrm>
            <a:off x="8146085" y="6217920"/>
            <a:ext cx="34786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is enforced here, not discovered at the gate.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ECO TECH  ·  Plant Ride for LHS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6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JOURNEY  ·  STEPS 3-5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58368"/>
            <a:ext cx="110578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40" kern="0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the sequenced queue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365760" cy="365760"/>
          </a:xfrm>
          <a:prstGeom prst="ellipse">
            <a:avLst/>
          </a:prstGeom>
          <a:solidFill>
            <a:srgbClr val="0E141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1335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42416" y="1316736"/>
            <a:ext cx="30031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 queue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42416" y="1554480"/>
            <a:ext cx="30031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Pickups already in route order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77569" y="1920240"/>
            <a:ext cx="2057400" cy="4206240"/>
          </a:xfrm>
          <a:prstGeom prst="roundRect">
            <a:avLst>
              <a:gd name="adj" fmla="val 3778"/>
            </a:avLst>
          </a:prstGeom>
          <a:solidFill>
            <a:srgbClr val="1A222C"/>
          </a:solidFill>
          <a:ln/>
          <a:effectLst>
            <a:outerShdw sx="100000" sy="100000" kx="0" ky="0" algn="bl" rotWithShape="0" blurRad="203200" dist="50800" dir="5400000">
              <a:srgbClr val="0E141B">
                <a:alpha val="2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341577" y="1984248"/>
            <a:ext cx="1929384" cy="4078224"/>
          </a:xfrm>
          <a:prstGeom prst="roundRect">
            <a:avLst>
              <a:gd name="adj" fmla="val 3081"/>
            </a:avLst>
          </a:prstGeom>
          <a:solidFill>
            <a:srgbClr val="F6F8FA"/>
          </a:solidFill>
          <a:ln/>
        </p:spPr>
      </p:sp>
      <p:sp>
        <p:nvSpPr>
          <p:cNvPr id="12" name="Shape 10"/>
          <p:cNvSpPr/>
          <p:nvPr/>
        </p:nvSpPr>
        <p:spPr>
          <a:xfrm>
            <a:off x="2086813" y="2034540"/>
            <a:ext cx="438912" cy="91440"/>
          </a:xfrm>
          <a:prstGeom prst="roundRect">
            <a:avLst>
              <a:gd name="adj" fmla="val 50000"/>
            </a:avLst>
          </a:prstGeom>
          <a:solidFill>
            <a:srgbClr val="1A222C"/>
          </a:solidFill>
          <a:ln/>
        </p:spPr>
      </p:sp>
      <p:sp>
        <p:nvSpPr>
          <p:cNvPr id="13" name="Shape 11"/>
          <p:cNvSpPr/>
          <p:nvPr/>
        </p:nvSpPr>
        <p:spPr>
          <a:xfrm>
            <a:off x="2068525" y="5993892"/>
            <a:ext cx="475488" cy="32004"/>
          </a:xfrm>
          <a:prstGeom prst="roundRect">
            <a:avLst>
              <a:gd name="adj" fmla="val 51429"/>
            </a:avLst>
          </a:prstGeom>
          <a:solidFill>
            <a:srgbClr val="C3CBD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460449" y="2025396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7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457" y="2040941"/>
            <a:ext cx="128016" cy="128016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049" y="2040941"/>
            <a:ext cx="128016" cy="128016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6641" y="2037283"/>
            <a:ext cx="137160" cy="13716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1341577" y="2199132"/>
            <a:ext cx="1929384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4"/>
          <p:cNvSpPr/>
          <p:nvPr/>
        </p:nvSpPr>
        <p:spPr>
          <a:xfrm>
            <a:off x="1341577" y="2557577"/>
            <a:ext cx="1929384" cy="7315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1451305" y="2199132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1  ·  North corridor</a:t>
            </a:r>
            <a:endParaRPr lang="en-US" sz="8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6641" y="2318004"/>
            <a:ext cx="137160" cy="13716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1433017" y="2638044"/>
            <a:ext cx="1746504" cy="365760"/>
          </a:xfrm>
          <a:prstGeom prst="roundRect">
            <a:avLst>
              <a:gd name="adj" fmla="val 15000"/>
            </a:avLst>
          </a:prstGeom>
          <a:solidFill>
            <a:srgbClr val="F0F3F7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1542745" y="263804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board</a:t>
            </a:r>
            <a:endParaRPr lang="en-US" sz="600" dirty="0"/>
          </a:p>
        </p:txBody>
      </p:sp>
      <p:sp>
        <p:nvSpPr>
          <p:cNvPr id="24" name="Text 18"/>
          <p:cNvSpPr txBox="1"/>
          <p:nvPr/>
        </p:nvSpPr>
        <p:spPr>
          <a:xfrm>
            <a:off x="2191969" y="263804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3  ·  1 seat left</a:t>
            </a:r>
            <a:endParaRPr lang="en-US" sz="640" dirty="0"/>
          </a:p>
        </p:txBody>
      </p:sp>
      <p:sp>
        <p:nvSpPr>
          <p:cNvPr id="25" name="Shape 19"/>
          <p:cNvSpPr/>
          <p:nvPr/>
        </p:nvSpPr>
        <p:spPr>
          <a:xfrm>
            <a:off x="1433017" y="3113532"/>
            <a:ext cx="1746504" cy="512064"/>
          </a:xfrm>
          <a:prstGeom prst="roundRect">
            <a:avLst>
              <a:gd name="adj" fmla="val 12500"/>
            </a:avLst>
          </a:prstGeom>
          <a:solidFill>
            <a:srgbClr val="FFF0E5"/>
          </a:solidFill>
          <a:ln w="17780">
            <a:solidFill>
              <a:srgbClr val="E85D04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1542745" y="3259836"/>
            <a:ext cx="219456" cy="219456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1542745" y="32598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80" dirty="0"/>
          </a:p>
        </p:txBody>
      </p:sp>
      <p:sp>
        <p:nvSpPr>
          <p:cNvPr id="28" name="Text 22"/>
          <p:cNvSpPr txBox="1"/>
          <p:nvPr/>
        </p:nvSpPr>
        <p:spPr>
          <a:xfrm>
            <a:off x="1835353" y="31683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</a:t>
            </a:r>
            <a:endParaRPr lang="en-US" sz="700" dirty="0"/>
          </a:p>
        </p:txBody>
      </p:sp>
      <p:sp>
        <p:nvSpPr>
          <p:cNvPr id="29" name="Text 23"/>
          <p:cNvSpPr txBox="1"/>
          <p:nvPr/>
        </p:nvSpPr>
        <p:spPr>
          <a:xfrm>
            <a:off x="1835353" y="335127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up 3 riders</a:t>
            </a:r>
            <a:endParaRPr lang="en-US" sz="580" dirty="0"/>
          </a:p>
        </p:txBody>
      </p:sp>
      <p:sp>
        <p:nvSpPr>
          <p:cNvPr id="30" name="Text 24"/>
          <p:cNvSpPr txBox="1"/>
          <p:nvPr/>
        </p:nvSpPr>
        <p:spPr>
          <a:xfrm>
            <a:off x="2612593" y="316839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min</a:t>
            </a:r>
            <a:endParaRPr lang="en-US" sz="700" dirty="0"/>
          </a:p>
        </p:txBody>
      </p:sp>
      <p:sp>
        <p:nvSpPr>
          <p:cNvPr id="31" name="Shape 25"/>
          <p:cNvSpPr/>
          <p:nvPr/>
        </p:nvSpPr>
        <p:spPr>
          <a:xfrm>
            <a:off x="1433017" y="3680460"/>
            <a:ext cx="1746504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1542745" y="3826764"/>
            <a:ext cx="219456" cy="219456"/>
          </a:xfrm>
          <a:prstGeom prst="ellipse">
            <a:avLst/>
          </a:prstGeom>
          <a:solidFill>
            <a:srgbClr val="D6DDE5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1542745" y="38267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80" dirty="0"/>
          </a:p>
        </p:txBody>
      </p:sp>
      <p:sp>
        <p:nvSpPr>
          <p:cNvPr id="34" name="Text 28"/>
          <p:cNvSpPr txBox="1"/>
          <p:nvPr/>
        </p:nvSpPr>
        <p:spPr>
          <a:xfrm>
            <a:off x="1835353" y="373532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Coke Plant</a:t>
            </a:r>
            <a:endParaRPr lang="en-US" sz="700" dirty="0"/>
          </a:p>
        </p:txBody>
      </p:sp>
      <p:sp>
        <p:nvSpPr>
          <p:cNvPr id="35" name="Text 29"/>
          <p:cNvSpPr txBox="1"/>
          <p:nvPr/>
        </p:nvSpPr>
        <p:spPr>
          <a:xfrm>
            <a:off x="1835353" y="391820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1 · pick up 1</a:t>
            </a:r>
            <a:endParaRPr lang="en-US" sz="580" dirty="0"/>
          </a:p>
        </p:txBody>
      </p:sp>
      <p:sp>
        <p:nvSpPr>
          <p:cNvPr id="36" name="Text 30"/>
          <p:cNvSpPr txBox="1"/>
          <p:nvPr/>
        </p:nvSpPr>
        <p:spPr>
          <a:xfrm>
            <a:off x="2612593" y="373532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667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min</a:t>
            </a:r>
            <a:endParaRPr lang="en-US" sz="700" dirty="0"/>
          </a:p>
        </p:txBody>
      </p:sp>
      <p:sp>
        <p:nvSpPr>
          <p:cNvPr id="37" name="Shape 31"/>
          <p:cNvSpPr/>
          <p:nvPr/>
        </p:nvSpPr>
        <p:spPr>
          <a:xfrm>
            <a:off x="1433017" y="4247388"/>
            <a:ext cx="1746504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1542745" y="4393692"/>
            <a:ext cx="219456" cy="219456"/>
          </a:xfrm>
          <a:prstGeom prst="ellipse">
            <a:avLst/>
          </a:prstGeom>
          <a:solidFill>
            <a:srgbClr val="D6DDE5"/>
          </a:solidFill>
          <a:ln/>
        </p:spPr>
      </p:sp>
      <p:sp>
        <p:nvSpPr>
          <p:cNvPr id="39" name="Text 33"/>
          <p:cNvSpPr txBox="1"/>
          <p:nvPr/>
        </p:nvSpPr>
        <p:spPr>
          <a:xfrm>
            <a:off x="1542745" y="43936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80" dirty="0"/>
          </a:p>
        </p:txBody>
      </p:sp>
      <p:sp>
        <p:nvSpPr>
          <p:cNvPr id="40" name="Text 34"/>
          <p:cNvSpPr txBox="1"/>
          <p:nvPr/>
        </p:nvSpPr>
        <p:spPr>
          <a:xfrm>
            <a:off x="1835353" y="43022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Furnace</a:t>
            </a:r>
            <a:endParaRPr lang="en-US" sz="700" dirty="0"/>
          </a:p>
        </p:txBody>
      </p:sp>
      <p:sp>
        <p:nvSpPr>
          <p:cNvPr id="41" name="Text 35"/>
          <p:cNvSpPr txBox="1"/>
          <p:nvPr/>
        </p:nvSpPr>
        <p:spPr>
          <a:xfrm>
            <a:off x="1835353" y="448513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2 riders</a:t>
            </a:r>
            <a:endParaRPr lang="en-US" sz="580" dirty="0"/>
          </a:p>
        </p:txBody>
      </p:sp>
      <p:sp>
        <p:nvSpPr>
          <p:cNvPr id="42" name="Text 36"/>
          <p:cNvSpPr txBox="1"/>
          <p:nvPr/>
        </p:nvSpPr>
        <p:spPr>
          <a:xfrm>
            <a:off x="2612593" y="430225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667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min</a:t>
            </a:r>
            <a:endParaRPr lang="en-US" sz="700" dirty="0"/>
          </a:p>
        </p:txBody>
      </p:sp>
      <p:sp>
        <p:nvSpPr>
          <p:cNvPr id="43" name="Shape 37"/>
          <p:cNvSpPr/>
          <p:nvPr/>
        </p:nvSpPr>
        <p:spPr>
          <a:xfrm>
            <a:off x="1433017" y="4814316"/>
            <a:ext cx="1746504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1542745" y="4960620"/>
            <a:ext cx="219456" cy="219456"/>
          </a:xfrm>
          <a:prstGeom prst="ellipse">
            <a:avLst/>
          </a:prstGeom>
          <a:solidFill>
            <a:srgbClr val="D6DDE5"/>
          </a:solidFill>
          <a:ln/>
        </p:spPr>
      </p:sp>
      <p:sp>
        <p:nvSpPr>
          <p:cNvPr id="45" name="Text 39"/>
          <p:cNvSpPr txBox="1"/>
          <p:nvPr/>
        </p:nvSpPr>
        <p:spPr>
          <a:xfrm>
            <a:off x="1542745" y="49606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80" dirty="0"/>
          </a:p>
        </p:txBody>
      </p:sp>
      <p:sp>
        <p:nvSpPr>
          <p:cNvPr id="46" name="Text 40"/>
          <p:cNvSpPr txBox="1"/>
          <p:nvPr/>
        </p:nvSpPr>
        <p:spPr>
          <a:xfrm>
            <a:off x="1835353" y="48691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</a:t>
            </a:r>
            <a:endParaRPr lang="en-US" sz="700" dirty="0"/>
          </a:p>
        </p:txBody>
      </p:sp>
      <p:sp>
        <p:nvSpPr>
          <p:cNvPr id="47" name="Text 41"/>
          <p:cNvSpPr txBox="1"/>
          <p:nvPr/>
        </p:nvSpPr>
        <p:spPr>
          <a:xfrm>
            <a:off x="1835353" y="505206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loop</a:t>
            </a:r>
            <a:endParaRPr lang="en-US" sz="580" dirty="0"/>
          </a:p>
        </p:txBody>
      </p:sp>
      <p:sp>
        <p:nvSpPr>
          <p:cNvPr id="48" name="Text 42"/>
          <p:cNvSpPr txBox="1"/>
          <p:nvPr/>
        </p:nvSpPr>
        <p:spPr>
          <a:xfrm>
            <a:off x="2612593" y="486918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min</a:t>
            </a:r>
            <a:endParaRPr lang="en-US" sz="700" dirty="0"/>
          </a:p>
        </p:txBody>
      </p:sp>
      <p:sp>
        <p:nvSpPr>
          <p:cNvPr id="49" name="Shape 43"/>
          <p:cNvSpPr/>
          <p:nvPr/>
        </p:nvSpPr>
        <p:spPr>
          <a:xfrm>
            <a:off x="1433017" y="5436108"/>
            <a:ext cx="1746504" cy="347472"/>
          </a:xfrm>
          <a:prstGeom prst="roundRect">
            <a:avLst>
              <a:gd name="adj" fmla="val 15789"/>
            </a:avLst>
          </a:prstGeom>
          <a:solidFill>
            <a:srgbClr val="E85D04"/>
          </a:solidFill>
          <a:ln/>
        </p:spPr>
      </p:sp>
      <p:pic>
        <p:nvPicPr>
          <p:cNvPr id="5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9321" y="5550408"/>
            <a:ext cx="118872" cy="118872"/>
          </a:xfrm>
          <a:prstGeom prst="rect">
            <a:avLst/>
          </a:prstGeom>
        </p:spPr>
      </p:pic>
      <p:sp>
        <p:nvSpPr>
          <p:cNvPr id="51" name="Text 44"/>
          <p:cNvSpPr txBox="1"/>
          <p:nvPr/>
        </p:nvSpPr>
        <p:spPr>
          <a:xfrm>
            <a:off x="1542745" y="5436108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Gate 2</a:t>
            </a:r>
            <a:endParaRPr lang="en-US" sz="750" dirty="0"/>
          </a:p>
        </p:txBody>
      </p:sp>
      <p:sp>
        <p:nvSpPr>
          <p:cNvPr id="52" name="Text 45"/>
          <p:cNvSpPr txBox="1"/>
          <p:nvPr/>
        </p:nvSpPr>
        <p:spPr>
          <a:xfrm>
            <a:off x="566928" y="6217920"/>
            <a:ext cx="34786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sequence comes from the route master, not the driver.</a:t>
            </a:r>
            <a:endParaRPr lang="en-US" sz="950" dirty="0"/>
          </a:p>
        </p:txBody>
      </p:sp>
      <p:sp>
        <p:nvSpPr>
          <p:cNvPr id="53" name="Shape 46"/>
          <p:cNvSpPr/>
          <p:nvPr/>
        </p:nvSpPr>
        <p:spPr>
          <a:xfrm>
            <a:off x="4356506" y="1335024"/>
            <a:ext cx="365760" cy="365760"/>
          </a:xfrm>
          <a:prstGeom prst="ellipse">
            <a:avLst/>
          </a:prstGeom>
          <a:solidFill>
            <a:srgbClr val="0E141B"/>
          </a:solidFill>
          <a:ln/>
        </p:spPr>
      </p:sp>
      <p:sp>
        <p:nvSpPr>
          <p:cNvPr id="54" name="Text 47"/>
          <p:cNvSpPr txBox="1"/>
          <p:nvPr/>
        </p:nvSpPr>
        <p:spPr>
          <a:xfrm>
            <a:off x="4356506" y="1335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55" name="Text 48"/>
          <p:cNvSpPr txBox="1"/>
          <p:nvPr/>
        </p:nvSpPr>
        <p:spPr>
          <a:xfrm>
            <a:off x="4831994" y="1316736"/>
            <a:ext cx="30031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</a:t>
            </a:r>
            <a:endParaRPr lang="en-US" sz="1300" dirty="0"/>
          </a:p>
        </p:txBody>
      </p:sp>
      <p:sp>
        <p:nvSpPr>
          <p:cNvPr id="56" name="Text 49"/>
          <p:cNvSpPr txBox="1"/>
          <p:nvPr/>
        </p:nvSpPr>
        <p:spPr>
          <a:xfrm>
            <a:off x="4831994" y="1554480"/>
            <a:ext cx="30031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roads, not public maps</a:t>
            </a:r>
            <a:endParaRPr lang="en-US" sz="950" dirty="0"/>
          </a:p>
        </p:txBody>
      </p:sp>
      <p:sp>
        <p:nvSpPr>
          <p:cNvPr id="57" name="Shape 50"/>
          <p:cNvSpPr/>
          <p:nvPr/>
        </p:nvSpPr>
        <p:spPr>
          <a:xfrm>
            <a:off x="5067148" y="1920240"/>
            <a:ext cx="2057400" cy="4206240"/>
          </a:xfrm>
          <a:prstGeom prst="roundRect">
            <a:avLst>
              <a:gd name="adj" fmla="val 3778"/>
            </a:avLst>
          </a:prstGeom>
          <a:solidFill>
            <a:srgbClr val="1A222C"/>
          </a:solidFill>
          <a:ln/>
          <a:effectLst>
            <a:outerShdw sx="100000" sy="100000" kx="0" ky="0" algn="bl" rotWithShape="0" blurRad="203200" dist="50800" dir="5400000">
              <a:srgbClr val="0E141B">
                <a:alpha val="24000"/>
              </a:srgbClr>
            </a:outerShdw>
          </a:effectLst>
        </p:spPr>
      </p:sp>
      <p:sp>
        <p:nvSpPr>
          <p:cNvPr id="58" name="Shape 51"/>
          <p:cNvSpPr/>
          <p:nvPr/>
        </p:nvSpPr>
        <p:spPr>
          <a:xfrm>
            <a:off x="5131156" y="1984248"/>
            <a:ext cx="1929384" cy="4078224"/>
          </a:xfrm>
          <a:prstGeom prst="roundRect">
            <a:avLst>
              <a:gd name="adj" fmla="val 3081"/>
            </a:avLst>
          </a:prstGeom>
          <a:solidFill>
            <a:srgbClr val="F6F8FA"/>
          </a:solidFill>
          <a:ln/>
        </p:spPr>
      </p:sp>
      <p:sp>
        <p:nvSpPr>
          <p:cNvPr id="59" name="Shape 52"/>
          <p:cNvSpPr/>
          <p:nvPr/>
        </p:nvSpPr>
        <p:spPr>
          <a:xfrm>
            <a:off x="5876392" y="2034540"/>
            <a:ext cx="438912" cy="91440"/>
          </a:xfrm>
          <a:prstGeom prst="roundRect">
            <a:avLst>
              <a:gd name="adj" fmla="val 50000"/>
            </a:avLst>
          </a:prstGeom>
          <a:solidFill>
            <a:srgbClr val="1A222C"/>
          </a:solidFill>
          <a:ln/>
        </p:spPr>
      </p:sp>
      <p:sp>
        <p:nvSpPr>
          <p:cNvPr id="60" name="Shape 53"/>
          <p:cNvSpPr/>
          <p:nvPr/>
        </p:nvSpPr>
        <p:spPr>
          <a:xfrm>
            <a:off x="5858104" y="5993892"/>
            <a:ext cx="475488" cy="32004"/>
          </a:xfrm>
          <a:prstGeom prst="roundRect">
            <a:avLst>
              <a:gd name="adj" fmla="val 51429"/>
            </a:avLst>
          </a:prstGeom>
          <a:solidFill>
            <a:srgbClr val="C3CBD4"/>
          </a:solidFill>
          <a:ln/>
        </p:spPr>
      </p:sp>
      <p:sp>
        <p:nvSpPr>
          <p:cNvPr id="61" name="Text 54"/>
          <p:cNvSpPr txBox="1"/>
          <p:nvPr/>
        </p:nvSpPr>
        <p:spPr>
          <a:xfrm>
            <a:off x="5250028" y="2025396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700" dirty="0"/>
          </a:p>
        </p:txBody>
      </p:sp>
      <p:pic>
        <p:nvPicPr>
          <p:cNvPr id="6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7036" y="2040941"/>
            <a:ext cx="128016" cy="128016"/>
          </a:xfrm>
          <a:prstGeom prst="rect">
            <a:avLst/>
          </a:prstGeom>
        </p:spPr>
      </p:pic>
      <p:pic>
        <p:nvPicPr>
          <p:cNvPr id="6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1628" y="2040941"/>
            <a:ext cx="128016" cy="128016"/>
          </a:xfrm>
          <a:prstGeom prst="rect">
            <a:avLst/>
          </a:prstGeom>
        </p:spPr>
      </p:pic>
      <p:pic>
        <p:nvPicPr>
          <p:cNvPr id="6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6220" y="2037283"/>
            <a:ext cx="137160" cy="137160"/>
          </a:xfrm>
          <a:prstGeom prst="rect">
            <a:avLst/>
          </a:prstGeom>
        </p:spPr>
      </p:pic>
      <p:sp>
        <p:nvSpPr>
          <p:cNvPr id="65" name="Shape 55"/>
          <p:cNvSpPr/>
          <p:nvPr/>
        </p:nvSpPr>
        <p:spPr>
          <a:xfrm>
            <a:off x="5131156" y="2199132"/>
            <a:ext cx="1929384" cy="2505456"/>
          </a:xfrm>
          <a:prstGeom prst="rect">
            <a:avLst/>
          </a:prstGeom>
          <a:solidFill>
            <a:srgbClr val="EDF1F5"/>
          </a:solidFill>
          <a:ln/>
        </p:spPr>
      </p:sp>
      <p:sp>
        <p:nvSpPr>
          <p:cNvPr id="66" name="Shape 56"/>
          <p:cNvSpPr/>
          <p:nvPr/>
        </p:nvSpPr>
        <p:spPr>
          <a:xfrm>
            <a:off x="5246919" y="2449678"/>
            <a:ext cx="501640" cy="501091"/>
          </a:xfrm>
          <a:prstGeom prst="rect">
            <a:avLst/>
          </a:prstGeom>
          <a:solidFill>
            <a:srgbClr val="E1E7EE"/>
          </a:solidFill>
          <a:ln/>
        </p:spPr>
      </p:sp>
      <p:sp>
        <p:nvSpPr>
          <p:cNvPr id="67" name="Shape 57"/>
          <p:cNvSpPr/>
          <p:nvPr/>
        </p:nvSpPr>
        <p:spPr>
          <a:xfrm>
            <a:off x="5902909" y="2349459"/>
            <a:ext cx="578815" cy="400873"/>
          </a:xfrm>
          <a:prstGeom prst="rect">
            <a:avLst/>
          </a:prstGeom>
          <a:solidFill>
            <a:srgbClr val="E1E7EE"/>
          </a:solidFill>
          <a:ln/>
        </p:spPr>
      </p:sp>
      <p:sp>
        <p:nvSpPr>
          <p:cNvPr id="68" name="Shape 58"/>
          <p:cNvSpPr/>
          <p:nvPr/>
        </p:nvSpPr>
        <p:spPr>
          <a:xfrm>
            <a:off x="6597487" y="2549896"/>
            <a:ext cx="385877" cy="551200"/>
          </a:xfrm>
          <a:prstGeom prst="rect">
            <a:avLst/>
          </a:prstGeom>
          <a:solidFill>
            <a:srgbClr val="E1E7EE"/>
          </a:solidFill>
          <a:ln/>
        </p:spPr>
      </p:sp>
      <p:sp>
        <p:nvSpPr>
          <p:cNvPr id="69" name="Shape 59"/>
          <p:cNvSpPr/>
          <p:nvPr/>
        </p:nvSpPr>
        <p:spPr>
          <a:xfrm>
            <a:off x="5285506" y="3652296"/>
            <a:ext cx="463052" cy="601309"/>
          </a:xfrm>
          <a:prstGeom prst="rect">
            <a:avLst/>
          </a:prstGeom>
          <a:solidFill>
            <a:srgbClr val="E1E7EE"/>
          </a:solidFill>
          <a:ln/>
        </p:spPr>
      </p:sp>
      <p:sp>
        <p:nvSpPr>
          <p:cNvPr id="70" name="Shape 60"/>
          <p:cNvSpPr/>
          <p:nvPr/>
        </p:nvSpPr>
        <p:spPr>
          <a:xfrm>
            <a:off x="5980085" y="3752515"/>
            <a:ext cx="424464" cy="501091"/>
          </a:xfrm>
          <a:prstGeom prst="rect">
            <a:avLst/>
          </a:prstGeom>
          <a:solidFill>
            <a:srgbClr val="E1E7EE"/>
          </a:solidFill>
          <a:ln/>
        </p:spPr>
      </p:sp>
      <p:sp>
        <p:nvSpPr>
          <p:cNvPr id="71" name="Shape 61"/>
          <p:cNvSpPr/>
          <p:nvPr/>
        </p:nvSpPr>
        <p:spPr>
          <a:xfrm>
            <a:off x="6520312" y="3602187"/>
            <a:ext cx="463052" cy="651419"/>
          </a:xfrm>
          <a:prstGeom prst="rect">
            <a:avLst/>
          </a:prstGeom>
          <a:solidFill>
            <a:srgbClr val="E1E7EE"/>
          </a:solidFill>
          <a:ln/>
        </p:spPr>
      </p:sp>
      <p:sp>
        <p:nvSpPr>
          <p:cNvPr id="72" name="Shape 62"/>
          <p:cNvSpPr/>
          <p:nvPr/>
        </p:nvSpPr>
        <p:spPr>
          <a:xfrm>
            <a:off x="5787146" y="3050987"/>
            <a:ext cx="270114" cy="350764"/>
          </a:xfrm>
          <a:prstGeom prst="rect">
            <a:avLst/>
          </a:prstGeom>
          <a:solidFill>
            <a:srgbClr val="E1E7EE"/>
          </a:solidFill>
          <a:ln/>
        </p:spPr>
      </p:sp>
      <p:sp>
        <p:nvSpPr>
          <p:cNvPr id="73" name="Shape 63"/>
          <p:cNvSpPr/>
          <p:nvPr/>
        </p:nvSpPr>
        <p:spPr>
          <a:xfrm>
            <a:off x="5131156" y="3251424"/>
            <a:ext cx="1929384" cy="876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Shape 64"/>
          <p:cNvSpPr/>
          <p:nvPr/>
        </p:nvSpPr>
        <p:spPr>
          <a:xfrm>
            <a:off x="5825734" y="2199132"/>
            <a:ext cx="87691" cy="2505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5" name="Shape 65"/>
          <p:cNvSpPr/>
          <p:nvPr/>
        </p:nvSpPr>
        <p:spPr>
          <a:xfrm>
            <a:off x="6481724" y="2199132"/>
            <a:ext cx="87691" cy="2505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6" name="Shape 66"/>
          <p:cNvSpPr/>
          <p:nvPr/>
        </p:nvSpPr>
        <p:spPr>
          <a:xfrm>
            <a:off x="5131156" y="4353824"/>
            <a:ext cx="1929384" cy="876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7" name="Shape 67"/>
          <p:cNvSpPr/>
          <p:nvPr/>
        </p:nvSpPr>
        <p:spPr>
          <a:xfrm>
            <a:off x="5362682" y="3251424"/>
            <a:ext cx="1119043" cy="75164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78" name="Shape 68"/>
          <p:cNvSpPr/>
          <p:nvPr/>
        </p:nvSpPr>
        <p:spPr>
          <a:xfrm>
            <a:off x="6481724" y="2650114"/>
            <a:ext cx="75164" cy="613837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79" name="Shape 69"/>
          <p:cNvSpPr/>
          <p:nvPr/>
        </p:nvSpPr>
        <p:spPr>
          <a:xfrm>
            <a:off x="5324094" y="3214848"/>
            <a:ext cx="105156" cy="105156"/>
          </a:xfrm>
          <a:prstGeom prst="ellipse">
            <a:avLst/>
          </a:prstGeom>
          <a:solidFill>
            <a:srgbClr val="00A896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80" name="Shape 70"/>
          <p:cNvSpPr/>
          <p:nvPr/>
        </p:nvSpPr>
        <p:spPr>
          <a:xfrm>
            <a:off x="6452784" y="2562423"/>
            <a:ext cx="105156" cy="1051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81" name="Shape 71"/>
          <p:cNvSpPr/>
          <p:nvPr/>
        </p:nvSpPr>
        <p:spPr>
          <a:xfrm>
            <a:off x="5709971" y="3159984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E85D04"/>
          </a:solidFill>
          <a:ln/>
          <a:effectLst>
            <a:outerShdw sx="100000" sy="100000" kx="0" ky="0" algn="bl" rotWithShape="0" blurRad="101600" dist="12700" dir="5400000">
              <a:srgbClr val="0E141B">
                <a:alpha val="9000"/>
              </a:srgbClr>
            </a:outerShdw>
          </a:effectLst>
        </p:spPr>
      </p:sp>
      <p:pic>
        <p:nvPicPr>
          <p:cNvPr id="8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69407" y="3210276"/>
            <a:ext cx="155448" cy="155448"/>
          </a:xfrm>
          <a:prstGeom prst="rect">
            <a:avLst/>
          </a:prstGeom>
        </p:spPr>
      </p:pic>
      <p:sp>
        <p:nvSpPr>
          <p:cNvPr id="83" name="Shape 72"/>
          <p:cNvSpPr/>
          <p:nvPr/>
        </p:nvSpPr>
        <p:spPr>
          <a:xfrm>
            <a:off x="5204308" y="2290572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1A222C"/>
          </a:solidFill>
          <a:ln/>
          <a:effectLst>
            <a:outerShdw sx="100000" sy="100000" kx="0" ky="0" algn="bl" rotWithShape="0" blurRad="101600" dist="12700" dir="5400000">
              <a:srgbClr val="0E141B">
                <a:alpha val="9000"/>
              </a:srgbClr>
            </a:outerShdw>
          </a:effectLst>
        </p:spPr>
      </p:sp>
      <p:pic>
        <p:nvPicPr>
          <p:cNvPr id="8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14036" y="2446020"/>
            <a:ext cx="274320" cy="274320"/>
          </a:xfrm>
          <a:prstGeom prst="rect">
            <a:avLst/>
          </a:prstGeom>
        </p:spPr>
      </p:pic>
      <p:sp>
        <p:nvSpPr>
          <p:cNvPr id="85" name="Text 73"/>
          <p:cNvSpPr txBox="1"/>
          <p:nvPr/>
        </p:nvSpPr>
        <p:spPr>
          <a:xfrm>
            <a:off x="5661508" y="23454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m</a:t>
            </a:r>
            <a:endParaRPr lang="en-US" sz="1000" dirty="0"/>
          </a:p>
        </p:txBody>
      </p:sp>
      <p:sp>
        <p:nvSpPr>
          <p:cNvPr id="86" name="Text 74"/>
          <p:cNvSpPr txBox="1"/>
          <p:nvPr/>
        </p:nvSpPr>
        <p:spPr>
          <a:xfrm>
            <a:off x="5661508" y="25648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C3C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onto Coke Oven Road</a:t>
            </a:r>
            <a:endParaRPr lang="en-US" sz="600" dirty="0"/>
          </a:p>
        </p:txBody>
      </p:sp>
      <p:sp>
        <p:nvSpPr>
          <p:cNvPr id="87" name="Shape 75"/>
          <p:cNvSpPr/>
          <p:nvPr/>
        </p:nvSpPr>
        <p:spPr>
          <a:xfrm>
            <a:off x="5277460" y="4064508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02617"/>
            </a:solidFill>
            <a:prstDash val="solid"/>
          </a:ln>
        </p:spPr>
      </p:sp>
      <p:sp>
        <p:nvSpPr>
          <p:cNvPr id="88" name="Text 76"/>
          <p:cNvSpPr txBox="1"/>
          <p:nvPr/>
        </p:nvSpPr>
        <p:spPr>
          <a:xfrm>
            <a:off x="5277460" y="40645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89" name="Text 77"/>
          <p:cNvSpPr txBox="1"/>
          <p:nvPr/>
        </p:nvSpPr>
        <p:spPr>
          <a:xfrm>
            <a:off x="5222596" y="4485132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3 limit</a:t>
            </a:r>
            <a:endParaRPr lang="en-US" sz="500" dirty="0"/>
          </a:p>
        </p:txBody>
      </p:sp>
      <p:sp>
        <p:nvSpPr>
          <p:cNvPr id="90" name="Shape 78"/>
          <p:cNvSpPr/>
          <p:nvPr/>
        </p:nvSpPr>
        <p:spPr>
          <a:xfrm>
            <a:off x="5131156" y="4704588"/>
            <a:ext cx="1929384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E141B">
                <a:alpha val="9000"/>
              </a:srgbClr>
            </a:outerShdw>
          </a:effectLst>
        </p:spPr>
      </p:sp>
      <p:sp>
        <p:nvSpPr>
          <p:cNvPr id="91" name="Text 79"/>
          <p:cNvSpPr txBox="1"/>
          <p:nvPr/>
        </p:nvSpPr>
        <p:spPr>
          <a:xfrm>
            <a:off x="5277460" y="47960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Arriving Gate 2</a:t>
            </a:r>
            <a:endParaRPr lang="en-US" sz="850" dirty="0"/>
          </a:p>
        </p:txBody>
      </p:sp>
      <p:sp>
        <p:nvSpPr>
          <p:cNvPr id="92" name="Text 80"/>
          <p:cNvSpPr txBox="1"/>
          <p:nvPr/>
        </p:nvSpPr>
        <p:spPr>
          <a:xfrm>
            <a:off x="5277460" y="499719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 · 0.8 km · 3 riders waiting</a:t>
            </a:r>
            <a:endParaRPr lang="en-US" sz="590" dirty="0"/>
          </a:p>
        </p:txBody>
      </p:sp>
      <p:sp>
        <p:nvSpPr>
          <p:cNvPr id="93" name="Shape 81"/>
          <p:cNvSpPr/>
          <p:nvPr/>
        </p:nvSpPr>
        <p:spPr>
          <a:xfrm>
            <a:off x="5277460" y="5216652"/>
            <a:ext cx="1636776" cy="5486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94" name="Shape 82"/>
          <p:cNvSpPr/>
          <p:nvPr/>
        </p:nvSpPr>
        <p:spPr>
          <a:xfrm>
            <a:off x="5259172" y="5308092"/>
            <a:ext cx="885871" cy="347472"/>
          </a:xfrm>
          <a:prstGeom prst="roundRect">
            <a:avLst>
              <a:gd name="adj" fmla="val 15789"/>
            </a:avLst>
          </a:prstGeom>
          <a:solidFill>
            <a:srgbClr val="00A896"/>
          </a:solidFill>
          <a:ln/>
        </p:spPr>
      </p:sp>
      <p:sp>
        <p:nvSpPr>
          <p:cNvPr id="95" name="Text 83"/>
          <p:cNvSpPr txBox="1"/>
          <p:nvPr/>
        </p:nvSpPr>
        <p:spPr>
          <a:xfrm>
            <a:off x="5259172" y="5308092"/>
            <a:ext cx="88587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Arrived</a:t>
            </a:r>
            <a:endParaRPr lang="en-US" sz="750" dirty="0"/>
          </a:p>
        </p:txBody>
      </p:sp>
      <p:sp>
        <p:nvSpPr>
          <p:cNvPr id="96" name="Shape 84"/>
          <p:cNvSpPr/>
          <p:nvPr/>
        </p:nvSpPr>
        <p:spPr>
          <a:xfrm>
            <a:off x="6208319" y="5308092"/>
            <a:ext cx="632765" cy="347472"/>
          </a:xfrm>
          <a:prstGeom prst="roundRect">
            <a:avLst>
              <a:gd name="adj" fmla="val 15789"/>
            </a:avLst>
          </a:prstGeom>
          <a:solidFill>
            <a:srgbClr val="C02617"/>
          </a:solidFill>
          <a:ln/>
        </p:spPr>
      </p:sp>
      <p:sp>
        <p:nvSpPr>
          <p:cNvPr id="97" name="Text 85"/>
          <p:cNvSpPr txBox="1"/>
          <p:nvPr/>
        </p:nvSpPr>
        <p:spPr>
          <a:xfrm>
            <a:off x="6208319" y="5308092"/>
            <a:ext cx="63276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</a:t>
            </a:r>
            <a:endParaRPr lang="en-US" sz="750" dirty="0"/>
          </a:p>
        </p:txBody>
      </p:sp>
      <p:sp>
        <p:nvSpPr>
          <p:cNvPr id="98" name="Text 86"/>
          <p:cNvSpPr txBox="1"/>
          <p:nvPr/>
        </p:nvSpPr>
        <p:spPr>
          <a:xfrm>
            <a:off x="4356506" y="6217920"/>
            <a:ext cx="34786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Overspeed in a zone raises a spoken warning and a desk alert.</a:t>
            </a:r>
            <a:endParaRPr lang="en-US" sz="950" dirty="0"/>
          </a:p>
        </p:txBody>
      </p:sp>
      <p:sp>
        <p:nvSpPr>
          <p:cNvPr id="99" name="Shape 87"/>
          <p:cNvSpPr/>
          <p:nvPr/>
        </p:nvSpPr>
        <p:spPr>
          <a:xfrm>
            <a:off x="8146085" y="1335024"/>
            <a:ext cx="365760" cy="365760"/>
          </a:xfrm>
          <a:prstGeom prst="ellipse">
            <a:avLst/>
          </a:prstGeom>
          <a:solidFill>
            <a:srgbClr val="0E141B"/>
          </a:solidFill>
          <a:ln/>
        </p:spPr>
      </p:sp>
      <p:sp>
        <p:nvSpPr>
          <p:cNvPr id="100" name="Text 88"/>
          <p:cNvSpPr txBox="1"/>
          <p:nvPr/>
        </p:nvSpPr>
        <p:spPr>
          <a:xfrm>
            <a:off x="8146085" y="1335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101" name="Text 89"/>
          <p:cNvSpPr txBox="1"/>
          <p:nvPr/>
        </p:nvSpPr>
        <p:spPr>
          <a:xfrm>
            <a:off x="8621573" y="1316736"/>
            <a:ext cx="30031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up</a:t>
            </a:r>
            <a:endParaRPr lang="en-US" sz="1300" dirty="0"/>
          </a:p>
        </p:txBody>
      </p:sp>
      <p:sp>
        <p:nvSpPr>
          <p:cNvPr id="102" name="Text 90"/>
          <p:cNvSpPr txBox="1"/>
          <p:nvPr/>
        </p:nvSpPr>
        <p:spPr>
          <a:xfrm>
            <a:off x="8621573" y="1554480"/>
            <a:ext cx="30031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starts the trip, geofence ends it</a:t>
            </a:r>
            <a:endParaRPr lang="en-US" sz="950" dirty="0"/>
          </a:p>
        </p:txBody>
      </p:sp>
      <p:sp>
        <p:nvSpPr>
          <p:cNvPr id="103" name="Shape 91"/>
          <p:cNvSpPr/>
          <p:nvPr/>
        </p:nvSpPr>
        <p:spPr>
          <a:xfrm>
            <a:off x="8856726" y="1920240"/>
            <a:ext cx="2057400" cy="4206240"/>
          </a:xfrm>
          <a:prstGeom prst="roundRect">
            <a:avLst>
              <a:gd name="adj" fmla="val 3778"/>
            </a:avLst>
          </a:prstGeom>
          <a:solidFill>
            <a:srgbClr val="1A222C"/>
          </a:solidFill>
          <a:ln/>
          <a:effectLst>
            <a:outerShdw sx="100000" sy="100000" kx="0" ky="0" algn="bl" rotWithShape="0" blurRad="203200" dist="50800" dir="5400000">
              <a:srgbClr val="0E141B">
                <a:alpha val="24000"/>
              </a:srgbClr>
            </a:outerShdw>
          </a:effectLst>
        </p:spPr>
      </p:sp>
      <p:sp>
        <p:nvSpPr>
          <p:cNvPr id="104" name="Shape 92"/>
          <p:cNvSpPr/>
          <p:nvPr/>
        </p:nvSpPr>
        <p:spPr>
          <a:xfrm>
            <a:off x="8920734" y="1984248"/>
            <a:ext cx="1929384" cy="4078224"/>
          </a:xfrm>
          <a:prstGeom prst="roundRect">
            <a:avLst>
              <a:gd name="adj" fmla="val 3081"/>
            </a:avLst>
          </a:prstGeom>
          <a:solidFill>
            <a:srgbClr val="F6F8FA"/>
          </a:solidFill>
          <a:ln/>
        </p:spPr>
      </p:sp>
      <p:sp>
        <p:nvSpPr>
          <p:cNvPr id="105" name="Shape 93"/>
          <p:cNvSpPr/>
          <p:nvPr/>
        </p:nvSpPr>
        <p:spPr>
          <a:xfrm>
            <a:off x="9665970" y="2034540"/>
            <a:ext cx="438912" cy="91440"/>
          </a:xfrm>
          <a:prstGeom prst="roundRect">
            <a:avLst>
              <a:gd name="adj" fmla="val 50000"/>
            </a:avLst>
          </a:prstGeom>
          <a:solidFill>
            <a:srgbClr val="1A222C"/>
          </a:solidFill>
          <a:ln/>
        </p:spPr>
      </p:sp>
      <p:sp>
        <p:nvSpPr>
          <p:cNvPr id="106" name="Shape 94"/>
          <p:cNvSpPr/>
          <p:nvPr/>
        </p:nvSpPr>
        <p:spPr>
          <a:xfrm>
            <a:off x="9647682" y="5993892"/>
            <a:ext cx="475488" cy="32004"/>
          </a:xfrm>
          <a:prstGeom prst="roundRect">
            <a:avLst>
              <a:gd name="adj" fmla="val 51429"/>
            </a:avLst>
          </a:prstGeom>
          <a:solidFill>
            <a:srgbClr val="C3CBD4"/>
          </a:solidFill>
          <a:ln/>
        </p:spPr>
      </p:sp>
      <p:sp>
        <p:nvSpPr>
          <p:cNvPr id="107" name="Text 95"/>
          <p:cNvSpPr txBox="1"/>
          <p:nvPr/>
        </p:nvSpPr>
        <p:spPr>
          <a:xfrm>
            <a:off x="9039606" y="2025396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700" dirty="0"/>
          </a:p>
        </p:txBody>
      </p:sp>
      <p:pic>
        <p:nvPicPr>
          <p:cNvPr id="10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46614" y="2040941"/>
            <a:ext cx="128016" cy="128016"/>
          </a:xfrm>
          <a:prstGeom prst="rect">
            <a:avLst/>
          </a:prstGeom>
        </p:spPr>
      </p:pic>
      <p:pic>
        <p:nvPicPr>
          <p:cNvPr id="10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11206" y="2040941"/>
            <a:ext cx="128016" cy="128016"/>
          </a:xfrm>
          <a:prstGeom prst="rect">
            <a:avLst/>
          </a:prstGeom>
        </p:spPr>
      </p:pic>
      <p:pic>
        <p:nvPicPr>
          <p:cNvPr id="11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75798" y="2037283"/>
            <a:ext cx="137160" cy="137160"/>
          </a:xfrm>
          <a:prstGeom prst="rect">
            <a:avLst/>
          </a:prstGeom>
        </p:spPr>
      </p:pic>
      <p:sp>
        <p:nvSpPr>
          <p:cNvPr id="111" name="Shape 96"/>
          <p:cNvSpPr/>
          <p:nvPr/>
        </p:nvSpPr>
        <p:spPr>
          <a:xfrm>
            <a:off x="8920734" y="2199132"/>
            <a:ext cx="1929384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2" name="Shape 97"/>
          <p:cNvSpPr/>
          <p:nvPr/>
        </p:nvSpPr>
        <p:spPr>
          <a:xfrm>
            <a:off x="8920734" y="2557577"/>
            <a:ext cx="1929384" cy="7315"/>
          </a:xfrm>
          <a:prstGeom prst="rect">
            <a:avLst/>
          </a:prstGeom>
          <a:solidFill>
            <a:srgbClr val="E8EDF2"/>
          </a:solidFill>
          <a:ln/>
        </p:spPr>
      </p:sp>
      <p:pic>
        <p:nvPicPr>
          <p:cNvPr id="11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30462" y="2322576"/>
            <a:ext cx="118872" cy="118872"/>
          </a:xfrm>
          <a:prstGeom prst="rect">
            <a:avLst/>
          </a:prstGeom>
        </p:spPr>
      </p:pic>
      <p:sp>
        <p:nvSpPr>
          <p:cNvPr id="114" name="Text 98"/>
          <p:cNvSpPr txBox="1"/>
          <p:nvPr/>
        </p:nvSpPr>
        <p:spPr>
          <a:xfrm>
            <a:off x="9222486" y="2199132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Pickup at Gate 2</a:t>
            </a:r>
            <a:endParaRPr lang="en-US" sz="850" dirty="0"/>
          </a:p>
        </p:txBody>
      </p:sp>
      <p:sp>
        <p:nvSpPr>
          <p:cNvPr id="115" name="Shape 99"/>
          <p:cNvSpPr/>
          <p:nvPr/>
        </p:nvSpPr>
        <p:spPr>
          <a:xfrm>
            <a:off x="9012174" y="2638044"/>
            <a:ext cx="1746504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16" name="Shape 100"/>
          <p:cNvSpPr/>
          <p:nvPr/>
        </p:nvSpPr>
        <p:spPr>
          <a:xfrm>
            <a:off x="9103614" y="2775204"/>
            <a:ext cx="256032" cy="256032"/>
          </a:xfrm>
          <a:prstGeom prst="ellipse">
            <a:avLst/>
          </a:prstGeom>
          <a:solidFill>
            <a:srgbClr val="E6EBF0"/>
          </a:solidFill>
          <a:ln/>
        </p:spPr>
      </p:sp>
      <p:sp>
        <p:nvSpPr>
          <p:cNvPr id="117" name="Text 101"/>
          <p:cNvSpPr txBox="1"/>
          <p:nvPr/>
        </p:nvSpPr>
        <p:spPr>
          <a:xfrm>
            <a:off x="9103614" y="27752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640" dirty="0"/>
          </a:p>
        </p:txBody>
      </p:sp>
      <p:sp>
        <p:nvSpPr>
          <p:cNvPr id="118" name="Text 102"/>
          <p:cNvSpPr txBox="1"/>
          <p:nvPr/>
        </p:nvSpPr>
        <p:spPr>
          <a:xfrm>
            <a:off x="9414510" y="2692908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Raghavan</a:t>
            </a:r>
            <a:endParaRPr lang="en-US" sz="660" dirty="0"/>
          </a:p>
        </p:txBody>
      </p:sp>
      <p:sp>
        <p:nvSpPr>
          <p:cNvPr id="119" name="Text 103"/>
          <p:cNvSpPr txBox="1"/>
          <p:nvPr/>
        </p:nvSpPr>
        <p:spPr>
          <a:xfrm>
            <a:off x="9414510" y="2866644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00"/>
              </a:lnSpc>
              <a:buNone/>
            </a:pPr>
            <a:r>
              <a:rPr lang="en-US" sz="50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LHS-40218 · to Blast Furnace</a:t>
            </a:r>
            <a:endParaRPr lang="en-US" sz="500" dirty="0"/>
          </a:p>
        </p:txBody>
      </p:sp>
      <p:sp>
        <p:nvSpPr>
          <p:cNvPr id="120" name="Shape 104"/>
          <p:cNvSpPr/>
          <p:nvPr/>
        </p:nvSpPr>
        <p:spPr>
          <a:xfrm>
            <a:off x="10155174" y="2802636"/>
            <a:ext cx="548640" cy="155448"/>
          </a:xfrm>
          <a:prstGeom prst="roundRect">
            <a:avLst>
              <a:gd name="adj" fmla="val 50000"/>
            </a:avLst>
          </a:prstGeom>
          <a:solidFill>
            <a:srgbClr val="E2F6F3"/>
          </a:solidFill>
          <a:ln/>
        </p:spPr>
      </p:sp>
      <p:sp>
        <p:nvSpPr>
          <p:cNvPr id="121" name="Text 105"/>
          <p:cNvSpPr txBox="1"/>
          <p:nvPr/>
        </p:nvSpPr>
        <p:spPr>
          <a:xfrm>
            <a:off x="10155174" y="2802636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OK</a:t>
            </a:r>
            <a:endParaRPr lang="en-US" sz="520" dirty="0"/>
          </a:p>
        </p:txBody>
      </p:sp>
      <p:sp>
        <p:nvSpPr>
          <p:cNvPr id="122" name="Shape 106"/>
          <p:cNvSpPr/>
          <p:nvPr/>
        </p:nvSpPr>
        <p:spPr>
          <a:xfrm>
            <a:off x="9012174" y="3204972"/>
            <a:ext cx="1746504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23" name="Shape 107"/>
          <p:cNvSpPr/>
          <p:nvPr/>
        </p:nvSpPr>
        <p:spPr>
          <a:xfrm>
            <a:off x="9103614" y="3342132"/>
            <a:ext cx="256032" cy="256032"/>
          </a:xfrm>
          <a:prstGeom prst="ellipse">
            <a:avLst/>
          </a:prstGeom>
          <a:solidFill>
            <a:srgbClr val="E6EBF0"/>
          </a:solidFill>
          <a:ln/>
        </p:spPr>
      </p:sp>
      <p:sp>
        <p:nvSpPr>
          <p:cNvPr id="124" name="Text 108"/>
          <p:cNvSpPr txBox="1"/>
          <p:nvPr/>
        </p:nvSpPr>
        <p:spPr>
          <a:xfrm>
            <a:off x="9103614" y="33421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640" dirty="0"/>
          </a:p>
        </p:txBody>
      </p:sp>
      <p:sp>
        <p:nvSpPr>
          <p:cNvPr id="125" name="Text 109"/>
          <p:cNvSpPr txBox="1"/>
          <p:nvPr/>
        </p:nvSpPr>
        <p:spPr>
          <a:xfrm>
            <a:off x="9414510" y="3259836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Iyer</a:t>
            </a:r>
            <a:endParaRPr lang="en-US" sz="660" dirty="0"/>
          </a:p>
        </p:txBody>
      </p:sp>
      <p:sp>
        <p:nvSpPr>
          <p:cNvPr id="126" name="Text 110"/>
          <p:cNvSpPr txBox="1"/>
          <p:nvPr/>
        </p:nvSpPr>
        <p:spPr>
          <a:xfrm>
            <a:off x="9414510" y="3433572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00"/>
              </a:lnSpc>
              <a:buNone/>
            </a:pPr>
            <a:r>
              <a:rPr lang="en-US" sz="50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LHS-31890 · to Coke Plant</a:t>
            </a:r>
            <a:endParaRPr lang="en-US" sz="500" dirty="0"/>
          </a:p>
        </p:txBody>
      </p:sp>
      <p:sp>
        <p:nvSpPr>
          <p:cNvPr id="127" name="Shape 111"/>
          <p:cNvSpPr/>
          <p:nvPr/>
        </p:nvSpPr>
        <p:spPr>
          <a:xfrm>
            <a:off x="10155174" y="3369564"/>
            <a:ext cx="548640" cy="155448"/>
          </a:xfrm>
          <a:prstGeom prst="roundRect">
            <a:avLst>
              <a:gd name="adj" fmla="val 50000"/>
            </a:avLst>
          </a:prstGeom>
          <a:solidFill>
            <a:srgbClr val="FFF0E5"/>
          </a:solidFill>
          <a:ln/>
        </p:spPr>
      </p:sp>
      <p:sp>
        <p:nvSpPr>
          <p:cNvPr id="128" name="Text 112"/>
          <p:cNvSpPr txBox="1"/>
          <p:nvPr/>
        </p:nvSpPr>
        <p:spPr>
          <a:xfrm>
            <a:off x="10155174" y="3369564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</a:t>
            </a:r>
            <a:endParaRPr lang="en-US" sz="520" dirty="0"/>
          </a:p>
        </p:txBody>
      </p:sp>
      <p:sp>
        <p:nvSpPr>
          <p:cNvPr id="129" name="Shape 113"/>
          <p:cNvSpPr/>
          <p:nvPr/>
        </p:nvSpPr>
        <p:spPr>
          <a:xfrm>
            <a:off x="9012174" y="3771900"/>
            <a:ext cx="1746504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0" name="Shape 114"/>
          <p:cNvSpPr/>
          <p:nvPr/>
        </p:nvSpPr>
        <p:spPr>
          <a:xfrm>
            <a:off x="9103614" y="3909060"/>
            <a:ext cx="256032" cy="256032"/>
          </a:xfrm>
          <a:prstGeom prst="ellipse">
            <a:avLst/>
          </a:prstGeom>
          <a:solidFill>
            <a:srgbClr val="E6EBF0"/>
          </a:solidFill>
          <a:ln/>
        </p:spPr>
      </p:sp>
      <p:sp>
        <p:nvSpPr>
          <p:cNvPr id="131" name="Text 115"/>
          <p:cNvSpPr txBox="1"/>
          <p:nvPr/>
        </p:nvSpPr>
        <p:spPr>
          <a:xfrm>
            <a:off x="9103614" y="39090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640" dirty="0"/>
          </a:p>
        </p:txBody>
      </p:sp>
      <p:sp>
        <p:nvSpPr>
          <p:cNvPr id="132" name="Text 116"/>
          <p:cNvSpPr txBox="1"/>
          <p:nvPr/>
        </p:nvSpPr>
        <p:spPr>
          <a:xfrm>
            <a:off x="9414510" y="3826764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Banerjee</a:t>
            </a:r>
            <a:endParaRPr lang="en-US" sz="660" dirty="0"/>
          </a:p>
        </p:txBody>
      </p:sp>
      <p:sp>
        <p:nvSpPr>
          <p:cNvPr id="133" name="Text 117"/>
          <p:cNvSpPr txBox="1"/>
          <p:nvPr/>
        </p:nvSpPr>
        <p:spPr>
          <a:xfrm>
            <a:off x="9414510" y="4000500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00"/>
              </a:lnSpc>
              <a:buNone/>
            </a:pPr>
            <a:r>
              <a:rPr lang="en-US" sz="50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LHS-45512 · to Blast Furnace</a:t>
            </a:r>
            <a:endParaRPr lang="en-US" sz="500" dirty="0"/>
          </a:p>
        </p:txBody>
      </p:sp>
      <p:sp>
        <p:nvSpPr>
          <p:cNvPr id="134" name="Shape 118"/>
          <p:cNvSpPr/>
          <p:nvPr/>
        </p:nvSpPr>
        <p:spPr>
          <a:xfrm>
            <a:off x="10155174" y="3936492"/>
            <a:ext cx="548640" cy="155448"/>
          </a:xfrm>
          <a:prstGeom prst="roundRect">
            <a:avLst>
              <a:gd name="adj" fmla="val 50000"/>
            </a:avLst>
          </a:prstGeom>
          <a:solidFill>
            <a:srgbClr val="F0F3F7"/>
          </a:solidFill>
          <a:ln/>
        </p:spPr>
      </p:sp>
      <p:sp>
        <p:nvSpPr>
          <p:cNvPr id="135" name="Text 119"/>
          <p:cNvSpPr txBox="1"/>
          <p:nvPr/>
        </p:nvSpPr>
        <p:spPr>
          <a:xfrm>
            <a:off x="10155174" y="3936492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3:40</a:t>
            </a:r>
            <a:endParaRPr lang="en-US" sz="520" dirty="0"/>
          </a:p>
        </p:txBody>
      </p:sp>
      <p:sp>
        <p:nvSpPr>
          <p:cNvPr id="136" name="Text 120"/>
          <p:cNvSpPr txBox="1"/>
          <p:nvPr/>
        </p:nvSpPr>
        <p:spPr>
          <a:xfrm>
            <a:off x="9030462" y="4357116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80" kern="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M. IYER'S OTP</a:t>
            </a:r>
            <a:endParaRPr lang="en-US" sz="550" dirty="0"/>
          </a:p>
        </p:txBody>
      </p:sp>
      <p:sp>
        <p:nvSpPr>
          <p:cNvPr id="137" name="Shape 121"/>
          <p:cNvSpPr/>
          <p:nvPr/>
        </p:nvSpPr>
        <p:spPr>
          <a:xfrm>
            <a:off x="9012174" y="4530852"/>
            <a:ext cx="381762" cy="420624"/>
          </a:xfrm>
          <a:prstGeom prst="roundRect">
            <a:avLst>
              <a:gd name="adj" fmla="val 14371"/>
            </a:avLst>
          </a:prstGeom>
          <a:solidFill>
            <a:srgbClr val="1A222C"/>
          </a:solidFill>
          <a:ln/>
        </p:spPr>
      </p:sp>
      <p:sp>
        <p:nvSpPr>
          <p:cNvPr id="138" name="Text 122"/>
          <p:cNvSpPr txBox="1"/>
          <p:nvPr/>
        </p:nvSpPr>
        <p:spPr>
          <a:xfrm>
            <a:off x="9012174" y="4530852"/>
            <a:ext cx="3817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00" dirty="0"/>
          </a:p>
        </p:txBody>
      </p:sp>
      <p:sp>
        <p:nvSpPr>
          <p:cNvPr id="139" name="Shape 123"/>
          <p:cNvSpPr/>
          <p:nvPr/>
        </p:nvSpPr>
        <p:spPr>
          <a:xfrm>
            <a:off x="9467088" y="4530852"/>
            <a:ext cx="381762" cy="420624"/>
          </a:xfrm>
          <a:prstGeom prst="roundRect">
            <a:avLst>
              <a:gd name="adj" fmla="val 14371"/>
            </a:avLst>
          </a:prstGeom>
          <a:solidFill>
            <a:srgbClr val="1A222C"/>
          </a:solidFill>
          <a:ln/>
        </p:spPr>
      </p:sp>
      <p:sp>
        <p:nvSpPr>
          <p:cNvPr id="140" name="Text 124"/>
          <p:cNvSpPr txBox="1"/>
          <p:nvPr/>
        </p:nvSpPr>
        <p:spPr>
          <a:xfrm>
            <a:off x="9467088" y="4530852"/>
            <a:ext cx="3817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1" name="Shape 125"/>
          <p:cNvSpPr/>
          <p:nvPr/>
        </p:nvSpPr>
        <p:spPr>
          <a:xfrm>
            <a:off x="9922002" y="4530852"/>
            <a:ext cx="381762" cy="420624"/>
          </a:xfrm>
          <a:prstGeom prst="roundRect">
            <a:avLst>
              <a:gd name="adj" fmla="val 14371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2" name="Shape 126"/>
          <p:cNvSpPr/>
          <p:nvPr/>
        </p:nvSpPr>
        <p:spPr>
          <a:xfrm>
            <a:off x="10376916" y="4530852"/>
            <a:ext cx="381762" cy="420624"/>
          </a:xfrm>
          <a:prstGeom prst="roundRect">
            <a:avLst>
              <a:gd name="adj" fmla="val 14371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3" name="Shape 127"/>
          <p:cNvSpPr/>
          <p:nvPr/>
        </p:nvSpPr>
        <p:spPr>
          <a:xfrm>
            <a:off x="9012174" y="5033772"/>
            <a:ext cx="1746504" cy="329184"/>
          </a:xfrm>
          <a:prstGeom prst="roundRect">
            <a:avLst>
              <a:gd name="adj" fmla="val 16667"/>
            </a:avLst>
          </a:prstGeom>
          <a:solidFill>
            <a:srgbClr val="FDF3DC"/>
          </a:solidFill>
          <a:ln/>
        </p:spPr>
      </p:sp>
      <p:pic>
        <p:nvPicPr>
          <p:cNvPr id="14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03614" y="5129784"/>
            <a:ext cx="137160" cy="137160"/>
          </a:xfrm>
          <a:prstGeom prst="rect">
            <a:avLst/>
          </a:prstGeom>
        </p:spPr>
      </p:pic>
      <p:sp>
        <p:nvSpPr>
          <p:cNvPr id="145" name="Text 128"/>
          <p:cNvSpPr txBox="1"/>
          <p:nvPr/>
        </p:nvSpPr>
        <p:spPr>
          <a:xfrm>
            <a:off x="9304782" y="50337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after 5 min wait</a:t>
            </a:r>
            <a:endParaRPr lang="en-US" sz="590" dirty="0"/>
          </a:p>
        </p:txBody>
      </p:sp>
      <p:sp>
        <p:nvSpPr>
          <p:cNvPr id="146" name="Shape 129"/>
          <p:cNvSpPr/>
          <p:nvPr/>
        </p:nvSpPr>
        <p:spPr>
          <a:xfrm>
            <a:off x="9012174" y="5436108"/>
            <a:ext cx="1746504" cy="347472"/>
          </a:xfrm>
          <a:prstGeom prst="roundRect">
            <a:avLst>
              <a:gd name="adj" fmla="val 15789"/>
            </a:avLst>
          </a:prstGeom>
          <a:solidFill>
            <a:srgbClr val="00A896"/>
          </a:solidFill>
          <a:ln/>
        </p:spPr>
      </p:sp>
      <p:sp>
        <p:nvSpPr>
          <p:cNvPr id="147" name="Text 130"/>
          <p:cNvSpPr txBox="1"/>
          <p:nvPr/>
        </p:nvSpPr>
        <p:spPr>
          <a:xfrm>
            <a:off x="9012174" y="5436108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trip</a:t>
            </a:r>
            <a:endParaRPr lang="en-US" sz="750" dirty="0"/>
          </a:p>
        </p:txBody>
      </p:sp>
      <p:sp>
        <p:nvSpPr>
          <p:cNvPr id="148" name="Text 131"/>
          <p:cNvSpPr txBox="1"/>
          <p:nvPr/>
        </p:nvSpPr>
        <p:spPr>
          <a:xfrm>
            <a:off x="8146085" y="6217920"/>
            <a:ext cx="34786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no-show is recorded against policy, not argued at the gate.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ECO TECH  ·  Plant Ride for LHS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6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JOURNEY  ·  STEPS 7-8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58368"/>
            <a:ext cx="110578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40" kern="0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things go wrong, and closing the duty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365760" cy="365760"/>
          </a:xfrm>
          <a:prstGeom prst="ellipse">
            <a:avLst/>
          </a:prstGeom>
          <a:solidFill>
            <a:srgbClr val="0E141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1335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42416" y="1316736"/>
            <a:ext cx="30031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an issue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42416" y="1554480"/>
            <a:ext cx="30031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reason, and the desk knows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77569" y="1920240"/>
            <a:ext cx="2057400" cy="4206240"/>
          </a:xfrm>
          <a:prstGeom prst="roundRect">
            <a:avLst>
              <a:gd name="adj" fmla="val 3778"/>
            </a:avLst>
          </a:prstGeom>
          <a:solidFill>
            <a:srgbClr val="1A222C"/>
          </a:solidFill>
          <a:ln/>
          <a:effectLst>
            <a:outerShdw sx="100000" sy="100000" kx="0" ky="0" algn="bl" rotWithShape="0" blurRad="203200" dist="50800" dir="5400000">
              <a:srgbClr val="0E141B">
                <a:alpha val="2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341577" y="1984248"/>
            <a:ext cx="1929384" cy="4078224"/>
          </a:xfrm>
          <a:prstGeom prst="roundRect">
            <a:avLst>
              <a:gd name="adj" fmla="val 3081"/>
            </a:avLst>
          </a:prstGeom>
          <a:solidFill>
            <a:srgbClr val="F6F8FA"/>
          </a:solidFill>
          <a:ln/>
        </p:spPr>
      </p:sp>
      <p:sp>
        <p:nvSpPr>
          <p:cNvPr id="12" name="Shape 10"/>
          <p:cNvSpPr/>
          <p:nvPr/>
        </p:nvSpPr>
        <p:spPr>
          <a:xfrm>
            <a:off x="2086813" y="2034540"/>
            <a:ext cx="438912" cy="91440"/>
          </a:xfrm>
          <a:prstGeom prst="roundRect">
            <a:avLst>
              <a:gd name="adj" fmla="val 50000"/>
            </a:avLst>
          </a:prstGeom>
          <a:solidFill>
            <a:srgbClr val="1A222C"/>
          </a:solidFill>
          <a:ln/>
        </p:spPr>
      </p:sp>
      <p:sp>
        <p:nvSpPr>
          <p:cNvPr id="13" name="Shape 11"/>
          <p:cNvSpPr/>
          <p:nvPr/>
        </p:nvSpPr>
        <p:spPr>
          <a:xfrm>
            <a:off x="2068525" y="5993892"/>
            <a:ext cx="475488" cy="32004"/>
          </a:xfrm>
          <a:prstGeom prst="roundRect">
            <a:avLst>
              <a:gd name="adj" fmla="val 51429"/>
            </a:avLst>
          </a:prstGeom>
          <a:solidFill>
            <a:srgbClr val="C3CBD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460449" y="2025396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7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457" y="2040941"/>
            <a:ext cx="128016" cy="128016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049" y="2040941"/>
            <a:ext cx="128016" cy="128016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6641" y="2037283"/>
            <a:ext cx="137160" cy="13716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1341577" y="2199132"/>
            <a:ext cx="1929384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4"/>
          <p:cNvSpPr/>
          <p:nvPr/>
        </p:nvSpPr>
        <p:spPr>
          <a:xfrm>
            <a:off x="1341577" y="2557577"/>
            <a:ext cx="1929384" cy="7315"/>
          </a:xfrm>
          <a:prstGeom prst="rect">
            <a:avLst/>
          </a:prstGeom>
          <a:solidFill>
            <a:srgbClr val="E8EDF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1305" y="2322576"/>
            <a:ext cx="118872" cy="11887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43329" y="2199132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an issue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1433017" y="2656332"/>
            <a:ext cx="827532" cy="548640"/>
          </a:xfrm>
          <a:prstGeom prst="roundRect">
            <a:avLst>
              <a:gd name="adj" fmla="val 11667"/>
            </a:avLst>
          </a:prstGeom>
          <a:solidFill>
            <a:srgbClr val="FFF0E5"/>
          </a:solidFill>
          <a:ln w="17780">
            <a:solidFill>
              <a:srgbClr val="E85D04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9915" y="2756916"/>
            <a:ext cx="173736" cy="17373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433017" y="2967228"/>
            <a:ext cx="8275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</a:t>
            </a:r>
            <a:endParaRPr lang="en-US" sz="620" dirty="0"/>
          </a:p>
        </p:txBody>
      </p:sp>
      <p:sp>
        <p:nvSpPr>
          <p:cNvPr id="25" name="Shape 18"/>
          <p:cNvSpPr/>
          <p:nvPr/>
        </p:nvSpPr>
        <p:spPr>
          <a:xfrm>
            <a:off x="2351989" y="2656332"/>
            <a:ext cx="827532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8887" y="2756916"/>
            <a:ext cx="173736" cy="173736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2351989" y="2967228"/>
            <a:ext cx="8275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</a:t>
            </a:r>
            <a:endParaRPr lang="en-US" sz="620" dirty="0"/>
          </a:p>
        </p:txBody>
      </p:sp>
      <p:sp>
        <p:nvSpPr>
          <p:cNvPr id="28" name="Shape 20"/>
          <p:cNvSpPr/>
          <p:nvPr/>
        </p:nvSpPr>
        <p:spPr>
          <a:xfrm>
            <a:off x="1433017" y="3278124"/>
            <a:ext cx="827532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9915" y="3378708"/>
            <a:ext cx="173736" cy="173736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433017" y="3589020"/>
            <a:ext cx="8275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</a:t>
            </a:r>
            <a:endParaRPr lang="en-US" sz="620" dirty="0"/>
          </a:p>
        </p:txBody>
      </p:sp>
      <p:sp>
        <p:nvSpPr>
          <p:cNvPr id="31" name="Shape 22"/>
          <p:cNvSpPr/>
          <p:nvPr/>
        </p:nvSpPr>
        <p:spPr>
          <a:xfrm>
            <a:off x="2351989" y="3278124"/>
            <a:ext cx="827532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78887" y="3378708"/>
            <a:ext cx="173736" cy="173736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2351989" y="3589020"/>
            <a:ext cx="8275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entry</a:t>
            </a:r>
            <a:endParaRPr lang="en-US" sz="620" dirty="0"/>
          </a:p>
        </p:txBody>
      </p:sp>
      <p:sp>
        <p:nvSpPr>
          <p:cNvPr id="34" name="Text 24"/>
          <p:cNvSpPr txBox="1"/>
          <p:nvPr/>
        </p:nvSpPr>
        <p:spPr>
          <a:xfrm>
            <a:off x="1451305" y="3954780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80" kern="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HAPPENED</a:t>
            </a:r>
            <a:endParaRPr lang="en-US" sz="550" dirty="0"/>
          </a:p>
        </p:txBody>
      </p:sp>
      <p:sp>
        <p:nvSpPr>
          <p:cNvPr id="35" name="Shape 25"/>
          <p:cNvSpPr/>
          <p:nvPr/>
        </p:nvSpPr>
        <p:spPr>
          <a:xfrm>
            <a:off x="1433017" y="4119372"/>
            <a:ext cx="1746504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6" name="Text 26"/>
          <p:cNvSpPr txBox="1"/>
          <p:nvPr/>
        </p:nvSpPr>
        <p:spPr>
          <a:xfrm>
            <a:off x="1542745" y="417423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00"/>
              </a:lnSpc>
              <a:buNone/>
            </a:pPr>
            <a:r>
              <a:rPr lang="en-US" sz="6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 right tyre puncture near</a:t>
            </a:r>
            <a:endParaRPr lang="en-US" sz="600" dirty="0"/>
          </a:p>
          <a:p>
            <a:pPr indent="0" marL="0">
              <a:lnSpc>
                <a:spcPts val="900"/>
              </a:lnSpc>
              <a:buNone/>
            </a:pPr>
            <a:r>
              <a:rPr lang="en-US" sz="6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Coke Oven Road</a:t>
            </a:r>
            <a:endParaRPr lang="en-US" sz="600" dirty="0"/>
          </a:p>
        </p:txBody>
      </p:sp>
      <p:sp>
        <p:nvSpPr>
          <p:cNvPr id="37" name="Shape 27"/>
          <p:cNvSpPr/>
          <p:nvPr/>
        </p:nvSpPr>
        <p:spPr>
          <a:xfrm>
            <a:off x="1433017" y="4796028"/>
            <a:ext cx="827532" cy="512064"/>
          </a:xfrm>
          <a:prstGeom prst="roundRect">
            <a:avLst>
              <a:gd name="adj" fmla="val 10714"/>
            </a:avLst>
          </a:prstGeom>
          <a:solidFill>
            <a:srgbClr val="F0F3F7"/>
          </a:solidFill>
          <a:ln w="12700">
            <a:solidFill>
              <a:srgbClr val="E8EDF2"/>
            </a:solidFill>
            <a:prstDash val="dash"/>
          </a:ln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64487" y="4914900"/>
            <a:ext cx="173736" cy="173736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1433017" y="5125212"/>
            <a:ext cx="8275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photo</a:t>
            </a:r>
            <a:endParaRPr lang="en-US" sz="560" dirty="0"/>
          </a:p>
        </p:txBody>
      </p:sp>
      <p:sp>
        <p:nvSpPr>
          <p:cNvPr id="40" name="Shape 29"/>
          <p:cNvSpPr/>
          <p:nvPr/>
        </p:nvSpPr>
        <p:spPr>
          <a:xfrm>
            <a:off x="2351989" y="4796028"/>
            <a:ext cx="827532" cy="512064"/>
          </a:xfrm>
          <a:prstGeom prst="roundRect">
            <a:avLst>
              <a:gd name="adj" fmla="val 10714"/>
            </a:avLst>
          </a:prstGeom>
          <a:solidFill>
            <a:srgbClr val="D6DDE5"/>
          </a:solidFill>
          <a:ln/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78887" y="4960620"/>
            <a:ext cx="173736" cy="173736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1433017" y="5417820"/>
            <a:ext cx="1746504" cy="347472"/>
          </a:xfrm>
          <a:prstGeom prst="roundRect">
            <a:avLst>
              <a:gd name="adj" fmla="val 15789"/>
            </a:avLst>
          </a:prstGeom>
          <a:solidFill>
            <a:srgbClr val="E85D04"/>
          </a:solidFill>
          <a:ln/>
        </p:spPr>
      </p:sp>
      <p:sp>
        <p:nvSpPr>
          <p:cNvPr id="43" name="Text 31"/>
          <p:cNvSpPr txBox="1"/>
          <p:nvPr/>
        </p:nvSpPr>
        <p:spPr>
          <a:xfrm>
            <a:off x="1433017" y="5417820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to transport desk</a:t>
            </a:r>
            <a:endParaRPr lang="en-US" sz="750" dirty="0"/>
          </a:p>
        </p:txBody>
      </p:sp>
      <p:sp>
        <p:nvSpPr>
          <p:cNvPr id="44" name="Text 32"/>
          <p:cNvSpPr txBox="1"/>
          <p:nvPr/>
        </p:nvSpPr>
        <p:spPr>
          <a:xfrm>
            <a:off x="566928" y="6217920"/>
            <a:ext cx="34786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desk sees it instantly and can reassign the riders.</a:t>
            </a:r>
            <a:endParaRPr lang="en-US" sz="950" dirty="0"/>
          </a:p>
        </p:txBody>
      </p:sp>
      <p:sp>
        <p:nvSpPr>
          <p:cNvPr id="45" name="Shape 33"/>
          <p:cNvSpPr/>
          <p:nvPr/>
        </p:nvSpPr>
        <p:spPr>
          <a:xfrm>
            <a:off x="4356506" y="1335024"/>
            <a:ext cx="365760" cy="365760"/>
          </a:xfrm>
          <a:prstGeom prst="ellipse">
            <a:avLst/>
          </a:prstGeom>
          <a:solidFill>
            <a:srgbClr val="0E141B"/>
          </a:solidFill>
          <a:ln/>
        </p:spPr>
      </p:sp>
      <p:sp>
        <p:nvSpPr>
          <p:cNvPr id="46" name="Text 34"/>
          <p:cNvSpPr txBox="1"/>
          <p:nvPr/>
        </p:nvSpPr>
        <p:spPr>
          <a:xfrm>
            <a:off x="4356506" y="1335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47" name="Text 35"/>
          <p:cNvSpPr txBox="1"/>
          <p:nvPr/>
        </p:nvSpPr>
        <p:spPr>
          <a:xfrm>
            <a:off x="4831994" y="1316736"/>
            <a:ext cx="30031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stretch</a:t>
            </a:r>
            <a:endParaRPr lang="en-US" sz="1300" dirty="0"/>
          </a:p>
        </p:txBody>
      </p:sp>
      <p:sp>
        <p:nvSpPr>
          <p:cNvPr id="48" name="Text 36"/>
          <p:cNvSpPr txBox="1"/>
          <p:nvPr/>
        </p:nvSpPr>
        <p:spPr>
          <a:xfrm>
            <a:off x="4831994" y="1554480"/>
            <a:ext cx="30031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spots do not lose the trip</a:t>
            </a:r>
            <a:endParaRPr lang="en-US" sz="950" dirty="0"/>
          </a:p>
        </p:txBody>
      </p:sp>
      <p:sp>
        <p:nvSpPr>
          <p:cNvPr id="49" name="Shape 37"/>
          <p:cNvSpPr/>
          <p:nvPr/>
        </p:nvSpPr>
        <p:spPr>
          <a:xfrm>
            <a:off x="5067148" y="1920240"/>
            <a:ext cx="2057400" cy="4206240"/>
          </a:xfrm>
          <a:prstGeom prst="roundRect">
            <a:avLst>
              <a:gd name="adj" fmla="val 3778"/>
            </a:avLst>
          </a:prstGeom>
          <a:solidFill>
            <a:srgbClr val="1A222C"/>
          </a:solidFill>
          <a:ln/>
          <a:effectLst>
            <a:outerShdw sx="100000" sy="100000" kx="0" ky="0" algn="bl" rotWithShape="0" blurRad="203200" dist="50800" dir="5400000">
              <a:srgbClr val="0E141B">
                <a:alpha val="24000"/>
              </a:srgbClr>
            </a:outerShdw>
          </a:effectLst>
        </p:spPr>
      </p:sp>
      <p:sp>
        <p:nvSpPr>
          <p:cNvPr id="50" name="Shape 38"/>
          <p:cNvSpPr/>
          <p:nvPr/>
        </p:nvSpPr>
        <p:spPr>
          <a:xfrm>
            <a:off x="5131156" y="1984248"/>
            <a:ext cx="1929384" cy="4078224"/>
          </a:xfrm>
          <a:prstGeom prst="roundRect">
            <a:avLst>
              <a:gd name="adj" fmla="val 3081"/>
            </a:avLst>
          </a:prstGeom>
          <a:solidFill>
            <a:srgbClr val="F6F8FA"/>
          </a:solidFill>
          <a:ln/>
        </p:spPr>
      </p:sp>
      <p:sp>
        <p:nvSpPr>
          <p:cNvPr id="51" name="Shape 39"/>
          <p:cNvSpPr/>
          <p:nvPr/>
        </p:nvSpPr>
        <p:spPr>
          <a:xfrm>
            <a:off x="5876392" y="2034540"/>
            <a:ext cx="438912" cy="91440"/>
          </a:xfrm>
          <a:prstGeom prst="roundRect">
            <a:avLst>
              <a:gd name="adj" fmla="val 50000"/>
            </a:avLst>
          </a:prstGeom>
          <a:solidFill>
            <a:srgbClr val="1A222C"/>
          </a:solidFill>
          <a:ln/>
        </p:spPr>
      </p:sp>
      <p:sp>
        <p:nvSpPr>
          <p:cNvPr id="52" name="Shape 40"/>
          <p:cNvSpPr/>
          <p:nvPr/>
        </p:nvSpPr>
        <p:spPr>
          <a:xfrm>
            <a:off x="5858104" y="5993892"/>
            <a:ext cx="475488" cy="32004"/>
          </a:xfrm>
          <a:prstGeom prst="roundRect">
            <a:avLst>
              <a:gd name="adj" fmla="val 51429"/>
            </a:avLst>
          </a:prstGeom>
          <a:solidFill>
            <a:srgbClr val="C3CBD4"/>
          </a:solidFill>
          <a:ln/>
        </p:spPr>
      </p:sp>
      <p:sp>
        <p:nvSpPr>
          <p:cNvPr id="53" name="Text 41"/>
          <p:cNvSpPr txBox="1"/>
          <p:nvPr/>
        </p:nvSpPr>
        <p:spPr>
          <a:xfrm>
            <a:off x="5250028" y="2025396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700" dirty="0"/>
          </a:p>
        </p:txBody>
      </p:sp>
      <p:pic>
        <p:nvPicPr>
          <p:cNvPr id="5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57036" y="2040941"/>
            <a:ext cx="128016" cy="128016"/>
          </a:xfrm>
          <a:prstGeom prst="rect">
            <a:avLst/>
          </a:prstGeom>
        </p:spPr>
      </p:pic>
      <p:pic>
        <p:nvPicPr>
          <p:cNvPr id="5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21628" y="2040941"/>
            <a:ext cx="128016" cy="128016"/>
          </a:xfrm>
          <a:prstGeom prst="rect">
            <a:avLst/>
          </a:prstGeom>
        </p:spPr>
      </p:pic>
      <p:pic>
        <p:nvPicPr>
          <p:cNvPr id="5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86220" y="2037283"/>
            <a:ext cx="137160" cy="137160"/>
          </a:xfrm>
          <a:prstGeom prst="rect">
            <a:avLst/>
          </a:prstGeom>
        </p:spPr>
      </p:pic>
      <p:sp>
        <p:nvSpPr>
          <p:cNvPr id="57" name="Shape 42"/>
          <p:cNvSpPr/>
          <p:nvPr/>
        </p:nvSpPr>
        <p:spPr>
          <a:xfrm>
            <a:off x="5131156" y="2199132"/>
            <a:ext cx="1929384" cy="365760"/>
          </a:xfrm>
          <a:prstGeom prst="rect">
            <a:avLst/>
          </a:prstGeom>
          <a:solidFill>
            <a:srgbClr val="E8A100"/>
          </a:solidFill>
          <a:ln/>
        </p:spPr>
      </p:sp>
      <p:pic>
        <p:nvPicPr>
          <p:cNvPr id="5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59172" y="2304288"/>
            <a:ext cx="155448" cy="155448"/>
          </a:xfrm>
          <a:prstGeom prst="rect">
            <a:avLst/>
          </a:prstGeom>
        </p:spPr>
      </p:pic>
      <p:sp>
        <p:nvSpPr>
          <p:cNvPr id="59" name="Text 43"/>
          <p:cNvSpPr txBox="1"/>
          <p:nvPr/>
        </p:nvSpPr>
        <p:spPr>
          <a:xfrm>
            <a:off x="5478628" y="21991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network · saving locally</a:t>
            </a:r>
            <a:endParaRPr lang="en-US" sz="640" dirty="0"/>
          </a:p>
        </p:txBody>
      </p:sp>
      <p:sp>
        <p:nvSpPr>
          <p:cNvPr id="60" name="Shape 44"/>
          <p:cNvSpPr/>
          <p:nvPr/>
        </p:nvSpPr>
        <p:spPr>
          <a:xfrm>
            <a:off x="5222596" y="2674620"/>
            <a:ext cx="1746504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1" name="Text 45"/>
          <p:cNvSpPr txBox="1"/>
          <p:nvPr/>
        </p:nvSpPr>
        <p:spPr>
          <a:xfrm>
            <a:off x="5332324" y="27477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 still running</a:t>
            </a:r>
            <a:endParaRPr lang="en-US" sz="800" dirty="0"/>
          </a:p>
        </p:txBody>
      </p:sp>
      <p:sp>
        <p:nvSpPr>
          <p:cNvPr id="62" name="Text 46"/>
          <p:cNvSpPr txBox="1"/>
          <p:nvPr/>
        </p:nvSpPr>
        <p:spPr>
          <a:xfrm>
            <a:off x="5332324" y="293979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 → Blast Furnace</a:t>
            </a:r>
            <a:endParaRPr lang="en-US" sz="600" dirty="0"/>
          </a:p>
        </p:txBody>
      </p:sp>
      <p:sp>
        <p:nvSpPr>
          <p:cNvPr id="63" name="Shape 47"/>
          <p:cNvSpPr/>
          <p:nvPr/>
        </p:nvSpPr>
        <p:spPr>
          <a:xfrm>
            <a:off x="5332324" y="3150108"/>
            <a:ext cx="1527048" cy="5486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64" name="Text 48"/>
          <p:cNvSpPr txBox="1"/>
          <p:nvPr/>
        </p:nvSpPr>
        <p:spPr>
          <a:xfrm>
            <a:off x="5332324" y="320497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points held</a:t>
            </a:r>
            <a:endParaRPr lang="en-US" sz="590" dirty="0"/>
          </a:p>
        </p:txBody>
      </p:sp>
      <p:sp>
        <p:nvSpPr>
          <p:cNvPr id="65" name="Text 49"/>
          <p:cNvSpPr txBox="1"/>
          <p:nvPr/>
        </p:nvSpPr>
        <p:spPr>
          <a:xfrm>
            <a:off x="6329020" y="320497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E8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418</a:t>
            </a:r>
            <a:endParaRPr lang="en-US" sz="700" dirty="0"/>
          </a:p>
        </p:txBody>
      </p:sp>
      <p:sp>
        <p:nvSpPr>
          <p:cNvPr id="66" name="Text 50"/>
          <p:cNvSpPr txBox="1"/>
          <p:nvPr/>
        </p:nvSpPr>
        <p:spPr>
          <a:xfrm>
            <a:off x="5240884" y="3607308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80" kern="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QUEUED TO SEND</a:t>
            </a:r>
            <a:endParaRPr lang="en-US" sz="550" dirty="0"/>
          </a:p>
        </p:txBody>
      </p:sp>
      <p:sp>
        <p:nvSpPr>
          <p:cNvPr id="67" name="Shape 51"/>
          <p:cNvSpPr/>
          <p:nvPr/>
        </p:nvSpPr>
        <p:spPr>
          <a:xfrm>
            <a:off x="5222596" y="3790188"/>
            <a:ext cx="1746504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pic>
        <p:nvPicPr>
          <p:cNvPr id="6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14036" y="3895344"/>
            <a:ext cx="137160" cy="137160"/>
          </a:xfrm>
          <a:prstGeom prst="rect">
            <a:avLst/>
          </a:prstGeom>
        </p:spPr>
      </p:pic>
      <p:sp>
        <p:nvSpPr>
          <p:cNvPr id="69" name="Text 52"/>
          <p:cNvSpPr txBox="1"/>
          <p:nvPr/>
        </p:nvSpPr>
        <p:spPr>
          <a:xfrm>
            <a:off x="5515204" y="379018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start · 14:05</a:t>
            </a:r>
            <a:endParaRPr lang="en-US" sz="600" dirty="0"/>
          </a:p>
        </p:txBody>
      </p:sp>
      <p:sp>
        <p:nvSpPr>
          <p:cNvPr id="70" name="Text 53"/>
          <p:cNvSpPr txBox="1"/>
          <p:nvPr/>
        </p:nvSpPr>
        <p:spPr>
          <a:xfrm>
            <a:off x="6383884" y="3790188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4826</a:t>
            </a:r>
            <a:endParaRPr lang="en-US" sz="540" dirty="0"/>
          </a:p>
        </p:txBody>
      </p:sp>
      <p:sp>
        <p:nvSpPr>
          <p:cNvPr id="71" name="Shape 54"/>
          <p:cNvSpPr/>
          <p:nvPr/>
        </p:nvSpPr>
        <p:spPr>
          <a:xfrm>
            <a:off x="5222596" y="4229100"/>
            <a:ext cx="1746504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pic>
        <p:nvPicPr>
          <p:cNvPr id="7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14036" y="4334256"/>
            <a:ext cx="137160" cy="137160"/>
          </a:xfrm>
          <a:prstGeom prst="rect">
            <a:avLst/>
          </a:prstGeom>
        </p:spPr>
      </p:pic>
      <p:sp>
        <p:nvSpPr>
          <p:cNvPr id="73" name="Text 55"/>
          <p:cNvSpPr txBox="1"/>
          <p:nvPr/>
        </p:nvSpPr>
        <p:spPr>
          <a:xfrm>
            <a:off x="5515204" y="42291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track · 418 points</a:t>
            </a:r>
            <a:endParaRPr lang="en-US" sz="600" dirty="0"/>
          </a:p>
        </p:txBody>
      </p:sp>
      <p:sp>
        <p:nvSpPr>
          <p:cNvPr id="74" name="Text 56"/>
          <p:cNvSpPr txBox="1"/>
          <p:nvPr/>
        </p:nvSpPr>
        <p:spPr>
          <a:xfrm>
            <a:off x="6383884" y="4229100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 min</a:t>
            </a:r>
            <a:endParaRPr lang="en-US" sz="540" dirty="0"/>
          </a:p>
        </p:txBody>
      </p:sp>
      <p:sp>
        <p:nvSpPr>
          <p:cNvPr id="75" name="Shape 57"/>
          <p:cNvSpPr/>
          <p:nvPr/>
        </p:nvSpPr>
        <p:spPr>
          <a:xfrm>
            <a:off x="5222596" y="4668012"/>
            <a:ext cx="1746504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pic>
        <p:nvPicPr>
          <p:cNvPr id="7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314036" y="4773168"/>
            <a:ext cx="137160" cy="137160"/>
          </a:xfrm>
          <a:prstGeom prst="rect">
            <a:avLst/>
          </a:prstGeom>
        </p:spPr>
      </p:pic>
      <p:sp>
        <p:nvSpPr>
          <p:cNvPr id="77" name="Text 58"/>
          <p:cNvSpPr txBox="1"/>
          <p:nvPr/>
        </p:nvSpPr>
        <p:spPr>
          <a:xfrm>
            <a:off x="5515204" y="46680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Odometer · 41 231 km</a:t>
            </a:r>
            <a:endParaRPr lang="en-US" sz="600" dirty="0"/>
          </a:p>
        </p:txBody>
      </p:sp>
      <p:sp>
        <p:nvSpPr>
          <p:cNvPr id="78" name="Text 59"/>
          <p:cNvSpPr txBox="1"/>
          <p:nvPr/>
        </p:nvSpPr>
        <p:spPr>
          <a:xfrm>
            <a:off x="6383884" y="4668012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540" dirty="0"/>
          </a:p>
        </p:txBody>
      </p:sp>
      <p:sp>
        <p:nvSpPr>
          <p:cNvPr id="79" name="Shape 60"/>
          <p:cNvSpPr/>
          <p:nvPr/>
        </p:nvSpPr>
        <p:spPr>
          <a:xfrm>
            <a:off x="5222596" y="5106924"/>
            <a:ext cx="1746504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pic>
        <p:nvPicPr>
          <p:cNvPr id="8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14036" y="5212080"/>
            <a:ext cx="137160" cy="137160"/>
          </a:xfrm>
          <a:prstGeom prst="rect">
            <a:avLst/>
          </a:prstGeom>
        </p:spPr>
      </p:pic>
      <p:sp>
        <p:nvSpPr>
          <p:cNvPr id="81" name="Text 61"/>
          <p:cNvSpPr txBox="1"/>
          <p:nvPr/>
        </p:nvSpPr>
        <p:spPr>
          <a:xfrm>
            <a:off x="5515204" y="51069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report</a:t>
            </a:r>
            <a:endParaRPr lang="en-US" sz="600" dirty="0"/>
          </a:p>
        </p:txBody>
      </p:sp>
      <p:sp>
        <p:nvSpPr>
          <p:cNvPr id="82" name="Text 62"/>
          <p:cNvSpPr txBox="1"/>
          <p:nvPr/>
        </p:nvSpPr>
        <p:spPr>
          <a:xfrm>
            <a:off x="6383884" y="5106924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photo</a:t>
            </a:r>
            <a:endParaRPr lang="en-US" sz="540" dirty="0"/>
          </a:p>
        </p:txBody>
      </p:sp>
      <p:sp>
        <p:nvSpPr>
          <p:cNvPr id="83" name="Shape 63"/>
          <p:cNvSpPr/>
          <p:nvPr/>
        </p:nvSpPr>
        <p:spPr>
          <a:xfrm>
            <a:off x="5222596" y="5545836"/>
            <a:ext cx="1746504" cy="402336"/>
          </a:xfrm>
          <a:prstGeom prst="roundRect">
            <a:avLst>
              <a:gd name="adj" fmla="val 13636"/>
            </a:avLst>
          </a:prstGeom>
          <a:solidFill>
            <a:srgbClr val="E2F6F3"/>
          </a:solidFill>
          <a:ln/>
        </p:spPr>
      </p:sp>
      <p:pic>
        <p:nvPicPr>
          <p:cNvPr id="84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314036" y="5673852"/>
            <a:ext cx="146304" cy="146304"/>
          </a:xfrm>
          <a:prstGeom prst="rect">
            <a:avLst/>
          </a:prstGeom>
        </p:spPr>
      </p:pic>
      <p:sp>
        <p:nvSpPr>
          <p:cNvPr id="85" name="Text 64"/>
          <p:cNvSpPr txBox="1"/>
          <p:nvPr/>
        </p:nvSpPr>
        <p:spPr>
          <a:xfrm>
            <a:off x="5515204" y="5545836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itself when signal returns</a:t>
            </a:r>
            <a:endParaRPr lang="en-US" sz="590" dirty="0"/>
          </a:p>
        </p:txBody>
      </p:sp>
      <p:sp>
        <p:nvSpPr>
          <p:cNvPr id="86" name="Text 65"/>
          <p:cNvSpPr txBox="1"/>
          <p:nvPr/>
        </p:nvSpPr>
        <p:spPr>
          <a:xfrm>
            <a:off x="4356506" y="6217920"/>
            <a:ext cx="34786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 structures create dead spots. The app assumes them.</a:t>
            </a:r>
            <a:endParaRPr lang="en-US" sz="950" dirty="0"/>
          </a:p>
        </p:txBody>
      </p:sp>
      <p:sp>
        <p:nvSpPr>
          <p:cNvPr id="87" name="Shape 66"/>
          <p:cNvSpPr/>
          <p:nvPr/>
        </p:nvSpPr>
        <p:spPr>
          <a:xfrm>
            <a:off x="8146085" y="1335024"/>
            <a:ext cx="365760" cy="365760"/>
          </a:xfrm>
          <a:prstGeom prst="ellipse">
            <a:avLst/>
          </a:prstGeom>
          <a:solidFill>
            <a:srgbClr val="0E141B"/>
          </a:solidFill>
          <a:ln/>
        </p:spPr>
      </p:sp>
      <p:sp>
        <p:nvSpPr>
          <p:cNvPr id="88" name="Text 67"/>
          <p:cNvSpPr txBox="1"/>
          <p:nvPr/>
        </p:nvSpPr>
        <p:spPr>
          <a:xfrm>
            <a:off x="8146085" y="1335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89" name="Text 68"/>
          <p:cNvSpPr txBox="1"/>
          <p:nvPr/>
        </p:nvSpPr>
        <p:spPr>
          <a:xfrm>
            <a:off x="8621573" y="1316736"/>
            <a:ext cx="30031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duty</a:t>
            </a:r>
            <a:endParaRPr lang="en-US" sz="1300" dirty="0"/>
          </a:p>
        </p:txBody>
      </p:sp>
      <p:sp>
        <p:nvSpPr>
          <p:cNvPr id="90" name="Text 69"/>
          <p:cNvSpPr txBox="1"/>
          <p:nvPr/>
        </p:nvSpPr>
        <p:spPr>
          <a:xfrm>
            <a:off x="8621573" y="1554480"/>
            <a:ext cx="30031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KM, fuel and hours in one screen</a:t>
            </a:r>
            <a:endParaRPr lang="en-US" sz="950" dirty="0"/>
          </a:p>
        </p:txBody>
      </p:sp>
      <p:sp>
        <p:nvSpPr>
          <p:cNvPr id="91" name="Shape 70"/>
          <p:cNvSpPr/>
          <p:nvPr/>
        </p:nvSpPr>
        <p:spPr>
          <a:xfrm>
            <a:off x="8856726" y="1920240"/>
            <a:ext cx="2057400" cy="4206240"/>
          </a:xfrm>
          <a:prstGeom prst="roundRect">
            <a:avLst>
              <a:gd name="adj" fmla="val 3778"/>
            </a:avLst>
          </a:prstGeom>
          <a:solidFill>
            <a:srgbClr val="1A222C"/>
          </a:solidFill>
          <a:ln/>
          <a:effectLst>
            <a:outerShdw sx="100000" sy="100000" kx="0" ky="0" algn="bl" rotWithShape="0" blurRad="203200" dist="50800" dir="5400000">
              <a:srgbClr val="0E141B">
                <a:alpha val="24000"/>
              </a:srgbClr>
            </a:outerShdw>
          </a:effectLst>
        </p:spPr>
      </p:sp>
      <p:sp>
        <p:nvSpPr>
          <p:cNvPr id="92" name="Shape 71"/>
          <p:cNvSpPr/>
          <p:nvPr/>
        </p:nvSpPr>
        <p:spPr>
          <a:xfrm>
            <a:off x="8920734" y="1984248"/>
            <a:ext cx="1929384" cy="4078224"/>
          </a:xfrm>
          <a:prstGeom prst="roundRect">
            <a:avLst>
              <a:gd name="adj" fmla="val 3081"/>
            </a:avLst>
          </a:prstGeom>
          <a:solidFill>
            <a:srgbClr val="F6F8FA"/>
          </a:solidFill>
          <a:ln/>
        </p:spPr>
      </p:sp>
      <p:sp>
        <p:nvSpPr>
          <p:cNvPr id="93" name="Shape 72"/>
          <p:cNvSpPr/>
          <p:nvPr/>
        </p:nvSpPr>
        <p:spPr>
          <a:xfrm>
            <a:off x="9665970" y="2034540"/>
            <a:ext cx="438912" cy="91440"/>
          </a:xfrm>
          <a:prstGeom prst="roundRect">
            <a:avLst>
              <a:gd name="adj" fmla="val 50000"/>
            </a:avLst>
          </a:prstGeom>
          <a:solidFill>
            <a:srgbClr val="1A222C"/>
          </a:solidFill>
          <a:ln/>
        </p:spPr>
      </p:sp>
      <p:sp>
        <p:nvSpPr>
          <p:cNvPr id="94" name="Shape 73"/>
          <p:cNvSpPr/>
          <p:nvPr/>
        </p:nvSpPr>
        <p:spPr>
          <a:xfrm>
            <a:off x="9647682" y="5993892"/>
            <a:ext cx="475488" cy="32004"/>
          </a:xfrm>
          <a:prstGeom prst="roundRect">
            <a:avLst>
              <a:gd name="adj" fmla="val 51429"/>
            </a:avLst>
          </a:prstGeom>
          <a:solidFill>
            <a:srgbClr val="C3CBD4"/>
          </a:solidFill>
          <a:ln/>
        </p:spPr>
      </p:sp>
      <p:sp>
        <p:nvSpPr>
          <p:cNvPr id="95" name="Text 74"/>
          <p:cNvSpPr txBox="1"/>
          <p:nvPr/>
        </p:nvSpPr>
        <p:spPr>
          <a:xfrm>
            <a:off x="9039606" y="2025396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700" dirty="0"/>
          </a:p>
        </p:txBody>
      </p:sp>
      <p:pic>
        <p:nvPicPr>
          <p:cNvPr id="96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246614" y="2040941"/>
            <a:ext cx="128016" cy="128016"/>
          </a:xfrm>
          <a:prstGeom prst="rect">
            <a:avLst/>
          </a:prstGeom>
        </p:spPr>
      </p:pic>
      <p:pic>
        <p:nvPicPr>
          <p:cNvPr id="97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411206" y="2040941"/>
            <a:ext cx="128016" cy="128016"/>
          </a:xfrm>
          <a:prstGeom prst="rect">
            <a:avLst/>
          </a:prstGeom>
        </p:spPr>
      </p:pic>
      <p:pic>
        <p:nvPicPr>
          <p:cNvPr id="98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575798" y="2037283"/>
            <a:ext cx="137160" cy="137160"/>
          </a:xfrm>
          <a:prstGeom prst="rect">
            <a:avLst/>
          </a:prstGeom>
        </p:spPr>
      </p:pic>
      <p:sp>
        <p:nvSpPr>
          <p:cNvPr id="99" name="Shape 75"/>
          <p:cNvSpPr/>
          <p:nvPr/>
        </p:nvSpPr>
        <p:spPr>
          <a:xfrm>
            <a:off x="8920734" y="2199132"/>
            <a:ext cx="1929384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0" name="Shape 76"/>
          <p:cNvSpPr/>
          <p:nvPr/>
        </p:nvSpPr>
        <p:spPr>
          <a:xfrm>
            <a:off x="8920734" y="2557577"/>
            <a:ext cx="1929384" cy="7315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101" name="Text 77"/>
          <p:cNvSpPr txBox="1"/>
          <p:nvPr/>
        </p:nvSpPr>
        <p:spPr>
          <a:xfrm>
            <a:off x="9030462" y="2199132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of duty</a:t>
            </a:r>
            <a:endParaRPr lang="en-US" sz="850" dirty="0"/>
          </a:p>
        </p:txBody>
      </p:sp>
      <p:sp>
        <p:nvSpPr>
          <p:cNvPr id="102" name="Shape 78"/>
          <p:cNvSpPr/>
          <p:nvPr/>
        </p:nvSpPr>
        <p:spPr>
          <a:xfrm>
            <a:off x="9012174" y="2656332"/>
            <a:ext cx="827532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03" name="Text 79"/>
          <p:cNvSpPr txBox="1"/>
          <p:nvPr/>
        </p:nvSpPr>
        <p:spPr>
          <a:xfrm>
            <a:off x="9121902" y="2702052"/>
            <a:ext cx="6080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50" dirty="0"/>
          </a:p>
        </p:txBody>
      </p:sp>
      <p:sp>
        <p:nvSpPr>
          <p:cNvPr id="104" name="Text 80"/>
          <p:cNvSpPr txBox="1"/>
          <p:nvPr/>
        </p:nvSpPr>
        <p:spPr>
          <a:xfrm>
            <a:off x="9121902" y="2930652"/>
            <a:ext cx="6080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 completed</a:t>
            </a:r>
            <a:endParaRPr lang="en-US" sz="540" dirty="0"/>
          </a:p>
        </p:txBody>
      </p:sp>
      <p:sp>
        <p:nvSpPr>
          <p:cNvPr id="105" name="Shape 81"/>
          <p:cNvSpPr/>
          <p:nvPr/>
        </p:nvSpPr>
        <p:spPr>
          <a:xfrm>
            <a:off x="9931146" y="2656332"/>
            <a:ext cx="827532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06" name="Text 82"/>
          <p:cNvSpPr txBox="1"/>
          <p:nvPr/>
        </p:nvSpPr>
        <p:spPr>
          <a:xfrm>
            <a:off x="10040874" y="2702052"/>
            <a:ext cx="6080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84.6 km</a:t>
            </a:r>
            <a:endParaRPr lang="en-US" sz="950" dirty="0"/>
          </a:p>
        </p:txBody>
      </p:sp>
      <p:sp>
        <p:nvSpPr>
          <p:cNvPr id="107" name="Text 83"/>
          <p:cNvSpPr txBox="1"/>
          <p:nvPr/>
        </p:nvSpPr>
        <p:spPr>
          <a:xfrm>
            <a:off x="10040874" y="2930652"/>
            <a:ext cx="6080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run</a:t>
            </a:r>
            <a:endParaRPr lang="en-US" sz="540" dirty="0"/>
          </a:p>
        </p:txBody>
      </p:sp>
      <p:sp>
        <p:nvSpPr>
          <p:cNvPr id="108" name="Shape 84"/>
          <p:cNvSpPr/>
          <p:nvPr/>
        </p:nvSpPr>
        <p:spPr>
          <a:xfrm>
            <a:off x="9012174" y="3223260"/>
            <a:ext cx="827532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09" name="Text 85"/>
          <p:cNvSpPr txBox="1"/>
          <p:nvPr/>
        </p:nvSpPr>
        <p:spPr>
          <a:xfrm>
            <a:off x="9121902" y="3268980"/>
            <a:ext cx="6080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50" dirty="0"/>
          </a:p>
        </p:txBody>
      </p:sp>
      <p:sp>
        <p:nvSpPr>
          <p:cNvPr id="110" name="Text 86"/>
          <p:cNvSpPr txBox="1"/>
          <p:nvPr/>
        </p:nvSpPr>
        <p:spPr>
          <a:xfrm>
            <a:off x="9121902" y="3497580"/>
            <a:ext cx="6080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 carried</a:t>
            </a:r>
            <a:endParaRPr lang="en-US" sz="540" dirty="0"/>
          </a:p>
        </p:txBody>
      </p:sp>
      <p:sp>
        <p:nvSpPr>
          <p:cNvPr id="111" name="Shape 87"/>
          <p:cNvSpPr/>
          <p:nvPr/>
        </p:nvSpPr>
        <p:spPr>
          <a:xfrm>
            <a:off x="9931146" y="3223260"/>
            <a:ext cx="827532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12" name="Text 88"/>
          <p:cNvSpPr txBox="1"/>
          <p:nvPr/>
        </p:nvSpPr>
        <p:spPr>
          <a:xfrm>
            <a:off x="10040874" y="3268980"/>
            <a:ext cx="6080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7h 52m</a:t>
            </a:r>
            <a:endParaRPr lang="en-US" sz="950" dirty="0"/>
          </a:p>
        </p:txBody>
      </p:sp>
      <p:sp>
        <p:nvSpPr>
          <p:cNvPr id="113" name="Text 89"/>
          <p:cNvSpPr txBox="1"/>
          <p:nvPr/>
        </p:nvSpPr>
        <p:spPr>
          <a:xfrm>
            <a:off x="10040874" y="3497580"/>
            <a:ext cx="6080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 hours of 9h</a:t>
            </a:r>
            <a:endParaRPr lang="en-US" sz="540" dirty="0"/>
          </a:p>
        </p:txBody>
      </p:sp>
      <p:sp>
        <p:nvSpPr>
          <p:cNvPr id="114" name="Text 90"/>
          <p:cNvSpPr txBox="1"/>
          <p:nvPr/>
        </p:nvSpPr>
        <p:spPr>
          <a:xfrm>
            <a:off x="9030462" y="3845052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80" kern="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CLOSE-OUT ENTRIES</a:t>
            </a:r>
            <a:endParaRPr lang="en-US" sz="550" dirty="0"/>
          </a:p>
        </p:txBody>
      </p:sp>
      <p:sp>
        <p:nvSpPr>
          <p:cNvPr id="115" name="Shape 91"/>
          <p:cNvSpPr/>
          <p:nvPr/>
        </p:nvSpPr>
        <p:spPr>
          <a:xfrm>
            <a:off x="9012174" y="4027932"/>
            <a:ext cx="1746504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16" name="Text 92"/>
          <p:cNvSpPr txBox="1"/>
          <p:nvPr/>
        </p:nvSpPr>
        <p:spPr>
          <a:xfrm>
            <a:off x="9121902" y="406450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odometer</a:t>
            </a:r>
            <a:endParaRPr lang="en-US" sz="560" dirty="0"/>
          </a:p>
        </p:txBody>
      </p:sp>
      <p:sp>
        <p:nvSpPr>
          <p:cNvPr id="117" name="Text 93"/>
          <p:cNvSpPr txBox="1"/>
          <p:nvPr/>
        </p:nvSpPr>
        <p:spPr>
          <a:xfrm>
            <a:off x="9121902" y="422910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41 292 km</a:t>
            </a:r>
            <a:endParaRPr lang="en-US" sz="680" dirty="0"/>
          </a:p>
        </p:txBody>
      </p:sp>
      <p:pic>
        <p:nvPicPr>
          <p:cNvPr id="118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539222" y="4165092"/>
            <a:ext cx="146304" cy="146304"/>
          </a:xfrm>
          <a:prstGeom prst="rect">
            <a:avLst/>
          </a:prstGeom>
        </p:spPr>
      </p:pic>
      <p:sp>
        <p:nvSpPr>
          <p:cNvPr id="119" name="Shape 94"/>
          <p:cNvSpPr/>
          <p:nvPr/>
        </p:nvSpPr>
        <p:spPr>
          <a:xfrm>
            <a:off x="9012174" y="4539996"/>
            <a:ext cx="1746504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20" name="Text 95"/>
          <p:cNvSpPr txBox="1"/>
          <p:nvPr/>
        </p:nvSpPr>
        <p:spPr>
          <a:xfrm>
            <a:off x="9121902" y="457657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drawn today</a:t>
            </a:r>
            <a:endParaRPr lang="en-US" sz="560" dirty="0"/>
          </a:p>
        </p:txBody>
      </p:sp>
      <p:sp>
        <p:nvSpPr>
          <p:cNvPr id="121" name="Text 96"/>
          <p:cNvSpPr txBox="1"/>
          <p:nvPr/>
        </p:nvSpPr>
        <p:spPr>
          <a:xfrm>
            <a:off x="9121902" y="474116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 L  ·  slip attached</a:t>
            </a:r>
            <a:endParaRPr lang="en-US" sz="680" dirty="0"/>
          </a:p>
        </p:txBody>
      </p:sp>
      <p:sp>
        <p:nvSpPr>
          <p:cNvPr id="122" name="Shape 97"/>
          <p:cNvSpPr/>
          <p:nvPr/>
        </p:nvSpPr>
        <p:spPr>
          <a:xfrm>
            <a:off x="9012174" y="5070348"/>
            <a:ext cx="1746504" cy="365760"/>
          </a:xfrm>
          <a:prstGeom prst="roundRect">
            <a:avLst>
              <a:gd name="adj" fmla="val 15000"/>
            </a:avLst>
          </a:prstGeom>
          <a:solidFill>
            <a:srgbClr val="E2F6F3"/>
          </a:solidFill>
          <a:ln/>
        </p:spPr>
      </p:sp>
      <p:pic>
        <p:nvPicPr>
          <p:cNvPr id="123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103614" y="5180076"/>
            <a:ext cx="137160" cy="137160"/>
          </a:xfrm>
          <a:prstGeom prst="rect">
            <a:avLst/>
          </a:prstGeom>
        </p:spPr>
      </p:pic>
      <p:sp>
        <p:nvSpPr>
          <p:cNvPr id="124" name="Text 98"/>
          <p:cNvSpPr txBox="1"/>
          <p:nvPr/>
        </p:nvSpPr>
        <p:spPr>
          <a:xfrm>
            <a:off x="9304782" y="50703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km matches odometer</a:t>
            </a:r>
            <a:endParaRPr lang="en-US" sz="590" dirty="0"/>
          </a:p>
        </p:txBody>
      </p:sp>
      <p:sp>
        <p:nvSpPr>
          <p:cNvPr id="125" name="Shape 99"/>
          <p:cNvSpPr/>
          <p:nvPr/>
        </p:nvSpPr>
        <p:spPr>
          <a:xfrm>
            <a:off x="9012174" y="5436108"/>
            <a:ext cx="1746504" cy="347472"/>
          </a:xfrm>
          <a:prstGeom prst="roundRect">
            <a:avLst>
              <a:gd name="adj" fmla="val 15789"/>
            </a:avLst>
          </a:prstGeom>
          <a:solidFill>
            <a:srgbClr val="1A222C"/>
          </a:solidFill>
          <a:ln/>
        </p:spPr>
      </p:sp>
      <p:sp>
        <p:nvSpPr>
          <p:cNvPr id="126" name="Text 100"/>
          <p:cNvSpPr txBox="1"/>
          <p:nvPr/>
        </p:nvSpPr>
        <p:spPr>
          <a:xfrm>
            <a:off x="9012174" y="5436108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off duty</a:t>
            </a:r>
            <a:endParaRPr lang="en-US" sz="750" dirty="0"/>
          </a:p>
        </p:txBody>
      </p:sp>
      <p:sp>
        <p:nvSpPr>
          <p:cNvPr id="127" name="Text 101"/>
          <p:cNvSpPr txBox="1"/>
          <p:nvPr/>
        </p:nvSpPr>
        <p:spPr>
          <a:xfrm>
            <a:off x="8146085" y="6217920"/>
            <a:ext cx="34786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the vendor bill and the fuel log come from.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A3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ECO TECH  ·  Plant Ride for LHS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3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3 OF 3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58368"/>
            <a:ext cx="110578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transport desk and admin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627632"/>
            <a:ext cx="3072384" cy="1920240"/>
          </a:xfrm>
          <a:prstGeom prst="roundRect">
            <a:avLst>
              <a:gd name="adj" fmla="val 5714"/>
            </a:avLst>
          </a:prstGeom>
          <a:solidFill>
            <a:srgbClr val="18222D"/>
          </a:solidFill>
          <a:ln w="12700">
            <a:solidFill>
              <a:srgbClr val="3446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847088"/>
            <a:ext cx="603504" cy="603504"/>
          </a:xfrm>
          <a:prstGeom prst="ellipse">
            <a:avLst/>
          </a:prstGeom>
          <a:solidFill>
            <a:srgbClr val="22303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159" y="2003999"/>
            <a:ext cx="289682" cy="28968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41248" y="256032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&amp; desk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871216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3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fleet admin who configures the plant, and the transport desk that runs the day and answers for it when something goes wrong.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950208" y="1627632"/>
            <a:ext cx="2399690" cy="1920240"/>
          </a:xfrm>
          <a:prstGeom prst="roundRect">
            <a:avLst>
              <a:gd name="adj" fmla="val 5714"/>
            </a:avLst>
          </a:prstGeom>
          <a:solidFill>
            <a:srgbClr val="18222D"/>
          </a:solidFill>
          <a:ln w="12700">
            <a:solidFill>
              <a:srgbClr val="34465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69664" y="1828800"/>
            <a:ext cx="420624" cy="420624"/>
          </a:xfrm>
          <a:prstGeom prst="ellipse">
            <a:avLst/>
          </a:prstGeom>
          <a:solidFill>
            <a:srgbClr val="22303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026" y="1938162"/>
            <a:ext cx="201900" cy="2019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169664" y="2340864"/>
            <a:ext cx="19607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30" kern="0" dirty="0">
                <a:solidFill>
                  <a:srgbClr val="A3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4169664" y="2542032"/>
            <a:ext cx="196077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fleet moving, compliant, and charged to the right cost centre.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587642" y="1627632"/>
            <a:ext cx="2399690" cy="1920240"/>
          </a:xfrm>
          <a:prstGeom prst="roundRect">
            <a:avLst>
              <a:gd name="adj" fmla="val 5714"/>
            </a:avLst>
          </a:prstGeom>
          <a:solidFill>
            <a:srgbClr val="18222D"/>
          </a:solidFill>
          <a:ln w="12700">
            <a:solidFill>
              <a:srgbClr val="34465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807098" y="1828800"/>
            <a:ext cx="420624" cy="420624"/>
          </a:xfrm>
          <a:prstGeom prst="ellipse">
            <a:avLst/>
          </a:prstGeom>
          <a:solidFill>
            <a:srgbClr val="22303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6461" y="1938162"/>
            <a:ext cx="201900" cy="2019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807098" y="2340864"/>
            <a:ext cx="19607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30" kern="0" dirty="0">
                <a:solidFill>
                  <a:srgbClr val="A3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</a:t>
            </a:r>
            <a:endParaRPr lang="en-US" sz="800" dirty="0"/>
          </a:p>
        </p:txBody>
      </p:sp>
      <p:sp>
        <p:nvSpPr>
          <p:cNvPr id="20" name="Text 15"/>
          <p:cNvSpPr txBox="1"/>
          <p:nvPr/>
        </p:nvSpPr>
        <p:spPr>
          <a:xfrm>
            <a:off x="6807098" y="2542032"/>
            <a:ext cx="196077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console on a desk monitor, and a tablet view at the gate.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9225077" y="1627632"/>
            <a:ext cx="2399690" cy="1920240"/>
          </a:xfrm>
          <a:prstGeom prst="roundRect">
            <a:avLst>
              <a:gd name="adj" fmla="val 5714"/>
            </a:avLst>
          </a:prstGeom>
          <a:solidFill>
            <a:srgbClr val="18222D"/>
          </a:solidFill>
          <a:ln w="12700">
            <a:solidFill>
              <a:srgbClr val="34465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444533" y="1828800"/>
            <a:ext cx="420624" cy="420624"/>
          </a:xfrm>
          <a:prstGeom prst="ellipse">
            <a:avLst/>
          </a:prstGeom>
          <a:solidFill>
            <a:srgbClr val="22303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3895" y="1938162"/>
            <a:ext cx="201900" cy="2019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444533" y="2340864"/>
            <a:ext cx="19607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30" kern="0" dirty="0">
                <a:solidFill>
                  <a:srgbClr val="A3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 OF TRUTH</a:t>
            </a:r>
            <a:endParaRPr lang="en-US" sz="800" dirty="0"/>
          </a:p>
        </p:txBody>
      </p:sp>
      <p:sp>
        <p:nvSpPr>
          <p:cNvPr id="25" name="Text 19"/>
          <p:cNvSpPr txBox="1"/>
          <p:nvPr/>
        </p:nvSpPr>
        <p:spPr>
          <a:xfrm>
            <a:off x="9444533" y="2542032"/>
            <a:ext cx="196077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a problem on the live board before a rider calls about it.</a:t>
            </a:r>
            <a:endParaRPr lang="en-US" sz="1050" dirty="0"/>
          </a:p>
        </p:txBody>
      </p:sp>
      <p:sp>
        <p:nvSpPr>
          <p:cNvPr id="26" name="Text 20"/>
          <p:cNvSpPr txBox="1"/>
          <p:nvPr/>
        </p:nvSpPr>
        <p:spPr>
          <a:xfrm>
            <a:off x="566928" y="3803904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FF9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JOURNEY, END TO END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566928" y="4096512"/>
            <a:ext cx="1690573" cy="1700784"/>
          </a:xfrm>
          <a:prstGeom prst="roundRect">
            <a:avLst>
              <a:gd name="adj" fmla="val 6491"/>
            </a:avLst>
          </a:prstGeom>
          <a:solidFill>
            <a:srgbClr val="18222D"/>
          </a:solidFill>
          <a:ln w="12700">
            <a:solidFill>
              <a:srgbClr val="34465A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49808" y="4279392"/>
            <a:ext cx="310896" cy="310896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749808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1727149" y="4279392"/>
            <a:ext cx="310896" cy="310896"/>
          </a:xfrm>
          <a:prstGeom prst="ellipse">
            <a:avLst/>
          </a:prstGeom>
          <a:solidFill>
            <a:srgbClr val="22303F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7982" y="4360225"/>
            <a:ext cx="149230" cy="14923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749808" y="4681728"/>
            <a:ext cx="13248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</a:t>
            </a:r>
            <a:endParaRPr lang="en-US" sz="1050" dirty="0"/>
          </a:p>
        </p:txBody>
      </p:sp>
      <p:sp>
        <p:nvSpPr>
          <p:cNvPr id="33" name="Text 26"/>
          <p:cNvSpPr txBox="1"/>
          <p:nvPr/>
        </p:nvSpPr>
        <p:spPr>
          <a:xfrm>
            <a:off x="749808" y="5029200"/>
            <a:ext cx="13248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A3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Routes, stops, sequence and timetables</a:t>
            </a:r>
            <a:endParaRPr lang="en-US" sz="850" dirty="0"/>
          </a:p>
        </p:txBody>
      </p:sp>
      <p:sp>
        <p:nvSpPr>
          <p:cNvPr id="34" name="Shape 27"/>
          <p:cNvSpPr/>
          <p:nvPr/>
        </p:nvSpPr>
        <p:spPr>
          <a:xfrm>
            <a:off x="2280361" y="4846320"/>
            <a:ext cx="137160" cy="137160"/>
          </a:xfrm>
          <a:prstGeom prst="rightArrow">
            <a:avLst/>
          </a:prstGeom>
          <a:solidFill>
            <a:srgbClr val="34465A"/>
          </a:solidFill>
          <a:ln/>
        </p:spPr>
      </p:sp>
      <p:sp>
        <p:nvSpPr>
          <p:cNvPr id="35" name="Shape 28"/>
          <p:cNvSpPr/>
          <p:nvPr/>
        </p:nvSpPr>
        <p:spPr>
          <a:xfrm>
            <a:off x="2440381" y="4096512"/>
            <a:ext cx="1690573" cy="1700784"/>
          </a:xfrm>
          <a:prstGeom prst="roundRect">
            <a:avLst>
              <a:gd name="adj" fmla="val 6491"/>
            </a:avLst>
          </a:prstGeom>
          <a:solidFill>
            <a:srgbClr val="18222D"/>
          </a:solidFill>
          <a:ln w="12700">
            <a:solidFill>
              <a:srgbClr val="34465A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2623261" y="4279392"/>
            <a:ext cx="310896" cy="310896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2623261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38" name="Shape 31"/>
          <p:cNvSpPr/>
          <p:nvPr/>
        </p:nvSpPr>
        <p:spPr>
          <a:xfrm>
            <a:off x="3600602" y="4279392"/>
            <a:ext cx="310896" cy="310896"/>
          </a:xfrm>
          <a:prstGeom prst="ellipse">
            <a:avLst/>
          </a:prstGeom>
          <a:solidFill>
            <a:srgbClr val="22303F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1435" y="4360225"/>
            <a:ext cx="149230" cy="149230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2623261" y="4681728"/>
            <a:ext cx="13248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 assets</a:t>
            </a:r>
            <a:endParaRPr lang="en-US" sz="1050" dirty="0"/>
          </a:p>
        </p:txBody>
      </p:sp>
      <p:sp>
        <p:nvSpPr>
          <p:cNvPr id="41" name="Text 33"/>
          <p:cNvSpPr txBox="1"/>
          <p:nvPr/>
        </p:nvSpPr>
        <p:spPr>
          <a:xfrm>
            <a:off x="2623261" y="5029200"/>
            <a:ext cx="13248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A3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Vehicles, drivers, vendors, documents</a:t>
            </a:r>
            <a:endParaRPr lang="en-US" sz="850" dirty="0"/>
          </a:p>
        </p:txBody>
      </p:sp>
      <p:sp>
        <p:nvSpPr>
          <p:cNvPr id="42" name="Shape 34"/>
          <p:cNvSpPr/>
          <p:nvPr/>
        </p:nvSpPr>
        <p:spPr>
          <a:xfrm>
            <a:off x="4153814" y="4846320"/>
            <a:ext cx="137160" cy="137160"/>
          </a:xfrm>
          <a:prstGeom prst="rightArrow">
            <a:avLst/>
          </a:prstGeom>
          <a:solidFill>
            <a:srgbClr val="34465A"/>
          </a:solidFill>
          <a:ln/>
        </p:spPr>
      </p:sp>
      <p:sp>
        <p:nvSpPr>
          <p:cNvPr id="43" name="Shape 35"/>
          <p:cNvSpPr/>
          <p:nvPr/>
        </p:nvSpPr>
        <p:spPr>
          <a:xfrm>
            <a:off x="4313834" y="4096512"/>
            <a:ext cx="1690573" cy="1700784"/>
          </a:xfrm>
          <a:prstGeom prst="roundRect">
            <a:avLst>
              <a:gd name="adj" fmla="val 6491"/>
            </a:avLst>
          </a:prstGeom>
          <a:solidFill>
            <a:srgbClr val="18222D"/>
          </a:solidFill>
          <a:ln w="12700">
            <a:solidFill>
              <a:srgbClr val="34465A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4496714" y="4279392"/>
            <a:ext cx="310896" cy="310896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45" name="Text 37"/>
          <p:cNvSpPr txBox="1"/>
          <p:nvPr/>
        </p:nvSpPr>
        <p:spPr>
          <a:xfrm>
            <a:off x="4496714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46" name="Shape 38"/>
          <p:cNvSpPr/>
          <p:nvPr/>
        </p:nvSpPr>
        <p:spPr>
          <a:xfrm>
            <a:off x="5474056" y="4279392"/>
            <a:ext cx="310896" cy="310896"/>
          </a:xfrm>
          <a:prstGeom prst="ellipse">
            <a:avLst/>
          </a:prstGeom>
          <a:solidFill>
            <a:srgbClr val="22303F"/>
          </a:solidFill>
          <a:ln/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54889" y="4360225"/>
            <a:ext cx="149230" cy="149230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4496714" y="4681728"/>
            <a:ext cx="13248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rules</a:t>
            </a:r>
            <a:endParaRPr lang="en-US" sz="1050" dirty="0"/>
          </a:p>
        </p:txBody>
      </p:sp>
      <p:sp>
        <p:nvSpPr>
          <p:cNvPr id="49" name="Text 40"/>
          <p:cNvSpPr txBox="1"/>
          <p:nvPr/>
        </p:nvSpPr>
        <p:spPr>
          <a:xfrm>
            <a:off x="4496714" y="5029200"/>
            <a:ext cx="13248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A3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cap, wait limits, approvals</a:t>
            </a:r>
            <a:endParaRPr lang="en-US" sz="850" dirty="0"/>
          </a:p>
        </p:txBody>
      </p:sp>
      <p:sp>
        <p:nvSpPr>
          <p:cNvPr id="50" name="Shape 41"/>
          <p:cNvSpPr/>
          <p:nvPr/>
        </p:nvSpPr>
        <p:spPr>
          <a:xfrm>
            <a:off x="6027268" y="4846320"/>
            <a:ext cx="137160" cy="137160"/>
          </a:xfrm>
          <a:prstGeom prst="rightArrow">
            <a:avLst/>
          </a:prstGeom>
          <a:solidFill>
            <a:srgbClr val="34465A"/>
          </a:solidFill>
          <a:ln/>
        </p:spPr>
      </p:sp>
      <p:sp>
        <p:nvSpPr>
          <p:cNvPr id="51" name="Shape 42"/>
          <p:cNvSpPr/>
          <p:nvPr/>
        </p:nvSpPr>
        <p:spPr>
          <a:xfrm>
            <a:off x="6187288" y="4096512"/>
            <a:ext cx="1690573" cy="1700784"/>
          </a:xfrm>
          <a:prstGeom prst="roundRect">
            <a:avLst>
              <a:gd name="adj" fmla="val 6491"/>
            </a:avLst>
          </a:prstGeom>
          <a:solidFill>
            <a:srgbClr val="18222D"/>
          </a:solidFill>
          <a:ln w="12700">
            <a:solidFill>
              <a:srgbClr val="34465A"/>
            </a:solidFill>
            <a:prstDash val="solid"/>
          </a:ln>
        </p:spPr>
      </p:sp>
      <p:sp>
        <p:nvSpPr>
          <p:cNvPr id="52" name="Shape 43"/>
          <p:cNvSpPr/>
          <p:nvPr/>
        </p:nvSpPr>
        <p:spPr>
          <a:xfrm>
            <a:off x="6370168" y="4279392"/>
            <a:ext cx="310896" cy="310896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53" name="Text 44"/>
          <p:cNvSpPr txBox="1"/>
          <p:nvPr/>
        </p:nvSpPr>
        <p:spPr>
          <a:xfrm>
            <a:off x="6370168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54" name="Shape 45"/>
          <p:cNvSpPr/>
          <p:nvPr/>
        </p:nvSpPr>
        <p:spPr>
          <a:xfrm>
            <a:off x="7347509" y="4279392"/>
            <a:ext cx="310896" cy="310896"/>
          </a:xfrm>
          <a:prstGeom prst="ellipse">
            <a:avLst/>
          </a:prstGeom>
          <a:solidFill>
            <a:srgbClr val="22303F"/>
          </a:solidFill>
          <a:ln/>
        </p:spPr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8342" y="4360225"/>
            <a:ext cx="149230" cy="149230"/>
          </a:xfrm>
          <a:prstGeom prst="rect">
            <a:avLst/>
          </a:prstGeom>
        </p:spPr>
      </p:pic>
      <p:sp>
        <p:nvSpPr>
          <p:cNvPr id="56" name="Text 46"/>
          <p:cNvSpPr txBox="1"/>
          <p:nvPr/>
        </p:nvSpPr>
        <p:spPr>
          <a:xfrm>
            <a:off x="6370168" y="4681728"/>
            <a:ext cx="13248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day</a:t>
            </a:r>
            <a:endParaRPr lang="en-US" sz="1050" dirty="0"/>
          </a:p>
        </p:txBody>
      </p:sp>
      <p:sp>
        <p:nvSpPr>
          <p:cNvPr id="57" name="Text 47"/>
          <p:cNvSpPr txBox="1"/>
          <p:nvPr/>
        </p:nvSpPr>
        <p:spPr>
          <a:xfrm>
            <a:off x="6370168" y="5029200"/>
            <a:ext cx="13248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A3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board, alerts, manual overrides</a:t>
            </a:r>
            <a:endParaRPr lang="en-US" sz="850" dirty="0"/>
          </a:p>
        </p:txBody>
      </p:sp>
      <p:sp>
        <p:nvSpPr>
          <p:cNvPr id="58" name="Shape 48"/>
          <p:cNvSpPr/>
          <p:nvPr/>
        </p:nvSpPr>
        <p:spPr>
          <a:xfrm>
            <a:off x="7900721" y="4846320"/>
            <a:ext cx="137160" cy="137160"/>
          </a:xfrm>
          <a:prstGeom prst="rightArrow">
            <a:avLst/>
          </a:prstGeom>
          <a:solidFill>
            <a:srgbClr val="34465A"/>
          </a:solidFill>
          <a:ln/>
        </p:spPr>
      </p:sp>
      <p:sp>
        <p:nvSpPr>
          <p:cNvPr id="59" name="Shape 49"/>
          <p:cNvSpPr/>
          <p:nvPr/>
        </p:nvSpPr>
        <p:spPr>
          <a:xfrm>
            <a:off x="8060741" y="4096512"/>
            <a:ext cx="1690573" cy="1700784"/>
          </a:xfrm>
          <a:prstGeom prst="roundRect">
            <a:avLst>
              <a:gd name="adj" fmla="val 6491"/>
            </a:avLst>
          </a:prstGeom>
          <a:solidFill>
            <a:srgbClr val="18222D"/>
          </a:solidFill>
          <a:ln w="12700">
            <a:solidFill>
              <a:srgbClr val="34465A"/>
            </a:solidFill>
            <a:prstDash val="solid"/>
          </a:ln>
        </p:spPr>
      </p:sp>
      <p:sp>
        <p:nvSpPr>
          <p:cNvPr id="60" name="Shape 50"/>
          <p:cNvSpPr/>
          <p:nvPr/>
        </p:nvSpPr>
        <p:spPr>
          <a:xfrm>
            <a:off x="8243621" y="4279392"/>
            <a:ext cx="310896" cy="310896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61" name="Text 51"/>
          <p:cNvSpPr txBox="1"/>
          <p:nvPr/>
        </p:nvSpPr>
        <p:spPr>
          <a:xfrm>
            <a:off x="8243621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  <p:sp>
        <p:nvSpPr>
          <p:cNvPr id="62" name="Shape 52"/>
          <p:cNvSpPr/>
          <p:nvPr/>
        </p:nvSpPr>
        <p:spPr>
          <a:xfrm>
            <a:off x="9220962" y="4279392"/>
            <a:ext cx="310896" cy="310896"/>
          </a:xfrm>
          <a:prstGeom prst="ellipse">
            <a:avLst/>
          </a:prstGeom>
          <a:solidFill>
            <a:srgbClr val="22303F"/>
          </a:solidFill>
          <a:ln/>
        </p:spPr>
      </p:sp>
      <p:pic>
        <p:nvPicPr>
          <p:cNvPr id="6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01795" y="4360225"/>
            <a:ext cx="149230" cy="149230"/>
          </a:xfrm>
          <a:prstGeom prst="rect">
            <a:avLst/>
          </a:prstGeom>
        </p:spPr>
      </p:pic>
      <p:sp>
        <p:nvSpPr>
          <p:cNvPr id="64" name="Text 53"/>
          <p:cNvSpPr txBox="1"/>
          <p:nvPr/>
        </p:nvSpPr>
        <p:spPr>
          <a:xfrm>
            <a:off x="8243621" y="4681728"/>
            <a:ext cx="13248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compliant</a:t>
            </a:r>
            <a:endParaRPr lang="en-US" sz="1050" dirty="0"/>
          </a:p>
        </p:txBody>
      </p:sp>
      <p:sp>
        <p:nvSpPr>
          <p:cNvPr id="65" name="Text 54"/>
          <p:cNvSpPr txBox="1"/>
          <p:nvPr/>
        </p:nvSpPr>
        <p:spPr>
          <a:xfrm>
            <a:off x="8243621" y="5029200"/>
            <a:ext cx="13248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A3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alerts, safety events, audit</a:t>
            </a:r>
            <a:endParaRPr lang="en-US" sz="850" dirty="0"/>
          </a:p>
        </p:txBody>
      </p:sp>
      <p:sp>
        <p:nvSpPr>
          <p:cNvPr id="66" name="Shape 55"/>
          <p:cNvSpPr/>
          <p:nvPr/>
        </p:nvSpPr>
        <p:spPr>
          <a:xfrm>
            <a:off x="9774174" y="4846320"/>
            <a:ext cx="137160" cy="137160"/>
          </a:xfrm>
          <a:prstGeom prst="rightArrow">
            <a:avLst/>
          </a:prstGeom>
          <a:solidFill>
            <a:srgbClr val="34465A"/>
          </a:solidFill>
          <a:ln/>
        </p:spPr>
      </p:sp>
      <p:sp>
        <p:nvSpPr>
          <p:cNvPr id="67" name="Shape 56"/>
          <p:cNvSpPr/>
          <p:nvPr/>
        </p:nvSpPr>
        <p:spPr>
          <a:xfrm>
            <a:off x="9934194" y="4096512"/>
            <a:ext cx="1690573" cy="1700784"/>
          </a:xfrm>
          <a:prstGeom prst="roundRect">
            <a:avLst>
              <a:gd name="adj" fmla="val 6491"/>
            </a:avLst>
          </a:prstGeom>
          <a:solidFill>
            <a:srgbClr val="18222D"/>
          </a:solidFill>
          <a:ln w="12700">
            <a:solidFill>
              <a:srgbClr val="34465A"/>
            </a:solidFill>
            <a:prstDash val="solid"/>
          </a:ln>
        </p:spPr>
      </p:sp>
      <p:sp>
        <p:nvSpPr>
          <p:cNvPr id="68" name="Shape 57"/>
          <p:cNvSpPr/>
          <p:nvPr/>
        </p:nvSpPr>
        <p:spPr>
          <a:xfrm>
            <a:off x="10117074" y="4279392"/>
            <a:ext cx="310896" cy="310896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69" name="Text 58"/>
          <p:cNvSpPr txBox="1"/>
          <p:nvPr/>
        </p:nvSpPr>
        <p:spPr>
          <a:xfrm>
            <a:off x="10117074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50" dirty="0"/>
          </a:p>
        </p:txBody>
      </p:sp>
      <p:sp>
        <p:nvSpPr>
          <p:cNvPr id="70" name="Shape 59"/>
          <p:cNvSpPr/>
          <p:nvPr/>
        </p:nvSpPr>
        <p:spPr>
          <a:xfrm>
            <a:off x="11094415" y="4279392"/>
            <a:ext cx="310896" cy="310896"/>
          </a:xfrm>
          <a:prstGeom prst="ellipse">
            <a:avLst/>
          </a:prstGeom>
          <a:solidFill>
            <a:srgbClr val="22303F"/>
          </a:solidFill>
          <a:ln/>
        </p:spPr>
      </p:sp>
      <p:pic>
        <p:nvPicPr>
          <p:cNvPr id="7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75248" y="4360225"/>
            <a:ext cx="149230" cy="149230"/>
          </a:xfrm>
          <a:prstGeom prst="rect">
            <a:avLst/>
          </a:prstGeom>
        </p:spPr>
      </p:pic>
      <p:sp>
        <p:nvSpPr>
          <p:cNvPr id="72" name="Text 60"/>
          <p:cNvSpPr txBox="1"/>
          <p:nvPr/>
        </p:nvSpPr>
        <p:spPr>
          <a:xfrm>
            <a:off x="10117074" y="4681728"/>
            <a:ext cx="13248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the month</a:t>
            </a:r>
            <a:endParaRPr lang="en-US" sz="1050" dirty="0"/>
          </a:p>
        </p:txBody>
      </p:sp>
      <p:sp>
        <p:nvSpPr>
          <p:cNvPr id="73" name="Text 61"/>
          <p:cNvSpPr txBox="1"/>
          <p:nvPr/>
        </p:nvSpPr>
        <p:spPr>
          <a:xfrm>
            <a:off x="10117074" y="5029200"/>
            <a:ext cx="13248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A3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centres, vendor bills, reports</a:t>
            </a:r>
            <a:endParaRPr lang="en-US" sz="850" dirty="0"/>
          </a:p>
        </p:txBody>
      </p:sp>
      <p:sp>
        <p:nvSpPr>
          <p:cNvPr id="74" name="Text 62"/>
          <p:cNvSpPr txBox="1"/>
          <p:nvPr/>
        </p:nvSpPr>
        <p:spPr>
          <a:xfrm>
            <a:off x="566928" y="5907024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A3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all of this is configuration. Changing a route or a cap does not need a software release.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ECO TECH  ·  Plant Ride for LHS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6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JOURNEY  ·  STEPS 1-3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58368"/>
            <a:ext cx="110578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40" kern="0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 up routes, assets and rules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4169664"/>
          </a:xfrm>
          <a:prstGeom prst="roundRect">
            <a:avLst>
              <a:gd name="adj" fmla="val 1316"/>
            </a:avLst>
          </a:prstGeom>
          <a:solidFill>
            <a:srgbClr val="DDE3EA"/>
          </a:solidFill>
          <a:ln/>
          <a:effectLst>
            <a:outerShdw sx="100000" sy="100000" kx="0" ky="0" algn="bl" rotWithShape="0" blurRad="177800" dist="38100" dir="5400000">
              <a:srgbClr val="0E141B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595628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845820" y="1595628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978408" y="1595628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Shape 8"/>
          <p:cNvSpPr/>
          <p:nvPr/>
        </p:nvSpPr>
        <p:spPr>
          <a:xfrm>
            <a:off x="1133856" y="1545336"/>
            <a:ext cx="10143439" cy="182880"/>
          </a:xfrm>
          <a:prstGeom prst="roundRect">
            <a:avLst>
              <a:gd name="adj" fmla="val 50000"/>
            </a:avLst>
          </a:prstGeom>
          <a:solidFill>
            <a:srgbClr val="F2F5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80160" y="1545336"/>
            <a:ext cx="986911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plantride.lhs.internal / admin / routes / route-1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598932" y="1792224"/>
            <a:ext cx="10993831" cy="3826764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13" name="Shape 11"/>
          <p:cNvSpPr/>
          <p:nvPr/>
        </p:nvSpPr>
        <p:spPr>
          <a:xfrm>
            <a:off x="598932" y="1792224"/>
            <a:ext cx="1481328" cy="3826764"/>
          </a:xfrm>
          <a:prstGeom prst="rect">
            <a:avLst/>
          </a:prstGeom>
          <a:solidFill>
            <a:srgbClr val="111923"/>
          </a:solidFill>
          <a:ln/>
        </p:spPr>
      </p:sp>
      <p:sp>
        <p:nvSpPr>
          <p:cNvPr id="14" name="Shape 12"/>
          <p:cNvSpPr/>
          <p:nvPr/>
        </p:nvSpPr>
        <p:spPr>
          <a:xfrm>
            <a:off x="726948" y="1938528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E85D04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997964"/>
            <a:ext cx="155448" cy="155448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037844" y="19385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Ride</a:t>
            </a:r>
            <a:endParaRPr lang="en-US" sz="7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" y="2382012"/>
            <a:ext cx="132588" cy="13258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001268" y="234086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49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board</a:t>
            </a:r>
            <a:endParaRPr lang="en-US" sz="680" dirty="0"/>
          </a:p>
        </p:txBody>
      </p:sp>
      <p:sp>
        <p:nvSpPr>
          <p:cNvPr id="19" name="Shape 15"/>
          <p:cNvSpPr/>
          <p:nvPr/>
        </p:nvSpPr>
        <p:spPr>
          <a:xfrm>
            <a:off x="681228" y="2624328"/>
            <a:ext cx="1316736" cy="274320"/>
          </a:xfrm>
          <a:prstGeom prst="roundRect">
            <a:avLst>
              <a:gd name="adj" fmla="val 18333"/>
            </a:avLst>
          </a:prstGeom>
          <a:solidFill>
            <a:srgbClr val="22303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2688336"/>
            <a:ext cx="132588" cy="13258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001268" y="26471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&amp; stops</a:t>
            </a:r>
            <a:endParaRPr lang="en-US" sz="68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2994660"/>
            <a:ext cx="132588" cy="13258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001268" y="29535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49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</a:t>
            </a:r>
            <a:endParaRPr lang="en-US" sz="68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3300984"/>
            <a:ext cx="132588" cy="13258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001268" y="325983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49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</a:t>
            </a:r>
            <a:endParaRPr lang="en-US" sz="68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" y="3607308"/>
            <a:ext cx="132588" cy="13258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001268" y="35661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49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68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" y="3913632"/>
            <a:ext cx="132588" cy="132588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1001268" y="387248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49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68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812" y="4219956"/>
            <a:ext cx="132588" cy="132588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1001268" y="41788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49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68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1812" y="4526280"/>
            <a:ext cx="132588" cy="132588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1001268" y="44851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49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&amp; settings</a:t>
            </a:r>
            <a:endParaRPr lang="en-US" sz="680" dirty="0"/>
          </a:p>
        </p:txBody>
      </p:sp>
      <p:sp>
        <p:nvSpPr>
          <p:cNvPr id="34" name="Shape 23"/>
          <p:cNvSpPr/>
          <p:nvPr/>
        </p:nvSpPr>
        <p:spPr>
          <a:xfrm>
            <a:off x="2080260" y="1792224"/>
            <a:ext cx="9512503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24"/>
          <p:cNvSpPr/>
          <p:nvPr/>
        </p:nvSpPr>
        <p:spPr>
          <a:xfrm>
            <a:off x="2080260" y="2168957"/>
            <a:ext cx="9512503" cy="7315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36" name="Text 25"/>
          <p:cNvSpPr txBox="1"/>
          <p:nvPr/>
        </p:nvSpPr>
        <p:spPr>
          <a:xfrm>
            <a:off x="2263140" y="179222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&amp; stops</a:t>
            </a:r>
            <a:endParaRPr lang="en-US" sz="850" dirty="0"/>
          </a:p>
        </p:txBody>
      </p:sp>
      <p:sp>
        <p:nvSpPr>
          <p:cNvPr id="37" name="Text 26"/>
          <p:cNvSpPr txBox="1"/>
          <p:nvPr/>
        </p:nvSpPr>
        <p:spPr>
          <a:xfrm>
            <a:off x="4091940" y="179222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1  ·  North corridor</a:t>
            </a:r>
            <a:endParaRPr lang="en-US" sz="650" dirty="0"/>
          </a:p>
        </p:txBody>
      </p:sp>
      <p:sp>
        <p:nvSpPr>
          <p:cNvPr id="38" name="Shape 27"/>
          <p:cNvSpPr/>
          <p:nvPr/>
        </p:nvSpPr>
        <p:spPr>
          <a:xfrm>
            <a:off x="9489643" y="1883664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F0F3F7"/>
          </a:solidFill>
          <a:ln/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44507" y="1933956"/>
            <a:ext cx="118872" cy="118872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9718243" y="18836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trips, vehicles...</a:t>
            </a:r>
            <a:endParaRPr lang="en-US" sz="600" dirty="0"/>
          </a:p>
        </p:txBody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06379" y="1933956"/>
            <a:ext cx="137160" cy="137160"/>
          </a:xfrm>
          <a:prstGeom prst="rect">
            <a:avLst/>
          </a:prstGeom>
        </p:spPr>
      </p:pic>
      <p:sp>
        <p:nvSpPr>
          <p:cNvPr id="42" name="Shape 29"/>
          <p:cNvSpPr/>
          <p:nvPr/>
        </p:nvSpPr>
        <p:spPr>
          <a:xfrm>
            <a:off x="10879531" y="1924812"/>
            <a:ext cx="64008" cy="64008"/>
          </a:xfrm>
          <a:prstGeom prst="ellipse">
            <a:avLst/>
          </a:prstGeom>
          <a:solidFill>
            <a:srgbClr val="C02617"/>
          </a:solidFill>
          <a:ln/>
        </p:spPr>
      </p:sp>
      <p:sp>
        <p:nvSpPr>
          <p:cNvPr id="43" name="Shape 30"/>
          <p:cNvSpPr/>
          <p:nvPr/>
        </p:nvSpPr>
        <p:spPr>
          <a:xfrm>
            <a:off x="11062411" y="1897380"/>
            <a:ext cx="192024" cy="192024"/>
          </a:xfrm>
          <a:prstGeom prst="ellipse">
            <a:avLst/>
          </a:prstGeom>
          <a:solidFill>
            <a:srgbClr val="D6DDE5"/>
          </a:solidFill>
          <a:ln/>
        </p:spPr>
      </p:sp>
      <p:sp>
        <p:nvSpPr>
          <p:cNvPr id="44" name="Text 31"/>
          <p:cNvSpPr txBox="1"/>
          <p:nvPr/>
        </p:nvSpPr>
        <p:spPr>
          <a:xfrm>
            <a:off x="11062411" y="1897380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</a:t>
            </a:r>
            <a:endParaRPr lang="en-US" sz="580" dirty="0"/>
          </a:p>
        </p:txBody>
      </p:sp>
      <p:sp>
        <p:nvSpPr>
          <p:cNvPr id="45" name="Shape 32"/>
          <p:cNvSpPr/>
          <p:nvPr/>
        </p:nvSpPr>
        <p:spPr>
          <a:xfrm>
            <a:off x="2281428" y="2377440"/>
            <a:ext cx="9110167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6" name="Text 33"/>
          <p:cNvSpPr txBox="1"/>
          <p:nvPr/>
        </p:nvSpPr>
        <p:spPr>
          <a:xfrm>
            <a:off x="2446020" y="24505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1  ·  North corridor</a:t>
            </a:r>
            <a:endParaRPr lang="en-US" sz="900" dirty="0"/>
          </a:p>
        </p:txBody>
      </p:sp>
      <p:sp>
        <p:nvSpPr>
          <p:cNvPr id="47" name="Text 34"/>
          <p:cNvSpPr txBox="1"/>
          <p:nvPr/>
        </p:nvSpPr>
        <p:spPr>
          <a:xfrm>
            <a:off x="2446020" y="265176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stops  ·  24 min loop  ·  every 20 min  ·  3 shifts</a:t>
            </a:r>
            <a:endParaRPr lang="en-US" sz="640" dirty="0"/>
          </a:p>
        </p:txBody>
      </p:sp>
      <p:sp>
        <p:nvSpPr>
          <p:cNvPr id="48" name="Shape 35"/>
          <p:cNvSpPr/>
          <p:nvPr/>
        </p:nvSpPr>
        <p:spPr>
          <a:xfrm>
            <a:off x="9727387" y="2560320"/>
            <a:ext cx="658368" cy="155448"/>
          </a:xfrm>
          <a:prstGeom prst="roundRect">
            <a:avLst>
              <a:gd name="adj" fmla="val 50000"/>
            </a:avLst>
          </a:prstGeom>
          <a:solidFill>
            <a:srgbClr val="E2F6F3"/>
          </a:solidFill>
          <a:ln/>
        </p:spPr>
      </p:sp>
      <p:sp>
        <p:nvSpPr>
          <p:cNvPr id="49" name="Text 36"/>
          <p:cNvSpPr txBox="1"/>
          <p:nvPr/>
        </p:nvSpPr>
        <p:spPr>
          <a:xfrm>
            <a:off x="9727387" y="2560320"/>
            <a:ext cx="658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600" dirty="0"/>
          </a:p>
        </p:txBody>
      </p:sp>
      <p:sp>
        <p:nvSpPr>
          <p:cNvPr id="50" name="Shape 37"/>
          <p:cNvSpPr/>
          <p:nvPr/>
        </p:nvSpPr>
        <p:spPr>
          <a:xfrm>
            <a:off x="10458907" y="2505456"/>
            <a:ext cx="786384" cy="292608"/>
          </a:xfrm>
          <a:prstGeom prst="roundRect">
            <a:avLst>
              <a:gd name="adj" fmla="val 18750"/>
            </a:avLst>
          </a:prstGeom>
          <a:solidFill>
            <a:srgbClr val="E85D04"/>
          </a:solidFill>
          <a:ln/>
        </p:spPr>
      </p:sp>
      <p:sp>
        <p:nvSpPr>
          <p:cNvPr id="51" name="Text 38"/>
          <p:cNvSpPr txBox="1"/>
          <p:nvPr/>
        </p:nvSpPr>
        <p:spPr>
          <a:xfrm>
            <a:off x="10458907" y="2505456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route</a:t>
            </a:r>
            <a:endParaRPr lang="en-US" sz="640" dirty="0"/>
          </a:p>
        </p:txBody>
      </p:sp>
      <p:sp>
        <p:nvSpPr>
          <p:cNvPr id="52" name="Shape 39"/>
          <p:cNvSpPr/>
          <p:nvPr/>
        </p:nvSpPr>
        <p:spPr>
          <a:xfrm>
            <a:off x="2281428" y="3054096"/>
            <a:ext cx="4445356" cy="2359152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53" name="Text 40"/>
          <p:cNvSpPr txBox="1"/>
          <p:nvPr/>
        </p:nvSpPr>
        <p:spPr>
          <a:xfrm>
            <a:off x="2446020" y="314553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sequence</a:t>
            </a:r>
            <a:endParaRPr lang="en-US" sz="750" dirty="0"/>
          </a:p>
        </p:txBody>
      </p:sp>
      <p:sp>
        <p:nvSpPr>
          <p:cNvPr id="54" name="Text 41"/>
          <p:cNvSpPr txBox="1"/>
          <p:nvPr/>
        </p:nvSpPr>
        <p:spPr>
          <a:xfrm>
            <a:off x="5720944" y="3145536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to reorder</a:t>
            </a:r>
            <a:endParaRPr lang="en-US" sz="580" dirty="0"/>
          </a:p>
        </p:txBody>
      </p:sp>
      <p:sp>
        <p:nvSpPr>
          <p:cNvPr id="55" name="Shape 42"/>
          <p:cNvSpPr/>
          <p:nvPr/>
        </p:nvSpPr>
        <p:spPr>
          <a:xfrm>
            <a:off x="2409444" y="3401568"/>
            <a:ext cx="4189324" cy="274320"/>
          </a:xfrm>
          <a:prstGeom prst="roundRect">
            <a:avLst>
              <a:gd name="adj" fmla="val 16667"/>
            </a:avLst>
          </a:prstGeom>
          <a:solidFill>
            <a:srgbClr val="FAFBFC"/>
          </a:solidFill>
          <a:ln w="12700">
            <a:solidFill>
              <a:srgbClr val="E8EDF2"/>
            </a:solidFill>
            <a:prstDash val="solid"/>
          </a:ln>
        </p:spPr>
      </p:sp>
      <p:pic>
        <p:nvPicPr>
          <p:cNvPr id="5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64308" y="3470148"/>
            <a:ext cx="137160" cy="137160"/>
          </a:xfrm>
          <a:prstGeom prst="rect">
            <a:avLst/>
          </a:prstGeom>
        </p:spPr>
      </p:pic>
      <p:sp>
        <p:nvSpPr>
          <p:cNvPr id="57" name="Shape 43"/>
          <p:cNvSpPr/>
          <p:nvPr/>
        </p:nvSpPr>
        <p:spPr>
          <a:xfrm>
            <a:off x="2665476" y="3456432"/>
            <a:ext cx="164592" cy="164592"/>
          </a:xfrm>
          <a:prstGeom prst="ellipse">
            <a:avLst/>
          </a:prstGeom>
          <a:solidFill>
            <a:srgbClr val="D6DDE5"/>
          </a:solidFill>
          <a:ln/>
        </p:spPr>
      </p:sp>
      <p:sp>
        <p:nvSpPr>
          <p:cNvPr id="58" name="Text 44"/>
          <p:cNvSpPr txBox="1"/>
          <p:nvPr/>
        </p:nvSpPr>
        <p:spPr>
          <a:xfrm>
            <a:off x="2665476" y="345643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80" dirty="0"/>
          </a:p>
        </p:txBody>
      </p:sp>
      <p:sp>
        <p:nvSpPr>
          <p:cNvPr id="59" name="Text 45"/>
          <p:cNvSpPr txBox="1"/>
          <p:nvPr/>
        </p:nvSpPr>
        <p:spPr>
          <a:xfrm>
            <a:off x="2884932" y="34015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</a:t>
            </a:r>
            <a:endParaRPr lang="en-US" sz="640" dirty="0"/>
          </a:p>
        </p:txBody>
      </p:sp>
      <p:sp>
        <p:nvSpPr>
          <p:cNvPr id="60" name="Text 46"/>
          <p:cNvSpPr txBox="1"/>
          <p:nvPr/>
        </p:nvSpPr>
        <p:spPr>
          <a:xfrm>
            <a:off x="4091940" y="34015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 40 m</a:t>
            </a:r>
            <a:endParaRPr lang="en-US" sz="560" dirty="0"/>
          </a:p>
        </p:txBody>
      </p:sp>
      <p:sp>
        <p:nvSpPr>
          <p:cNvPr id="61" name="Text 47"/>
          <p:cNvSpPr txBox="1"/>
          <p:nvPr/>
        </p:nvSpPr>
        <p:spPr>
          <a:xfrm>
            <a:off x="5995264" y="34015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580" dirty="0"/>
          </a:p>
        </p:txBody>
      </p:sp>
      <p:sp>
        <p:nvSpPr>
          <p:cNvPr id="62" name="Shape 48"/>
          <p:cNvSpPr/>
          <p:nvPr/>
        </p:nvSpPr>
        <p:spPr>
          <a:xfrm>
            <a:off x="2409444" y="3749040"/>
            <a:ext cx="4189324" cy="274320"/>
          </a:xfrm>
          <a:prstGeom prst="roundRect">
            <a:avLst>
              <a:gd name="adj" fmla="val 16667"/>
            </a:avLst>
          </a:prstGeom>
          <a:solidFill>
            <a:srgbClr val="FAFBFC"/>
          </a:solidFill>
          <a:ln w="12700">
            <a:solidFill>
              <a:srgbClr val="E8EDF2"/>
            </a:solidFill>
            <a:prstDash val="solid"/>
          </a:ln>
        </p:spPr>
      </p:sp>
      <p:pic>
        <p:nvPicPr>
          <p:cNvPr id="6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64308" y="3817620"/>
            <a:ext cx="137160" cy="137160"/>
          </a:xfrm>
          <a:prstGeom prst="rect">
            <a:avLst/>
          </a:prstGeom>
        </p:spPr>
      </p:pic>
      <p:sp>
        <p:nvSpPr>
          <p:cNvPr id="64" name="Shape 49"/>
          <p:cNvSpPr/>
          <p:nvPr/>
        </p:nvSpPr>
        <p:spPr>
          <a:xfrm>
            <a:off x="2665476" y="3803904"/>
            <a:ext cx="164592" cy="164592"/>
          </a:xfrm>
          <a:prstGeom prst="ellipse">
            <a:avLst/>
          </a:prstGeom>
          <a:solidFill>
            <a:srgbClr val="D6DDE5"/>
          </a:solidFill>
          <a:ln/>
        </p:spPr>
      </p:sp>
      <p:sp>
        <p:nvSpPr>
          <p:cNvPr id="65" name="Text 50"/>
          <p:cNvSpPr txBox="1"/>
          <p:nvPr/>
        </p:nvSpPr>
        <p:spPr>
          <a:xfrm>
            <a:off x="2665476" y="380390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80" dirty="0"/>
          </a:p>
        </p:txBody>
      </p:sp>
      <p:sp>
        <p:nvSpPr>
          <p:cNvPr id="66" name="Text 51"/>
          <p:cNvSpPr txBox="1"/>
          <p:nvPr/>
        </p:nvSpPr>
        <p:spPr>
          <a:xfrm>
            <a:off x="288493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Block</a:t>
            </a:r>
            <a:endParaRPr lang="en-US" sz="640" dirty="0"/>
          </a:p>
        </p:txBody>
      </p:sp>
      <p:sp>
        <p:nvSpPr>
          <p:cNvPr id="67" name="Text 52"/>
          <p:cNvSpPr txBox="1"/>
          <p:nvPr/>
        </p:nvSpPr>
        <p:spPr>
          <a:xfrm>
            <a:off x="4091940" y="3749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 30 m</a:t>
            </a:r>
            <a:endParaRPr lang="en-US" sz="560" dirty="0"/>
          </a:p>
        </p:txBody>
      </p:sp>
      <p:sp>
        <p:nvSpPr>
          <p:cNvPr id="68" name="Text 53"/>
          <p:cNvSpPr txBox="1"/>
          <p:nvPr/>
        </p:nvSpPr>
        <p:spPr>
          <a:xfrm>
            <a:off x="5995264" y="3749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580" dirty="0"/>
          </a:p>
        </p:txBody>
      </p:sp>
      <p:sp>
        <p:nvSpPr>
          <p:cNvPr id="69" name="Shape 54"/>
          <p:cNvSpPr/>
          <p:nvPr/>
        </p:nvSpPr>
        <p:spPr>
          <a:xfrm>
            <a:off x="2409444" y="4096512"/>
            <a:ext cx="4189324" cy="274320"/>
          </a:xfrm>
          <a:prstGeom prst="roundRect">
            <a:avLst>
              <a:gd name="adj" fmla="val 16667"/>
            </a:avLst>
          </a:prstGeom>
          <a:solidFill>
            <a:srgbClr val="FFF0E5"/>
          </a:solidFill>
          <a:ln w="12700">
            <a:solidFill>
              <a:srgbClr val="E85D04"/>
            </a:solidFill>
            <a:prstDash val="solid"/>
          </a:ln>
        </p:spPr>
      </p:sp>
      <p:pic>
        <p:nvPicPr>
          <p:cNvPr id="7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64308" y="4165092"/>
            <a:ext cx="137160" cy="137160"/>
          </a:xfrm>
          <a:prstGeom prst="rect">
            <a:avLst/>
          </a:prstGeom>
        </p:spPr>
      </p:pic>
      <p:sp>
        <p:nvSpPr>
          <p:cNvPr id="71" name="Shape 55"/>
          <p:cNvSpPr/>
          <p:nvPr/>
        </p:nvSpPr>
        <p:spPr>
          <a:xfrm>
            <a:off x="2665476" y="4151376"/>
            <a:ext cx="164592" cy="164592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72" name="Text 56"/>
          <p:cNvSpPr txBox="1"/>
          <p:nvPr/>
        </p:nvSpPr>
        <p:spPr>
          <a:xfrm>
            <a:off x="2665476" y="41513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80" dirty="0"/>
          </a:p>
        </p:txBody>
      </p:sp>
      <p:sp>
        <p:nvSpPr>
          <p:cNvPr id="73" name="Text 57"/>
          <p:cNvSpPr txBox="1"/>
          <p:nvPr/>
        </p:nvSpPr>
        <p:spPr>
          <a:xfrm>
            <a:off x="2884932" y="40965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Coke Plant</a:t>
            </a:r>
            <a:endParaRPr lang="en-US" sz="640" dirty="0"/>
          </a:p>
        </p:txBody>
      </p:sp>
      <p:sp>
        <p:nvSpPr>
          <p:cNvPr id="74" name="Text 58"/>
          <p:cNvSpPr txBox="1"/>
          <p:nvPr/>
        </p:nvSpPr>
        <p:spPr>
          <a:xfrm>
            <a:off x="4091940" y="40965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 50 m</a:t>
            </a:r>
            <a:endParaRPr lang="en-US" sz="560" dirty="0"/>
          </a:p>
        </p:txBody>
      </p:sp>
      <p:sp>
        <p:nvSpPr>
          <p:cNvPr id="75" name="Text 59"/>
          <p:cNvSpPr txBox="1"/>
          <p:nvPr/>
        </p:nvSpPr>
        <p:spPr>
          <a:xfrm>
            <a:off x="5995264" y="4096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min</a:t>
            </a:r>
            <a:endParaRPr lang="en-US" sz="580" dirty="0"/>
          </a:p>
        </p:txBody>
      </p:sp>
      <p:sp>
        <p:nvSpPr>
          <p:cNvPr id="76" name="Shape 60"/>
          <p:cNvSpPr/>
          <p:nvPr/>
        </p:nvSpPr>
        <p:spPr>
          <a:xfrm>
            <a:off x="2409444" y="4443984"/>
            <a:ext cx="4189324" cy="274320"/>
          </a:xfrm>
          <a:prstGeom prst="roundRect">
            <a:avLst>
              <a:gd name="adj" fmla="val 16667"/>
            </a:avLst>
          </a:prstGeom>
          <a:solidFill>
            <a:srgbClr val="FAFBFC"/>
          </a:solidFill>
          <a:ln w="12700">
            <a:solidFill>
              <a:srgbClr val="E8EDF2"/>
            </a:solidFill>
            <a:prstDash val="solid"/>
          </a:ln>
        </p:spPr>
      </p:sp>
      <p:pic>
        <p:nvPicPr>
          <p:cNvPr id="7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64308" y="4512564"/>
            <a:ext cx="137160" cy="137160"/>
          </a:xfrm>
          <a:prstGeom prst="rect">
            <a:avLst/>
          </a:prstGeom>
        </p:spPr>
      </p:pic>
      <p:sp>
        <p:nvSpPr>
          <p:cNvPr id="78" name="Shape 61"/>
          <p:cNvSpPr/>
          <p:nvPr/>
        </p:nvSpPr>
        <p:spPr>
          <a:xfrm>
            <a:off x="2665476" y="4498848"/>
            <a:ext cx="164592" cy="164592"/>
          </a:xfrm>
          <a:prstGeom prst="ellipse">
            <a:avLst/>
          </a:prstGeom>
          <a:solidFill>
            <a:srgbClr val="D6DDE5"/>
          </a:solidFill>
          <a:ln/>
        </p:spPr>
      </p:sp>
      <p:sp>
        <p:nvSpPr>
          <p:cNvPr id="79" name="Text 62"/>
          <p:cNvSpPr txBox="1"/>
          <p:nvPr/>
        </p:nvSpPr>
        <p:spPr>
          <a:xfrm>
            <a:off x="2665476" y="449884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80" dirty="0"/>
          </a:p>
        </p:txBody>
      </p:sp>
      <p:sp>
        <p:nvSpPr>
          <p:cNvPr id="80" name="Text 63"/>
          <p:cNvSpPr txBox="1"/>
          <p:nvPr/>
        </p:nvSpPr>
        <p:spPr>
          <a:xfrm>
            <a:off x="2884932" y="44439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Furnace</a:t>
            </a:r>
            <a:endParaRPr lang="en-US" sz="640" dirty="0"/>
          </a:p>
        </p:txBody>
      </p:sp>
      <p:sp>
        <p:nvSpPr>
          <p:cNvPr id="81" name="Text 64"/>
          <p:cNvSpPr txBox="1"/>
          <p:nvPr/>
        </p:nvSpPr>
        <p:spPr>
          <a:xfrm>
            <a:off x="4091940" y="44439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 60 m</a:t>
            </a:r>
            <a:endParaRPr lang="en-US" sz="560" dirty="0"/>
          </a:p>
        </p:txBody>
      </p:sp>
      <p:sp>
        <p:nvSpPr>
          <p:cNvPr id="82" name="Text 65"/>
          <p:cNvSpPr txBox="1"/>
          <p:nvPr/>
        </p:nvSpPr>
        <p:spPr>
          <a:xfrm>
            <a:off x="5995264" y="444398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580" dirty="0"/>
          </a:p>
        </p:txBody>
      </p:sp>
      <p:sp>
        <p:nvSpPr>
          <p:cNvPr id="83" name="Shape 66"/>
          <p:cNvSpPr/>
          <p:nvPr/>
        </p:nvSpPr>
        <p:spPr>
          <a:xfrm>
            <a:off x="2409444" y="4791456"/>
            <a:ext cx="4189324" cy="274320"/>
          </a:xfrm>
          <a:prstGeom prst="roundRect">
            <a:avLst>
              <a:gd name="adj" fmla="val 16667"/>
            </a:avLst>
          </a:prstGeom>
          <a:solidFill>
            <a:srgbClr val="FAFBFC"/>
          </a:solidFill>
          <a:ln w="12700">
            <a:solidFill>
              <a:srgbClr val="E8EDF2"/>
            </a:solidFill>
            <a:prstDash val="solid"/>
          </a:ln>
        </p:spPr>
      </p:sp>
      <p:pic>
        <p:nvPicPr>
          <p:cNvPr id="8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64308" y="4860036"/>
            <a:ext cx="137160" cy="137160"/>
          </a:xfrm>
          <a:prstGeom prst="rect">
            <a:avLst/>
          </a:prstGeom>
        </p:spPr>
      </p:pic>
      <p:sp>
        <p:nvSpPr>
          <p:cNvPr id="85" name="Shape 67"/>
          <p:cNvSpPr/>
          <p:nvPr/>
        </p:nvSpPr>
        <p:spPr>
          <a:xfrm>
            <a:off x="2665476" y="4846320"/>
            <a:ext cx="164592" cy="164592"/>
          </a:xfrm>
          <a:prstGeom prst="ellipse">
            <a:avLst/>
          </a:prstGeom>
          <a:solidFill>
            <a:srgbClr val="D6DDE5"/>
          </a:solidFill>
          <a:ln/>
        </p:spPr>
      </p:sp>
      <p:sp>
        <p:nvSpPr>
          <p:cNvPr id="86" name="Text 68"/>
          <p:cNvSpPr txBox="1"/>
          <p:nvPr/>
        </p:nvSpPr>
        <p:spPr>
          <a:xfrm>
            <a:off x="2665476" y="48463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80" dirty="0"/>
          </a:p>
        </p:txBody>
      </p:sp>
      <p:sp>
        <p:nvSpPr>
          <p:cNvPr id="87" name="Text 69"/>
          <p:cNvSpPr txBox="1"/>
          <p:nvPr/>
        </p:nvSpPr>
        <p:spPr>
          <a:xfrm>
            <a:off x="2884932" y="47914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</a:t>
            </a:r>
            <a:endParaRPr lang="en-US" sz="640" dirty="0"/>
          </a:p>
        </p:txBody>
      </p:sp>
      <p:sp>
        <p:nvSpPr>
          <p:cNvPr id="88" name="Text 70"/>
          <p:cNvSpPr txBox="1"/>
          <p:nvPr/>
        </p:nvSpPr>
        <p:spPr>
          <a:xfrm>
            <a:off x="4091940" y="47914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loop</a:t>
            </a:r>
            <a:endParaRPr lang="en-US" sz="560" dirty="0"/>
          </a:p>
        </p:txBody>
      </p:sp>
      <p:sp>
        <p:nvSpPr>
          <p:cNvPr id="89" name="Text 71"/>
          <p:cNvSpPr txBox="1"/>
          <p:nvPr/>
        </p:nvSpPr>
        <p:spPr>
          <a:xfrm>
            <a:off x="5995264" y="47914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min</a:t>
            </a:r>
            <a:endParaRPr lang="en-US" sz="580" dirty="0"/>
          </a:p>
        </p:txBody>
      </p:sp>
      <p:sp>
        <p:nvSpPr>
          <p:cNvPr id="90" name="Shape 72"/>
          <p:cNvSpPr/>
          <p:nvPr/>
        </p:nvSpPr>
        <p:spPr>
          <a:xfrm>
            <a:off x="2409444" y="5084064"/>
            <a:ext cx="4189324" cy="256032"/>
          </a:xfrm>
          <a:prstGeom prst="roundRect">
            <a:avLst>
              <a:gd name="adj" fmla="val 17857"/>
            </a:avLst>
          </a:prstGeom>
          <a:solidFill>
            <a:srgbClr val="FAFBFC"/>
          </a:solidFill>
          <a:ln w="12700">
            <a:solidFill>
              <a:srgbClr val="E8EDF2"/>
            </a:solidFill>
            <a:prstDash val="dash"/>
          </a:ln>
        </p:spPr>
      </p:sp>
      <p:sp>
        <p:nvSpPr>
          <p:cNvPr id="91" name="Text 73"/>
          <p:cNvSpPr txBox="1"/>
          <p:nvPr/>
        </p:nvSpPr>
        <p:spPr>
          <a:xfrm>
            <a:off x="2409444" y="5084064"/>
            <a:ext cx="41893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Add a stop</a:t>
            </a:r>
            <a:endParaRPr lang="en-US" sz="580" dirty="0"/>
          </a:p>
        </p:txBody>
      </p:sp>
      <p:sp>
        <p:nvSpPr>
          <p:cNvPr id="92" name="Shape 74"/>
          <p:cNvSpPr/>
          <p:nvPr/>
        </p:nvSpPr>
        <p:spPr>
          <a:xfrm>
            <a:off x="6946240" y="3054096"/>
            <a:ext cx="4445356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3" name="Text 75"/>
          <p:cNvSpPr txBox="1"/>
          <p:nvPr/>
        </p:nvSpPr>
        <p:spPr>
          <a:xfrm>
            <a:off x="7110832" y="31272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on the plant map</a:t>
            </a:r>
            <a:endParaRPr lang="en-US" sz="750" dirty="0"/>
          </a:p>
        </p:txBody>
      </p:sp>
      <p:sp>
        <p:nvSpPr>
          <p:cNvPr id="94" name="Shape 76"/>
          <p:cNvSpPr/>
          <p:nvPr/>
        </p:nvSpPr>
        <p:spPr>
          <a:xfrm>
            <a:off x="7074256" y="3346704"/>
            <a:ext cx="4189324" cy="786384"/>
          </a:xfrm>
          <a:prstGeom prst="rect">
            <a:avLst/>
          </a:prstGeom>
          <a:solidFill>
            <a:srgbClr val="EDF1F5"/>
          </a:solidFill>
          <a:ln/>
        </p:spPr>
      </p:sp>
      <p:sp>
        <p:nvSpPr>
          <p:cNvPr id="95" name="Shape 77"/>
          <p:cNvSpPr/>
          <p:nvPr/>
        </p:nvSpPr>
        <p:spPr>
          <a:xfrm>
            <a:off x="7325615" y="3425342"/>
            <a:ext cx="1089224" cy="157277"/>
          </a:xfrm>
          <a:prstGeom prst="rect">
            <a:avLst/>
          </a:prstGeom>
          <a:solidFill>
            <a:srgbClr val="E1E7EE"/>
          </a:solidFill>
          <a:ln/>
        </p:spPr>
      </p:sp>
      <p:sp>
        <p:nvSpPr>
          <p:cNvPr id="96" name="Shape 78"/>
          <p:cNvSpPr/>
          <p:nvPr/>
        </p:nvSpPr>
        <p:spPr>
          <a:xfrm>
            <a:off x="8749985" y="3393887"/>
            <a:ext cx="1256797" cy="125821"/>
          </a:xfrm>
          <a:prstGeom prst="rect">
            <a:avLst/>
          </a:prstGeom>
          <a:solidFill>
            <a:srgbClr val="E1E7EE"/>
          </a:solidFill>
          <a:ln/>
        </p:spPr>
      </p:sp>
      <p:sp>
        <p:nvSpPr>
          <p:cNvPr id="97" name="Shape 79"/>
          <p:cNvSpPr/>
          <p:nvPr/>
        </p:nvSpPr>
        <p:spPr>
          <a:xfrm>
            <a:off x="10258142" y="3456798"/>
            <a:ext cx="837865" cy="173004"/>
          </a:xfrm>
          <a:prstGeom prst="rect">
            <a:avLst/>
          </a:prstGeom>
          <a:solidFill>
            <a:srgbClr val="E1E7EE"/>
          </a:solidFill>
          <a:ln/>
        </p:spPr>
      </p:sp>
      <p:sp>
        <p:nvSpPr>
          <p:cNvPr id="98" name="Shape 80"/>
          <p:cNvSpPr/>
          <p:nvPr/>
        </p:nvSpPr>
        <p:spPr>
          <a:xfrm>
            <a:off x="7409401" y="3802807"/>
            <a:ext cx="1005438" cy="188732"/>
          </a:xfrm>
          <a:prstGeom prst="rect">
            <a:avLst/>
          </a:prstGeom>
          <a:solidFill>
            <a:srgbClr val="E1E7EE"/>
          </a:solidFill>
          <a:ln/>
        </p:spPr>
      </p:sp>
      <p:sp>
        <p:nvSpPr>
          <p:cNvPr id="99" name="Shape 81"/>
          <p:cNvSpPr/>
          <p:nvPr/>
        </p:nvSpPr>
        <p:spPr>
          <a:xfrm>
            <a:off x="8917558" y="3834262"/>
            <a:ext cx="921651" cy="157277"/>
          </a:xfrm>
          <a:prstGeom prst="rect">
            <a:avLst/>
          </a:prstGeom>
          <a:solidFill>
            <a:srgbClr val="E1E7EE"/>
          </a:solidFill>
          <a:ln/>
        </p:spPr>
      </p:sp>
      <p:sp>
        <p:nvSpPr>
          <p:cNvPr id="100" name="Shape 82"/>
          <p:cNvSpPr/>
          <p:nvPr/>
        </p:nvSpPr>
        <p:spPr>
          <a:xfrm>
            <a:off x="10090569" y="3787079"/>
            <a:ext cx="1005438" cy="204460"/>
          </a:xfrm>
          <a:prstGeom prst="rect">
            <a:avLst/>
          </a:prstGeom>
          <a:solidFill>
            <a:srgbClr val="E1E7EE"/>
          </a:solidFill>
          <a:ln/>
        </p:spPr>
      </p:sp>
      <p:sp>
        <p:nvSpPr>
          <p:cNvPr id="101" name="Shape 83"/>
          <p:cNvSpPr/>
          <p:nvPr/>
        </p:nvSpPr>
        <p:spPr>
          <a:xfrm>
            <a:off x="8498626" y="3614075"/>
            <a:ext cx="586505" cy="110094"/>
          </a:xfrm>
          <a:prstGeom prst="rect">
            <a:avLst/>
          </a:prstGeom>
          <a:solidFill>
            <a:srgbClr val="E1E7EE"/>
          </a:solidFill>
          <a:ln/>
        </p:spPr>
      </p:sp>
      <p:sp>
        <p:nvSpPr>
          <p:cNvPr id="102" name="Shape 84"/>
          <p:cNvSpPr/>
          <p:nvPr/>
        </p:nvSpPr>
        <p:spPr>
          <a:xfrm>
            <a:off x="7074256" y="3676985"/>
            <a:ext cx="4189324" cy="320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3" name="Shape 85"/>
          <p:cNvSpPr/>
          <p:nvPr/>
        </p:nvSpPr>
        <p:spPr>
          <a:xfrm>
            <a:off x="8582412" y="3346704"/>
            <a:ext cx="32004" cy="7863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4" name="Shape 86"/>
          <p:cNvSpPr/>
          <p:nvPr/>
        </p:nvSpPr>
        <p:spPr>
          <a:xfrm>
            <a:off x="10006782" y="3346704"/>
            <a:ext cx="32004" cy="7863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5" name="Shape 87"/>
          <p:cNvSpPr/>
          <p:nvPr/>
        </p:nvSpPr>
        <p:spPr>
          <a:xfrm>
            <a:off x="7074256" y="4022994"/>
            <a:ext cx="4189324" cy="320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6" name="Shape 88"/>
          <p:cNvSpPr/>
          <p:nvPr/>
        </p:nvSpPr>
        <p:spPr>
          <a:xfrm>
            <a:off x="7576974" y="3676985"/>
            <a:ext cx="2429808" cy="27432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107" name="Shape 89"/>
          <p:cNvSpPr/>
          <p:nvPr/>
        </p:nvSpPr>
        <p:spPr>
          <a:xfrm>
            <a:off x="10006782" y="3488253"/>
            <a:ext cx="27432" cy="192664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108" name="Shape 90"/>
          <p:cNvSpPr/>
          <p:nvPr/>
        </p:nvSpPr>
        <p:spPr>
          <a:xfrm>
            <a:off x="7493188" y="3640409"/>
            <a:ext cx="105156" cy="105156"/>
          </a:xfrm>
          <a:prstGeom prst="ellipse">
            <a:avLst/>
          </a:prstGeom>
          <a:solidFill>
            <a:srgbClr val="00A896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9" name="Shape 91"/>
          <p:cNvSpPr/>
          <p:nvPr/>
        </p:nvSpPr>
        <p:spPr>
          <a:xfrm>
            <a:off x="9943942" y="3460730"/>
            <a:ext cx="105156" cy="1051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110" name="Shape 92"/>
          <p:cNvSpPr/>
          <p:nvPr/>
        </p:nvSpPr>
        <p:spPr>
          <a:xfrm>
            <a:off x="8833772" y="3585545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E85D04"/>
          </a:solidFill>
          <a:ln/>
          <a:effectLst>
            <a:outerShdw sx="100000" sy="100000" kx="0" ky="0" algn="bl" rotWithShape="0" blurRad="101600" dist="12700" dir="5400000">
              <a:srgbClr val="0E141B">
                <a:alpha val="9000"/>
              </a:srgbClr>
            </a:outerShdw>
          </a:effectLst>
        </p:spPr>
      </p:sp>
      <p:pic>
        <p:nvPicPr>
          <p:cNvPr id="111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893208" y="3635837"/>
            <a:ext cx="155448" cy="155448"/>
          </a:xfrm>
          <a:prstGeom prst="rect">
            <a:avLst/>
          </a:prstGeom>
        </p:spPr>
      </p:pic>
      <p:sp>
        <p:nvSpPr>
          <p:cNvPr id="112" name="Shape 93"/>
          <p:cNvSpPr/>
          <p:nvPr/>
        </p:nvSpPr>
        <p:spPr>
          <a:xfrm>
            <a:off x="6946240" y="4334256"/>
            <a:ext cx="4445356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13" name="Text 94"/>
          <p:cNvSpPr txBox="1"/>
          <p:nvPr/>
        </p:nvSpPr>
        <p:spPr>
          <a:xfrm>
            <a:off x="7110832" y="442569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applied to this route</a:t>
            </a:r>
            <a:endParaRPr lang="en-US" sz="750" dirty="0"/>
          </a:p>
        </p:txBody>
      </p:sp>
      <p:sp>
        <p:nvSpPr>
          <p:cNvPr id="114" name="Text 95"/>
          <p:cNvSpPr txBox="1"/>
          <p:nvPr/>
        </p:nvSpPr>
        <p:spPr>
          <a:xfrm>
            <a:off x="7110832" y="4700016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passengers per pick-up</a:t>
            </a:r>
            <a:endParaRPr lang="en-US" sz="600" dirty="0"/>
          </a:p>
        </p:txBody>
      </p:sp>
      <p:sp>
        <p:nvSpPr>
          <p:cNvPr id="115" name="Shape 96"/>
          <p:cNvSpPr/>
          <p:nvPr/>
        </p:nvSpPr>
        <p:spPr>
          <a:xfrm>
            <a:off x="10678363" y="4709160"/>
            <a:ext cx="548640" cy="137160"/>
          </a:xfrm>
          <a:prstGeom prst="roundRect">
            <a:avLst>
              <a:gd name="adj" fmla="val 26667"/>
            </a:avLst>
          </a:prstGeom>
          <a:solidFill>
            <a:srgbClr val="FFF0E5"/>
          </a:solidFill>
          <a:ln/>
        </p:spPr>
      </p:sp>
      <p:sp>
        <p:nvSpPr>
          <p:cNvPr id="116" name="Text 97"/>
          <p:cNvSpPr txBox="1"/>
          <p:nvPr/>
        </p:nvSpPr>
        <p:spPr>
          <a:xfrm>
            <a:off x="10678363" y="470916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40" dirty="0"/>
          </a:p>
        </p:txBody>
      </p:sp>
      <p:sp>
        <p:nvSpPr>
          <p:cNvPr id="117" name="Text 98"/>
          <p:cNvSpPr txBox="1"/>
          <p:nvPr/>
        </p:nvSpPr>
        <p:spPr>
          <a:xfrm>
            <a:off x="7110832" y="4873752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wait at a stop</a:t>
            </a:r>
            <a:endParaRPr lang="en-US" sz="600" dirty="0"/>
          </a:p>
        </p:txBody>
      </p:sp>
      <p:sp>
        <p:nvSpPr>
          <p:cNvPr id="118" name="Shape 99"/>
          <p:cNvSpPr/>
          <p:nvPr/>
        </p:nvSpPr>
        <p:spPr>
          <a:xfrm>
            <a:off x="10678363" y="4882896"/>
            <a:ext cx="548640" cy="137160"/>
          </a:xfrm>
          <a:prstGeom prst="roundRect">
            <a:avLst>
              <a:gd name="adj" fmla="val 26667"/>
            </a:avLst>
          </a:prstGeom>
          <a:solidFill>
            <a:srgbClr val="F0F3F7"/>
          </a:solidFill>
          <a:ln/>
        </p:spPr>
      </p:sp>
      <p:sp>
        <p:nvSpPr>
          <p:cNvPr id="119" name="Text 100"/>
          <p:cNvSpPr txBox="1"/>
          <p:nvPr/>
        </p:nvSpPr>
        <p:spPr>
          <a:xfrm>
            <a:off x="10678363" y="4882896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540" dirty="0"/>
          </a:p>
        </p:txBody>
      </p:sp>
      <p:sp>
        <p:nvSpPr>
          <p:cNvPr id="120" name="Text 101"/>
          <p:cNvSpPr txBox="1"/>
          <p:nvPr/>
        </p:nvSpPr>
        <p:spPr>
          <a:xfrm>
            <a:off x="7110832" y="5047488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detour for riders on board</a:t>
            </a:r>
            <a:endParaRPr lang="en-US" sz="600" dirty="0"/>
          </a:p>
        </p:txBody>
      </p:sp>
      <p:sp>
        <p:nvSpPr>
          <p:cNvPr id="121" name="Shape 102"/>
          <p:cNvSpPr/>
          <p:nvPr/>
        </p:nvSpPr>
        <p:spPr>
          <a:xfrm>
            <a:off x="10678363" y="5056632"/>
            <a:ext cx="548640" cy="137160"/>
          </a:xfrm>
          <a:prstGeom prst="roundRect">
            <a:avLst>
              <a:gd name="adj" fmla="val 26667"/>
            </a:avLst>
          </a:prstGeom>
          <a:solidFill>
            <a:srgbClr val="F0F3F7"/>
          </a:solidFill>
          <a:ln/>
        </p:spPr>
      </p:sp>
      <p:sp>
        <p:nvSpPr>
          <p:cNvPr id="122" name="Text 103"/>
          <p:cNvSpPr txBox="1"/>
          <p:nvPr/>
        </p:nvSpPr>
        <p:spPr>
          <a:xfrm>
            <a:off x="10678363" y="5056632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</a:t>
            </a:r>
            <a:endParaRPr lang="en-US" sz="540" dirty="0"/>
          </a:p>
        </p:txBody>
      </p:sp>
      <p:sp>
        <p:nvSpPr>
          <p:cNvPr id="123" name="Text 104"/>
          <p:cNvSpPr txBox="1"/>
          <p:nvPr/>
        </p:nvSpPr>
        <p:spPr>
          <a:xfrm>
            <a:off x="7110832" y="5221224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speed limit</a:t>
            </a:r>
            <a:endParaRPr lang="en-US" sz="600" dirty="0"/>
          </a:p>
        </p:txBody>
      </p:sp>
      <p:sp>
        <p:nvSpPr>
          <p:cNvPr id="124" name="Shape 105"/>
          <p:cNvSpPr/>
          <p:nvPr/>
        </p:nvSpPr>
        <p:spPr>
          <a:xfrm>
            <a:off x="10678363" y="5230368"/>
            <a:ext cx="548640" cy="137160"/>
          </a:xfrm>
          <a:prstGeom prst="roundRect">
            <a:avLst>
              <a:gd name="adj" fmla="val 26667"/>
            </a:avLst>
          </a:prstGeom>
          <a:solidFill>
            <a:srgbClr val="F0F3F7"/>
          </a:solidFill>
          <a:ln/>
        </p:spPr>
      </p:sp>
      <p:sp>
        <p:nvSpPr>
          <p:cNvPr id="125" name="Text 106"/>
          <p:cNvSpPr txBox="1"/>
          <p:nvPr/>
        </p:nvSpPr>
        <p:spPr>
          <a:xfrm>
            <a:off x="10678363" y="5230368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km/h</a:t>
            </a:r>
            <a:endParaRPr lang="en-US" sz="540" dirty="0"/>
          </a:p>
        </p:txBody>
      </p:sp>
      <p:sp>
        <p:nvSpPr>
          <p:cNvPr id="126" name="Shape 107"/>
          <p:cNvSpPr/>
          <p:nvPr/>
        </p:nvSpPr>
        <p:spPr>
          <a:xfrm>
            <a:off x="566928" y="5779008"/>
            <a:ext cx="3515258" cy="512064"/>
          </a:xfrm>
          <a:prstGeom prst="roundRect">
            <a:avLst>
              <a:gd name="adj" fmla="val 21429"/>
            </a:avLst>
          </a:prstGeom>
          <a:solidFill>
            <a:srgbClr val="F3F6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27" name="Shape 108"/>
          <p:cNvSpPr/>
          <p:nvPr/>
        </p:nvSpPr>
        <p:spPr>
          <a:xfrm>
            <a:off x="713232" y="589788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84555" y="5969203"/>
            <a:ext cx="131674" cy="131674"/>
          </a:xfrm>
          <a:prstGeom prst="rect">
            <a:avLst/>
          </a:prstGeom>
        </p:spPr>
      </p:pic>
      <p:sp>
        <p:nvSpPr>
          <p:cNvPr id="129" name="Text 109"/>
          <p:cNvSpPr txBox="1"/>
          <p:nvPr/>
        </p:nvSpPr>
        <p:spPr>
          <a:xfrm>
            <a:off x="1078992" y="5779008"/>
            <a:ext cx="285689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Sequence:  </a:t>
            </a:r>
            <a:pPr indent="0" marL="0">
              <a:buNone/>
            </a:pPr>
            <a:r>
              <a:rPr lang="en-US" sz="9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stops, set geofence and leg time</a:t>
            </a:r>
            <a:endParaRPr lang="en-US" sz="950" dirty="0"/>
          </a:p>
        </p:txBody>
      </p:sp>
      <p:sp>
        <p:nvSpPr>
          <p:cNvPr id="130" name="Shape 110"/>
          <p:cNvSpPr/>
          <p:nvPr/>
        </p:nvSpPr>
        <p:spPr>
          <a:xfrm>
            <a:off x="4338218" y="5779008"/>
            <a:ext cx="3515258" cy="512064"/>
          </a:xfrm>
          <a:prstGeom prst="roundRect">
            <a:avLst>
              <a:gd name="adj" fmla="val 21429"/>
            </a:avLst>
          </a:prstGeom>
          <a:solidFill>
            <a:srgbClr val="F3F6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1" name="Shape 111"/>
          <p:cNvSpPr/>
          <p:nvPr/>
        </p:nvSpPr>
        <p:spPr>
          <a:xfrm>
            <a:off x="4484522" y="589788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55846" y="5969203"/>
            <a:ext cx="131674" cy="131674"/>
          </a:xfrm>
          <a:prstGeom prst="rect">
            <a:avLst/>
          </a:prstGeom>
        </p:spPr>
      </p:pic>
      <p:sp>
        <p:nvSpPr>
          <p:cNvPr id="133" name="Text 112"/>
          <p:cNvSpPr txBox="1"/>
          <p:nvPr/>
        </p:nvSpPr>
        <p:spPr>
          <a:xfrm>
            <a:off x="4850282" y="5779008"/>
            <a:ext cx="285689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Rules:  </a:t>
            </a:r>
            <a:pPr indent="0" marL="0">
              <a:buNone/>
            </a:pPr>
            <a:r>
              <a:rPr lang="en-US" sz="9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3-passenger cap lives here, per route</a:t>
            </a:r>
            <a:endParaRPr lang="en-US" sz="950" dirty="0"/>
          </a:p>
        </p:txBody>
      </p:sp>
      <p:sp>
        <p:nvSpPr>
          <p:cNvPr id="134" name="Shape 113"/>
          <p:cNvSpPr/>
          <p:nvPr/>
        </p:nvSpPr>
        <p:spPr>
          <a:xfrm>
            <a:off x="8109509" y="5779008"/>
            <a:ext cx="3515258" cy="512064"/>
          </a:xfrm>
          <a:prstGeom prst="roundRect">
            <a:avLst>
              <a:gd name="adj" fmla="val 21429"/>
            </a:avLst>
          </a:prstGeom>
          <a:solidFill>
            <a:srgbClr val="F3F6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5" name="Shape 114"/>
          <p:cNvSpPr/>
          <p:nvPr/>
        </p:nvSpPr>
        <p:spPr>
          <a:xfrm>
            <a:off x="8255813" y="589788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6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27136" y="5969203"/>
            <a:ext cx="131674" cy="131674"/>
          </a:xfrm>
          <a:prstGeom prst="rect">
            <a:avLst/>
          </a:prstGeom>
        </p:spPr>
      </p:pic>
      <p:sp>
        <p:nvSpPr>
          <p:cNvPr id="137" name="Text 115"/>
          <p:cNvSpPr txBox="1"/>
          <p:nvPr/>
        </p:nvSpPr>
        <p:spPr>
          <a:xfrm>
            <a:off x="8621573" y="5779008"/>
            <a:ext cx="285689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Audited:  </a:t>
            </a:r>
            <a:pPr indent="0" marL="0">
              <a:buNone/>
            </a:pPr>
            <a:r>
              <a:rPr lang="en-US" sz="9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logged with who and when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ECO TECH  ·  Plant Ride for LHS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6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JOURNEY  ·  STEP 4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58368"/>
            <a:ext cx="110578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40" kern="0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the day from the live board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4169664"/>
          </a:xfrm>
          <a:prstGeom prst="roundRect">
            <a:avLst>
              <a:gd name="adj" fmla="val 1316"/>
            </a:avLst>
          </a:prstGeom>
          <a:solidFill>
            <a:srgbClr val="DDE3EA"/>
          </a:solidFill>
          <a:ln/>
          <a:effectLst>
            <a:outerShdw sx="100000" sy="100000" kx="0" ky="0" algn="bl" rotWithShape="0" blurRad="177800" dist="38100" dir="5400000">
              <a:srgbClr val="0E141B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595628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845820" y="1595628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978408" y="1595628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Shape 8"/>
          <p:cNvSpPr/>
          <p:nvPr/>
        </p:nvSpPr>
        <p:spPr>
          <a:xfrm>
            <a:off x="1133856" y="1545336"/>
            <a:ext cx="10143439" cy="182880"/>
          </a:xfrm>
          <a:prstGeom prst="roundRect">
            <a:avLst>
              <a:gd name="adj" fmla="val 50000"/>
            </a:avLst>
          </a:prstGeom>
          <a:solidFill>
            <a:srgbClr val="F2F5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80160" y="1545336"/>
            <a:ext cx="986911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plantride.lhs.internal / desk / live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598932" y="1792224"/>
            <a:ext cx="10993831" cy="3826764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13" name="Shape 11"/>
          <p:cNvSpPr/>
          <p:nvPr/>
        </p:nvSpPr>
        <p:spPr>
          <a:xfrm>
            <a:off x="598932" y="1792224"/>
            <a:ext cx="1481328" cy="3826764"/>
          </a:xfrm>
          <a:prstGeom prst="rect">
            <a:avLst/>
          </a:prstGeom>
          <a:solidFill>
            <a:srgbClr val="111923"/>
          </a:solidFill>
          <a:ln/>
        </p:spPr>
      </p:sp>
      <p:sp>
        <p:nvSpPr>
          <p:cNvPr id="14" name="Shape 12"/>
          <p:cNvSpPr/>
          <p:nvPr/>
        </p:nvSpPr>
        <p:spPr>
          <a:xfrm>
            <a:off x="726948" y="1938528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E85D04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997964"/>
            <a:ext cx="155448" cy="155448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037844" y="19385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Ride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681228" y="2318004"/>
            <a:ext cx="1316736" cy="274320"/>
          </a:xfrm>
          <a:prstGeom prst="roundRect">
            <a:avLst>
              <a:gd name="adj" fmla="val 18333"/>
            </a:avLst>
          </a:prstGeom>
          <a:solidFill>
            <a:srgbClr val="22303F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" y="2382012"/>
            <a:ext cx="132588" cy="13258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001268" y="234086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board</a:t>
            </a:r>
            <a:endParaRPr lang="en-US" sz="68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2688336"/>
            <a:ext cx="132588" cy="13258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001268" y="26471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49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&amp; stops</a:t>
            </a:r>
            <a:endParaRPr lang="en-US" sz="68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2994660"/>
            <a:ext cx="132588" cy="13258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001268" y="29535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49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</a:t>
            </a:r>
            <a:endParaRPr lang="en-US" sz="68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3300984"/>
            <a:ext cx="132588" cy="13258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001268" y="325983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49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</a:t>
            </a:r>
            <a:endParaRPr lang="en-US" sz="68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" y="3607308"/>
            <a:ext cx="132588" cy="13258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001268" y="35661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49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68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" y="3913632"/>
            <a:ext cx="132588" cy="132588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1001268" y="387248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49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68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812" y="4219956"/>
            <a:ext cx="132588" cy="132588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1001268" y="41788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49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68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1812" y="4526280"/>
            <a:ext cx="132588" cy="132588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1001268" y="44851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49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&amp; settings</a:t>
            </a:r>
            <a:endParaRPr lang="en-US" sz="680" dirty="0"/>
          </a:p>
        </p:txBody>
      </p:sp>
      <p:sp>
        <p:nvSpPr>
          <p:cNvPr id="34" name="Shape 23"/>
          <p:cNvSpPr/>
          <p:nvPr/>
        </p:nvSpPr>
        <p:spPr>
          <a:xfrm>
            <a:off x="2080260" y="1792224"/>
            <a:ext cx="9512503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24"/>
          <p:cNvSpPr/>
          <p:nvPr/>
        </p:nvSpPr>
        <p:spPr>
          <a:xfrm>
            <a:off x="2080260" y="2168957"/>
            <a:ext cx="9512503" cy="7315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36" name="Text 25"/>
          <p:cNvSpPr txBox="1"/>
          <p:nvPr/>
        </p:nvSpPr>
        <p:spPr>
          <a:xfrm>
            <a:off x="2263140" y="179222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board</a:t>
            </a:r>
            <a:endParaRPr lang="en-US" sz="850" dirty="0"/>
          </a:p>
        </p:txBody>
      </p:sp>
      <p:sp>
        <p:nvSpPr>
          <p:cNvPr id="37" name="Text 26"/>
          <p:cNvSpPr txBox="1"/>
          <p:nvPr/>
        </p:nvSpPr>
        <p:spPr>
          <a:xfrm>
            <a:off x="4091940" y="179222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 22 Sep  ·  14:07</a:t>
            </a:r>
            <a:endParaRPr lang="en-US" sz="650" dirty="0"/>
          </a:p>
        </p:txBody>
      </p:sp>
      <p:sp>
        <p:nvSpPr>
          <p:cNvPr id="38" name="Shape 27"/>
          <p:cNvSpPr/>
          <p:nvPr/>
        </p:nvSpPr>
        <p:spPr>
          <a:xfrm>
            <a:off x="9489643" y="1883664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F0F3F7"/>
          </a:solidFill>
          <a:ln/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44507" y="1933956"/>
            <a:ext cx="118872" cy="118872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9718243" y="18836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trips, vehicles...</a:t>
            </a:r>
            <a:endParaRPr lang="en-US" sz="600" dirty="0"/>
          </a:p>
        </p:txBody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06379" y="1933956"/>
            <a:ext cx="137160" cy="137160"/>
          </a:xfrm>
          <a:prstGeom prst="rect">
            <a:avLst/>
          </a:prstGeom>
        </p:spPr>
      </p:pic>
      <p:sp>
        <p:nvSpPr>
          <p:cNvPr id="42" name="Shape 29"/>
          <p:cNvSpPr/>
          <p:nvPr/>
        </p:nvSpPr>
        <p:spPr>
          <a:xfrm>
            <a:off x="10879531" y="1924812"/>
            <a:ext cx="64008" cy="64008"/>
          </a:xfrm>
          <a:prstGeom prst="ellipse">
            <a:avLst/>
          </a:prstGeom>
          <a:solidFill>
            <a:srgbClr val="C02617"/>
          </a:solidFill>
          <a:ln/>
        </p:spPr>
      </p:sp>
      <p:sp>
        <p:nvSpPr>
          <p:cNvPr id="43" name="Shape 30"/>
          <p:cNvSpPr/>
          <p:nvPr/>
        </p:nvSpPr>
        <p:spPr>
          <a:xfrm>
            <a:off x="11062411" y="1897380"/>
            <a:ext cx="192024" cy="192024"/>
          </a:xfrm>
          <a:prstGeom prst="ellipse">
            <a:avLst/>
          </a:prstGeom>
          <a:solidFill>
            <a:srgbClr val="D6DDE5"/>
          </a:solidFill>
          <a:ln/>
        </p:spPr>
      </p:sp>
      <p:sp>
        <p:nvSpPr>
          <p:cNvPr id="44" name="Text 31"/>
          <p:cNvSpPr txBox="1"/>
          <p:nvPr/>
        </p:nvSpPr>
        <p:spPr>
          <a:xfrm>
            <a:off x="11062411" y="1897380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</a:t>
            </a:r>
            <a:endParaRPr lang="en-US" sz="580" dirty="0"/>
          </a:p>
        </p:txBody>
      </p:sp>
      <p:sp>
        <p:nvSpPr>
          <p:cNvPr id="45" name="Shape 32"/>
          <p:cNvSpPr/>
          <p:nvPr/>
        </p:nvSpPr>
        <p:spPr>
          <a:xfrm>
            <a:off x="2281428" y="2377440"/>
            <a:ext cx="215409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6" name="Text 33"/>
          <p:cNvSpPr txBox="1"/>
          <p:nvPr/>
        </p:nvSpPr>
        <p:spPr>
          <a:xfrm>
            <a:off x="2409444" y="2432304"/>
            <a:ext cx="18980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/ 60</a:t>
            </a:r>
            <a:endParaRPr lang="en-US" sz="1400" dirty="0"/>
          </a:p>
        </p:txBody>
      </p:sp>
      <p:sp>
        <p:nvSpPr>
          <p:cNvPr id="47" name="Text 34"/>
          <p:cNvSpPr txBox="1"/>
          <p:nvPr/>
        </p:nvSpPr>
        <p:spPr>
          <a:xfrm>
            <a:off x="2409444" y="2706624"/>
            <a:ext cx="189806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on trip</a:t>
            </a:r>
            <a:endParaRPr lang="en-US" sz="620" dirty="0"/>
          </a:p>
        </p:txBody>
      </p:sp>
      <p:sp>
        <p:nvSpPr>
          <p:cNvPr id="48" name="Shape 35"/>
          <p:cNvSpPr/>
          <p:nvPr/>
        </p:nvSpPr>
        <p:spPr>
          <a:xfrm>
            <a:off x="4600118" y="2377440"/>
            <a:ext cx="215409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9" name="Text 36"/>
          <p:cNvSpPr txBox="1"/>
          <p:nvPr/>
        </p:nvSpPr>
        <p:spPr>
          <a:xfrm>
            <a:off x="4728134" y="2432304"/>
            <a:ext cx="18980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1400" dirty="0"/>
          </a:p>
        </p:txBody>
      </p:sp>
      <p:sp>
        <p:nvSpPr>
          <p:cNvPr id="50" name="Text 37"/>
          <p:cNvSpPr txBox="1"/>
          <p:nvPr/>
        </p:nvSpPr>
        <p:spPr>
          <a:xfrm>
            <a:off x="4728134" y="2706624"/>
            <a:ext cx="189806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occupancy</a:t>
            </a:r>
            <a:endParaRPr lang="en-US" sz="620" dirty="0"/>
          </a:p>
        </p:txBody>
      </p:sp>
      <p:sp>
        <p:nvSpPr>
          <p:cNvPr id="51" name="Shape 38"/>
          <p:cNvSpPr/>
          <p:nvPr/>
        </p:nvSpPr>
        <p:spPr>
          <a:xfrm>
            <a:off x="6918808" y="2377440"/>
            <a:ext cx="215409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52" name="Text 39"/>
          <p:cNvSpPr txBox="1"/>
          <p:nvPr/>
        </p:nvSpPr>
        <p:spPr>
          <a:xfrm>
            <a:off x="7046824" y="2432304"/>
            <a:ext cx="18980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400" dirty="0"/>
          </a:p>
        </p:txBody>
      </p:sp>
      <p:sp>
        <p:nvSpPr>
          <p:cNvPr id="53" name="Text 40"/>
          <p:cNvSpPr txBox="1"/>
          <p:nvPr/>
        </p:nvSpPr>
        <p:spPr>
          <a:xfrm>
            <a:off x="7046824" y="2706624"/>
            <a:ext cx="189806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wait</a:t>
            </a:r>
            <a:endParaRPr lang="en-US" sz="620" dirty="0"/>
          </a:p>
        </p:txBody>
      </p:sp>
      <p:sp>
        <p:nvSpPr>
          <p:cNvPr id="54" name="Shape 41"/>
          <p:cNvSpPr/>
          <p:nvPr/>
        </p:nvSpPr>
        <p:spPr>
          <a:xfrm>
            <a:off x="9237497" y="2377440"/>
            <a:ext cx="215409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55" name="Text 42"/>
          <p:cNvSpPr txBox="1"/>
          <p:nvPr/>
        </p:nvSpPr>
        <p:spPr>
          <a:xfrm>
            <a:off x="9365513" y="2432304"/>
            <a:ext cx="18980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1400" dirty="0"/>
          </a:p>
        </p:txBody>
      </p:sp>
      <p:sp>
        <p:nvSpPr>
          <p:cNvPr id="56" name="Text 43"/>
          <p:cNvSpPr txBox="1"/>
          <p:nvPr/>
        </p:nvSpPr>
        <p:spPr>
          <a:xfrm>
            <a:off x="9365513" y="2706624"/>
            <a:ext cx="189806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pickups</a:t>
            </a:r>
            <a:endParaRPr lang="en-US" sz="620" dirty="0"/>
          </a:p>
        </p:txBody>
      </p:sp>
      <p:sp>
        <p:nvSpPr>
          <p:cNvPr id="57" name="Shape 44"/>
          <p:cNvSpPr/>
          <p:nvPr/>
        </p:nvSpPr>
        <p:spPr>
          <a:xfrm>
            <a:off x="2281428" y="3072384"/>
            <a:ext cx="5602753" cy="2340864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58" name="Text 45"/>
          <p:cNvSpPr txBox="1"/>
          <p:nvPr/>
        </p:nvSpPr>
        <p:spPr>
          <a:xfrm>
            <a:off x="2427732" y="314553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trips</a:t>
            </a:r>
            <a:endParaRPr lang="en-US" sz="750" dirty="0"/>
          </a:p>
        </p:txBody>
      </p:sp>
      <p:sp>
        <p:nvSpPr>
          <p:cNvPr id="59" name="Shape 46"/>
          <p:cNvSpPr/>
          <p:nvPr/>
        </p:nvSpPr>
        <p:spPr>
          <a:xfrm>
            <a:off x="6146821" y="3145536"/>
            <a:ext cx="384048" cy="182880"/>
          </a:xfrm>
          <a:prstGeom prst="roundRect">
            <a:avLst>
              <a:gd name="adj" fmla="val 20000"/>
            </a:avLst>
          </a:prstGeom>
          <a:solidFill>
            <a:srgbClr val="1A222C"/>
          </a:solidFill>
          <a:ln/>
        </p:spPr>
      </p:sp>
      <p:sp>
        <p:nvSpPr>
          <p:cNvPr id="60" name="Text 47"/>
          <p:cNvSpPr txBox="1"/>
          <p:nvPr/>
        </p:nvSpPr>
        <p:spPr>
          <a:xfrm>
            <a:off x="6146821" y="314553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520" dirty="0"/>
          </a:p>
        </p:txBody>
      </p:sp>
      <p:sp>
        <p:nvSpPr>
          <p:cNvPr id="61" name="Shape 48"/>
          <p:cNvSpPr/>
          <p:nvPr/>
        </p:nvSpPr>
        <p:spPr>
          <a:xfrm>
            <a:off x="6567445" y="3145536"/>
            <a:ext cx="384048" cy="182880"/>
          </a:xfrm>
          <a:prstGeom prst="roundRect">
            <a:avLst>
              <a:gd name="adj" fmla="val 20000"/>
            </a:avLst>
          </a:prstGeom>
          <a:solidFill>
            <a:srgbClr val="F0F3F7"/>
          </a:solidFill>
          <a:ln/>
        </p:spPr>
      </p:sp>
      <p:sp>
        <p:nvSpPr>
          <p:cNvPr id="62" name="Text 49"/>
          <p:cNvSpPr txBox="1"/>
          <p:nvPr/>
        </p:nvSpPr>
        <p:spPr>
          <a:xfrm>
            <a:off x="6567445" y="314553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trip</a:t>
            </a:r>
            <a:endParaRPr lang="en-US" sz="520" dirty="0"/>
          </a:p>
        </p:txBody>
      </p:sp>
      <p:sp>
        <p:nvSpPr>
          <p:cNvPr id="63" name="Shape 50"/>
          <p:cNvSpPr/>
          <p:nvPr/>
        </p:nvSpPr>
        <p:spPr>
          <a:xfrm>
            <a:off x="6988069" y="3145536"/>
            <a:ext cx="384048" cy="182880"/>
          </a:xfrm>
          <a:prstGeom prst="roundRect">
            <a:avLst>
              <a:gd name="adj" fmla="val 20000"/>
            </a:avLst>
          </a:prstGeom>
          <a:solidFill>
            <a:srgbClr val="F0F3F7"/>
          </a:solidFill>
          <a:ln/>
        </p:spPr>
      </p:sp>
      <p:sp>
        <p:nvSpPr>
          <p:cNvPr id="64" name="Text 51"/>
          <p:cNvSpPr txBox="1"/>
          <p:nvPr/>
        </p:nvSpPr>
        <p:spPr>
          <a:xfrm>
            <a:off x="6988069" y="314553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520" dirty="0"/>
          </a:p>
        </p:txBody>
      </p:sp>
      <p:sp>
        <p:nvSpPr>
          <p:cNvPr id="65" name="Shape 52"/>
          <p:cNvSpPr/>
          <p:nvPr/>
        </p:nvSpPr>
        <p:spPr>
          <a:xfrm>
            <a:off x="7408693" y="3145536"/>
            <a:ext cx="384048" cy="182880"/>
          </a:xfrm>
          <a:prstGeom prst="roundRect">
            <a:avLst>
              <a:gd name="adj" fmla="val 20000"/>
            </a:avLst>
          </a:prstGeom>
          <a:solidFill>
            <a:srgbClr val="F0F3F7"/>
          </a:solidFill>
          <a:ln/>
        </p:spPr>
      </p:sp>
      <p:sp>
        <p:nvSpPr>
          <p:cNvPr id="66" name="Text 53"/>
          <p:cNvSpPr txBox="1"/>
          <p:nvPr/>
        </p:nvSpPr>
        <p:spPr>
          <a:xfrm>
            <a:off x="7408693" y="314553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520" dirty="0"/>
          </a:p>
        </p:txBody>
      </p:sp>
      <p:sp>
        <p:nvSpPr>
          <p:cNvPr id="67" name="Shape 54"/>
          <p:cNvSpPr/>
          <p:nvPr/>
        </p:nvSpPr>
        <p:spPr>
          <a:xfrm>
            <a:off x="2409444" y="3401568"/>
            <a:ext cx="5346721" cy="274320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68" name="Text 55"/>
          <p:cNvSpPr txBox="1"/>
          <p:nvPr/>
        </p:nvSpPr>
        <p:spPr>
          <a:xfrm>
            <a:off x="2519172" y="3401568"/>
            <a:ext cx="69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b="1" spc="60" kern="0" dirty="0">
                <a:solidFill>
                  <a:srgbClr val="667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</a:t>
            </a:r>
            <a:endParaRPr lang="en-US" sz="560" dirty="0"/>
          </a:p>
        </p:txBody>
      </p:sp>
      <p:sp>
        <p:nvSpPr>
          <p:cNvPr id="69" name="Text 56"/>
          <p:cNvSpPr txBox="1"/>
          <p:nvPr/>
        </p:nvSpPr>
        <p:spPr>
          <a:xfrm>
            <a:off x="3321180" y="3401568"/>
            <a:ext cx="79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b="1" spc="60" kern="0" dirty="0">
                <a:solidFill>
                  <a:srgbClr val="667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560" dirty="0"/>
          </a:p>
        </p:txBody>
      </p:sp>
      <p:sp>
        <p:nvSpPr>
          <p:cNvPr id="70" name="Text 57"/>
          <p:cNvSpPr txBox="1"/>
          <p:nvPr/>
        </p:nvSpPr>
        <p:spPr>
          <a:xfrm>
            <a:off x="4230123" y="3401568"/>
            <a:ext cx="18150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b="1" spc="60" kern="0" dirty="0">
                <a:solidFill>
                  <a:srgbClr val="667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/ LOCATION</a:t>
            </a:r>
            <a:endParaRPr lang="en-US" sz="560" dirty="0"/>
          </a:p>
        </p:txBody>
      </p:sp>
      <p:sp>
        <p:nvSpPr>
          <p:cNvPr id="71" name="Text 58"/>
          <p:cNvSpPr txBox="1"/>
          <p:nvPr/>
        </p:nvSpPr>
        <p:spPr>
          <a:xfrm>
            <a:off x="6154942" y="3401568"/>
            <a:ext cx="638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b="1" spc="60" kern="0" dirty="0">
                <a:solidFill>
                  <a:srgbClr val="667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RIDERS</a:t>
            </a:r>
            <a:endParaRPr lang="en-US" sz="560" dirty="0"/>
          </a:p>
        </p:txBody>
      </p:sp>
      <p:sp>
        <p:nvSpPr>
          <p:cNvPr id="72" name="Text 59"/>
          <p:cNvSpPr txBox="1"/>
          <p:nvPr/>
        </p:nvSpPr>
        <p:spPr>
          <a:xfrm>
            <a:off x="6903483" y="3401568"/>
            <a:ext cx="8526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b="1" spc="60" kern="0" dirty="0">
                <a:solidFill>
                  <a:srgbClr val="667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</a:t>
            </a:r>
            <a:endParaRPr lang="en-US" sz="560" dirty="0"/>
          </a:p>
        </p:txBody>
      </p:sp>
      <p:sp>
        <p:nvSpPr>
          <p:cNvPr id="73" name="Shape 60"/>
          <p:cNvSpPr/>
          <p:nvPr/>
        </p:nvSpPr>
        <p:spPr>
          <a:xfrm>
            <a:off x="2409444" y="3675888"/>
            <a:ext cx="5346721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Shape 61"/>
          <p:cNvSpPr/>
          <p:nvPr/>
        </p:nvSpPr>
        <p:spPr>
          <a:xfrm>
            <a:off x="2409444" y="3945636"/>
            <a:ext cx="5346721" cy="4572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75" name="Text 62"/>
          <p:cNvSpPr txBox="1"/>
          <p:nvPr/>
        </p:nvSpPr>
        <p:spPr>
          <a:xfrm>
            <a:off x="2519172" y="3675888"/>
            <a:ext cx="637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C-12</a:t>
            </a:r>
            <a:endParaRPr lang="en-US" sz="640" dirty="0"/>
          </a:p>
        </p:txBody>
      </p:sp>
      <p:sp>
        <p:nvSpPr>
          <p:cNvPr id="76" name="Shape 63"/>
          <p:cNvSpPr/>
          <p:nvPr/>
        </p:nvSpPr>
        <p:spPr>
          <a:xfrm>
            <a:off x="3321180" y="3735324"/>
            <a:ext cx="566928" cy="155448"/>
          </a:xfrm>
          <a:prstGeom prst="roundRect">
            <a:avLst>
              <a:gd name="adj" fmla="val 50000"/>
            </a:avLst>
          </a:prstGeom>
          <a:solidFill>
            <a:srgbClr val="E2F6F3"/>
          </a:solidFill>
          <a:ln/>
        </p:spPr>
      </p:sp>
      <p:sp>
        <p:nvSpPr>
          <p:cNvPr id="77" name="Text 64"/>
          <p:cNvSpPr txBox="1"/>
          <p:nvPr/>
        </p:nvSpPr>
        <p:spPr>
          <a:xfrm>
            <a:off x="3321180" y="3735324"/>
            <a:ext cx="566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trip</a:t>
            </a:r>
            <a:endParaRPr lang="en-US" sz="560" dirty="0"/>
          </a:p>
        </p:txBody>
      </p:sp>
      <p:sp>
        <p:nvSpPr>
          <p:cNvPr id="78" name="Text 65"/>
          <p:cNvSpPr txBox="1"/>
          <p:nvPr/>
        </p:nvSpPr>
        <p:spPr>
          <a:xfrm>
            <a:off x="4230123" y="3675888"/>
            <a:ext cx="17602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1 · Gate 2 → Coke Plant</a:t>
            </a:r>
            <a:endParaRPr lang="en-US" sz="640" dirty="0"/>
          </a:p>
        </p:txBody>
      </p:sp>
      <p:sp>
        <p:nvSpPr>
          <p:cNvPr id="79" name="Text 66"/>
          <p:cNvSpPr txBox="1"/>
          <p:nvPr/>
        </p:nvSpPr>
        <p:spPr>
          <a:xfrm>
            <a:off x="6154942" y="3675888"/>
            <a:ext cx="5839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3</a:t>
            </a:r>
            <a:endParaRPr lang="en-US" sz="640" dirty="0"/>
          </a:p>
        </p:txBody>
      </p:sp>
      <p:sp>
        <p:nvSpPr>
          <p:cNvPr id="80" name="Text 67"/>
          <p:cNvSpPr txBox="1"/>
          <p:nvPr/>
        </p:nvSpPr>
        <p:spPr>
          <a:xfrm>
            <a:off x="6903483" y="3675888"/>
            <a:ext cx="797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Kumar</a:t>
            </a:r>
            <a:endParaRPr lang="en-US" sz="640" dirty="0"/>
          </a:p>
        </p:txBody>
      </p:sp>
      <p:sp>
        <p:nvSpPr>
          <p:cNvPr id="81" name="Shape 68"/>
          <p:cNvSpPr/>
          <p:nvPr/>
        </p:nvSpPr>
        <p:spPr>
          <a:xfrm>
            <a:off x="2409444" y="3950208"/>
            <a:ext cx="5346721" cy="274320"/>
          </a:xfrm>
          <a:prstGeom prst="rect">
            <a:avLst/>
          </a:prstGeom>
          <a:solidFill>
            <a:srgbClr val="FBFCFD"/>
          </a:solidFill>
          <a:ln/>
        </p:spPr>
      </p:sp>
      <p:sp>
        <p:nvSpPr>
          <p:cNvPr id="82" name="Shape 69"/>
          <p:cNvSpPr/>
          <p:nvPr/>
        </p:nvSpPr>
        <p:spPr>
          <a:xfrm>
            <a:off x="2409444" y="4219956"/>
            <a:ext cx="5346721" cy="4572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83" name="Text 70"/>
          <p:cNvSpPr txBox="1"/>
          <p:nvPr/>
        </p:nvSpPr>
        <p:spPr>
          <a:xfrm>
            <a:off x="2519172" y="3950208"/>
            <a:ext cx="637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S-03</a:t>
            </a:r>
            <a:endParaRPr lang="en-US" sz="640" dirty="0"/>
          </a:p>
        </p:txBody>
      </p:sp>
      <p:sp>
        <p:nvSpPr>
          <p:cNvPr id="84" name="Shape 71"/>
          <p:cNvSpPr/>
          <p:nvPr/>
        </p:nvSpPr>
        <p:spPr>
          <a:xfrm>
            <a:off x="3321180" y="4009644"/>
            <a:ext cx="566928" cy="155448"/>
          </a:xfrm>
          <a:prstGeom prst="roundRect">
            <a:avLst>
              <a:gd name="adj" fmla="val 50000"/>
            </a:avLst>
          </a:prstGeom>
          <a:solidFill>
            <a:srgbClr val="E2F6F3"/>
          </a:solidFill>
          <a:ln/>
        </p:spPr>
      </p:sp>
      <p:sp>
        <p:nvSpPr>
          <p:cNvPr id="85" name="Text 72"/>
          <p:cNvSpPr txBox="1"/>
          <p:nvPr/>
        </p:nvSpPr>
        <p:spPr>
          <a:xfrm>
            <a:off x="3321180" y="4009644"/>
            <a:ext cx="566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Shuttle</a:t>
            </a:r>
            <a:endParaRPr lang="en-US" sz="560" dirty="0"/>
          </a:p>
        </p:txBody>
      </p:sp>
      <p:sp>
        <p:nvSpPr>
          <p:cNvPr id="86" name="Text 73"/>
          <p:cNvSpPr txBox="1"/>
          <p:nvPr/>
        </p:nvSpPr>
        <p:spPr>
          <a:xfrm>
            <a:off x="4230123" y="3950208"/>
            <a:ext cx="17602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1 loop · at Admin Block</a:t>
            </a:r>
            <a:endParaRPr lang="en-US" sz="640" dirty="0"/>
          </a:p>
        </p:txBody>
      </p:sp>
      <p:sp>
        <p:nvSpPr>
          <p:cNvPr id="87" name="Text 74"/>
          <p:cNvSpPr txBox="1"/>
          <p:nvPr/>
        </p:nvSpPr>
        <p:spPr>
          <a:xfrm>
            <a:off x="6154942" y="3950208"/>
            <a:ext cx="5839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12</a:t>
            </a:r>
            <a:endParaRPr lang="en-US" sz="640" dirty="0"/>
          </a:p>
        </p:txBody>
      </p:sp>
      <p:sp>
        <p:nvSpPr>
          <p:cNvPr id="88" name="Text 75"/>
          <p:cNvSpPr txBox="1"/>
          <p:nvPr/>
        </p:nvSpPr>
        <p:spPr>
          <a:xfrm>
            <a:off x="6903483" y="3950208"/>
            <a:ext cx="797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Das</a:t>
            </a:r>
            <a:endParaRPr lang="en-US" sz="640" dirty="0"/>
          </a:p>
        </p:txBody>
      </p:sp>
      <p:sp>
        <p:nvSpPr>
          <p:cNvPr id="89" name="Shape 76"/>
          <p:cNvSpPr/>
          <p:nvPr/>
        </p:nvSpPr>
        <p:spPr>
          <a:xfrm>
            <a:off x="2409444" y="4224528"/>
            <a:ext cx="5346721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0" name="Shape 77"/>
          <p:cNvSpPr/>
          <p:nvPr/>
        </p:nvSpPr>
        <p:spPr>
          <a:xfrm>
            <a:off x="2409444" y="4494276"/>
            <a:ext cx="5346721" cy="4572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91" name="Text 78"/>
          <p:cNvSpPr txBox="1"/>
          <p:nvPr/>
        </p:nvSpPr>
        <p:spPr>
          <a:xfrm>
            <a:off x="2519172" y="4224528"/>
            <a:ext cx="637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C-07</a:t>
            </a:r>
            <a:endParaRPr lang="en-US" sz="640" dirty="0"/>
          </a:p>
        </p:txBody>
      </p:sp>
      <p:sp>
        <p:nvSpPr>
          <p:cNvPr id="92" name="Shape 79"/>
          <p:cNvSpPr/>
          <p:nvPr/>
        </p:nvSpPr>
        <p:spPr>
          <a:xfrm>
            <a:off x="3321180" y="4283964"/>
            <a:ext cx="566928" cy="155448"/>
          </a:xfrm>
          <a:prstGeom prst="roundRect">
            <a:avLst>
              <a:gd name="adj" fmla="val 50000"/>
            </a:avLst>
          </a:prstGeom>
          <a:solidFill>
            <a:srgbClr val="FBE9E7"/>
          </a:solidFill>
          <a:ln/>
        </p:spPr>
      </p:sp>
      <p:sp>
        <p:nvSpPr>
          <p:cNvPr id="93" name="Text 80"/>
          <p:cNvSpPr txBox="1"/>
          <p:nvPr/>
        </p:nvSpPr>
        <p:spPr>
          <a:xfrm>
            <a:off x="3321180" y="4283964"/>
            <a:ext cx="566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C026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Overspeed</a:t>
            </a:r>
            <a:endParaRPr lang="en-US" sz="560" dirty="0"/>
          </a:p>
        </p:txBody>
      </p:sp>
      <p:sp>
        <p:nvSpPr>
          <p:cNvPr id="94" name="Text 81"/>
          <p:cNvSpPr txBox="1"/>
          <p:nvPr/>
        </p:nvSpPr>
        <p:spPr>
          <a:xfrm>
            <a:off x="4230123" y="4224528"/>
            <a:ext cx="17602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3 · 31 km/h in a 20</a:t>
            </a:r>
            <a:endParaRPr lang="en-US" sz="640" dirty="0"/>
          </a:p>
        </p:txBody>
      </p:sp>
      <p:sp>
        <p:nvSpPr>
          <p:cNvPr id="95" name="Text 82"/>
          <p:cNvSpPr txBox="1"/>
          <p:nvPr/>
        </p:nvSpPr>
        <p:spPr>
          <a:xfrm>
            <a:off x="6154942" y="4224528"/>
            <a:ext cx="5839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3</a:t>
            </a:r>
            <a:endParaRPr lang="en-US" sz="640" dirty="0"/>
          </a:p>
        </p:txBody>
      </p:sp>
      <p:sp>
        <p:nvSpPr>
          <p:cNvPr id="96" name="Text 83"/>
          <p:cNvSpPr txBox="1"/>
          <p:nvPr/>
        </p:nvSpPr>
        <p:spPr>
          <a:xfrm>
            <a:off x="6903483" y="4224528"/>
            <a:ext cx="797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Nair</a:t>
            </a:r>
            <a:endParaRPr lang="en-US" sz="640" dirty="0"/>
          </a:p>
        </p:txBody>
      </p:sp>
      <p:sp>
        <p:nvSpPr>
          <p:cNvPr id="97" name="Shape 84"/>
          <p:cNvSpPr/>
          <p:nvPr/>
        </p:nvSpPr>
        <p:spPr>
          <a:xfrm>
            <a:off x="2409444" y="4498848"/>
            <a:ext cx="5346721" cy="274320"/>
          </a:xfrm>
          <a:prstGeom prst="rect">
            <a:avLst/>
          </a:prstGeom>
          <a:solidFill>
            <a:srgbClr val="FBFCFD"/>
          </a:solidFill>
          <a:ln/>
        </p:spPr>
      </p:sp>
      <p:sp>
        <p:nvSpPr>
          <p:cNvPr id="98" name="Shape 85"/>
          <p:cNvSpPr/>
          <p:nvPr/>
        </p:nvSpPr>
        <p:spPr>
          <a:xfrm>
            <a:off x="2409444" y="4768596"/>
            <a:ext cx="5346721" cy="4572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99" name="Text 86"/>
          <p:cNvSpPr txBox="1"/>
          <p:nvPr/>
        </p:nvSpPr>
        <p:spPr>
          <a:xfrm>
            <a:off x="2519172" y="4498848"/>
            <a:ext cx="637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C-21</a:t>
            </a:r>
            <a:endParaRPr lang="en-US" sz="640" dirty="0"/>
          </a:p>
        </p:txBody>
      </p:sp>
      <p:sp>
        <p:nvSpPr>
          <p:cNvPr id="100" name="Shape 87"/>
          <p:cNvSpPr/>
          <p:nvPr/>
        </p:nvSpPr>
        <p:spPr>
          <a:xfrm>
            <a:off x="3321180" y="4558284"/>
            <a:ext cx="566928" cy="155448"/>
          </a:xfrm>
          <a:prstGeom prst="roundRect">
            <a:avLst>
              <a:gd name="adj" fmla="val 50000"/>
            </a:avLst>
          </a:prstGeom>
          <a:solidFill>
            <a:srgbClr val="F0F3F7"/>
          </a:solidFill>
          <a:ln/>
        </p:spPr>
      </p:sp>
      <p:sp>
        <p:nvSpPr>
          <p:cNvPr id="101" name="Text 88"/>
          <p:cNvSpPr txBox="1"/>
          <p:nvPr/>
        </p:nvSpPr>
        <p:spPr>
          <a:xfrm>
            <a:off x="3321180" y="4558284"/>
            <a:ext cx="566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560" dirty="0"/>
          </a:p>
        </p:txBody>
      </p:sp>
      <p:sp>
        <p:nvSpPr>
          <p:cNvPr id="102" name="Text 89"/>
          <p:cNvSpPr txBox="1"/>
          <p:nvPr/>
        </p:nvSpPr>
        <p:spPr>
          <a:xfrm>
            <a:off x="4230123" y="4498848"/>
            <a:ext cx="17602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parking · 14 min</a:t>
            </a:r>
            <a:endParaRPr lang="en-US" sz="640" dirty="0"/>
          </a:p>
        </p:txBody>
      </p:sp>
      <p:sp>
        <p:nvSpPr>
          <p:cNvPr id="103" name="Text 90"/>
          <p:cNvSpPr txBox="1"/>
          <p:nvPr/>
        </p:nvSpPr>
        <p:spPr>
          <a:xfrm>
            <a:off x="6154942" y="4498848"/>
            <a:ext cx="5839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of 3</a:t>
            </a:r>
            <a:endParaRPr lang="en-US" sz="640" dirty="0"/>
          </a:p>
        </p:txBody>
      </p:sp>
      <p:sp>
        <p:nvSpPr>
          <p:cNvPr id="104" name="Text 91"/>
          <p:cNvSpPr txBox="1"/>
          <p:nvPr/>
        </p:nvSpPr>
        <p:spPr>
          <a:xfrm>
            <a:off x="6903483" y="4498848"/>
            <a:ext cx="797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Singh</a:t>
            </a:r>
            <a:endParaRPr lang="en-US" sz="640" dirty="0"/>
          </a:p>
        </p:txBody>
      </p:sp>
      <p:sp>
        <p:nvSpPr>
          <p:cNvPr id="105" name="Shape 92"/>
          <p:cNvSpPr/>
          <p:nvPr/>
        </p:nvSpPr>
        <p:spPr>
          <a:xfrm>
            <a:off x="2409444" y="4773168"/>
            <a:ext cx="5346721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6" name="Shape 93"/>
          <p:cNvSpPr/>
          <p:nvPr/>
        </p:nvSpPr>
        <p:spPr>
          <a:xfrm>
            <a:off x="2409444" y="5042916"/>
            <a:ext cx="5346721" cy="4572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107" name="Text 94"/>
          <p:cNvSpPr txBox="1"/>
          <p:nvPr/>
        </p:nvSpPr>
        <p:spPr>
          <a:xfrm>
            <a:off x="2519172" y="4773168"/>
            <a:ext cx="637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C-33</a:t>
            </a:r>
            <a:endParaRPr lang="en-US" sz="640" dirty="0"/>
          </a:p>
        </p:txBody>
      </p:sp>
      <p:sp>
        <p:nvSpPr>
          <p:cNvPr id="108" name="Shape 95"/>
          <p:cNvSpPr/>
          <p:nvPr/>
        </p:nvSpPr>
        <p:spPr>
          <a:xfrm>
            <a:off x="3321180" y="4832604"/>
            <a:ext cx="566928" cy="155448"/>
          </a:xfrm>
          <a:prstGeom prst="roundRect">
            <a:avLst>
              <a:gd name="adj" fmla="val 50000"/>
            </a:avLst>
          </a:prstGeom>
          <a:solidFill>
            <a:srgbClr val="FDF3DC"/>
          </a:solidFill>
          <a:ln/>
        </p:spPr>
      </p:sp>
      <p:sp>
        <p:nvSpPr>
          <p:cNvPr id="109" name="Text 96"/>
          <p:cNvSpPr txBox="1"/>
          <p:nvPr/>
        </p:nvSpPr>
        <p:spPr>
          <a:xfrm>
            <a:off x="3321180" y="4832604"/>
            <a:ext cx="566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E8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expiry</a:t>
            </a:r>
            <a:endParaRPr lang="en-US" sz="560" dirty="0"/>
          </a:p>
        </p:txBody>
      </p:sp>
      <p:sp>
        <p:nvSpPr>
          <p:cNvPr id="110" name="Text 97"/>
          <p:cNvSpPr txBox="1"/>
          <p:nvPr/>
        </p:nvSpPr>
        <p:spPr>
          <a:xfrm>
            <a:off x="4230123" y="4773168"/>
            <a:ext cx="17602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lapses in 6 days</a:t>
            </a:r>
            <a:endParaRPr lang="en-US" sz="640" dirty="0"/>
          </a:p>
        </p:txBody>
      </p:sp>
      <p:sp>
        <p:nvSpPr>
          <p:cNvPr id="111" name="Text 98"/>
          <p:cNvSpPr txBox="1"/>
          <p:nvPr/>
        </p:nvSpPr>
        <p:spPr>
          <a:xfrm>
            <a:off x="6154942" y="4773168"/>
            <a:ext cx="5839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640" dirty="0"/>
          </a:p>
        </p:txBody>
      </p:sp>
      <p:sp>
        <p:nvSpPr>
          <p:cNvPr id="112" name="Text 99"/>
          <p:cNvSpPr txBox="1"/>
          <p:nvPr/>
        </p:nvSpPr>
        <p:spPr>
          <a:xfrm>
            <a:off x="6903483" y="4773168"/>
            <a:ext cx="797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Rao</a:t>
            </a:r>
            <a:endParaRPr lang="en-US" sz="640" dirty="0"/>
          </a:p>
        </p:txBody>
      </p:sp>
      <p:sp>
        <p:nvSpPr>
          <p:cNvPr id="113" name="Shape 100"/>
          <p:cNvSpPr/>
          <p:nvPr/>
        </p:nvSpPr>
        <p:spPr>
          <a:xfrm>
            <a:off x="2409444" y="5047488"/>
            <a:ext cx="5346721" cy="274320"/>
          </a:xfrm>
          <a:prstGeom prst="rect">
            <a:avLst/>
          </a:prstGeom>
          <a:solidFill>
            <a:srgbClr val="FBFCFD"/>
          </a:solidFill>
          <a:ln/>
        </p:spPr>
      </p:sp>
      <p:sp>
        <p:nvSpPr>
          <p:cNvPr id="114" name="Shape 101"/>
          <p:cNvSpPr/>
          <p:nvPr/>
        </p:nvSpPr>
        <p:spPr>
          <a:xfrm>
            <a:off x="2409444" y="5317236"/>
            <a:ext cx="5346721" cy="4572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115" name="Text 102"/>
          <p:cNvSpPr txBox="1"/>
          <p:nvPr/>
        </p:nvSpPr>
        <p:spPr>
          <a:xfrm>
            <a:off x="2519172" y="5047488"/>
            <a:ext cx="637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C-44</a:t>
            </a:r>
            <a:endParaRPr lang="en-US" sz="640" dirty="0"/>
          </a:p>
        </p:txBody>
      </p:sp>
      <p:sp>
        <p:nvSpPr>
          <p:cNvPr id="116" name="Shape 103"/>
          <p:cNvSpPr/>
          <p:nvPr/>
        </p:nvSpPr>
        <p:spPr>
          <a:xfrm>
            <a:off x="3321180" y="5106924"/>
            <a:ext cx="566928" cy="155448"/>
          </a:xfrm>
          <a:prstGeom prst="roundRect">
            <a:avLst>
              <a:gd name="adj" fmla="val 50000"/>
            </a:avLst>
          </a:prstGeom>
          <a:solidFill>
            <a:srgbClr val="FBE9E7"/>
          </a:solidFill>
          <a:ln/>
        </p:spPr>
      </p:sp>
      <p:sp>
        <p:nvSpPr>
          <p:cNvPr id="117" name="Text 104"/>
          <p:cNvSpPr txBox="1"/>
          <p:nvPr/>
        </p:nvSpPr>
        <p:spPr>
          <a:xfrm>
            <a:off x="3321180" y="5106924"/>
            <a:ext cx="566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C026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</a:t>
            </a:r>
            <a:endParaRPr lang="en-US" sz="560" dirty="0"/>
          </a:p>
        </p:txBody>
      </p:sp>
      <p:sp>
        <p:nvSpPr>
          <p:cNvPr id="118" name="Text 105"/>
          <p:cNvSpPr txBox="1"/>
          <p:nvPr/>
        </p:nvSpPr>
        <p:spPr>
          <a:xfrm>
            <a:off x="4230123" y="5047488"/>
            <a:ext cx="17602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Coke Oven Road · riders reassigned</a:t>
            </a:r>
            <a:endParaRPr lang="en-US" sz="640" dirty="0"/>
          </a:p>
        </p:txBody>
      </p:sp>
      <p:sp>
        <p:nvSpPr>
          <p:cNvPr id="119" name="Text 106"/>
          <p:cNvSpPr txBox="1"/>
          <p:nvPr/>
        </p:nvSpPr>
        <p:spPr>
          <a:xfrm>
            <a:off x="6154942" y="5047488"/>
            <a:ext cx="5839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of 3</a:t>
            </a:r>
            <a:endParaRPr lang="en-US" sz="640" dirty="0"/>
          </a:p>
        </p:txBody>
      </p:sp>
      <p:sp>
        <p:nvSpPr>
          <p:cNvPr id="120" name="Text 107"/>
          <p:cNvSpPr txBox="1"/>
          <p:nvPr/>
        </p:nvSpPr>
        <p:spPr>
          <a:xfrm>
            <a:off x="6903483" y="5047488"/>
            <a:ext cx="797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Mehta</a:t>
            </a:r>
            <a:endParaRPr lang="en-US" sz="640" dirty="0"/>
          </a:p>
        </p:txBody>
      </p:sp>
      <p:sp>
        <p:nvSpPr>
          <p:cNvPr id="121" name="Shape 108"/>
          <p:cNvSpPr/>
          <p:nvPr/>
        </p:nvSpPr>
        <p:spPr>
          <a:xfrm>
            <a:off x="8067061" y="3072384"/>
            <a:ext cx="3324534" cy="2340864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22" name="Text 109"/>
          <p:cNvSpPr txBox="1"/>
          <p:nvPr/>
        </p:nvSpPr>
        <p:spPr>
          <a:xfrm>
            <a:off x="8213365" y="314553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attention</a:t>
            </a:r>
            <a:endParaRPr lang="en-US" sz="750" dirty="0"/>
          </a:p>
        </p:txBody>
      </p:sp>
      <p:sp>
        <p:nvSpPr>
          <p:cNvPr id="123" name="Shape 110"/>
          <p:cNvSpPr/>
          <p:nvPr/>
        </p:nvSpPr>
        <p:spPr>
          <a:xfrm>
            <a:off x="11007547" y="3172968"/>
            <a:ext cx="182880" cy="182880"/>
          </a:xfrm>
          <a:prstGeom prst="ellipse">
            <a:avLst/>
          </a:prstGeom>
          <a:solidFill>
            <a:srgbClr val="C02617"/>
          </a:solidFill>
          <a:ln/>
        </p:spPr>
      </p:sp>
      <p:sp>
        <p:nvSpPr>
          <p:cNvPr id="124" name="Text 111"/>
          <p:cNvSpPr txBox="1"/>
          <p:nvPr/>
        </p:nvSpPr>
        <p:spPr>
          <a:xfrm>
            <a:off x="11007547" y="31729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40" dirty="0"/>
          </a:p>
        </p:txBody>
      </p:sp>
      <p:sp>
        <p:nvSpPr>
          <p:cNvPr id="125" name="Shape 112"/>
          <p:cNvSpPr/>
          <p:nvPr/>
        </p:nvSpPr>
        <p:spPr>
          <a:xfrm>
            <a:off x="8195077" y="3401568"/>
            <a:ext cx="3068502" cy="365760"/>
          </a:xfrm>
          <a:prstGeom prst="roundRect">
            <a:avLst>
              <a:gd name="adj" fmla="val 12500"/>
            </a:avLst>
          </a:prstGeom>
          <a:solidFill>
            <a:srgbClr val="FBE9E7"/>
          </a:solidFill>
          <a:ln/>
        </p:spPr>
      </p:sp>
      <p:pic>
        <p:nvPicPr>
          <p:cNvPr id="12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86517" y="3461004"/>
            <a:ext cx="146304" cy="146304"/>
          </a:xfrm>
          <a:prstGeom prst="rect">
            <a:avLst/>
          </a:prstGeom>
        </p:spPr>
      </p:pic>
      <p:sp>
        <p:nvSpPr>
          <p:cNvPr id="127" name="Text 113"/>
          <p:cNvSpPr txBox="1"/>
          <p:nvPr/>
        </p:nvSpPr>
        <p:spPr>
          <a:xfrm>
            <a:off x="8487685" y="3429000"/>
            <a:ext cx="275760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C-07 overspeed in Zone 3</a:t>
            </a:r>
            <a:endParaRPr lang="en-US" sz="590" dirty="0"/>
          </a:p>
        </p:txBody>
      </p:sp>
      <p:sp>
        <p:nvSpPr>
          <p:cNvPr id="128" name="Text 114"/>
          <p:cNvSpPr txBox="1"/>
          <p:nvPr/>
        </p:nvSpPr>
        <p:spPr>
          <a:xfrm>
            <a:off x="8487685" y="3584448"/>
            <a:ext cx="275760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14:06 · driver warned by voice</a:t>
            </a:r>
            <a:endParaRPr lang="en-US" sz="520" dirty="0"/>
          </a:p>
        </p:txBody>
      </p:sp>
      <p:sp>
        <p:nvSpPr>
          <p:cNvPr id="129" name="Shape 115"/>
          <p:cNvSpPr/>
          <p:nvPr/>
        </p:nvSpPr>
        <p:spPr>
          <a:xfrm>
            <a:off x="8195077" y="3803904"/>
            <a:ext cx="3068502" cy="365760"/>
          </a:xfrm>
          <a:prstGeom prst="roundRect">
            <a:avLst>
              <a:gd name="adj" fmla="val 12500"/>
            </a:avLst>
          </a:prstGeom>
          <a:solidFill>
            <a:srgbClr val="FBE9E7"/>
          </a:solidFill>
          <a:ln/>
        </p:spPr>
      </p:sp>
      <p:pic>
        <p:nvPicPr>
          <p:cNvPr id="13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86517" y="3863340"/>
            <a:ext cx="146304" cy="146304"/>
          </a:xfrm>
          <a:prstGeom prst="rect">
            <a:avLst/>
          </a:prstGeom>
        </p:spPr>
      </p:pic>
      <p:sp>
        <p:nvSpPr>
          <p:cNvPr id="131" name="Text 116"/>
          <p:cNvSpPr txBox="1"/>
          <p:nvPr/>
        </p:nvSpPr>
        <p:spPr>
          <a:xfrm>
            <a:off x="8487685" y="3831336"/>
            <a:ext cx="275760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C-44 breakdown reported</a:t>
            </a:r>
            <a:endParaRPr lang="en-US" sz="590" dirty="0"/>
          </a:p>
        </p:txBody>
      </p:sp>
      <p:sp>
        <p:nvSpPr>
          <p:cNvPr id="132" name="Text 117"/>
          <p:cNvSpPr txBox="1"/>
          <p:nvPr/>
        </p:nvSpPr>
        <p:spPr>
          <a:xfrm>
            <a:off x="8487685" y="3986784"/>
            <a:ext cx="275760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13:52 · 2 riders need reassigning</a:t>
            </a:r>
            <a:endParaRPr lang="en-US" sz="520" dirty="0"/>
          </a:p>
        </p:txBody>
      </p:sp>
      <p:sp>
        <p:nvSpPr>
          <p:cNvPr id="133" name="Shape 118"/>
          <p:cNvSpPr/>
          <p:nvPr/>
        </p:nvSpPr>
        <p:spPr>
          <a:xfrm>
            <a:off x="8195077" y="4206240"/>
            <a:ext cx="3068502" cy="365760"/>
          </a:xfrm>
          <a:prstGeom prst="roundRect">
            <a:avLst>
              <a:gd name="adj" fmla="val 12500"/>
            </a:avLst>
          </a:prstGeom>
          <a:solidFill>
            <a:srgbClr val="FDF3DC"/>
          </a:solidFill>
          <a:ln/>
        </p:spPr>
      </p:sp>
      <p:pic>
        <p:nvPicPr>
          <p:cNvPr id="13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86517" y="4265676"/>
            <a:ext cx="146304" cy="146304"/>
          </a:xfrm>
          <a:prstGeom prst="rect">
            <a:avLst/>
          </a:prstGeom>
        </p:spPr>
      </p:pic>
      <p:sp>
        <p:nvSpPr>
          <p:cNvPr id="135" name="Text 119"/>
          <p:cNvSpPr txBox="1"/>
          <p:nvPr/>
        </p:nvSpPr>
        <p:spPr>
          <a:xfrm>
            <a:off x="8487685" y="4233672"/>
            <a:ext cx="275760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5 wait above 8 min</a:t>
            </a:r>
            <a:endParaRPr lang="en-US" sz="590" dirty="0"/>
          </a:p>
        </p:txBody>
      </p:sp>
      <p:sp>
        <p:nvSpPr>
          <p:cNvPr id="136" name="Text 120"/>
          <p:cNvSpPr txBox="1"/>
          <p:nvPr/>
        </p:nvSpPr>
        <p:spPr>
          <a:xfrm>
            <a:off x="8487685" y="4389120"/>
            <a:ext cx="275760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13:48 · demand rising before shift</a:t>
            </a:r>
            <a:endParaRPr lang="en-US" sz="520" dirty="0"/>
          </a:p>
        </p:txBody>
      </p:sp>
      <p:sp>
        <p:nvSpPr>
          <p:cNvPr id="137" name="Shape 121"/>
          <p:cNvSpPr/>
          <p:nvPr/>
        </p:nvSpPr>
        <p:spPr>
          <a:xfrm>
            <a:off x="8195077" y="4608576"/>
            <a:ext cx="3068502" cy="365760"/>
          </a:xfrm>
          <a:prstGeom prst="roundRect">
            <a:avLst>
              <a:gd name="adj" fmla="val 12500"/>
            </a:avLst>
          </a:prstGeom>
          <a:solidFill>
            <a:srgbClr val="FDF3DC"/>
          </a:solidFill>
          <a:ln/>
        </p:spPr>
      </p:sp>
      <p:pic>
        <p:nvPicPr>
          <p:cNvPr id="13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86517" y="4668012"/>
            <a:ext cx="146304" cy="146304"/>
          </a:xfrm>
          <a:prstGeom prst="rect">
            <a:avLst/>
          </a:prstGeom>
        </p:spPr>
      </p:pic>
      <p:sp>
        <p:nvSpPr>
          <p:cNvPr id="139" name="Text 122"/>
          <p:cNvSpPr txBox="1"/>
          <p:nvPr/>
        </p:nvSpPr>
        <p:spPr>
          <a:xfrm>
            <a:off x="8487685" y="4636008"/>
            <a:ext cx="275760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C-33 insurance expiring</a:t>
            </a:r>
            <a:endParaRPr lang="en-US" sz="590" dirty="0"/>
          </a:p>
        </p:txBody>
      </p:sp>
      <p:sp>
        <p:nvSpPr>
          <p:cNvPr id="140" name="Text 123"/>
          <p:cNvSpPr txBox="1"/>
          <p:nvPr/>
        </p:nvSpPr>
        <p:spPr>
          <a:xfrm>
            <a:off x="8487685" y="4791456"/>
            <a:ext cx="275760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6 days · vendor notified</a:t>
            </a:r>
            <a:endParaRPr lang="en-US" sz="520" dirty="0"/>
          </a:p>
        </p:txBody>
      </p:sp>
      <p:sp>
        <p:nvSpPr>
          <p:cNvPr id="141" name="Shape 124"/>
          <p:cNvSpPr/>
          <p:nvPr/>
        </p:nvSpPr>
        <p:spPr>
          <a:xfrm>
            <a:off x="8195077" y="5029200"/>
            <a:ext cx="3068502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2" name="Text 125"/>
          <p:cNvSpPr txBox="1"/>
          <p:nvPr/>
        </p:nvSpPr>
        <p:spPr>
          <a:xfrm>
            <a:off x="8195077" y="5029200"/>
            <a:ext cx="30685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desk queue</a:t>
            </a:r>
            <a:endParaRPr lang="en-US" sz="620" dirty="0"/>
          </a:p>
        </p:txBody>
      </p:sp>
      <p:sp>
        <p:nvSpPr>
          <p:cNvPr id="143" name="Shape 126"/>
          <p:cNvSpPr/>
          <p:nvPr/>
        </p:nvSpPr>
        <p:spPr>
          <a:xfrm>
            <a:off x="566928" y="5779008"/>
            <a:ext cx="3515258" cy="512064"/>
          </a:xfrm>
          <a:prstGeom prst="roundRect">
            <a:avLst>
              <a:gd name="adj" fmla="val 21429"/>
            </a:avLst>
          </a:prstGeom>
          <a:solidFill>
            <a:srgbClr val="F3F6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4" name="Shape 127"/>
          <p:cNvSpPr/>
          <p:nvPr/>
        </p:nvSpPr>
        <p:spPr>
          <a:xfrm>
            <a:off x="713232" y="589788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4555" y="5969203"/>
            <a:ext cx="131674" cy="131674"/>
          </a:xfrm>
          <a:prstGeom prst="rect">
            <a:avLst/>
          </a:prstGeom>
        </p:spPr>
      </p:pic>
      <p:sp>
        <p:nvSpPr>
          <p:cNvPr id="146" name="Text 128"/>
          <p:cNvSpPr txBox="1"/>
          <p:nvPr/>
        </p:nvSpPr>
        <p:spPr>
          <a:xfrm>
            <a:off x="1078992" y="5779008"/>
            <a:ext cx="285689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Override:  </a:t>
            </a:r>
            <a:pPr indent="0" marL="0">
              <a:buNone/>
            </a:pPr>
            <a:r>
              <a:rPr lang="en-US" sz="9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reassign a driver or book by hand</a:t>
            </a:r>
            <a:endParaRPr lang="en-US" sz="950" dirty="0"/>
          </a:p>
        </p:txBody>
      </p:sp>
      <p:sp>
        <p:nvSpPr>
          <p:cNvPr id="147" name="Shape 129"/>
          <p:cNvSpPr/>
          <p:nvPr/>
        </p:nvSpPr>
        <p:spPr>
          <a:xfrm>
            <a:off x="4338218" y="5779008"/>
            <a:ext cx="3515258" cy="512064"/>
          </a:xfrm>
          <a:prstGeom prst="roundRect">
            <a:avLst>
              <a:gd name="adj" fmla="val 21429"/>
            </a:avLst>
          </a:prstGeom>
          <a:solidFill>
            <a:srgbClr val="F3F6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8" name="Shape 130"/>
          <p:cNvSpPr/>
          <p:nvPr/>
        </p:nvSpPr>
        <p:spPr>
          <a:xfrm>
            <a:off x="4484522" y="589788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9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55846" y="5969203"/>
            <a:ext cx="131674" cy="131674"/>
          </a:xfrm>
          <a:prstGeom prst="rect">
            <a:avLst/>
          </a:prstGeom>
        </p:spPr>
      </p:pic>
      <p:sp>
        <p:nvSpPr>
          <p:cNvPr id="150" name="Text 131"/>
          <p:cNvSpPr txBox="1"/>
          <p:nvPr/>
        </p:nvSpPr>
        <p:spPr>
          <a:xfrm>
            <a:off x="4850282" y="5779008"/>
            <a:ext cx="285689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Escalate:  </a:t>
            </a:r>
            <a:pPr indent="0" marL="0">
              <a:buNone/>
            </a:pPr>
            <a:r>
              <a:rPr lang="en-US" sz="9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reaches desk and security together</a:t>
            </a:r>
            <a:endParaRPr lang="en-US" sz="950" dirty="0"/>
          </a:p>
        </p:txBody>
      </p:sp>
      <p:sp>
        <p:nvSpPr>
          <p:cNvPr id="151" name="Shape 132"/>
          <p:cNvSpPr/>
          <p:nvPr/>
        </p:nvSpPr>
        <p:spPr>
          <a:xfrm>
            <a:off x="8109509" y="5779008"/>
            <a:ext cx="3515258" cy="512064"/>
          </a:xfrm>
          <a:prstGeom prst="roundRect">
            <a:avLst>
              <a:gd name="adj" fmla="val 21429"/>
            </a:avLst>
          </a:prstGeom>
          <a:solidFill>
            <a:srgbClr val="F3F6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52" name="Shape 133"/>
          <p:cNvSpPr/>
          <p:nvPr/>
        </p:nvSpPr>
        <p:spPr>
          <a:xfrm>
            <a:off x="8255813" y="589788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3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27136" y="5969203"/>
            <a:ext cx="131674" cy="131674"/>
          </a:xfrm>
          <a:prstGeom prst="rect">
            <a:avLst/>
          </a:prstGeom>
        </p:spPr>
      </p:pic>
      <p:sp>
        <p:nvSpPr>
          <p:cNvPr id="154" name="Text 134"/>
          <p:cNvSpPr txBox="1"/>
          <p:nvPr/>
        </p:nvSpPr>
        <p:spPr>
          <a:xfrm>
            <a:off x="8621573" y="5779008"/>
            <a:ext cx="285689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screen:  </a:t>
            </a:r>
            <a:pPr indent="0" marL="0">
              <a:buNone/>
            </a:pPr>
            <a:r>
              <a:rPr lang="en-US" sz="9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trips, alerts and compliance in view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ECO TECH  ·  Plant Ride for LHS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6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JOURNEY  ·  STEPS 5-6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58368"/>
            <a:ext cx="110578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40" kern="0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Compliance, cost centres and the month-end close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4169664"/>
          </a:xfrm>
          <a:prstGeom prst="roundRect">
            <a:avLst>
              <a:gd name="adj" fmla="val 1316"/>
            </a:avLst>
          </a:prstGeom>
          <a:solidFill>
            <a:srgbClr val="DDE3EA"/>
          </a:solidFill>
          <a:ln/>
          <a:effectLst>
            <a:outerShdw sx="100000" sy="100000" kx="0" ky="0" algn="bl" rotWithShape="0" blurRad="177800" dist="38100" dir="5400000">
              <a:srgbClr val="0E141B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595628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845820" y="1595628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978408" y="1595628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Shape 8"/>
          <p:cNvSpPr/>
          <p:nvPr/>
        </p:nvSpPr>
        <p:spPr>
          <a:xfrm>
            <a:off x="1133856" y="1545336"/>
            <a:ext cx="10143439" cy="182880"/>
          </a:xfrm>
          <a:prstGeom prst="roundRect">
            <a:avLst>
              <a:gd name="adj" fmla="val 50000"/>
            </a:avLst>
          </a:prstGeom>
          <a:solidFill>
            <a:srgbClr val="F2F5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80160" y="1545336"/>
            <a:ext cx="986911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plantride.lhs.internal / billing / period / 2026-09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598932" y="1792224"/>
            <a:ext cx="10993831" cy="3826764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13" name="Shape 11"/>
          <p:cNvSpPr/>
          <p:nvPr/>
        </p:nvSpPr>
        <p:spPr>
          <a:xfrm>
            <a:off x="598932" y="1792224"/>
            <a:ext cx="1481328" cy="3826764"/>
          </a:xfrm>
          <a:prstGeom prst="rect">
            <a:avLst/>
          </a:prstGeom>
          <a:solidFill>
            <a:srgbClr val="111923"/>
          </a:solidFill>
          <a:ln/>
        </p:spPr>
      </p:sp>
      <p:sp>
        <p:nvSpPr>
          <p:cNvPr id="14" name="Shape 12"/>
          <p:cNvSpPr/>
          <p:nvPr/>
        </p:nvSpPr>
        <p:spPr>
          <a:xfrm>
            <a:off x="726948" y="1938528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E85D04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997964"/>
            <a:ext cx="155448" cy="155448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037844" y="19385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Ride</a:t>
            </a:r>
            <a:endParaRPr lang="en-US" sz="7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" y="2382012"/>
            <a:ext cx="132588" cy="13258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001268" y="234086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49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board</a:t>
            </a:r>
            <a:endParaRPr lang="en-US" sz="68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2688336"/>
            <a:ext cx="132588" cy="13258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001268" y="26471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49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&amp; stops</a:t>
            </a:r>
            <a:endParaRPr lang="en-US" sz="68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2994660"/>
            <a:ext cx="132588" cy="13258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001268" y="29535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49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</a:t>
            </a:r>
            <a:endParaRPr lang="en-US" sz="68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3300984"/>
            <a:ext cx="132588" cy="13258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001268" y="325983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49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</a:t>
            </a:r>
            <a:endParaRPr lang="en-US" sz="68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" y="3607308"/>
            <a:ext cx="132588" cy="13258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001268" y="35661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49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680" dirty="0"/>
          </a:p>
        </p:txBody>
      </p:sp>
      <p:sp>
        <p:nvSpPr>
          <p:cNvPr id="27" name="Shape 19"/>
          <p:cNvSpPr/>
          <p:nvPr/>
        </p:nvSpPr>
        <p:spPr>
          <a:xfrm>
            <a:off x="681228" y="3849624"/>
            <a:ext cx="1316736" cy="274320"/>
          </a:xfrm>
          <a:prstGeom prst="roundRect">
            <a:avLst>
              <a:gd name="adj" fmla="val 18333"/>
            </a:avLst>
          </a:prstGeom>
          <a:solidFill>
            <a:srgbClr val="22303F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" y="3913632"/>
            <a:ext cx="132588" cy="132588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1001268" y="387248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68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812" y="4219956"/>
            <a:ext cx="132588" cy="132588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1001268" y="41788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49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68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1812" y="4526280"/>
            <a:ext cx="132588" cy="132588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1001268" y="44851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49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&amp; settings</a:t>
            </a:r>
            <a:endParaRPr lang="en-US" sz="680" dirty="0"/>
          </a:p>
        </p:txBody>
      </p:sp>
      <p:sp>
        <p:nvSpPr>
          <p:cNvPr id="34" name="Shape 23"/>
          <p:cNvSpPr/>
          <p:nvPr/>
        </p:nvSpPr>
        <p:spPr>
          <a:xfrm>
            <a:off x="2080260" y="1792224"/>
            <a:ext cx="9512503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24"/>
          <p:cNvSpPr/>
          <p:nvPr/>
        </p:nvSpPr>
        <p:spPr>
          <a:xfrm>
            <a:off x="2080260" y="2168957"/>
            <a:ext cx="9512503" cy="7315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36" name="Text 25"/>
          <p:cNvSpPr txBox="1"/>
          <p:nvPr/>
        </p:nvSpPr>
        <p:spPr>
          <a:xfrm>
            <a:off x="2263140" y="179222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&amp; cost centres</a:t>
            </a:r>
            <a:endParaRPr lang="en-US" sz="850" dirty="0"/>
          </a:p>
        </p:txBody>
      </p:sp>
      <p:sp>
        <p:nvSpPr>
          <p:cNvPr id="37" name="Text 26"/>
          <p:cNvSpPr txBox="1"/>
          <p:nvPr/>
        </p:nvSpPr>
        <p:spPr>
          <a:xfrm>
            <a:off x="4091940" y="179222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  ·  draft</a:t>
            </a:r>
            <a:endParaRPr lang="en-US" sz="650" dirty="0"/>
          </a:p>
        </p:txBody>
      </p:sp>
      <p:sp>
        <p:nvSpPr>
          <p:cNvPr id="38" name="Shape 27"/>
          <p:cNvSpPr/>
          <p:nvPr/>
        </p:nvSpPr>
        <p:spPr>
          <a:xfrm>
            <a:off x="9489643" y="1883664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F0F3F7"/>
          </a:solidFill>
          <a:ln/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44507" y="1933956"/>
            <a:ext cx="118872" cy="118872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9718243" y="18836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trips, vehicles...</a:t>
            </a:r>
            <a:endParaRPr lang="en-US" sz="600" dirty="0"/>
          </a:p>
        </p:txBody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06379" y="1933956"/>
            <a:ext cx="137160" cy="137160"/>
          </a:xfrm>
          <a:prstGeom prst="rect">
            <a:avLst/>
          </a:prstGeom>
        </p:spPr>
      </p:pic>
      <p:sp>
        <p:nvSpPr>
          <p:cNvPr id="42" name="Shape 29"/>
          <p:cNvSpPr/>
          <p:nvPr/>
        </p:nvSpPr>
        <p:spPr>
          <a:xfrm>
            <a:off x="10879531" y="1924812"/>
            <a:ext cx="64008" cy="64008"/>
          </a:xfrm>
          <a:prstGeom prst="ellipse">
            <a:avLst/>
          </a:prstGeom>
          <a:solidFill>
            <a:srgbClr val="C02617"/>
          </a:solidFill>
          <a:ln/>
        </p:spPr>
      </p:sp>
      <p:sp>
        <p:nvSpPr>
          <p:cNvPr id="43" name="Shape 30"/>
          <p:cNvSpPr/>
          <p:nvPr/>
        </p:nvSpPr>
        <p:spPr>
          <a:xfrm>
            <a:off x="11062411" y="1897380"/>
            <a:ext cx="192024" cy="192024"/>
          </a:xfrm>
          <a:prstGeom prst="ellipse">
            <a:avLst/>
          </a:prstGeom>
          <a:solidFill>
            <a:srgbClr val="D6DDE5"/>
          </a:solidFill>
          <a:ln/>
        </p:spPr>
      </p:sp>
      <p:sp>
        <p:nvSpPr>
          <p:cNvPr id="44" name="Text 31"/>
          <p:cNvSpPr txBox="1"/>
          <p:nvPr/>
        </p:nvSpPr>
        <p:spPr>
          <a:xfrm>
            <a:off x="11062411" y="1897380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</a:t>
            </a:r>
            <a:endParaRPr lang="en-US" sz="580" dirty="0"/>
          </a:p>
        </p:txBody>
      </p:sp>
      <p:sp>
        <p:nvSpPr>
          <p:cNvPr id="45" name="Shape 32"/>
          <p:cNvSpPr/>
          <p:nvPr/>
        </p:nvSpPr>
        <p:spPr>
          <a:xfrm>
            <a:off x="2281428" y="2377440"/>
            <a:ext cx="215409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6" name="Text 33"/>
          <p:cNvSpPr txBox="1"/>
          <p:nvPr/>
        </p:nvSpPr>
        <p:spPr>
          <a:xfrm>
            <a:off x="2409444" y="2432304"/>
            <a:ext cx="18980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8 412</a:t>
            </a:r>
            <a:endParaRPr lang="en-US" sz="1400" dirty="0"/>
          </a:p>
        </p:txBody>
      </p:sp>
      <p:sp>
        <p:nvSpPr>
          <p:cNvPr id="47" name="Text 34"/>
          <p:cNvSpPr txBox="1"/>
          <p:nvPr/>
        </p:nvSpPr>
        <p:spPr>
          <a:xfrm>
            <a:off x="2409444" y="2706624"/>
            <a:ext cx="189806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 this month</a:t>
            </a:r>
            <a:endParaRPr lang="en-US" sz="620" dirty="0"/>
          </a:p>
        </p:txBody>
      </p:sp>
      <p:sp>
        <p:nvSpPr>
          <p:cNvPr id="48" name="Shape 35"/>
          <p:cNvSpPr/>
          <p:nvPr/>
        </p:nvSpPr>
        <p:spPr>
          <a:xfrm>
            <a:off x="4600118" y="2377440"/>
            <a:ext cx="215409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9" name="Text 36"/>
          <p:cNvSpPr txBox="1"/>
          <p:nvPr/>
        </p:nvSpPr>
        <p:spPr>
          <a:xfrm>
            <a:off x="4728134" y="2432304"/>
            <a:ext cx="18980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31 480 km</a:t>
            </a:r>
            <a:endParaRPr lang="en-US" sz="1400" dirty="0"/>
          </a:p>
        </p:txBody>
      </p:sp>
      <p:sp>
        <p:nvSpPr>
          <p:cNvPr id="50" name="Text 37"/>
          <p:cNvSpPr txBox="1"/>
          <p:nvPr/>
        </p:nvSpPr>
        <p:spPr>
          <a:xfrm>
            <a:off x="4728134" y="2706624"/>
            <a:ext cx="189806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distance</a:t>
            </a:r>
            <a:endParaRPr lang="en-US" sz="620" dirty="0"/>
          </a:p>
        </p:txBody>
      </p:sp>
      <p:sp>
        <p:nvSpPr>
          <p:cNvPr id="51" name="Shape 38"/>
          <p:cNvSpPr/>
          <p:nvPr/>
        </p:nvSpPr>
        <p:spPr>
          <a:xfrm>
            <a:off x="6918808" y="2377440"/>
            <a:ext cx="215409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52" name="Text 39"/>
          <p:cNvSpPr txBox="1"/>
          <p:nvPr/>
        </p:nvSpPr>
        <p:spPr>
          <a:xfrm>
            <a:off x="7046824" y="2432304"/>
            <a:ext cx="18980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53" name="Text 40"/>
          <p:cNvSpPr txBox="1"/>
          <p:nvPr/>
        </p:nvSpPr>
        <p:spPr>
          <a:xfrm>
            <a:off x="7046824" y="2706624"/>
            <a:ext cx="189806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disputes</a:t>
            </a:r>
            <a:endParaRPr lang="en-US" sz="620" dirty="0"/>
          </a:p>
        </p:txBody>
      </p:sp>
      <p:sp>
        <p:nvSpPr>
          <p:cNvPr id="54" name="Shape 41"/>
          <p:cNvSpPr/>
          <p:nvPr/>
        </p:nvSpPr>
        <p:spPr>
          <a:xfrm>
            <a:off x="9237497" y="2377440"/>
            <a:ext cx="215409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55" name="Text 42"/>
          <p:cNvSpPr txBox="1"/>
          <p:nvPr/>
        </p:nvSpPr>
        <p:spPr>
          <a:xfrm>
            <a:off x="9365513" y="2432304"/>
            <a:ext cx="18980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1400" dirty="0"/>
          </a:p>
        </p:txBody>
      </p:sp>
      <p:sp>
        <p:nvSpPr>
          <p:cNvPr id="56" name="Text 43"/>
          <p:cNvSpPr txBox="1"/>
          <p:nvPr/>
        </p:nvSpPr>
        <p:spPr>
          <a:xfrm>
            <a:off x="9365513" y="2706624"/>
            <a:ext cx="189806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compliant</a:t>
            </a:r>
            <a:endParaRPr lang="en-US" sz="620" dirty="0"/>
          </a:p>
        </p:txBody>
      </p:sp>
      <p:sp>
        <p:nvSpPr>
          <p:cNvPr id="57" name="Shape 44"/>
          <p:cNvSpPr/>
          <p:nvPr/>
        </p:nvSpPr>
        <p:spPr>
          <a:xfrm>
            <a:off x="2281428" y="3072384"/>
            <a:ext cx="5602753" cy="2340864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58" name="Text 45"/>
          <p:cNvSpPr txBox="1"/>
          <p:nvPr/>
        </p:nvSpPr>
        <p:spPr>
          <a:xfrm>
            <a:off x="2427732" y="314553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Charges by cost centre</a:t>
            </a:r>
            <a:endParaRPr lang="en-US" sz="750" dirty="0"/>
          </a:p>
        </p:txBody>
      </p:sp>
      <p:sp>
        <p:nvSpPr>
          <p:cNvPr id="59" name="Shape 46"/>
          <p:cNvSpPr/>
          <p:nvPr/>
        </p:nvSpPr>
        <p:spPr>
          <a:xfrm>
            <a:off x="6841765" y="3127248"/>
            <a:ext cx="896112" cy="219456"/>
          </a:xfrm>
          <a:prstGeom prst="roundRect">
            <a:avLst>
              <a:gd name="adj" fmla="val 25000"/>
            </a:avLst>
          </a:prstGeom>
          <a:solidFill>
            <a:srgbClr val="E85D04"/>
          </a:solidFill>
          <a:ln/>
        </p:spPr>
      </p:sp>
      <p:sp>
        <p:nvSpPr>
          <p:cNvPr id="60" name="Text 47"/>
          <p:cNvSpPr txBox="1"/>
          <p:nvPr/>
        </p:nvSpPr>
        <p:spPr>
          <a:xfrm>
            <a:off x="6841765" y="312724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SAP</a:t>
            </a:r>
            <a:endParaRPr lang="en-US" sz="580" dirty="0"/>
          </a:p>
        </p:txBody>
      </p:sp>
      <p:sp>
        <p:nvSpPr>
          <p:cNvPr id="61" name="Shape 48"/>
          <p:cNvSpPr/>
          <p:nvPr/>
        </p:nvSpPr>
        <p:spPr>
          <a:xfrm>
            <a:off x="2409444" y="3401568"/>
            <a:ext cx="5346721" cy="274320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62" name="Text 49"/>
          <p:cNvSpPr txBox="1"/>
          <p:nvPr/>
        </p:nvSpPr>
        <p:spPr>
          <a:xfrm>
            <a:off x="2519172" y="3401568"/>
            <a:ext cx="12804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b="1" spc="60" kern="0" dirty="0">
                <a:solidFill>
                  <a:srgbClr val="667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CENTRE</a:t>
            </a:r>
            <a:endParaRPr lang="en-US" sz="560" dirty="0"/>
          </a:p>
        </p:txBody>
      </p:sp>
      <p:sp>
        <p:nvSpPr>
          <p:cNvPr id="63" name="Text 50"/>
          <p:cNvSpPr txBox="1"/>
          <p:nvPr/>
        </p:nvSpPr>
        <p:spPr>
          <a:xfrm>
            <a:off x="3909319" y="3401568"/>
            <a:ext cx="11734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b="1" spc="60" kern="0" dirty="0">
                <a:solidFill>
                  <a:srgbClr val="667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</a:t>
            </a:r>
            <a:endParaRPr lang="en-US" sz="560" dirty="0"/>
          </a:p>
        </p:txBody>
      </p:sp>
      <p:sp>
        <p:nvSpPr>
          <p:cNvPr id="64" name="Text 51"/>
          <p:cNvSpPr txBox="1"/>
          <p:nvPr/>
        </p:nvSpPr>
        <p:spPr>
          <a:xfrm>
            <a:off x="5192532" y="3401568"/>
            <a:ext cx="5853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b="1" spc="60" kern="0" dirty="0">
                <a:solidFill>
                  <a:srgbClr val="667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TRIPS</a:t>
            </a:r>
            <a:endParaRPr lang="en-US" sz="560" dirty="0"/>
          </a:p>
        </p:txBody>
      </p:sp>
      <p:sp>
        <p:nvSpPr>
          <p:cNvPr id="65" name="Text 52"/>
          <p:cNvSpPr txBox="1"/>
          <p:nvPr/>
        </p:nvSpPr>
        <p:spPr>
          <a:xfrm>
            <a:off x="5887606" y="3401568"/>
            <a:ext cx="7457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b="1" spc="60" kern="0" dirty="0">
                <a:solidFill>
                  <a:srgbClr val="667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KM</a:t>
            </a:r>
            <a:endParaRPr lang="en-US" sz="560" dirty="0"/>
          </a:p>
        </p:txBody>
      </p:sp>
      <p:sp>
        <p:nvSpPr>
          <p:cNvPr id="66" name="Text 53"/>
          <p:cNvSpPr txBox="1"/>
          <p:nvPr/>
        </p:nvSpPr>
        <p:spPr>
          <a:xfrm>
            <a:off x="6743081" y="3401568"/>
            <a:ext cx="10130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b="1" spc="60" kern="0" dirty="0">
                <a:solidFill>
                  <a:srgbClr val="667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</a:t>
            </a:r>
            <a:endParaRPr lang="en-US" sz="560" dirty="0"/>
          </a:p>
        </p:txBody>
      </p:sp>
      <p:sp>
        <p:nvSpPr>
          <p:cNvPr id="67" name="Shape 54"/>
          <p:cNvSpPr/>
          <p:nvPr/>
        </p:nvSpPr>
        <p:spPr>
          <a:xfrm>
            <a:off x="2409444" y="3675888"/>
            <a:ext cx="5346721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Shape 55"/>
          <p:cNvSpPr/>
          <p:nvPr/>
        </p:nvSpPr>
        <p:spPr>
          <a:xfrm>
            <a:off x="2409444" y="3945636"/>
            <a:ext cx="5346721" cy="4572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69" name="Text 56"/>
          <p:cNvSpPr txBox="1"/>
          <p:nvPr/>
        </p:nvSpPr>
        <p:spPr>
          <a:xfrm>
            <a:off x="2519172" y="3675888"/>
            <a:ext cx="12255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CC-4471</a:t>
            </a:r>
            <a:endParaRPr lang="en-US" sz="640" dirty="0"/>
          </a:p>
        </p:txBody>
      </p:sp>
      <p:sp>
        <p:nvSpPr>
          <p:cNvPr id="70" name="Text 57"/>
          <p:cNvSpPr txBox="1"/>
          <p:nvPr/>
        </p:nvSpPr>
        <p:spPr>
          <a:xfrm>
            <a:off x="3909319" y="3675888"/>
            <a:ext cx="11186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640" dirty="0"/>
          </a:p>
        </p:txBody>
      </p:sp>
      <p:sp>
        <p:nvSpPr>
          <p:cNvPr id="71" name="Text 58"/>
          <p:cNvSpPr txBox="1"/>
          <p:nvPr/>
        </p:nvSpPr>
        <p:spPr>
          <a:xfrm>
            <a:off x="5192532" y="3675888"/>
            <a:ext cx="5304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2 104</a:t>
            </a:r>
            <a:endParaRPr lang="en-US" sz="640" dirty="0"/>
          </a:p>
        </p:txBody>
      </p:sp>
      <p:sp>
        <p:nvSpPr>
          <p:cNvPr id="72" name="Text 59"/>
          <p:cNvSpPr txBox="1"/>
          <p:nvPr/>
        </p:nvSpPr>
        <p:spPr>
          <a:xfrm>
            <a:off x="5887606" y="3675888"/>
            <a:ext cx="6908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7 880</a:t>
            </a:r>
            <a:endParaRPr lang="en-US" sz="640" dirty="0"/>
          </a:p>
        </p:txBody>
      </p:sp>
      <p:sp>
        <p:nvSpPr>
          <p:cNvPr id="73" name="Shape 60"/>
          <p:cNvSpPr/>
          <p:nvPr/>
        </p:nvSpPr>
        <p:spPr>
          <a:xfrm>
            <a:off x="6743081" y="3735324"/>
            <a:ext cx="566928" cy="155448"/>
          </a:xfrm>
          <a:prstGeom prst="roundRect">
            <a:avLst>
              <a:gd name="adj" fmla="val 50000"/>
            </a:avLst>
          </a:prstGeom>
          <a:solidFill>
            <a:srgbClr val="E2F6F3"/>
          </a:solidFill>
          <a:ln/>
        </p:spPr>
      </p:sp>
      <p:sp>
        <p:nvSpPr>
          <p:cNvPr id="74" name="Text 61"/>
          <p:cNvSpPr txBox="1"/>
          <p:nvPr/>
        </p:nvSpPr>
        <p:spPr>
          <a:xfrm>
            <a:off x="6743081" y="3735324"/>
            <a:ext cx="566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 used</a:t>
            </a:r>
            <a:endParaRPr lang="en-US" sz="560" dirty="0"/>
          </a:p>
        </p:txBody>
      </p:sp>
      <p:sp>
        <p:nvSpPr>
          <p:cNvPr id="75" name="Shape 62"/>
          <p:cNvSpPr/>
          <p:nvPr/>
        </p:nvSpPr>
        <p:spPr>
          <a:xfrm>
            <a:off x="2409444" y="3950208"/>
            <a:ext cx="5346721" cy="274320"/>
          </a:xfrm>
          <a:prstGeom prst="rect">
            <a:avLst/>
          </a:prstGeom>
          <a:solidFill>
            <a:srgbClr val="FBFCFD"/>
          </a:solidFill>
          <a:ln/>
        </p:spPr>
      </p:sp>
      <p:sp>
        <p:nvSpPr>
          <p:cNvPr id="76" name="Shape 63"/>
          <p:cNvSpPr/>
          <p:nvPr/>
        </p:nvSpPr>
        <p:spPr>
          <a:xfrm>
            <a:off x="2409444" y="4219956"/>
            <a:ext cx="5346721" cy="4572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77" name="Text 64"/>
          <p:cNvSpPr txBox="1"/>
          <p:nvPr/>
        </p:nvSpPr>
        <p:spPr>
          <a:xfrm>
            <a:off x="2519172" y="3950208"/>
            <a:ext cx="12255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CC-2210</a:t>
            </a:r>
            <a:endParaRPr lang="en-US" sz="640" dirty="0"/>
          </a:p>
        </p:txBody>
      </p:sp>
      <p:sp>
        <p:nvSpPr>
          <p:cNvPr id="78" name="Text 65"/>
          <p:cNvSpPr txBox="1"/>
          <p:nvPr/>
        </p:nvSpPr>
        <p:spPr>
          <a:xfrm>
            <a:off x="3909319" y="3950208"/>
            <a:ext cx="11186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640" dirty="0"/>
          </a:p>
        </p:txBody>
      </p:sp>
      <p:sp>
        <p:nvSpPr>
          <p:cNvPr id="79" name="Text 66"/>
          <p:cNvSpPr txBox="1"/>
          <p:nvPr/>
        </p:nvSpPr>
        <p:spPr>
          <a:xfrm>
            <a:off x="5192532" y="3950208"/>
            <a:ext cx="5304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1 663</a:t>
            </a:r>
            <a:endParaRPr lang="en-US" sz="640" dirty="0"/>
          </a:p>
        </p:txBody>
      </p:sp>
      <p:sp>
        <p:nvSpPr>
          <p:cNvPr id="80" name="Text 67"/>
          <p:cNvSpPr txBox="1"/>
          <p:nvPr/>
        </p:nvSpPr>
        <p:spPr>
          <a:xfrm>
            <a:off x="5887606" y="3950208"/>
            <a:ext cx="6908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6 015</a:t>
            </a:r>
            <a:endParaRPr lang="en-US" sz="640" dirty="0"/>
          </a:p>
        </p:txBody>
      </p:sp>
      <p:sp>
        <p:nvSpPr>
          <p:cNvPr id="81" name="Shape 68"/>
          <p:cNvSpPr/>
          <p:nvPr/>
        </p:nvSpPr>
        <p:spPr>
          <a:xfrm>
            <a:off x="6743081" y="4009644"/>
            <a:ext cx="566928" cy="155448"/>
          </a:xfrm>
          <a:prstGeom prst="roundRect">
            <a:avLst>
              <a:gd name="adj" fmla="val 50000"/>
            </a:avLst>
          </a:prstGeom>
          <a:solidFill>
            <a:srgbClr val="E2F6F3"/>
          </a:solidFill>
          <a:ln/>
        </p:spPr>
      </p:sp>
      <p:sp>
        <p:nvSpPr>
          <p:cNvPr id="82" name="Text 69"/>
          <p:cNvSpPr txBox="1"/>
          <p:nvPr/>
        </p:nvSpPr>
        <p:spPr>
          <a:xfrm>
            <a:off x="6743081" y="4009644"/>
            <a:ext cx="566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 used</a:t>
            </a:r>
            <a:endParaRPr lang="en-US" sz="560" dirty="0"/>
          </a:p>
        </p:txBody>
      </p:sp>
      <p:sp>
        <p:nvSpPr>
          <p:cNvPr id="83" name="Shape 70"/>
          <p:cNvSpPr/>
          <p:nvPr/>
        </p:nvSpPr>
        <p:spPr>
          <a:xfrm>
            <a:off x="2409444" y="4224528"/>
            <a:ext cx="5346721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4" name="Shape 71"/>
          <p:cNvSpPr/>
          <p:nvPr/>
        </p:nvSpPr>
        <p:spPr>
          <a:xfrm>
            <a:off x="2409444" y="4494276"/>
            <a:ext cx="5346721" cy="4572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85" name="Text 72"/>
          <p:cNvSpPr txBox="1"/>
          <p:nvPr/>
        </p:nvSpPr>
        <p:spPr>
          <a:xfrm>
            <a:off x="2519172" y="4224528"/>
            <a:ext cx="12255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CC-8890</a:t>
            </a:r>
            <a:endParaRPr lang="en-US" sz="640" dirty="0"/>
          </a:p>
        </p:txBody>
      </p:sp>
      <p:sp>
        <p:nvSpPr>
          <p:cNvPr id="86" name="Text 73"/>
          <p:cNvSpPr txBox="1"/>
          <p:nvPr/>
        </p:nvSpPr>
        <p:spPr>
          <a:xfrm>
            <a:off x="3909319" y="4224528"/>
            <a:ext cx="11186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 Melt Shop</a:t>
            </a:r>
            <a:endParaRPr lang="en-US" sz="640" dirty="0"/>
          </a:p>
        </p:txBody>
      </p:sp>
      <p:sp>
        <p:nvSpPr>
          <p:cNvPr id="87" name="Text 74"/>
          <p:cNvSpPr txBox="1"/>
          <p:nvPr/>
        </p:nvSpPr>
        <p:spPr>
          <a:xfrm>
            <a:off x="5192532" y="4224528"/>
            <a:ext cx="5304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1 402</a:t>
            </a:r>
            <a:endParaRPr lang="en-US" sz="640" dirty="0"/>
          </a:p>
        </p:txBody>
      </p:sp>
      <p:sp>
        <p:nvSpPr>
          <p:cNvPr id="88" name="Text 75"/>
          <p:cNvSpPr txBox="1"/>
          <p:nvPr/>
        </p:nvSpPr>
        <p:spPr>
          <a:xfrm>
            <a:off x="5887606" y="4224528"/>
            <a:ext cx="6908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5 240</a:t>
            </a:r>
            <a:endParaRPr lang="en-US" sz="640" dirty="0"/>
          </a:p>
        </p:txBody>
      </p:sp>
      <p:sp>
        <p:nvSpPr>
          <p:cNvPr id="89" name="Shape 76"/>
          <p:cNvSpPr/>
          <p:nvPr/>
        </p:nvSpPr>
        <p:spPr>
          <a:xfrm>
            <a:off x="6743081" y="4283964"/>
            <a:ext cx="566928" cy="155448"/>
          </a:xfrm>
          <a:prstGeom prst="roundRect">
            <a:avLst>
              <a:gd name="adj" fmla="val 50000"/>
            </a:avLst>
          </a:prstGeom>
          <a:solidFill>
            <a:srgbClr val="FDF3DC"/>
          </a:solidFill>
          <a:ln/>
        </p:spPr>
      </p:sp>
      <p:sp>
        <p:nvSpPr>
          <p:cNvPr id="90" name="Text 77"/>
          <p:cNvSpPr txBox="1"/>
          <p:nvPr/>
        </p:nvSpPr>
        <p:spPr>
          <a:xfrm>
            <a:off x="6743081" y="4283964"/>
            <a:ext cx="566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E8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 used</a:t>
            </a:r>
            <a:endParaRPr lang="en-US" sz="560" dirty="0"/>
          </a:p>
        </p:txBody>
      </p:sp>
      <p:sp>
        <p:nvSpPr>
          <p:cNvPr id="91" name="Shape 78"/>
          <p:cNvSpPr/>
          <p:nvPr/>
        </p:nvSpPr>
        <p:spPr>
          <a:xfrm>
            <a:off x="2409444" y="4498848"/>
            <a:ext cx="5346721" cy="274320"/>
          </a:xfrm>
          <a:prstGeom prst="rect">
            <a:avLst/>
          </a:prstGeom>
          <a:solidFill>
            <a:srgbClr val="FBFCFD"/>
          </a:solidFill>
          <a:ln/>
        </p:spPr>
      </p:sp>
      <p:sp>
        <p:nvSpPr>
          <p:cNvPr id="92" name="Shape 79"/>
          <p:cNvSpPr/>
          <p:nvPr/>
        </p:nvSpPr>
        <p:spPr>
          <a:xfrm>
            <a:off x="2409444" y="4768596"/>
            <a:ext cx="5346721" cy="4572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93" name="Text 80"/>
          <p:cNvSpPr txBox="1"/>
          <p:nvPr/>
        </p:nvSpPr>
        <p:spPr>
          <a:xfrm>
            <a:off x="2519172" y="4498848"/>
            <a:ext cx="12255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CC-1155</a:t>
            </a:r>
            <a:endParaRPr lang="en-US" sz="640" dirty="0"/>
          </a:p>
        </p:txBody>
      </p:sp>
      <p:sp>
        <p:nvSpPr>
          <p:cNvPr id="94" name="Text 81"/>
          <p:cNvSpPr txBox="1"/>
          <p:nvPr/>
        </p:nvSpPr>
        <p:spPr>
          <a:xfrm>
            <a:off x="3909319" y="4498848"/>
            <a:ext cx="11186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HR</a:t>
            </a:r>
            <a:endParaRPr lang="en-US" sz="640" dirty="0"/>
          </a:p>
        </p:txBody>
      </p:sp>
      <p:sp>
        <p:nvSpPr>
          <p:cNvPr id="95" name="Text 82"/>
          <p:cNvSpPr txBox="1"/>
          <p:nvPr/>
        </p:nvSpPr>
        <p:spPr>
          <a:xfrm>
            <a:off x="5192532" y="4498848"/>
            <a:ext cx="5304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1 190</a:t>
            </a:r>
            <a:endParaRPr lang="en-US" sz="640" dirty="0"/>
          </a:p>
        </p:txBody>
      </p:sp>
      <p:sp>
        <p:nvSpPr>
          <p:cNvPr id="96" name="Text 83"/>
          <p:cNvSpPr txBox="1"/>
          <p:nvPr/>
        </p:nvSpPr>
        <p:spPr>
          <a:xfrm>
            <a:off x="5887606" y="4498848"/>
            <a:ext cx="6908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3 970</a:t>
            </a:r>
            <a:endParaRPr lang="en-US" sz="640" dirty="0"/>
          </a:p>
        </p:txBody>
      </p:sp>
      <p:sp>
        <p:nvSpPr>
          <p:cNvPr id="97" name="Shape 84"/>
          <p:cNvSpPr/>
          <p:nvPr/>
        </p:nvSpPr>
        <p:spPr>
          <a:xfrm>
            <a:off x="6743081" y="4558284"/>
            <a:ext cx="566928" cy="155448"/>
          </a:xfrm>
          <a:prstGeom prst="roundRect">
            <a:avLst>
              <a:gd name="adj" fmla="val 50000"/>
            </a:avLst>
          </a:prstGeom>
          <a:solidFill>
            <a:srgbClr val="E2F6F3"/>
          </a:solidFill>
          <a:ln/>
        </p:spPr>
      </p:sp>
      <p:sp>
        <p:nvSpPr>
          <p:cNvPr id="98" name="Text 85"/>
          <p:cNvSpPr txBox="1"/>
          <p:nvPr/>
        </p:nvSpPr>
        <p:spPr>
          <a:xfrm>
            <a:off x="6743081" y="4558284"/>
            <a:ext cx="566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 used</a:t>
            </a:r>
            <a:endParaRPr lang="en-US" sz="560" dirty="0"/>
          </a:p>
        </p:txBody>
      </p:sp>
      <p:sp>
        <p:nvSpPr>
          <p:cNvPr id="99" name="Shape 86"/>
          <p:cNvSpPr/>
          <p:nvPr/>
        </p:nvSpPr>
        <p:spPr>
          <a:xfrm>
            <a:off x="2409444" y="4773168"/>
            <a:ext cx="5346721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0" name="Shape 87"/>
          <p:cNvSpPr/>
          <p:nvPr/>
        </p:nvSpPr>
        <p:spPr>
          <a:xfrm>
            <a:off x="2409444" y="5042916"/>
            <a:ext cx="5346721" cy="4572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101" name="Text 88"/>
          <p:cNvSpPr txBox="1"/>
          <p:nvPr/>
        </p:nvSpPr>
        <p:spPr>
          <a:xfrm>
            <a:off x="2519172" y="4773168"/>
            <a:ext cx="12255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CC-6602</a:t>
            </a:r>
            <a:endParaRPr lang="en-US" sz="640" dirty="0"/>
          </a:p>
        </p:txBody>
      </p:sp>
      <p:sp>
        <p:nvSpPr>
          <p:cNvPr id="102" name="Text 89"/>
          <p:cNvSpPr txBox="1"/>
          <p:nvPr/>
        </p:nvSpPr>
        <p:spPr>
          <a:xfrm>
            <a:off x="3909319" y="4773168"/>
            <a:ext cx="11186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640" dirty="0"/>
          </a:p>
        </p:txBody>
      </p:sp>
      <p:sp>
        <p:nvSpPr>
          <p:cNvPr id="103" name="Text 90"/>
          <p:cNvSpPr txBox="1"/>
          <p:nvPr/>
        </p:nvSpPr>
        <p:spPr>
          <a:xfrm>
            <a:off x="5192532" y="4773168"/>
            <a:ext cx="5304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902</a:t>
            </a:r>
            <a:endParaRPr lang="en-US" sz="640" dirty="0"/>
          </a:p>
        </p:txBody>
      </p:sp>
      <p:sp>
        <p:nvSpPr>
          <p:cNvPr id="104" name="Text 91"/>
          <p:cNvSpPr txBox="1"/>
          <p:nvPr/>
        </p:nvSpPr>
        <p:spPr>
          <a:xfrm>
            <a:off x="5887606" y="4773168"/>
            <a:ext cx="6908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4 110</a:t>
            </a:r>
            <a:endParaRPr lang="en-US" sz="640" dirty="0"/>
          </a:p>
        </p:txBody>
      </p:sp>
      <p:sp>
        <p:nvSpPr>
          <p:cNvPr id="105" name="Shape 92"/>
          <p:cNvSpPr/>
          <p:nvPr/>
        </p:nvSpPr>
        <p:spPr>
          <a:xfrm>
            <a:off x="6743081" y="4832604"/>
            <a:ext cx="566928" cy="155448"/>
          </a:xfrm>
          <a:prstGeom prst="roundRect">
            <a:avLst>
              <a:gd name="adj" fmla="val 50000"/>
            </a:avLst>
          </a:prstGeom>
          <a:solidFill>
            <a:srgbClr val="FBE9E7"/>
          </a:solidFill>
          <a:ln/>
        </p:spPr>
      </p:sp>
      <p:sp>
        <p:nvSpPr>
          <p:cNvPr id="106" name="Text 93"/>
          <p:cNvSpPr txBox="1"/>
          <p:nvPr/>
        </p:nvSpPr>
        <p:spPr>
          <a:xfrm>
            <a:off x="6743081" y="4832604"/>
            <a:ext cx="566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C026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103% used</a:t>
            </a:r>
            <a:endParaRPr lang="en-US" sz="560" dirty="0"/>
          </a:p>
        </p:txBody>
      </p:sp>
      <p:sp>
        <p:nvSpPr>
          <p:cNvPr id="107" name="Shape 94"/>
          <p:cNvSpPr/>
          <p:nvPr/>
        </p:nvSpPr>
        <p:spPr>
          <a:xfrm>
            <a:off x="2409444" y="5047488"/>
            <a:ext cx="5346721" cy="274320"/>
          </a:xfrm>
          <a:prstGeom prst="rect">
            <a:avLst/>
          </a:prstGeom>
          <a:solidFill>
            <a:srgbClr val="FBFCFD"/>
          </a:solidFill>
          <a:ln/>
        </p:spPr>
      </p:sp>
      <p:sp>
        <p:nvSpPr>
          <p:cNvPr id="108" name="Shape 95"/>
          <p:cNvSpPr/>
          <p:nvPr/>
        </p:nvSpPr>
        <p:spPr>
          <a:xfrm>
            <a:off x="2409444" y="5317236"/>
            <a:ext cx="5346721" cy="4572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109" name="Text 96"/>
          <p:cNvSpPr txBox="1"/>
          <p:nvPr/>
        </p:nvSpPr>
        <p:spPr>
          <a:xfrm>
            <a:off x="2519172" y="5047488"/>
            <a:ext cx="12255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CC-3340</a:t>
            </a:r>
            <a:endParaRPr lang="en-US" sz="640" dirty="0"/>
          </a:p>
        </p:txBody>
      </p:sp>
      <p:sp>
        <p:nvSpPr>
          <p:cNvPr id="110" name="Text 97"/>
          <p:cNvSpPr txBox="1"/>
          <p:nvPr/>
        </p:nvSpPr>
        <p:spPr>
          <a:xfrm>
            <a:off x="3909319" y="5047488"/>
            <a:ext cx="11186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Labs</a:t>
            </a:r>
            <a:endParaRPr lang="en-US" sz="640" dirty="0"/>
          </a:p>
        </p:txBody>
      </p:sp>
      <p:sp>
        <p:nvSpPr>
          <p:cNvPr id="111" name="Text 98"/>
          <p:cNvSpPr txBox="1"/>
          <p:nvPr/>
        </p:nvSpPr>
        <p:spPr>
          <a:xfrm>
            <a:off x="5192532" y="5047488"/>
            <a:ext cx="5304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1 151</a:t>
            </a:r>
            <a:endParaRPr lang="en-US" sz="640" dirty="0"/>
          </a:p>
        </p:txBody>
      </p:sp>
      <p:sp>
        <p:nvSpPr>
          <p:cNvPr id="112" name="Text 99"/>
          <p:cNvSpPr txBox="1"/>
          <p:nvPr/>
        </p:nvSpPr>
        <p:spPr>
          <a:xfrm>
            <a:off x="5887606" y="5047488"/>
            <a:ext cx="6908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4 265</a:t>
            </a:r>
            <a:endParaRPr lang="en-US" sz="640" dirty="0"/>
          </a:p>
        </p:txBody>
      </p:sp>
      <p:sp>
        <p:nvSpPr>
          <p:cNvPr id="113" name="Shape 100"/>
          <p:cNvSpPr/>
          <p:nvPr/>
        </p:nvSpPr>
        <p:spPr>
          <a:xfrm>
            <a:off x="6743081" y="5106924"/>
            <a:ext cx="566928" cy="155448"/>
          </a:xfrm>
          <a:prstGeom prst="roundRect">
            <a:avLst>
              <a:gd name="adj" fmla="val 50000"/>
            </a:avLst>
          </a:prstGeom>
          <a:solidFill>
            <a:srgbClr val="E2F6F3"/>
          </a:solidFill>
          <a:ln/>
        </p:spPr>
      </p:sp>
      <p:sp>
        <p:nvSpPr>
          <p:cNvPr id="114" name="Text 101"/>
          <p:cNvSpPr txBox="1"/>
          <p:nvPr/>
        </p:nvSpPr>
        <p:spPr>
          <a:xfrm>
            <a:off x="6743081" y="5106924"/>
            <a:ext cx="566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 used</a:t>
            </a:r>
            <a:endParaRPr lang="en-US" sz="560" dirty="0"/>
          </a:p>
        </p:txBody>
      </p:sp>
      <p:sp>
        <p:nvSpPr>
          <p:cNvPr id="115" name="Shape 102"/>
          <p:cNvSpPr/>
          <p:nvPr/>
        </p:nvSpPr>
        <p:spPr>
          <a:xfrm>
            <a:off x="8067061" y="3072384"/>
            <a:ext cx="3324534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16" name="Text 103"/>
          <p:cNvSpPr txBox="1"/>
          <p:nvPr/>
        </p:nvSpPr>
        <p:spPr>
          <a:xfrm>
            <a:off x="8213365" y="314553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bill vs GPS</a:t>
            </a:r>
            <a:endParaRPr lang="en-US" sz="750" dirty="0"/>
          </a:p>
        </p:txBody>
      </p:sp>
      <p:sp>
        <p:nvSpPr>
          <p:cNvPr id="117" name="Shape 104"/>
          <p:cNvSpPr/>
          <p:nvPr/>
        </p:nvSpPr>
        <p:spPr>
          <a:xfrm>
            <a:off x="8195077" y="3383280"/>
            <a:ext cx="3068502" cy="274320"/>
          </a:xfrm>
          <a:prstGeom prst="roundRect">
            <a:avLst>
              <a:gd name="adj" fmla="val 16667"/>
            </a:avLst>
          </a:prstGeom>
          <a:solidFill>
            <a:srgbClr val="FAFBFC"/>
          </a:solidFill>
          <a:ln/>
        </p:spPr>
      </p:sp>
      <p:sp>
        <p:nvSpPr>
          <p:cNvPr id="118" name="Text 105"/>
          <p:cNvSpPr txBox="1"/>
          <p:nvPr/>
        </p:nvSpPr>
        <p:spPr>
          <a:xfrm>
            <a:off x="8286517" y="338328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A</a:t>
            </a:r>
            <a:endParaRPr lang="en-US" sz="580" dirty="0"/>
          </a:p>
        </p:txBody>
      </p:sp>
      <p:sp>
        <p:nvSpPr>
          <p:cNvPr id="119" name="Text 106"/>
          <p:cNvSpPr txBox="1"/>
          <p:nvPr/>
        </p:nvSpPr>
        <p:spPr>
          <a:xfrm>
            <a:off x="8890021" y="3383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 9 120 km</a:t>
            </a:r>
            <a:endParaRPr lang="en-US" sz="530" dirty="0"/>
          </a:p>
        </p:txBody>
      </p:sp>
      <p:sp>
        <p:nvSpPr>
          <p:cNvPr id="120" name="Text 107"/>
          <p:cNvSpPr txBox="1"/>
          <p:nvPr/>
        </p:nvSpPr>
        <p:spPr>
          <a:xfrm>
            <a:off x="10550347" y="3383280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9 118</a:t>
            </a:r>
            <a:endParaRPr lang="en-US" sz="540" dirty="0"/>
          </a:p>
        </p:txBody>
      </p:sp>
      <p:sp>
        <p:nvSpPr>
          <p:cNvPr id="121" name="Shape 108"/>
          <p:cNvSpPr/>
          <p:nvPr/>
        </p:nvSpPr>
        <p:spPr>
          <a:xfrm>
            <a:off x="8195077" y="3694176"/>
            <a:ext cx="3068502" cy="274320"/>
          </a:xfrm>
          <a:prstGeom prst="roundRect">
            <a:avLst>
              <a:gd name="adj" fmla="val 16667"/>
            </a:avLst>
          </a:prstGeom>
          <a:solidFill>
            <a:srgbClr val="FBE9E7"/>
          </a:solidFill>
          <a:ln/>
        </p:spPr>
      </p:sp>
      <p:sp>
        <p:nvSpPr>
          <p:cNvPr id="122" name="Text 109"/>
          <p:cNvSpPr txBox="1"/>
          <p:nvPr/>
        </p:nvSpPr>
        <p:spPr>
          <a:xfrm>
            <a:off x="8286517" y="3694176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B</a:t>
            </a:r>
            <a:endParaRPr lang="en-US" sz="580" dirty="0"/>
          </a:p>
        </p:txBody>
      </p:sp>
      <p:sp>
        <p:nvSpPr>
          <p:cNvPr id="123" name="Text 110"/>
          <p:cNvSpPr txBox="1"/>
          <p:nvPr/>
        </p:nvSpPr>
        <p:spPr>
          <a:xfrm>
            <a:off x="8890021" y="36941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 6 400 km</a:t>
            </a:r>
            <a:endParaRPr lang="en-US" sz="530" dirty="0"/>
          </a:p>
        </p:txBody>
      </p:sp>
      <p:sp>
        <p:nvSpPr>
          <p:cNvPr id="124" name="Text 111"/>
          <p:cNvSpPr txBox="1"/>
          <p:nvPr/>
        </p:nvSpPr>
        <p:spPr>
          <a:xfrm>
            <a:off x="10550347" y="3694176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" b="1" dirty="0">
                <a:solidFill>
                  <a:srgbClr val="C026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6 012</a:t>
            </a:r>
            <a:endParaRPr lang="en-US" sz="540" dirty="0"/>
          </a:p>
        </p:txBody>
      </p:sp>
      <p:sp>
        <p:nvSpPr>
          <p:cNvPr id="125" name="Shape 112"/>
          <p:cNvSpPr/>
          <p:nvPr/>
        </p:nvSpPr>
        <p:spPr>
          <a:xfrm>
            <a:off x="8067061" y="4224528"/>
            <a:ext cx="332453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26" name="Text 113"/>
          <p:cNvSpPr txBox="1"/>
          <p:nvPr/>
        </p:nvSpPr>
        <p:spPr>
          <a:xfrm>
            <a:off x="8213365" y="42976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watch</a:t>
            </a:r>
            <a:endParaRPr lang="en-US" sz="750" dirty="0"/>
          </a:p>
        </p:txBody>
      </p:sp>
      <p:pic>
        <p:nvPicPr>
          <p:cNvPr id="12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49941" y="4594860"/>
            <a:ext cx="137160" cy="137160"/>
          </a:xfrm>
          <a:prstGeom prst="rect">
            <a:avLst/>
          </a:prstGeom>
        </p:spPr>
      </p:pic>
      <p:sp>
        <p:nvSpPr>
          <p:cNvPr id="128" name="Text 114"/>
          <p:cNvSpPr txBox="1"/>
          <p:nvPr/>
        </p:nvSpPr>
        <p:spPr>
          <a:xfrm>
            <a:off x="8451109" y="4544568"/>
            <a:ext cx="279418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insurance policies expiring</a:t>
            </a:r>
            <a:endParaRPr lang="en-US" sz="560" dirty="0"/>
          </a:p>
        </p:txBody>
      </p:sp>
      <p:sp>
        <p:nvSpPr>
          <p:cNvPr id="129" name="Text 115"/>
          <p:cNvSpPr txBox="1"/>
          <p:nvPr/>
        </p:nvSpPr>
        <p:spPr>
          <a:xfrm>
            <a:off x="8451109" y="4681728"/>
            <a:ext cx="27941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30 days</a:t>
            </a:r>
            <a:endParaRPr lang="en-US" sz="500" dirty="0"/>
          </a:p>
        </p:txBody>
      </p:sp>
      <p:pic>
        <p:nvPicPr>
          <p:cNvPr id="13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49941" y="4887468"/>
            <a:ext cx="137160" cy="137160"/>
          </a:xfrm>
          <a:prstGeom prst="rect">
            <a:avLst/>
          </a:prstGeom>
        </p:spPr>
      </p:pic>
      <p:sp>
        <p:nvSpPr>
          <p:cNvPr id="131" name="Text 116"/>
          <p:cNvSpPr txBox="1"/>
          <p:nvPr/>
        </p:nvSpPr>
        <p:spPr>
          <a:xfrm>
            <a:off x="8451109" y="4837176"/>
            <a:ext cx="279418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gate pass expired</a:t>
            </a:r>
            <a:endParaRPr lang="en-US" sz="560" dirty="0"/>
          </a:p>
        </p:txBody>
      </p:sp>
      <p:sp>
        <p:nvSpPr>
          <p:cNvPr id="132" name="Text 117"/>
          <p:cNvSpPr txBox="1"/>
          <p:nvPr/>
        </p:nvSpPr>
        <p:spPr>
          <a:xfrm>
            <a:off x="8451109" y="4974336"/>
            <a:ext cx="27941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blocked from dispatch</a:t>
            </a:r>
            <a:endParaRPr lang="en-US" sz="500" dirty="0"/>
          </a:p>
        </p:txBody>
      </p:sp>
      <p:pic>
        <p:nvPicPr>
          <p:cNvPr id="13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49941" y="5180076"/>
            <a:ext cx="137160" cy="137160"/>
          </a:xfrm>
          <a:prstGeom prst="rect">
            <a:avLst/>
          </a:prstGeom>
        </p:spPr>
      </p:pic>
      <p:sp>
        <p:nvSpPr>
          <p:cNvPr id="134" name="Text 118"/>
          <p:cNvSpPr txBox="1"/>
          <p:nvPr/>
        </p:nvSpPr>
        <p:spPr>
          <a:xfrm>
            <a:off x="8451109" y="5129784"/>
            <a:ext cx="279418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vehicles fully compliant</a:t>
            </a:r>
            <a:endParaRPr lang="en-US" sz="560" dirty="0"/>
          </a:p>
        </p:txBody>
      </p:sp>
      <p:sp>
        <p:nvSpPr>
          <p:cNvPr id="135" name="Text 119"/>
          <p:cNvSpPr txBox="1"/>
          <p:nvPr/>
        </p:nvSpPr>
        <p:spPr>
          <a:xfrm>
            <a:off x="8451109" y="5266944"/>
            <a:ext cx="27941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6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 needed</a:t>
            </a:r>
            <a:endParaRPr lang="en-US" sz="500" dirty="0"/>
          </a:p>
        </p:txBody>
      </p:sp>
      <p:sp>
        <p:nvSpPr>
          <p:cNvPr id="136" name="Shape 120"/>
          <p:cNvSpPr/>
          <p:nvPr/>
        </p:nvSpPr>
        <p:spPr>
          <a:xfrm>
            <a:off x="566928" y="5779008"/>
            <a:ext cx="3515258" cy="512064"/>
          </a:xfrm>
          <a:prstGeom prst="roundRect">
            <a:avLst>
              <a:gd name="adj" fmla="val 21429"/>
            </a:avLst>
          </a:prstGeom>
          <a:solidFill>
            <a:srgbClr val="F3F6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7" name="Shape 121"/>
          <p:cNvSpPr/>
          <p:nvPr/>
        </p:nvSpPr>
        <p:spPr>
          <a:xfrm>
            <a:off x="713232" y="589788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4555" y="5969203"/>
            <a:ext cx="131674" cy="131674"/>
          </a:xfrm>
          <a:prstGeom prst="rect">
            <a:avLst/>
          </a:prstGeom>
        </p:spPr>
      </p:pic>
      <p:sp>
        <p:nvSpPr>
          <p:cNvPr id="139" name="Text 122"/>
          <p:cNvSpPr txBox="1"/>
          <p:nvPr/>
        </p:nvSpPr>
        <p:spPr>
          <a:xfrm>
            <a:off x="1078992" y="5779008"/>
            <a:ext cx="285689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Allocation:  </a:t>
            </a:r>
            <a:pPr indent="0" marL="0">
              <a:buNone/>
            </a:pPr>
            <a:r>
              <a:rPr lang="en-US" sz="9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km on a cost centre, ready for ERP</a:t>
            </a:r>
            <a:endParaRPr lang="en-US" sz="950" dirty="0"/>
          </a:p>
        </p:txBody>
      </p:sp>
      <p:sp>
        <p:nvSpPr>
          <p:cNvPr id="140" name="Shape 123"/>
          <p:cNvSpPr/>
          <p:nvPr/>
        </p:nvSpPr>
        <p:spPr>
          <a:xfrm>
            <a:off x="4338218" y="5779008"/>
            <a:ext cx="3515258" cy="512064"/>
          </a:xfrm>
          <a:prstGeom prst="roundRect">
            <a:avLst>
              <a:gd name="adj" fmla="val 21429"/>
            </a:avLst>
          </a:prstGeom>
          <a:solidFill>
            <a:srgbClr val="F3F6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1" name="Shape 124"/>
          <p:cNvSpPr/>
          <p:nvPr/>
        </p:nvSpPr>
        <p:spPr>
          <a:xfrm>
            <a:off x="4484522" y="589788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55846" y="5969203"/>
            <a:ext cx="131674" cy="131674"/>
          </a:xfrm>
          <a:prstGeom prst="rect">
            <a:avLst/>
          </a:prstGeom>
        </p:spPr>
      </p:pic>
      <p:sp>
        <p:nvSpPr>
          <p:cNvPr id="143" name="Text 125"/>
          <p:cNvSpPr txBox="1"/>
          <p:nvPr/>
        </p:nvSpPr>
        <p:spPr>
          <a:xfrm>
            <a:off x="4850282" y="5779008"/>
            <a:ext cx="285689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Disputes:  </a:t>
            </a:r>
            <a:pPr indent="0" marL="0">
              <a:buNone/>
            </a:pPr>
            <a:r>
              <a:rPr lang="en-US" sz="9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distance is the contractual source</a:t>
            </a:r>
            <a:endParaRPr lang="en-US" sz="950" dirty="0"/>
          </a:p>
        </p:txBody>
      </p:sp>
      <p:sp>
        <p:nvSpPr>
          <p:cNvPr id="144" name="Shape 126"/>
          <p:cNvSpPr/>
          <p:nvPr/>
        </p:nvSpPr>
        <p:spPr>
          <a:xfrm>
            <a:off x="8109509" y="5779008"/>
            <a:ext cx="3515258" cy="512064"/>
          </a:xfrm>
          <a:prstGeom prst="roundRect">
            <a:avLst>
              <a:gd name="adj" fmla="val 21429"/>
            </a:avLst>
          </a:prstGeom>
          <a:solidFill>
            <a:srgbClr val="F3F6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5" name="Shape 127"/>
          <p:cNvSpPr/>
          <p:nvPr/>
        </p:nvSpPr>
        <p:spPr>
          <a:xfrm>
            <a:off x="8255813" y="589788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27136" y="5969203"/>
            <a:ext cx="131674" cy="131674"/>
          </a:xfrm>
          <a:prstGeom prst="rect">
            <a:avLst/>
          </a:prstGeom>
        </p:spPr>
      </p:pic>
      <p:sp>
        <p:nvSpPr>
          <p:cNvPr id="147" name="Text 128"/>
          <p:cNvSpPr txBox="1"/>
          <p:nvPr/>
        </p:nvSpPr>
        <p:spPr>
          <a:xfrm>
            <a:off x="8621573" y="5779008"/>
            <a:ext cx="285689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Compliance:  </a:t>
            </a:r>
            <a:pPr indent="0" marL="0">
              <a:buNone/>
            </a:pPr>
            <a:r>
              <a:rPr lang="en-US" sz="9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blocks dispatch automatically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ECO TECH  ·  Plant Ride for LHS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6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 PATHS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58368"/>
            <a:ext cx="110578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40" kern="0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journey does when it does not go to plan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79576"/>
            <a:ext cx="95097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happy path sells the product. These paths decide whether people keep using it.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145536" y="1700784"/>
            <a:ext cx="27044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APP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032906" y="1700784"/>
            <a:ext cx="27044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 APP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8920277" y="1700784"/>
            <a:ext cx="27044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 &amp; ADMIN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66928" y="1956816"/>
            <a:ext cx="2395728" cy="731520"/>
          </a:xfrm>
          <a:prstGeom prst="roundRect">
            <a:avLst>
              <a:gd name="adj" fmla="val 15000"/>
            </a:avLst>
          </a:prstGeom>
          <a:solidFill>
            <a:srgbClr val="0E141B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139696"/>
            <a:ext cx="365760" cy="365760"/>
          </a:xfrm>
          <a:prstGeom prst="ellipse">
            <a:avLst/>
          </a:prstGeom>
          <a:solidFill>
            <a:srgbClr val="22303F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618" y="2234794"/>
            <a:ext cx="175565" cy="17556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207008" y="1956816"/>
            <a:ext cx="1591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 does not turn up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145536" y="1956816"/>
            <a:ext cx="270449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41B">
                <a:alpha val="1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3310128" y="1956816"/>
            <a:ext cx="23753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waits 5 min, then marks a no-show and moves on.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032906" y="1956816"/>
            <a:ext cx="270449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41B">
                <a:alpha val="1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197498" y="1956816"/>
            <a:ext cx="23753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is warned; 3 in 30 days pauses booking.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920277" y="1956816"/>
            <a:ext cx="2704490" cy="731520"/>
          </a:xfrm>
          <a:prstGeom prst="roundRect">
            <a:avLst>
              <a:gd name="adj" fmla="val 15000"/>
            </a:avLst>
          </a:prstGeom>
          <a:solidFill>
            <a:srgbClr val="F7F9FB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084869" y="1956816"/>
            <a:ext cx="23753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sees the no-show against the rider's record.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66928" y="2798064"/>
            <a:ext cx="2395728" cy="731520"/>
          </a:xfrm>
          <a:prstGeom prst="roundRect">
            <a:avLst>
              <a:gd name="adj" fmla="val 15000"/>
            </a:avLst>
          </a:prstGeom>
          <a:solidFill>
            <a:srgbClr val="0E141B"/>
          </a:solidFill>
          <a:ln/>
        </p:spPr>
      </p:sp>
      <p:sp>
        <p:nvSpPr>
          <p:cNvPr id="21" name="Shape 18"/>
          <p:cNvSpPr/>
          <p:nvPr/>
        </p:nvSpPr>
        <p:spPr>
          <a:xfrm>
            <a:off x="731520" y="2980944"/>
            <a:ext cx="365760" cy="365760"/>
          </a:xfrm>
          <a:prstGeom prst="ellipse">
            <a:avLst/>
          </a:prstGeom>
          <a:solidFill>
            <a:srgbClr val="22303F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618" y="3076042"/>
            <a:ext cx="175565" cy="175565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207008" y="2798064"/>
            <a:ext cx="1591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cab is already full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3145536" y="2798064"/>
            <a:ext cx="270449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41B">
                <a:alpha val="10000"/>
              </a:srgbClr>
            </a:outerShdw>
          </a:effectLst>
        </p:spPr>
      </p:sp>
      <p:sp>
        <p:nvSpPr>
          <p:cNvPr id="25" name="Text 21"/>
          <p:cNvSpPr txBox="1"/>
          <p:nvPr/>
        </p:nvSpPr>
        <p:spPr>
          <a:xfrm>
            <a:off x="3310128" y="2798064"/>
            <a:ext cx="23753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 at the 3-rider cap is never offered a fourth.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6032906" y="2798064"/>
            <a:ext cx="270449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41B">
                <a:alpha val="10000"/>
              </a:srgbClr>
            </a:outerShdw>
          </a:effectLst>
        </p:spPr>
      </p:sp>
      <p:sp>
        <p:nvSpPr>
          <p:cNvPr id="27" name="Text 23"/>
          <p:cNvSpPr txBox="1"/>
          <p:nvPr/>
        </p:nvSpPr>
        <p:spPr>
          <a:xfrm>
            <a:off x="6197498" y="2798064"/>
            <a:ext cx="23753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is shown the next cab and its ETA instead.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8920277" y="2798064"/>
            <a:ext cx="2704490" cy="731520"/>
          </a:xfrm>
          <a:prstGeom prst="roundRect">
            <a:avLst>
              <a:gd name="adj" fmla="val 15000"/>
            </a:avLst>
          </a:prstGeom>
          <a:solidFill>
            <a:srgbClr val="F7F9FB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9084869" y="2798064"/>
            <a:ext cx="23753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can pre-position a cab if it keeps happening.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566928" y="3639312"/>
            <a:ext cx="2395728" cy="731520"/>
          </a:xfrm>
          <a:prstGeom prst="roundRect">
            <a:avLst>
              <a:gd name="adj" fmla="val 15000"/>
            </a:avLst>
          </a:prstGeom>
          <a:solidFill>
            <a:srgbClr val="0E141B"/>
          </a:solidFill>
          <a:ln/>
        </p:spPr>
      </p:sp>
      <p:sp>
        <p:nvSpPr>
          <p:cNvPr id="31" name="Shape 27"/>
          <p:cNvSpPr/>
          <p:nvPr/>
        </p:nvSpPr>
        <p:spPr>
          <a:xfrm>
            <a:off x="731520" y="3822192"/>
            <a:ext cx="365760" cy="365760"/>
          </a:xfrm>
          <a:prstGeom prst="ellipse">
            <a:avLst/>
          </a:prstGeom>
          <a:solidFill>
            <a:srgbClr val="22303F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8" y="3917290"/>
            <a:ext cx="175565" cy="175565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1207008" y="3639312"/>
            <a:ext cx="1591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Breakdown mid-trip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3145536" y="3639312"/>
            <a:ext cx="270449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41B">
                <a:alpha val="10000"/>
              </a:srgbClr>
            </a:outerShdw>
          </a:effectLst>
        </p:spPr>
      </p:sp>
      <p:sp>
        <p:nvSpPr>
          <p:cNvPr id="35" name="Text 30"/>
          <p:cNvSpPr txBox="1"/>
          <p:nvPr/>
        </p:nvSpPr>
        <p:spPr>
          <a:xfrm>
            <a:off x="3310128" y="3639312"/>
            <a:ext cx="23753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reports it with a photo in two taps.</a:t>
            </a:r>
            <a:endParaRPr lang="en-US" sz="950" dirty="0"/>
          </a:p>
        </p:txBody>
      </p:sp>
      <p:sp>
        <p:nvSpPr>
          <p:cNvPr id="36" name="Shape 31"/>
          <p:cNvSpPr/>
          <p:nvPr/>
        </p:nvSpPr>
        <p:spPr>
          <a:xfrm>
            <a:off x="6032906" y="3639312"/>
            <a:ext cx="270449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41B">
                <a:alpha val="10000"/>
              </a:srgbClr>
            </a:outerShdw>
          </a:effectLst>
        </p:spPr>
      </p:sp>
      <p:sp>
        <p:nvSpPr>
          <p:cNvPr id="37" name="Text 32"/>
          <p:cNvSpPr txBox="1"/>
          <p:nvPr/>
        </p:nvSpPr>
        <p:spPr>
          <a:xfrm>
            <a:off x="6197498" y="3639312"/>
            <a:ext cx="23753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 are notified and re-matched to another cab.</a:t>
            </a:r>
            <a:endParaRPr lang="en-US" sz="950" dirty="0"/>
          </a:p>
        </p:txBody>
      </p:sp>
      <p:sp>
        <p:nvSpPr>
          <p:cNvPr id="38" name="Shape 33"/>
          <p:cNvSpPr/>
          <p:nvPr/>
        </p:nvSpPr>
        <p:spPr>
          <a:xfrm>
            <a:off x="8920277" y="3639312"/>
            <a:ext cx="2704490" cy="731520"/>
          </a:xfrm>
          <a:prstGeom prst="roundRect">
            <a:avLst>
              <a:gd name="adj" fmla="val 15000"/>
            </a:avLst>
          </a:prstGeom>
          <a:solidFill>
            <a:srgbClr val="F7F9FB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9084869" y="3639312"/>
            <a:ext cx="23753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reassigns and logs the vehicle as off-road.</a:t>
            </a:r>
            <a:endParaRPr lang="en-US" sz="950" dirty="0"/>
          </a:p>
        </p:txBody>
      </p:sp>
      <p:sp>
        <p:nvSpPr>
          <p:cNvPr id="40" name="Shape 35"/>
          <p:cNvSpPr/>
          <p:nvPr/>
        </p:nvSpPr>
        <p:spPr>
          <a:xfrm>
            <a:off x="566928" y="4480560"/>
            <a:ext cx="2395728" cy="731520"/>
          </a:xfrm>
          <a:prstGeom prst="roundRect">
            <a:avLst>
              <a:gd name="adj" fmla="val 15000"/>
            </a:avLst>
          </a:prstGeom>
          <a:solidFill>
            <a:srgbClr val="0E141B"/>
          </a:solidFill>
          <a:ln/>
        </p:spPr>
      </p:sp>
      <p:sp>
        <p:nvSpPr>
          <p:cNvPr id="41" name="Shape 36"/>
          <p:cNvSpPr/>
          <p:nvPr/>
        </p:nvSpPr>
        <p:spPr>
          <a:xfrm>
            <a:off x="731520" y="4663440"/>
            <a:ext cx="365760" cy="365760"/>
          </a:xfrm>
          <a:prstGeom prst="ellipse">
            <a:avLst/>
          </a:prstGeom>
          <a:solidFill>
            <a:srgbClr val="22303F"/>
          </a:solidFill>
          <a:ln/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18" y="4758538"/>
            <a:ext cx="175565" cy="175565"/>
          </a:xfrm>
          <a:prstGeom prst="rect">
            <a:avLst/>
          </a:prstGeom>
        </p:spPr>
      </p:pic>
      <p:sp>
        <p:nvSpPr>
          <p:cNvPr id="43" name="Text 37"/>
          <p:cNvSpPr txBox="1"/>
          <p:nvPr/>
        </p:nvSpPr>
        <p:spPr>
          <a:xfrm>
            <a:off x="1207008" y="4480560"/>
            <a:ext cx="1591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drops out</a:t>
            </a:r>
            <a:endParaRPr lang="en-US" sz="1100" dirty="0"/>
          </a:p>
        </p:txBody>
      </p:sp>
      <p:sp>
        <p:nvSpPr>
          <p:cNvPr id="44" name="Shape 38"/>
          <p:cNvSpPr/>
          <p:nvPr/>
        </p:nvSpPr>
        <p:spPr>
          <a:xfrm>
            <a:off x="3145536" y="4480560"/>
            <a:ext cx="270449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41B">
                <a:alpha val="10000"/>
              </a:srgbClr>
            </a:outerShdw>
          </a:effectLst>
        </p:spPr>
      </p:sp>
      <p:sp>
        <p:nvSpPr>
          <p:cNvPr id="45" name="Text 39"/>
          <p:cNvSpPr txBox="1"/>
          <p:nvPr/>
        </p:nvSpPr>
        <p:spPr>
          <a:xfrm>
            <a:off x="3310128" y="4480560"/>
            <a:ext cx="23753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keeps recording and sends when signal returns.</a:t>
            </a:r>
            <a:endParaRPr lang="en-US" sz="950" dirty="0"/>
          </a:p>
        </p:txBody>
      </p:sp>
      <p:sp>
        <p:nvSpPr>
          <p:cNvPr id="46" name="Shape 40"/>
          <p:cNvSpPr/>
          <p:nvPr/>
        </p:nvSpPr>
        <p:spPr>
          <a:xfrm>
            <a:off x="6032906" y="4480560"/>
            <a:ext cx="270449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41B">
                <a:alpha val="10000"/>
              </a:srgbClr>
            </a:outerShdw>
          </a:effectLst>
        </p:spPr>
      </p:sp>
      <p:sp>
        <p:nvSpPr>
          <p:cNvPr id="47" name="Text 41"/>
          <p:cNvSpPr txBox="1"/>
          <p:nvPr/>
        </p:nvSpPr>
        <p:spPr>
          <a:xfrm>
            <a:off x="6197498" y="4480560"/>
            <a:ext cx="23753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shows last known position with a timestamp.</a:t>
            </a:r>
            <a:endParaRPr lang="en-US" sz="950" dirty="0"/>
          </a:p>
        </p:txBody>
      </p:sp>
      <p:sp>
        <p:nvSpPr>
          <p:cNvPr id="48" name="Shape 42"/>
          <p:cNvSpPr/>
          <p:nvPr/>
        </p:nvSpPr>
        <p:spPr>
          <a:xfrm>
            <a:off x="8920277" y="4480560"/>
            <a:ext cx="2704490" cy="731520"/>
          </a:xfrm>
          <a:prstGeom prst="roundRect">
            <a:avLst>
              <a:gd name="adj" fmla="val 15000"/>
            </a:avLst>
          </a:prstGeom>
          <a:solidFill>
            <a:srgbClr val="F7F9FB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9" name="Text 43"/>
          <p:cNvSpPr txBox="1"/>
          <p:nvPr/>
        </p:nvSpPr>
        <p:spPr>
          <a:xfrm>
            <a:off x="9084869" y="4480560"/>
            <a:ext cx="23753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gets a data-quality score before it is billed.</a:t>
            </a:r>
            <a:endParaRPr lang="en-US" sz="950" dirty="0"/>
          </a:p>
        </p:txBody>
      </p:sp>
      <p:sp>
        <p:nvSpPr>
          <p:cNvPr id="50" name="Shape 44"/>
          <p:cNvSpPr/>
          <p:nvPr/>
        </p:nvSpPr>
        <p:spPr>
          <a:xfrm>
            <a:off x="566928" y="5321808"/>
            <a:ext cx="2395728" cy="731520"/>
          </a:xfrm>
          <a:prstGeom prst="roundRect">
            <a:avLst>
              <a:gd name="adj" fmla="val 15000"/>
            </a:avLst>
          </a:prstGeom>
          <a:solidFill>
            <a:srgbClr val="0E141B"/>
          </a:solidFill>
          <a:ln/>
        </p:spPr>
      </p:sp>
      <p:sp>
        <p:nvSpPr>
          <p:cNvPr id="51" name="Shape 45"/>
          <p:cNvSpPr/>
          <p:nvPr/>
        </p:nvSpPr>
        <p:spPr>
          <a:xfrm>
            <a:off x="731520" y="5504688"/>
            <a:ext cx="365760" cy="365760"/>
          </a:xfrm>
          <a:prstGeom prst="ellipse">
            <a:avLst/>
          </a:prstGeom>
          <a:solidFill>
            <a:srgbClr val="22303F"/>
          </a:solidFill>
          <a:ln/>
        </p:spPr>
      </p:sp>
      <p:pic>
        <p:nvPicPr>
          <p:cNvPr id="5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8" y="5599786"/>
            <a:ext cx="175565" cy="175565"/>
          </a:xfrm>
          <a:prstGeom prst="rect">
            <a:avLst/>
          </a:prstGeom>
        </p:spPr>
      </p:pic>
      <p:sp>
        <p:nvSpPr>
          <p:cNvPr id="53" name="Text 46"/>
          <p:cNvSpPr txBox="1"/>
          <p:nvPr/>
        </p:nvSpPr>
        <p:spPr>
          <a:xfrm>
            <a:off x="1207008" y="5321808"/>
            <a:ext cx="1591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 raised</a:t>
            </a:r>
            <a:endParaRPr lang="en-US" sz="1100" dirty="0"/>
          </a:p>
        </p:txBody>
      </p:sp>
      <p:sp>
        <p:nvSpPr>
          <p:cNvPr id="54" name="Shape 47"/>
          <p:cNvSpPr/>
          <p:nvPr/>
        </p:nvSpPr>
        <p:spPr>
          <a:xfrm>
            <a:off x="3145536" y="5321808"/>
            <a:ext cx="270449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41B">
                <a:alpha val="10000"/>
              </a:srgbClr>
            </a:outerShdw>
          </a:effectLst>
        </p:spPr>
      </p:sp>
      <p:sp>
        <p:nvSpPr>
          <p:cNvPr id="55" name="Text 48"/>
          <p:cNvSpPr txBox="1"/>
          <p:nvPr/>
        </p:nvSpPr>
        <p:spPr>
          <a:xfrm>
            <a:off x="3310128" y="5321808"/>
            <a:ext cx="23753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from either app, with live location.</a:t>
            </a:r>
            <a:endParaRPr lang="en-US" sz="950" dirty="0"/>
          </a:p>
        </p:txBody>
      </p:sp>
      <p:sp>
        <p:nvSpPr>
          <p:cNvPr id="56" name="Shape 49"/>
          <p:cNvSpPr/>
          <p:nvPr/>
        </p:nvSpPr>
        <p:spPr>
          <a:xfrm>
            <a:off x="6032906" y="5321808"/>
            <a:ext cx="270449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41B">
                <a:alpha val="10000"/>
              </a:srgbClr>
            </a:outerShdw>
          </a:effectLst>
        </p:spPr>
      </p:sp>
      <p:sp>
        <p:nvSpPr>
          <p:cNvPr id="57" name="Text 50"/>
          <p:cNvSpPr txBox="1"/>
          <p:nvPr/>
        </p:nvSpPr>
        <p:spPr>
          <a:xfrm>
            <a:off x="6197498" y="5321808"/>
            <a:ext cx="23753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can share the trip with a manager or family.</a:t>
            </a:r>
            <a:endParaRPr lang="en-US" sz="950" dirty="0"/>
          </a:p>
        </p:txBody>
      </p:sp>
      <p:sp>
        <p:nvSpPr>
          <p:cNvPr id="58" name="Shape 51"/>
          <p:cNvSpPr/>
          <p:nvPr/>
        </p:nvSpPr>
        <p:spPr>
          <a:xfrm>
            <a:off x="8920277" y="5321808"/>
            <a:ext cx="2704490" cy="731520"/>
          </a:xfrm>
          <a:prstGeom prst="roundRect">
            <a:avLst>
              <a:gd name="adj" fmla="val 15000"/>
            </a:avLst>
          </a:prstGeom>
          <a:solidFill>
            <a:srgbClr val="F7F9FB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9" name="Text 52"/>
          <p:cNvSpPr txBox="1"/>
          <p:nvPr/>
        </p:nvSpPr>
        <p:spPr>
          <a:xfrm>
            <a:off x="9084869" y="5321808"/>
            <a:ext cx="23753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and plant security are alerted together.</a:t>
            </a:r>
            <a:endParaRPr lang="en-US" sz="950" dirty="0"/>
          </a:p>
        </p:txBody>
      </p:sp>
      <p:sp>
        <p:nvSpPr>
          <p:cNvPr id="60" name="Text 53"/>
          <p:cNvSpPr txBox="1"/>
          <p:nvPr/>
        </p:nvSpPr>
        <p:spPr>
          <a:xfrm>
            <a:off x="566928" y="6181344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is a configured rule - wait limits, no-show policy and retention are settings LHS owns.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A3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ECO TECH  ·  Plant Ride for LHS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3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PUTTING IT TOGETHER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58368"/>
            <a:ext cx="110578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trip, three journeys, eight handovers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79576"/>
            <a:ext cx="95097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booking on 22 September, followed across all three lanes.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1901952"/>
            <a:ext cx="1463040" cy="1005840"/>
          </a:xfrm>
          <a:prstGeom prst="roundRect">
            <a:avLst>
              <a:gd name="adj" fmla="val 10909"/>
            </a:avLst>
          </a:prstGeom>
          <a:solidFill>
            <a:srgbClr val="18222D"/>
          </a:solidFill>
          <a:ln w="12700">
            <a:solidFill>
              <a:srgbClr val="3446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048256"/>
            <a:ext cx="347472" cy="347472"/>
          </a:xfrm>
          <a:prstGeom prst="ellipse">
            <a:avLst/>
          </a:prstGeom>
          <a:solidFill>
            <a:srgbClr val="22303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863" y="2138599"/>
            <a:ext cx="166787" cy="16678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31520" y="24688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b="1" spc="11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139696" y="2393899"/>
            <a:ext cx="9393631" cy="21946"/>
          </a:xfrm>
          <a:prstGeom prst="rect">
            <a:avLst/>
          </a:prstGeom>
          <a:solidFill>
            <a:srgbClr val="34465A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" y="3090672"/>
            <a:ext cx="1463040" cy="1005840"/>
          </a:xfrm>
          <a:prstGeom prst="roundRect">
            <a:avLst>
              <a:gd name="adj" fmla="val 10909"/>
            </a:avLst>
          </a:prstGeom>
          <a:solidFill>
            <a:srgbClr val="18222D"/>
          </a:solidFill>
          <a:ln w="12700">
            <a:solidFill>
              <a:srgbClr val="34465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3236976"/>
            <a:ext cx="347472" cy="347472"/>
          </a:xfrm>
          <a:prstGeom prst="ellipse">
            <a:avLst/>
          </a:prstGeom>
          <a:solidFill>
            <a:srgbClr val="22303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863" y="3327319"/>
            <a:ext cx="166787" cy="16678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31520" y="365760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b="1" spc="11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2139696" y="3582619"/>
            <a:ext cx="9393631" cy="21946"/>
          </a:xfrm>
          <a:prstGeom prst="rect">
            <a:avLst/>
          </a:prstGeom>
          <a:solidFill>
            <a:srgbClr val="34465A"/>
          </a:solidFill>
          <a:ln/>
        </p:spPr>
      </p:sp>
      <p:sp>
        <p:nvSpPr>
          <p:cNvPr id="17" name="Shape 13"/>
          <p:cNvSpPr/>
          <p:nvPr/>
        </p:nvSpPr>
        <p:spPr>
          <a:xfrm>
            <a:off x="566928" y="4279392"/>
            <a:ext cx="1463040" cy="1005840"/>
          </a:xfrm>
          <a:prstGeom prst="roundRect">
            <a:avLst>
              <a:gd name="adj" fmla="val 10909"/>
            </a:avLst>
          </a:prstGeom>
          <a:solidFill>
            <a:srgbClr val="18222D"/>
          </a:solidFill>
          <a:ln w="12700">
            <a:solidFill>
              <a:srgbClr val="34465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31520" y="4425696"/>
            <a:ext cx="347472" cy="347472"/>
          </a:xfrm>
          <a:prstGeom prst="ellipse">
            <a:avLst/>
          </a:prstGeom>
          <a:solidFill>
            <a:srgbClr val="22303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63" y="4516039"/>
            <a:ext cx="166787" cy="166787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31520" y="48463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b="1" spc="11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 &amp; ADMIN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2139696" y="4771339"/>
            <a:ext cx="9393631" cy="21946"/>
          </a:xfrm>
          <a:prstGeom prst="rect">
            <a:avLst/>
          </a:prstGeom>
          <a:solidFill>
            <a:srgbClr val="34465A"/>
          </a:solidFill>
          <a:ln/>
        </p:spPr>
      </p:sp>
      <p:sp>
        <p:nvSpPr>
          <p:cNvPr id="22" name="Shape 17"/>
          <p:cNvSpPr/>
          <p:nvPr/>
        </p:nvSpPr>
        <p:spPr>
          <a:xfrm>
            <a:off x="2732513" y="2394814"/>
            <a:ext cx="592817" cy="20117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23" name="Shape 18"/>
          <p:cNvSpPr/>
          <p:nvPr/>
        </p:nvSpPr>
        <p:spPr>
          <a:xfrm>
            <a:off x="3315271" y="2404872"/>
            <a:ext cx="20117" cy="237744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24" name="Shape 19"/>
          <p:cNvSpPr/>
          <p:nvPr/>
        </p:nvSpPr>
        <p:spPr>
          <a:xfrm>
            <a:off x="3325330" y="4772254"/>
            <a:ext cx="592817" cy="20117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25" name="Shape 20"/>
          <p:cNvSpPr/>
          <p:nvPr/>
        </p:nvSpPr>
        <p:spPr>
          <a:xfrm>
            <a:off x="2595353" y="2267712"/>
            <a:ext cx="274320" cy="274320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2595353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27" name="Text 22"/>
          <p:cNvSpPr txBox="1"/>
          <p:nvPr/>
        </p:nvSpPr>
        <p:spPr>
          <a:xfrm>
            <a:off x="2321033" y="19933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14:05</a:t>
            </a:r>
            <a:endParaRPr lang="en-US" sz="800" dirty="0"/>
          </a:p>
        </p:txBody>
      </p:sp>
      <p:sp>
        <p:nvSpPr>
          <p:cNvPr id="28" name="Text 23"/>
          <p:cNvSpPr txBox="1"/>
          <p:nvPr/>
        </p:nvSpPr>
        <p:spPr>
          <a:xfrm>
            <a:off x="2302745" y="2578608"/>
            <a:ext cx="859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A3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Gate 2 to Blast Furnace</a:t>
            </a:r>
            <a:endParaRPr lang="en-US" sz="750" dirty="0"/>
          </a:p>
        </p:txBody>
      </p:sp>
      <p:sp>
        <p:nvSpPr>
          <p:cNvPr id="29" name="Shape 24"/>
          <p:cNvSpPr/>
          <p:nvPr/>
        </p:nvSpPr>
        <p:spPr>
          <a:xfrm>
            <a:off x="3918147" y="4772254"/>
            <a:ext cx="592817" cy="20117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0" name="Shape 25"/>
          <p:cNvSpPr/>
          <p:nvPr/>
        </p:nvSpPr>
        <p:spPr>
          <a:xfrm>
            <a:off x="4500905" y="3593592"/>
            <a:ext cx="20117" cy="118872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1" name="Shape 26"/>
          <p:cNvSpPr/>
          <p:nvPr/>
        </p:nvSpPr>
        <p:spPr>
          <a:xfrm>
            <a:off x="4510964" y="3583534"/>
            <a:ext cx="592817" cy="20117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2" name="Shape 27"/>
          <p:cNvSpPr/>
          <p:nvPr/>
        </p:nvSpPr>
        <p:spPr>
          <a:xfrm>
            <a:off x="3780987" y="4645152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3780987" y="4645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1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34" name="Text 29"/>
          <p:cNvSpPr txBox="1"/>
          <p:nvPr/>
        </p:nvSpPr>
        <p:spPr>
          <a:xfrm>
            <a:off x="3506667" y="43708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14:05</a:t>
            </a:r>
            <a:endParaRPr lang="en-US" sz="800" dirty="0"/>
          </a:p>
        </p:txBody>
      </p:sp>
      <p:sp>
        <p:nvSpPr>
          <p:cNvPr id="35" name="Text 30"/>
          <p:cNvSpPr txBox="1"/>
          <p:nvPr/>
        </p:nvSpPr>
        <p:spPr>
          <a:xfrm>
            <a:off x="3488379" y="4956048"/>
            <a:ext cx="859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A3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appears on the live board</a:t>
            </a:r>
            <a:endParaRPr lang="en-US" sz="750" dirty="0"/>
          </a:p>
        </p:txBody>
      </p:sp>
      <p:sp>
        <p:nvSpPr>
          <p:cNvPr id="36" name="Shape 31"/>
          <p:cNvSpPr/>
          <p:nvPr/>
        </p:nvSpPr>
        <p:spPr>
          <a:xfrm>
            <a:off x="5103781" y="3583534"/>
            <a:ext cx="592817" cy="20117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7" name="Shape 32"/>
          <p:cNvSpPr/>
          <p:nvPr/>
        </p:nvSpPr>
        <p:spPr>
          <a:xfrm>
            <a:off x="5686539" y="2404872"/>
            <a:ext cx="20117" cy="118872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8" name="Shape 33"/>
          <p:cNvSpPr/>
          <p:nvPr/>
        </p:nvSpPr>
        <p:spPr>
          <a:xfrm>
            <a:off x="5696598" y="2394814"/>
            <a:ext cx="592817" cy="20117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9" name="Shape 34"/>
          <p:cNvSpPr/>
          <p:nvPr/>
        </p:nvSpPr>
        <p:spPr>
          <a:xfrm>
            <a:off x="4966621" y="3456432"/>
            <a:ext cx="274320" cy="274320"/>
          </a:xfrm>
          <a:prstGeom prst="ellipse">
            <a:avLst/>
          </a:prstGeom>
          <a:solidFill>
            <a:srgbClr val="4FD1C2"/>
          </a:solidFill>
          <a:ln/>
        </p:spPr>
      </p:sp>
      <p:sp>
        <p:nvSpPr>
          <p:cNvPr id="40" name="Text 35"/>
          <p:cNvSpPr txBox="1"/>
          <p:nvPr/>
        </p:nvSpPr>
        <p:spPr>
          <a:xfrm>
            <a:off x="4966621" y="3456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41" name="Text 36"/>
          <p:cNvSpPr txBox="1"/>
          <p:nvPr/>
        </p:nvSpPr>
        <p:spPr>
          <a:xfrm>
            <a:off x="4692301" y="31821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14:06</a:t>
            </a:r>
            <a:endParaRPr lang="en-US" sz="800" dirty="0"/>
          </a:p>
        </p:txBody>
      </p:sp>
      <p:sp>
        <p:nvSpPr>
          <p:cNvPr id="42" name="Text 37"/>
          <p:cNvSpPr txBox="1"/>
          <p:nvPr/>
        </p:nvSpPr>
        <p:spPr>
          <a:xfrm>
            <a:off x="4674013" y="3767328"/>
            <a:ext cx="859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A3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lands in the trip queue</a:t>
            </a:r>
            <a:endParaRPr lang="en-US" sz="750" dirty="0"/>
          </a:p>
        </p:txBody>
      </p:sp>
      <p:sp>
        <p:nvSpPr>
          <p:cNvPr id="43" name="Shape 38"/>
          <p:cNvSpPr/>
          <p:nvPr/>
        </p:nvSpPr>
        <p:spPr>
          <a:xfrm>
            <a:off x="6289415" y="2394814"/>
            <a:ext cx="592817" cy="20117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44" name="Shape 39"/>
          <p:cNvSpPr/>
          <p:nvPr/>
        </p:nvSpPr>
        <p:spPr>
          <a:xfrm>
            <a:off x="6872173" y="2404872"/>
            <a:ext cx="20117" cy="118872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45" name="Shape 40"/>
          <p:cNvSpPr/>
          <p:nvPr/>
        </p:nvSpPr>
        <p:spPr>
          <a:xfrm>
            <a:off x="6882232" y="3583534"/>
            <a:ext cx="592817" cy="20117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46" name="Shape 41"/>
          <p:cNvSpPr/>
          <p:nvPr/>
        </p:nvSpPr>
        <p:spPr>
          <a:xfrm>
            <a:off x="6152255" y="2267712"/>
            <a:ext cx="274320" cy="274320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47" name="Text 42"/>
          <p:cNvSpPr txBox="1"/>
          <p:nvPr/>
        </p:nvSpPr>
        <p:spPr>
          <a:xfrm>
            <a:off x="6152255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48" name="Text 43"/>
          <p:cNvSpPr txBox="1"/>
          <p:nvPr/>
        </p:nvSpPr>
        <p:spPr>
          <a:xfrm>
            <a:off x="5877935" y="19933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14:06</a:t>
            </a:r>
            <a:endParaRPr lang="en-US" sz="800" dirty="0"/>
          </a:p>
        </p:txBody>
      </p:sp>
      <p:sp>
        <p:nvSpPr>
          <p:cNvPr id="49" name="Text 44"/>
          <p:cNvSpPr txBox="1"/>
          <p:nvPr/>
        </p:nvSpPr>
        <p:spPr>
          <a:xfrm>
            <a:off x="5859647" y="2578608"/>
            <a:ext cx="859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A3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vehicle no., driver contact, link</a:t>
            </a:r>
            <a:endParaRPr lang="en-US" sz="750" dirty="0"/>
          </a:p>
        </p:txBody>
      </p:sp>
      <p:sp>
        <p:nvSpPr>
          <p:cNvPr id="50" name="Shape 45"/>
          <p:cNvSpPr/>
          <p:nvPr/>
        </p:nvSpPr>
        <p:spPr>
          <a:xfrm>
            <a:off x="7475049" y="3583534"/>
            <a:ext cx="592817" cy="20117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51" name="Shape 46"/>
          <p:cNvSpPr/>
          <p:nvPr/>
        </p:nvSpPr>
        <p:spPr>
          <a:xfrm>
            <a:off x="8057807" y="2404872"/>
            <a:ext cx="20117" cy="118872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52" name="Shape 47"/>
          <p:cNvSpPr/>
          <p:nvPr/>
        </p:nvSpPr>
        <p:spPr>
          <a:xfrm>
            <a:off x="8067865" y="2394814"/>
            <a:ext cx="592817" cy="20117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53" name="Shape 48"/>
          <p:cNvSpPr/>
          <p:nvPr/>
        </p:nvSpPr>
        <p:spPr>
          <a:xfrm>
            <a:off x="7337889" y="3456432"/>
            <a:ext cx="274320" cy="274320"/>
          </a:xfrm>
          <a:prstGeom prst="ellipse">
            <a:avLst/>
          </a:prstGeom>
          <a:solidFill>
            <a:srgbClr val="4FD1C2"/>
          </a:solidFill>
          <a:ln/>
        </p:spPr>
      </p:sp>
      <p:sp>
        <p:nvSpPr>
          <p:cNvPr id="54" name="Text 49"/>
          <p:cNvSpPr txBox="1"/>
          <p:nvPr/>
        </p:nvSpPr>
        <p:spPr>
          <a:xfrm>
            <a:off x="7337889" y="3456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55" name="Text 50"/>
          <p:cNvSpPr txBox="1"/>
          <p:nvPr/>
        </p:nvSpPr>
        <p:spPr>
          <a:xfrm>
            <a:off x="7063569" y="31821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14:11</a:t>
            </a:r>
            <a:endParaRPr lang="en-US" sz="800" dirty="0"/>
          </a:p>
        </p:txBody>
      </p:sp>
      <p:sp>
        <p:nvSpPr>
          <p:cNvPr id="56" name="Text 51"/>
          <p:cNvSpPr txBox="1"/>
          <p:nvPr/>
        </p:nvSpPr>
        <p:spPr>
          <a:xfrm>
            <a:off x="7045281" y="3767328"/>
            <a:ext cx="859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A3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OTP, trip starts</a:t>
            </a:r>
            <a:endParaRPr lang="en-US" sz="750" dirty="0"/>
          </a:p>
        </p:txBody>
      </p:sp>
      <p:sp>
        <p:nvSpPr>
          <p:cNvPr id="57" name="Shape 52"/>
          <p:cNvSpPr/>
          <p:nvPr/>
        </p:nvSpPr>
        <p:spPr>
          <a:xfrm>
            <a:off x="8660682" y="2394814"/>
            <a:ext cx="592817" cy="20117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58" name="Shape 53"/>
          <p:cNvSpPr/>
          <p:nvPr/>
        </p:nvSpPr>
        <p:spPr>
          <a:xfrm>
            <a:off x="9243441" y="2404872"/>
            <a:ext cx="20117" cy="118872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59" name="Shape 54"/>
          <p:cNvSpPr/>
          <p:nvPr/>
        </p:nvSpPr>
        <p:spPr>
          <a:xfrm>
            <a:off x="9253499" y="3583534"/>
            <a:ext cx="592817" cy="20117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60" name="Shape 55"/>
          <p:cNvSpPr/>
          <p:nvPr/>
        </p:nvSpPr>
        <p:spPr>
          <a:xfrm>
            <a:off x="8523522" y="2267712"/>
            <a:ext cx="274320" cy="274320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61" name="Text 56"/>
          <p:cNvSpPr txBox="1"/>
          <p:nvPr/>
        </p:nvSpPr>
        <p:spPr>
          <a:xfrm>
            <a:off x="8523522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62" name="Text 57"/>
          <p:cNvSpPr txBox="1"/>
          <p:nvPr/>
        </p:nvSpPr>
        <p:spPr>
          <a:xfrm>
            <a:off x="8249202" y="19933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14:11</a:t>
            </a:r>
            <a:endParaRPr lang="en-US" sz="800" dirty="0"/>
          </a:p>
        </p:txBody>
      </p:sp>
      <p:sp>
        <p:nvSpPr>
          <p:cNvPr id="63" name="Text 58"/>
          <p:cNvSpPr txBox="1"/>
          <p:nvPr/>
        </p:nvSpPr>
        <p:spPr>
          <a:xfrm>
            <a:off x="8230914" y="2578608"/>
            <a:ext cx="859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A3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switches to in-trip</a:t>
            </a:r>
            <a:endParaRPr lang="en-US" sz="750" dirty="0"/>
          </a:p>
        </p:txBody>
      </p:sp>
      <p:sp>
        <p:nvSpPr>
          <p:cNvPr id="64" name="Shape 59"/>
          <p:cNvSpPr/>
          <p:nvPr/>
        </p:nvSpPr>
        <p:spPr>
          <a:xfrm>
            <a:off x="9846316" y="3583534"/>
            <a:ext cx="592817" cy="20117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65" name="Shape 60"/>
          <p:cNvSpPr/>
          <p:nvPr/>
        </p:nvSpPr>
        <p:spPr>
          <a:xfrm>
            <a:off x="10429075" y="3593592"/>
            <a:ext cx="20117" cy="118872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66" name="Shape 61"/>
          <p:cNvSpPr/>
          <p:nvPr/>
        </p:nvSpPr>
        <p:spPr>
          <a:xfrm>
            <a:off x="10439133" y="4772254"/>
            <a:ext cx="592817" cy="20117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67" name="Shape 62"/>
          <p:cNvSpPr/>
          <p:nvPr/>
        </p:nvSpPr>
        <p:spPr>
          <a:xfrm>
            <a:off x="9709156" y="3456432"/>
            <a:ext cx="274320" cy="274320"/>
          </a:xfrm>
          <a:prstGeom prst="ellipse">
            <a:avLst/>
          </a:prstGeom>
          <a:solidFill>
            <a:srgbClr val="4FD1C2"/>
          </a:solidFill>
          <a:ln/>
        </p:spPr>
      </p:sp>
      <p:sp>
        <p:nvSpPr>
          <p:cNvPr id="68" name="Text 63"/>
          <p:cNvSpPr txBox="1"/>
          <p:nvPr/>
        </p:nvSpPr>
        <p:spPr>
          <a:xfrm>
            <a:off x="9709156" y="3456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69" name="Text 64"/>
          <p:cNvSpPr txBox="1"/>
          <p:nvPr/>
        </p:nvSpPr>
        <p:spPr>
          <a:xfrm>
            <a:off x="9434836" y="31821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14:23</a:t>
            </a:r>
            <a:endParaRPr lang="en-US" sz="800" dirty="0"/>
          </a:p>
        </p:txBody>
      </p:sp>
      <p:sp>
        <p:nvSpPr>
          <p:cNvPr id="70" name="Text 65"/>
          <p:cNvSpPr txBox="1"/>
          <p:nvPr/>
        </p:nvSpPr>
        <p:spPr>
          <a:xfrm>
            <a:off x="9416548" y="3767328"/>
            <a:ext cx="859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A3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 closes the trip at the drop</a:t>
            </a:r>
            <a:endParaRPr lang="en-US" sz="750" dirty="0"/>
          </a:p>
        </p:txBody>
      </p:sp>
      <p:sp>
        <p:nvSpPr>
          <p:cNvPr id="71" name="Shape 66"/>
          <p:cNvSpPr/>
          <p:nvPr/>
        </p:nvSpPr>
        <p:spPr>
          <a:xfrm>
            <a:off x="10894790" y="4645152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2" name="Text 67"/>
          <p:cNvSpPr txBox="1"/>
          <p:nvPr/>
        </p:nvSpPr>
        <p:spPr>
          <a:xfrm>
            <a:off x="10894790" y="4645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1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73" name="Text 68"/>
          <p:cNvSpPr txBox="1"/>
          <p:nvPr/>
        </p:nvSpPr>
        <p:spPr>
          <a:xfrm>
            <a:off x="10620470" y="43708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14:23</a:t>
            </a:r>
            <a:endParaRPr lang="en-US" sz="800" dirty="0"/>
          </a:p>
        </p:txBody>
      </p:sp>
      <p:sp>
        <p:nvSpPr>
          <p:cNvPr id="74" name="Text 69"/>
          <p:cNvSpPr txBox="1"/>
          <p:nvPr/>
        </p:nvSpPr>
        <p:spPr>
          <a:xfrm>
            <a:off x="10602182" y="4956048"/>
            <a:ext cx="859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A3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km charged to CC-4471</a:t>
            </a:r>
            <a:endParaRPr lang="en-US" sz="750" dirty="0"/>
          </a:p>
        </p:txBody>
      </p:sp>
      <p:sp>
        <p:nvSpPr>
          <p:cNvPr id="75" name="Shape 70"/>
          <p:cNvSpPr/>
          <p:nvPr/>
        </p:nvSpPr>
        <p:spPr>
          <a:xfrm>
            <a:off x="566928" y="5486400"/>
            <a:ext cx="2586152" cy="786384"/>
          </a:xfrm>
          <a:prstGeom prst="roundRect">
            <a:avLst>
              <a:gd name="adj" fmla="val 13953"/>
            </a:avLst>
          </a:prstGeom>
          <a:solidFill>
            <a:srgbClr val="18222D"/>
          </a:solidFill>
          <a:ln w="12700">
            <a:solidFill>
              <a:srgbClr val="34465A"/>
            </a:solidFill>
            <a:prstDash val="solid"/>
          </a:ln>
        </p:spPr>
      </p:sp>
      <p:sp>
        <p:nvSpPr>
          <p:cNvPr id="76" name="Shape 71"/>
          <p:cNvSpPr/>
          <p:nvPr/>
        </p:nvSpPr>
        <p:spPr>
          <a:xfrm>
            <a:off x="749808" y="5687568"/>
            <a:ext cx="384048" cy="384048"/>
          </a:xfrm>
          <a:prstGeom prst="ellipse">
            <a:avLst/>
          </a:prstGeom>
          <a:solidFill>
            <a:srgbClr val="22303F"/>
          </a:solidFill>
          <a:ln/>
        </p:spPr>
      </p:sp>
      <p:pic>
        <p:nvPicPr>
          <p:cNvPr id="7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660" y="5787420"/>
            <a:ext cx="184343" cy="184343"/>
          </a:xfrm>
          <a:prstGeom prst="rect">
            <a:avLst/>
          </a:prstGeom>
        </p:spPr>
      </p:pic>
      <p:sp>
        <p:nvSpPr>
          <p:cNvPr id="78" name="Text 72"/>
          <p:cNvSpPr txBox="1"/>
          <p:nvPr/>
        </p:nvSpPr>
        <p:spPr>
          <a:xfrm>
            <a:off x="1225296" y="5596128"/>
            <a:ext cx="1763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minutes</a:t>
            </a:r>
            <a:endParaRPr lang="en-US" sz="1150" dirty="0"/>
          </a:p>
        </p:txBody>
      </p:sp>
      <p:sp>
        <p:nvSpPr>
          <p:cNvPr id="79" name="Text 73"/>
          <p:cNvSpPr txBox="1"/>
          <p:nvPr/>
        </p:nvSpPr>
        <p:spPr>
          <a:xfrm>
            <a:off x="1225296" y="5833872"/>
            <a:ext cx="1763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A3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to door, no phone call to the desk</a:t>
            </a:r>
            <a:endParaRPr lang="en-US" sz="850" dirty="0"/>
          </a:p>
        </p:txBody>
      </p:sp>
      <p:sp>
        <p:nvSpPr>
          <p:cNvPr id="80" name="Shape 74"/>
          <p:cNvSpPr/>
          <p:nvPr/>
        </p:nvSpPr>
        <p:spPr>
          <a:xfrm>
            <a:off x="3390824" y="5486400"/>
            <a:ext cx="2586152" cy="786384"/>
          </a:xfrm>
          <a:prstGeom prst="roundRect">
            <a:avLst>
              <a:gd name="adj" fmla="val 13953"/>
            </a:avLst>
          </a:prstGeom>
          <a:solidFill>
            <a:srgbClr val="18222D"/>
          </a:solidFill>
          <a:ln w="12700">
            <a:solidFill>
              <a:srgbClr val="34465A"/>
            </a:solidFill>
            <a:prstDash val="solid"/>
          </a:ln>
        </p:spPr>
      </p:sp>
      <p:sp>
        <p:nvSpPr>
          <p:cNvPr id="81" name="Shape 75"/>
          <p:cNvSpPr/>
          <p:nvPr/>
        </p:nvSpPr>
        <p:spPr>
          <a:xfrm>
            <a:off x="3573704" y="5687568"/>
            <a:ext cx="384048" cy="384048"/>
          </a:xfrm>
          <a:prstGeom prst="ellipse">
            <a:avLst/>
          </a:prstGeom>
          <a:solidFill>
            <a:srgbClr val="22303F"/>
          </a:solidFill>
          <a:ln/>
        </p:spPr>
      </p:sp>
      <p:pic>
        <p:nvPicPr>
          <p:cNvPr id="8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3556" y="5787420"/>
            <a:ext cx="184343" cy="184343"/>
          </a:xfrm>
          <a:prstGeom prst="rect">
            <a:avLst/>
          </a:prstGeom>
        </p:spPr>
      </p:pic>
      <p:sp>
        <p:nvSpPr>
          <p:cNvPr id="83" name="Text 76"/>
          <p:cNvSpPr txBox="1"/>
          <p:nvPr/>
        </p:nvSpPr>
        <p:spPr>
          <a:xfrm>
            <a:off x="4049192" y="5596128"/>
            <a:ext cx="1763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riders</a:t>
            </a:r>
            <a:endParaRPr lang="en-US" sz="1150" dirty="0"/>
          </a:p>
        </p:txBody>
      </p:sp>
      <p:sp>
        <p:nvSpPr>
          <p:cNvPr id="84" name="Text 77"/>
          <p:cNvSpPr txBox="1"/>
          <p:nvPr/>
        </p:nvSpPr>
        <p:spPr>
          <a:xfrm>
            <a:off x="4049192" y="5833872"/>
            <a:ext cx="1763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A3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one vehicle, inside the occupancy cap</a:t>
            </a:r>
            <a:endParaRPr lang="en-US" sz="850" dirty="0"/>
          </a:p>
        </p:txBody>
      </p:sp>
      <p:sp>
        <p:nvSpPr>
          <p:cNvPr id="85" name="Shape 78"/>
          <p:cNvSpPr/>
          <p:nvPr/>
        </p:nvSpPr>
        <p:spPr>
          <a:xfrm>
            <a:off x="6214720" y="5486400"/>
            <a:ext cx="2586152" cy="786384"/>
          </a:xfrm>
          <a:prstGeom prst="roundRect">
            <a:avLst>
              <a:gd name="adj" fmla="val 13953"/>
            </a:avLst>
          </a:prstGeom>
          <a:solidFill>
            <a:srgbClr val="18222D"/>
          </a:solidFill>
          <a:ln w="12700">
            <a:solidFill>
              <a:srgbClr val="34465A"/>
            </a:solidFill>
            <a:prstDash val="solid"/>
          </a:ln>
        </p:spPr>
      </p:sp>
      <p:sp>
        <p:nvSpPr>
          <p:cNvPr id="86" name="Shape 79"/>
          <p:cNvSpPr/>
          <p:nvPr/>
        </p:nvSpPr>
        <p:spPr>
          <a:xfrm>
            <a:off x="6397600" y="5687568"/>
            <a:ext cx="384048" cy="384048"/>
          </a:xfrm>
          <a:prstGeom prst="ellipse">
            <a:avLst/>
          </a:prstGeom>
          <a:solidFill>
            <a:srgbClr val="22303F"/>
          </a:solidFill>
          <a:ln/>
        </p:spPr>
      </p:sp>
      <p:pic>
        <p:nvPicPr>
          <p:cNvPr id="8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7452" y="5787420"/>
            <a:ext cx="184343" cy="184343"/>
          </a:xfrm>
          <a:prstGeom prst="rect">
            <a:avLst/>
          </a:prstGeom>
        </p:spPr>
      </p:pic>
      <p:sp>
        <p:nvSpPr>
          <p:cNvPr id="88" name="Text 80"/>
          <p:cNvSpPr txBox="1"/>
          <p:nvPr/>
        </p:nvSpPr>
        <p:spPr>
          <a:xfrm>
            <a:off x="6873088" y="5596128"/>
            <a:ext cx="1763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cost centre</a:t>
            </a:r>
            <a:endParaRPr lang="en-US" sz="1150" dirty="0"/>
          </a:p>
        </p:txBody>
      </p:sp>
      <p:sp>
        <p:nvSpPr>
          <p:cNvPr id="89" name="Text 81"/>
          <p:cNvSpPr txBox="1"/>
          <p:nvPr/>
        </p:nvSpPr>
        <p:spPr>
          <a:xfrm>
            <a:off x="6873088" y="5833872"/>
            <a:ext cx="1763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A3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charged on measured GPS distance</a:t>
            </a:r>
            <a:endParaRPr lang="en-US" sz="850" dirty="0"/>
          </a:p>
        </p:txBody>
      </p:sp>
      <p:sp>
        <p:nvSpPr>
          <p:cNvPr id="90" name="Shape 82"/>
          <p:cNvSpPr/>
          <p:nvPr/>
        </p:nvSpPr>
        <p:spPr>
          <a:xfrm>
            <a:off x="9038615" y="5486400"/>
            <a:ext cx="2586152" cy="786384"/>
          </a:xfrm>
          <a:prstGeom prst="roundRect">
            <a:avLst>
              <a:gd name="adj" fmla="val 13953"/>
            </a:avLst>
          </a:prstGeom>
          <a:solidFill>
            <a:srgbClr val="18222D"/>
          </a:solidFill>
          <a:ln w="12700">
            <a:solidFill>
              <a:srgbClr val="34465A"/>
            </a:solidFill>
            <a:prstDash val="solid"/>
          </a:ln>
        </p:spPr>
      </p:sp>
      <p:sp>
        <p:nvSpPr>
          <p:cNvPr id="91" name="Shape 83"/>
          <p:cNvSpPr/>
          <p:nvPr/>
        </p:nvSpPr>
        <p:spPr>
          <a:xfrm>
            <a:off x="9221495" y="5687568"/>
            <a:ext cx="384048" cy="384048"/>
          </a:xfrm>
          <a:prstGeom prst="ellipse">
            <a:avLst/>
          </a:prstGeom>
          <a:solidFill>
            <a:srgbClr val="22303F"/>
          </a:solidFill>
          <a:ln/>
        </p:spPr>
      </p:sp>
      <p:pic>
        <p:nvPicPr>
          <p:cNvPr id="9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1348" y="5787420"/>
            <a:ext cx="184343" cy="184343"/>
          </a:xfrm>
          <a:prstGeom prst="rect">
            <a:avLst/>
          </a:prstGeom>
        </p:spPr>
      </p:pic>
      <p:sp>
        <p:nvSpPr>
          <p:cNvPr id="93" name="Text 84"/>
          <p:cNvSpPr txBox="1"/>
          <p:nvPr/>
        </p:nvSpPr>
        <p:spPr>
          <a:xfrm>
            <a:off x="9696983" y="5596128"/>
            <a:ext cx="1763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audit trail</a:t>
            </a:r>
            <a:endParaRPr lang="en-US" sz="1150" dirty="0"/>
          </a:p>
        </p:txBody>
      </p:sp>
      <p:sp>
        <p:nvSpPr>
          <p:cNvPr id="94" name="Text 85"/>
          <p:cNvSpPr txBox="1"/>
          <p:nvPr/>
        </p:nvSpPr>
        <p:spPr>
          <a:xfrm>
            <a:off x="9696983" y="5833872"/>
            <a:ext cx="1763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A3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booked, drove, approved and paid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SRM ECO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 Ride - User Journeys</dc:title>
  <dc:subject>PptxGenJS Presentation</dc:subject>
  <dc:creator>SRM ECO TECH</dc:creator>
  <cp:lastModifiedBy>SRM ECO TECH</cp:lastModifiedBy>
  <cp:revision>1</cp:revision>
  <dcterms:created xsi:type="dcterms:W3CDTF">2026-09-23T02:45:03Z</dcterms:created>
  <dcterms:modified xsi:type="dcterms:W3CDTF">2026-09-23T02:45:03Z</dcterms:modified>
</cp:coreProperties>
</file>