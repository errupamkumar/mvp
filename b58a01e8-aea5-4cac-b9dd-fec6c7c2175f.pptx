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lgn="l">
              <a:defRPr sz="1200" b="0" i="0" u="none" strike="noStrike">
                <a:solidFill>
                  <a:srgbClr val="FFFFFF"/>
                </a:solidFill>
                <a:latin typeface="Arial"/>
              </a:defRPr>
            </a:pPr>
            <a:r>
              <a:rPr lang="en-IN" sz="1200" b="0" i="0" u="none" strike="noStrike">
                <a:solidFill>
                  <a:srgbClr val="FFFFFF"/>
                </a:solidFill>
                <a:latin typeface="Arial"/>
              </a:rPr>
              <a:t>Bookings by hour</a:t>
            </a:r>
          </a:p>
        </c:rich>
      </c:tx>
      <c:overlay val="0"/>
    </c:title>
    <c:autoTitleDeleted val="0"/>
    <c:plotArea>
      <c:layout/>
      <c:barChart>
        <c:barDir val="col"/>
        <c:grouping val="clustered"/>
        <c:varyColors val="0"/>
        <c:ser>
          <c:idx val="0"/>
          <c:order val="0"/>
          <c:tx>
            <c:strRef>
              <c:f>Sheet1!$B$1</c:f>
              <c:strCache>
                <c:ptCount val="1"/>
                <c:pt idx="0">
                  <c:v>Bookings</c:v>
                </c:pt>
              </c:strCache>
            </c:strRef>
          </c:tx>
          <c:spPr>
            <a:solidFill>
              <a:srgbClr val="E85D04"/>
            </a:solidFill>
            <a:effectLst/>
          </c:spPr>
          <c:invertIfNegative val="0"/>
          <c:cat>
            <c:strRef>
              <c:f>Sheet1!$A$2:$A$10</c:f>
              <c:strCache>
                <c:ptCount val="9"/>
                <c:pt idx="0">
                  <c:v>06</c:v>
                </c:pt>
                <c:pt idx="1">
                  <c:v>08</c:v>
                </c:pt>
                <c:pt idx="2">
                  <c:v>10</c:v>
                </c:pt>
                <c:pt idx="3">
                  <c:v>12</c:v>
                </c:pt>
                <c:pt idx="4">
                  <c:v>14</c:v>
                </c:pt>
                <c:pt idx="5">
                  <c:v>16</c:v>
                </c:pt>
                <c:pt idx="6">
                  <c:v>18</c:v>
                </c:pt>
                <c:pt idx="7">
                  <c:v>20</c:v>
                </c:pt>
                <c:pt idx="8">
                  <c:v>22</c:v>
                </c:pt>
              </c:strCache>
            </c:strRef>
          </c:cat>
          <c:val>
            <c:numRef>
              <c:f>Sheet1!$B$2:$B$10</c:f>
              <c:numCache>
                <c:formatCode>General</c:formatCode>
                <c:ptCount val="9"/>
                <c:pt idx="0">
                  <c:v>180</c:v>
                </c:pt>
                <c:pt idx="1">
                  <c:v>640</c:v>
                </c:pt>
                <c:pt idx="2">
                  <c:v>310</c:v>
                </c:pt>
                <c:pt idx="3">
                  <c:v>260</c:v>
                </c:pt>
                <c:pt idx="4">
                  <c:v>690</c:v>
                </c:pt>
                <c:pt idx="5">
                  <c:v>340</c:v>
                </c:pt>
                <c:pt idx="6">
                  <c:v>520</c:v>
                </c:pt>
                <c:pt idx="7">
                  <c:v>200</c:v>
                </c:pt>
                <c:pt idx="8">
                  <c:v>150</c:v>
                </c:pt>
              </c:numCache>
            </c:numRef>
          </c:val>
          <c:extLst>
            <c:ext xmlns:c16="http://schemas.microsoft.com/office/drawing/2014/chart" uri="{C3380CC4-5D6E-409C-BE32-E72D297353CC}">
              <c16:uniqueId val="{00000000-37B5-4457-9770-E258AEFA5BF2}"/>
            </c:ext>
          </c:extLst>
        </c:ser>
        <c:dLbls>
          <c:showLegendKey val="0"/>
          <c:showVal val="0"/>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A3B4C4"/>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34465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A3B4C4"/>
                </a:solidFill>
                <a:latin typeface="Calibri"/>
              </a:defRPr>
            </a:pPr>
            <a:endParaRPr lang="en-US"/>
          </a:p>
        </c:txPr>
        <c:crossAx val="2094734554"/>
        <c:crosses val="autoZero"/>
        <c:crossBetween val="between"/>
      </c:valAx>
      <c:spPr>
        <a:solidFill>
          <a:srgbClr val="18222D"/>
        </a:solidFill>
        <a:ln>
          <a:noFill/>
        </a:ln>
        <a:effectLst/>
      </c:spPr>
    </c:plotArea>
    <c:plotVisOnly val="1"/>
    <c:dispBlanksAs val="span"/>
    <c:showDLblsOverMax val="1"/>
  </c:chart>
  <c:spPr>
    <a:solidFill>
      <a:srgbClr val="18222D"/>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8348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Ride is a cab booking, pooling and fleet-optimization platform for movement inside a large plant campus. Built by SRM ECO TECH, configured for LHS sites, shifts and rules.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points come from the requirements review. 'Today' is our working assumption and is confirmed with the transport desk during discovery.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decide whether this worked. We set the baseline during discovery with the transport desk and agree the target with LHS before design starts.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platform, three input channels, four outputs. Each module can grow on its own behind open APIs.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steps, no phone calls. Steps 2, 4 and 7 are where the platform earns its keep: matching, tracking and cost allocation.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roles in all - the vendor portal and gate-security view are additions we recommend beyond the original brief.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pooling is the hardest part and depends on accurate in-plant ETAs. Phasing it protects the launch date.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Sequencing does three things: it fixes the pickup order in the driver's queue, it gives the engine a travel-time model for ETAs, and it lets the desk reason about a route rather than individual trips.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Capping at 3 is a business rule, not an engineering constraint. It lives in master data so LHS can raise or lower it per route once the pilot shows real demand.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employee-details block is filled from HRMS but stays editable, because contact numbers in HR records go stale and the driver needs a number that works today.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Vehicle number and driver contact are the two things people ask the transport desk for today. Putting them in the confirmation removes most of those calls.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drivers do not use the app there is no live data and the whole model fails. Hence: very simple screens, training, and a rule that trips are paid only when logged in the app.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big steel structures GPS drops out. We fill gaps, filter jumps, snap to the plant road network and score the data quality of every trip, so the km figure can be trusted for a vendor bill.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deliberately do not start with a research-grade optimizer. Clear hard rules and a tunable score give most of the benefit and can be explained to the transport head.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peaks, both at shift change. That is where pre-positioning cabs pays for itself, and it is the first thing the optimization engine is asked to fix.</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contract should name GPS kilometres as the agreed source for vendor billing. That single clause removes most month-end disputes.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is the risk most likely to stall a rollout. Tracking the vehicle rather than the person, with short retention, is what makes this acceptable to employees and to the works council.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modular monolith with GPS ingest deployed separately. Microservices only when many plants or several teams force it - not on day one.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is the one that matters commercially - it is where LHS sees whether wait times and occupancy actually move.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the discovery workshop date and the name of the pilot-site transport head.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50.png"/></Relationships>
</file>

<file path=ppt/slides/_rels/slide11.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1.png"/></Relationships>
</file>

<file path=ppt/slides/_rels/slide12.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7.png"/><Relationship Id="rId7" Type="http://schemas.openxmlformats.org/officeDocument/2006/relationships/image" Target="../media/image6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23.png"/><Relationship Id="rId4" Type="http://schemas.openxmlformats.org/officeDocument/2006/relationships/image" Target="../media/image58.png"/></Relationships>
</file>

<file path=ppt/slides/_rels/slide13.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4.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7.png"/><Relationship Id="rId7" Type="http://schemas.openxmlformats.org/officeDocument/2006/relationships/image" Target="../media/image6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3.png"/><Relationship Id="rId4" Type="http://schemas.openxmlformats.org/officeDocument/2006/relationships/image" Target="../media/image68.png"/></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24.png"/><Relationship Id="rId7" Type="http://schemas.openxmlformats.org/officeDocument/2006/relationships/image" Target="../media/image7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40.png"/><Relationship Id="rId10" Type="http://schemas.openxmlformats.org/officeDocument/2006/relationships/image" Target="../media/image75.png"/><Relationship Id="rId4" Type="http://schemas.openxmlformats.org/officeDocument/2006/relationships/image" Target="../media/image71.png"/><Relationship Id="rId9" Type="http://schemas.openxmlformats.org/officeDocument/2006/relationships/image" Target="../media/image74.png"/></Relationships>
</file>

<file path=ppt/slides/_rels/slide17.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65.png"/><Relationship Id="rId7" Type="http://schemas.openxmlformats.org/officeDocument/2006/relationships/image" Target="../media/image7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1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8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89.png"/><Relationship Id="rId4" Type="http://schemas.openxmlformats.org/officeDocument/2006/relationships/image" Target="../media/image8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1B"/>
        </a:solidFill>
        <a:effectLst/>
      </p:bgPr>
    </p:bg>
    <p:spTree>
      <p:nvGrpSpPr>
        <p:cNvPr id="1" name=""/>
        <p:cNvGrpSpPr/>
        <p:nvPr/>
      </p:nvGrpSpPr>
      <p:grpSpPr>
        <a:xfrm>
          <a:off x="0" y="0"/>
          <a:ext cx="0" cy="0"/>
          <a:chOff x="0" y="0"/>
          <a:chExt cx="0" cy="0"/>
        </a:xfrm>
      </p:grpSpPr>
      <p:sp>
        <p:nvSpPr>
          <p:cNvPr id="2" name="Shape 0"/>
          <p:cNvSpPr/>
          <p:nvPr/>
        </p:nvSpPr>
        <p:spPr>
          <a:xfrm>
            <a:off x="8321040" y="-1920240"/>
            <a:ext cx="6035040" cy="6035040"/>
          </a:xfrm>
          <a:prstGeom prst="ellipse">
            <a:avLst/>
          </a:prstGeom>
          <a:solidFill>
            <a:srgbClr val="18222D"/>
          </a:solidFill>
          <a:ln/>
        </p:spPr>
      </p:sp>
      <p:sp>
        <p:nvSpPr>
          <p:cNvPr id="3" name="Shape 1"/>
          <p:cNvSpPr/>
          <p:nvPr/>
        </p:nvSpPr>
        <p:spPr>
          <a:xfrm>
            <a:off x="10424160" y="4023360"/>
            <a:ext cx="4023360" cy="4023360"/>
          </a:xfrm>
          <a:prstGeom prst="ellipse">
            <a:avLst/>
          </a:prstGeom>
          <a:solidFill>
            <a:srgbClr val="18222D"/>
          </a:solidFill>
          <a:ln/>
        </p:spPr>
      </p:sp>
      <p:sp>
        <p:nvSpPr>
          <p:cNvPr id="4" name="Text 2"/>
          <p:cNvSpPr txBox="1"/>
          <p:nvPr/>
        </p:nvSpPr>
        <p:spPr>
          <a:xfrm>
            <a:off x="566928" y="1444752"/>
            <a:ext cx="6400800" cy="274320"/>
          </a:xfrm>
          <a:prstGeom prst="rect">
            <a:avLst/>
          </a:prstGeom>
          <a:noFill/>
          <a:ln/>
        </p:spPr>
        <p:txBody>
          <a:bodyPr wrap="square" lIns="0" tIns="0" rIns="0" bIns="0" rtlCol="0" anchor="ctr"/>
          <a:lstStyle/>
          <a:p>
            <a:pPr marL="0" indent="0">
              <a:buNone/>
            </a:pPr>
            <a:r>
              <a:rPr lang="en-US" sz="1100" b="1" kern="0" spc="320" dirty="0">
                <a:solidFill>
                  <a:srgbClr val="E85D04"/>
                </a:solidFill>
                <a:latin typeface="Arial" pitchFamily="34" charset="0"/>
                <a:ea typeface="Arial" pitchFamily="34" charset="-122"/>
                <a:cs typeface="Arial" pitchFamily="34" charset="-120"/>
              </a:rPr>
              <a:t>SOLUTION PROPOSAL</a:t>
            </a:r>
            <a:endParaRPr lang="en-US" sz="1100" dirty="0"/>
          </a:p>
        </p:txBody>
      </p:sp>
      <p:sp>
        <p:nvSpPr>
          <p:cNvPr id="5" name="Text 3"/>
          <p:cNvSpPr txBox="1"/>
          <p:nvPr/>
        </p:nvSpPr>
        <p:spPr>
          <a:xfrm>
            <a:off x="566928" y="1783080"/>
            <a:ext cx="7315200" cy="1051560"/>
          </a:xfrm>
          <a:prstGeom prst="rect">
            <a:avLst/>
          </a:prstGeom>
          <a:noFill/>
          <a:ln/>
        </p:spPr>
        <p:txBody>
          <a:bodyPr wrap="square" lIns="0" tIns="0" rIns="0" bIns="0" rtlCol="0" anchor="ctr"/>
          <a:lstStyle/>
          <a:p>
            <a:pPr marL="0" indent="0">
              <a:buNone/>
            </a:pPr>
            <a:r>
              <a:rPr lang="en-US" sz="6200" b="1" kern="0" spc="-160" dirty="0">
                <a:solidFill>
                  <a:srgbClr val="FFFFFF"/>
                </a:solidFill>
                <a:latin typeface="Arial" pitchFamily="34" charset="0"/>
                <a:ea typeface="Arial" pitchFamily="34" charset="-122"/>
                <a:cs typeface="Arial" pitchFamily="34" charset="-120"/>
              </a:rPr>
              <a:t>Plant Ride</a:t>
            </a:r>
            <a:endParaRPr lang="en-US" sz="6200" dirty="0"/>
          </a:p>
        </p:txBody>
      </p:sp>
      <p:sp>
        <p:nvSpPr>
          <p:cNvPr id="6" name="Text 4"/>
          <p:cNvSpPr txBox="1"/>
          <p:nvPr/>
        </p:nvSpPr>
        <p:spPr>
          <a:xfrm>
            <a:off x="566928" y="2944368"/>
            <a:ext cx="5943600" cy="822960"/>
          </a:xfrm>
          <a:prstGeom prst="rect">
            <a:avLst/>
          </a:prstGeom>
          <a:noFill/>
          <a:ln/>
        </p:spPr>
        <p:txBody>
          <a:bodyPr wrap="square" lIns="0" tIns="0" rIns="0" bIns="0" rtlCol="0" anchor="t"/>
          <a:lstStyle/>
          <a:p>
            <a:pPr marL="0" indent="0">
              <a:lnSpc>
                <a:spcPts val="2300"/>
              </a:lnSpc>
              <a:buNone/>
            </a:pPr>
            <a:r>
              <a:rPr lang="en-US" sz="1550" dirty="0">
                <a:solidFill>
                  <a:srgbClr val="A3B4C4"/>
                </a:solidFill>
                <a:latin typeface="Calibri" pitchFamily="34" charset="0"/>
                <a:ea typeface="Calibri" pitchFamily="34" charset="-122"/>
                <a:cs typeface="Calibri" pitchFamily="34" charset="-120"/>
              </a:rPr>
              <a:t>Smart cab booking, ride sharing and fleet optimization for movement across LHS departments and sites.</a:t>
            </a:r>
            <a:endParaRPr lang="en-US" sz="1550" dirty="0"/>
          </a:p>
        </p:txBody>
      </p:sp>
      <p:sp>
        <p:nvSpPr>
          <p:cNvPr id="7" name="Shape 5"/>
          <p:cNvSpPr/>
          <p:nvPr/>
        </p:nvSpPr>
        <p:spPr>
          <a:xfrm>
            <a:off x="566928" y="3931920"/>
            <a:ext cx="2057400" cy="310896"/>
          </a:xfrm>
          <a:prstGeom prst="roundRect">
            <a:avLst>
              <a:gd name="adj" fmla="val 41176"/>
            </a:avLst>
          </a:prstGeom>
          <a:solidFill>
            <a:srgbClr val="22303F"/>
          </a:solidFill>
          <a:ln/>
        </p:spPr>
      </p:sp>
      <p:sp>
        <p:nvSpPr>
          <p:cNvPr id="8" name="Text 6"/>
          <p:cNvSpPr txBox="1"/>
          <p:nvPr/>
        </p:nvSpPr>
        <p:spPr>
          <a:xfrm>
            <a:off x="566928" y="3931920"/>
            <a:ext cx="2057400" cy="310896"/>
          </a:xfrm>
          <a:prstGeom prst="rect">
            <a:avLst/>
          </a:prstGeom>
          <a:noFill/>
          <a:ln/>
        </p:spPr>
        <p:txBody>
          <a:bodyPr wrap="square" lIns="0" tIns="0" rIns="0" bIns="0" rtlCol="0" anchor="ctr"/>
          <a:lstStyle/>
          <a:p>
            <a:pPr marL="0" indent="0" algn="ctr">
              <a:buNone/>
            </a:pPr>
            <a:r>
              <a:rPr lang="en-US" sz="1000" b="1" dirty="0">
                <a:solidFill>
                  <a:srgbClr val="4FD1C2"/>
                </a:solidFill>
                <a:latin typeface="Calibri" pitchFamily="34" charset="0"/>
                <a:ea typeface="Calibri" pitchFamily="34" charset="-122"/>
                <a:cs typeface="Calibri" pitchFamily="34" charset="-120"/>
              </a:rPr>
              <a:t>Route sequencing</a:t>
            </a:r>
            <a:endParaRPr lang="en-US" sz="1000" dirty="0"/>
          </a:p>
        </p:txBody>
      </p:sp>
      <p:sp>
        <p:nvSpPr>
          <p:cNvPr id="9" name="Shape 7"/>
          <p:cNvSpPr/>
          <p:nvPr/>
        </p:nvSpPr>
        <p:spPr>
          <a:xfrm>
            <a:off x="2779776" y="3931920"/>
            <a:ext cx="2057400" cy="310896"/>
          </a:xfrm>
          <a:prstGeom prst="roundRect">
            <a:avLst>
              <a:gd name="adj" fmla="val 41176"/>
            </a:avLst>
          </a:prstGeom>
          <a:solidFill>
            <a:srgbClr val="22303F"/>
          </a:solidFill>
          <a:ln/>
        </p:spPr>
      </p:sp>
      <p:sp>
        <p:nvSpPr>
          <p:cNvPr id="10" name="Text 8"/>
          <p:cNvSpPr txBox="1"/>
          <p:nvPr/>
        </p:nvSpPr>
        <p:spPr>
          <a:xfrm>
            <a:off x="2779776" y="3931920"/>
            <a:ext cx="2057400" cy="310896"/>
          </a:xfrm>
          <a:prstGeom prst="rect">
            <a:avLst/>
          </a:prstGeom>
          <a:noFill/>
          <a:ln/>
        </p:spPr>
        <p:txBody>
          <a:bodyPr wrap="square" lIns="0" tIns="0" rIns="0" bIns="0" rtlCol="0" anchor="ctr"/>
          <a:lstStyle/>
          <a:p>
            <a:pPr marL="0" indent="0" algn="ctr">
              <a:buNone/>
            </a:pPr>
            <a:r>
              <a:rPr lang="en-US" sz="1000" b="1" dirty="0">
                <a:solidFill>
                  <a:srgbClr val="4FD1C2"/>
                </a:solidFill>
                <a:latin typeface="Calibri" pitchFamily="34" charset="0"/>
                <a:ea typeface="Calibri" pitchFamily="34" charset="-122"/>
                <a:cs typeface="Calibri" pitchFamily="34" charset="-120"/>
              </a:rPr>
              <a:t>Live GPS tracking</a:t>
            </a:r>
            <a:endParaRPr lang="en-US" sz="1000" dirty="0"/>
          </a:p>
        </p:txBody>
      </p:sp>
      <p:sp>
        <p:nvSpPr>
          <p:cNvPr id="11" name="Shape 9"/>
          <p:cNvSpPr/>
          <p:nvPr/>
        </p:nvSpPr>
        <p:spPr>
          <a:xfrm>
            <a:off x="4992624" y="3931920"/>
            <a:ext cx="2057400" cy="310896"/>
          </a:xfrm>
          <a:prstGeom prst="roundRect">
            <a:avLst>
              <a:gd name="adj" fmla="val 41176"/>
            </a:avLst>
          </a:prstGeom>
          <a:solidFill>
            <a:srgbClr val="22303F"/>
          </a:solidFill>
          <a:ln/>
        </p:spPr>
      </p:sp>
      <p:sp>
        <p:nvSpPr>
          <p:cNvPr id="12" name="Text 10"/>
          <p:cNvSpPr txBox="1"/>
          <p:nvPr/>
        </p:nvSpPr>
        <p:spPr>
          <a:xfrm>
            <a:off x="4992624" y="3931920"/>
            <a:ext cx="2057400" cy="310896"/>
          </a:xfrm>
          <a:prstGeom prst="rect">
            <a:avLst/>
          </a:prstGeom>
          <a:noFill/>
          <a:ln/>
        </p:spPr>
        <p:txBody>
          <a:bodyPr wrap="square" lIns="0" tIns="0" rIns="0" bIns="0" rtlCol="0" anchor="ctr"/>
          <a:lstStyle/>
          <a:p>
            <a:pPr marL="0" indent="0" algn="ctr">
              <a:buNone/>
            </a:pPr>
            <a:r>
              <a:rPr lang="en-US" sz="1000" b="1" dirty="0">
                <a:solidFill>
                  <a:srgbClr val="4FD1C2"/>
                </a:solidFill>
                <a:latin typeface="Calibri" pitchFamily="34" charset="0"/>
                <a:ea typeface="Calibri" pitchFamily="34" charset="-122"/>
                <a:cs typeface="Calibri" pitchFamily="34" charset="-120"/>
              </a:rPr>
              <a:t>Cost-centre billing</a:t>
            </a:r>
            <a:endParaRPr lang="en-US" sz="1000" dirty="0"/>
          </a:p>
        </p:txBody>
      </p:sp>
      <p:sp>
        <p:nvSpPr>
          <p:cNvPr id="13" name="Shape 11"/>
          <p:cNvSpPr/>
          <p:nvPr/>
        </p:nvSpPr>
        <p:spPr>
          <a:xfrm>
            <a:off x="566928" y="4892040"/>
            <a:ext cx="1005840" cy="22860"/>
          </a:xfrm>
          <a:prstGeom prst="rect">
            <a:avLst/>
          </a:prstGeom>
          <a:solidFill>
            <a:srgbClr val="E85D04"/>
          </a:solidFill>
          <a:ln/>
        </p:spPr>
      </p:sp>
      <p:sp>
        <p:nvSpPr>
          <p:cNvPr id="14" name="Text 12"/>
          <p:cNvSpPr txBox="1"/>
          <p:nvPr/>
        </p:nvSpPr>
        <p:spPr>
          <a:xfrm>
            <a:off x="566928" y="5074920"/>
            <a:ext cx="6400800" cy="274320"/>
          </a:xfrm>
          <a:prstGeom prst="rect">
            <a:avLst/>
          </a:prstGeom>
          <a:noFill/>
          <a:ln/>
        </p:spPr>
        <p:txBody>
          <a:bodyPr wrap="square" lIns="0" tIns="0" rIns="0" bIns="0" rtlCol="0" anchor="ctr"/>
          <a:lstStyle/>
          <a:p>
            <a:pPr marL="0" indent="0">
              <a:buNone/>
            </a:pPr>
            <a:r>
              <a:rPr lang="en-US" sz="1200" dirty="0">
                <a:solidFill>
                  <a:srgbClr val="A3B4C4"/>
                </a:solidFill>
                <a:latin typeface="Calibri" pitchFamily="34" charset="0"/>
                <a:ea typeface="Calibri" pitchFamily="34" charset="-122"/>
                <a:cs typeface="Calibri" pitchFamily="34" charset="-120"/>
              </a:rPr>
              <a:t>Presented by SRM ECO TECH to LHS  ·  September 2026</a:t>
            </a:r>
            <a:endParaRPr lang="en-US" sz="1200" dirty="0"/>
          </a:p>
        </p:txBody>
      </p:sp>
      <p:sp>
        <p:nvSpPr>
          <p:cNvPr id="15" name="Shape 13"/>
          <p:cNvSpPr/>
          <p:nvPr/>
        </p:nvSpPr>
        <p:spPr>
          <a:xfrm>
            <a:off x="7726680" y="1863547"/>
            <a:ext cx="3566160" cy="22860"/>
          </a:xfrm>
          <a:prstGeom prst="rect">
            <a:avLst/>
          </a:prstGeom>
          <a:solidFill>
            <a:srgbClr val="34465A"/>
          </a:solidFill>
          <a:ln/>
        </p:spPr>
      </p:sp>
      <p:sp>
        <p:nvSpPr>
          <p:cNvPr id="16" name="Shape 14"/>
          <p:cNvSpPr/>
          <p:nvPr/>
        </p:nvSpPr>
        <p:spPr>
          <a:xfrm>
            <a:off x="7635240" y="1783080"/>
            <a:ext cx="182880" cy="182880"/>
          </a:xfrm>
          <a:prstGeom prst="ellipse">
            <a:avLst/>
          </a:prstGeom>
          <a:solidFill>
            <a:srgbClr val="E85D04"/>
          </a:solidFill>
          <a:ln w="12700">
            <a:solidFill>
              <a:srgbClr val="E85D04"/>
            </a:solidFill>
            <a:prstDash val="solid"/>
          </a:ln>
        </p:spPr>
      </p:sp>
      <p:sp>
        <p:nvSpPr>
          <p:cNvPr id="17" name="Shape 15"/>
          <p:cNvSpPr/>
          <p:nvPr/>
        </p:nvSpPr>
        <p:spPr>
          <a:xfrm>
            <a:off x="8526780" y="1783080"/>
            <a:ext cx="182880" cy="182880"/>
          </a:xfrm>
          <a:prstGeom prst="ellipse">
            <a:avLst/>
          </a:prstGeom>
          <a:solidFill>
            <a:srgbClr val="E85D04"/>
          </a:solidFill>
          <a:ln w="12700">
            <a:solidFill>
              <a:srgbClr val="E85D04"/>
            </a:solidFill>
            <a:prstDash val="solid"/>
          </a:ln>
        </p:spPr>
      </p:sp>
      <p:sp>
        <p:nvSpPr>
          <p:cNvPr id="18" name="Shape 16"/>
          <p:cNvSpPr/>
          <p:nvPr/>
        </p:nvSpPr>
        <p:spPr>
          <a:xfrm>
            <a:off x="9418320" y="1783080"/>
            <a:ext cx="182880" cy="182880"/>
          </a:xfrm>
          <a:prstGeom prst="ellipse">
            <a:avLst/>
          </a:prstGeom>
          <a:solidFill>
            <a:srgbClr val="22303F"/>
          </a:solidFill>
          <a:ln w="12700">
            <a:solidFill>
              <a:srgbClr val="34465A"/>
            </a:solidFill>
            <a:prstDash val="solid"/>
          </a:ln>
        </p:spPr>
      </p:sp>
      <p:sp>
        <p:nvSpPr>
          <p:cNvPr id="19" name="Shape 17"/>
          <p:cNvSpPr/>
          <p:nvPr/>
        </p:nvSpPr>
        <p:spPr>
          <a:xfrm>
            <a:off x="10309860" y="1783080"/>
            <a:ext cx="182880" cy="182880"/>
          </a:xfrm>
          <a:prstGeom prst="ellipse">
            <a:avLst/>
          </a:prstGeom>
          <a:solidFill>
            <a:srgbClr val="22303F"/>
          </a:solidFill>
          <a:ln w="12700">
            <a:solidFill>
              <a:srgbClr val="34465A"/>
            </a:solidFill>
            <a:prstDash val="solid"/>
          </a:ln>
        </p:spPr>
      </p:sp>
      <p:sp>
        <p:nvSpPr>
          <p:cNvPr id="20" name="Shape 18"/>
          <p:cNvSpPr/>
          <p:nvPr/>
        </p:nvSpPr>
        <p:spPr>
          <a:xfrm>
            <a:off x="11201400" y="1783080"/>
            <a:ext cx="182880" cy="182880"/>
          </a:xfrm>
          <a:prstGeom prst="ellipse">
            <a:avLst/>
          </a:prstGeom>
          <a:solidFill>
            <a:srgbClr val="22303F"/>
          </a:solidFill>
          <a:ln w="12700">
            <a:solidFill>
              <a:srgbClr val="34465A"/>
            </a:solidFill>
            <a:prstDash val="solid"/>
          </a:ln>
        </p:spPr>
      </p:sp>
      <p:sp>
        <p:nvSpPr>
          <p:cNvPr id="21" name="Text 19"/>
          <p:cNvSpPr txBox="1"/>
          <p:nvPr/>
        </p:nvSpPr>
        <p:spPr>
          <a:xfrm>
            <a:off x="6583680" y="1700784"/>
            <a:ext cx="914400" cy="347472"/>
          </a:xfrm>
          <a:prstGeom prst="rect">
            <a:avLst/>
          </a:prstGeom>
          <a:noFill/>
          <a:ln/>
        </p:spPr>
        <p:txBody>
          <a:bodyPr wrap="square" lIns="0" tIns="0" rIns="0" bIns="0" rtlCol="0" anchor="ctr"/>
          <a:lstStyle/>
          <a:p>
            <a:pPr marL="0" indent="0" algn="r">
              <a:buNone/>
            </a:pPr>
            <a:r>
              <a:rPr lang="en-US" sz="900" b="1" kern="0" spc="120" dirty="0">
                <a:solidFill>
                  <a:srgbClr val="A3B4C4"/>
                </a:solidFill>
                <a:latin typeface="Arial" pitchFamily="34" charset="0"/>
                <a:ea typeface="Arial" pitchFamily="34" charset="-122"/>
                <a:cs typeface="Arial" pitchFamily="34" charset="-120"/>
              </a:rPr>
              <a:t>ROUTE 1</a:t>
            </a:r>
            <a:endParaRPr lang="en-US" sz="900" dirty="0"/>
          </a:p>
        </p:txBody>
      </p:sp>
      <p:sp>
        <p:nvSpPr>
          <p:cNvPr id="22" name="Shape 20"/>
          <p:cNvSpPr/>
          <p:nvPr/>
        </p:nvSpPr>
        <p:spPr>
          <a:xfrm>
            <a:off x="7726680" y="2732227"/>
            <a:ext cx="3566160" cy="22860"/>
          </a:xfrm>
          <a:prstGeom prst="rect">
            <a:avLst/>
          </a:prstGeom>
          <a:solidFill>
            <a:srgbClr val="34465A"/>
          </a:solidFill>
          <a:ln/>
        </p:spPr>
      </p:sp>
      <p:sp>
        <p:nvSpPr>
          <p:cNvPr id="23" name="Shape 21"/>
          <p:cNvSpPr/>
          <p:nvPr/>
        </p:nvSpPr>
        <p:spPr>
          <a:xfrm>
            <a:off x="7635240" y="2651760"/>
            <a:ext cx="182880" cy="182880"/>
          </a:xfrm>
          <a:prstGeom prst="ellipse">
            <a:avLst/>
          </a:prstGeom>
          <a:solidFill>
            <a:srgbClr val="4FD1C2"/>
          </a:solidFill>
          <a:ln w="12700">
            <a:solidFill>
              <a:srgbClr val="4FD1C2"/>
            </a:solidFill>
            <a:prstDash val="solid"/>
          </a:ln>
        </p:spPr>
      </p:sp>
      <p:sp>
        <p:nvSpPr>
          <p:cNvPr id="24" name="Shape 22"/>
          <p:cNvSpPr/>
          <p:nvPr/>
        </p:nvSpPr>
        <p:spPr>
          <a:xfrm>
            <a:off x="8823960" y="2651760"/>
            <a:ext cx="182880" cy="182880"/>
          </a:xfrm>
          <a:prstGeom prst="ellipse">
            <a:avLst/>
          </a:prstGeom>
          <a:solidFill>
            <a:srgbClr val="4FD1C2"/>
          </a:solidFill>
          <a:ln w="12700">
            <a:solidFill>
              <a:srgbClr val="4FD1C2"/>
            </a:solidFill>
            <a:prstDash val="solid"/>
          </a:ln>
        </p:spPr>
      </p:sp>
      <p:sp>
        <p:nvSpPr>
          <p:cNvPr id="25" name="Shape 23"/>
          <p:cNvSpPr/>
          <p:nvPr/>
        </p:nvSpPr>
        <p:spPr>
          <a:xfrm>
            <a:off x="10012680" y="2651760"/>
            <a:ext cx="182880" cy="182880"/>
          </a:xfrm>
          <a:prstGeom prst="ellipse">
            <a:avLst/>
          </a:prstGeom>
          <a:solidFill>
            <a:srgbClr val="4FD1C2"/>
          </a:solidFill>
          <a:ln w="12700">
            <a:solidFill>
              <a:srgbClr val="4FD1C2"/>
            </a:solidFill>
            <a:prstDash val="solid"/>
          </a:ln>
        </p:spPr>
      </p:sp>
      <p:sp>
        <p:nvSpPr>
          <p:cNvPr id="26" name="Shape 24"/>
          <p:cNvSpPr/>
          <p:nvPr/>
        </p:nvSpPr>
        <p:spPr>
          <a:xfrm>
            <a:off x="11201400" y="2651760"/>
            <a:ext cx="182880" cy="182880"/>
          </a:xfrm>
          <a:prstGeom prst="ellipse">
            <a:avLst/>
          </a:prstGeom>
          <a:solidFill>
            <a:srgbClr val="22303F"/>
          </a:solidFill>
          <a:ln w="12700">
            <a:solidFill>
              <a:srgbClr val="34465A"/>
            </a:solidFill>
            <a:prstDash val="solid"/>
          </a:ln>
        </p:spPr>
      </p:sp>
      <p:sp>
        <p:nvSpPr>
          <p:cNvPr id="27" name="Text 25"/>
          <p:cNvSpPr txBox="1"/>
          <p:nvPr/>
        </p:nvSpPr>
        <p:spPr>
          <a:xfrm>
            <a:off x="6583680" y="2569464"/>
            <a:ext cx="914400" cy="347472"/>
          </a:xfrm>
          <a:prstGeom prst="rect">
            <a:avLst/>
          </a:prstGeom>
          <a:noFill/>
          <a:ln/>
        </p:spPr>
        <p:txBody>
          <a:bodyPr wrap="square" lIns="0" tIns="0" rIns="0" bIns="0" rtlCol="0" anchor="ctr"/>
          <a:lstStyle/>
          <a:p>
            <a:pPr marL="0" indent="0" algn="r">
              <a:buNone/>
            </a:pPr>
            <a:r>
              <a:rPr lang="en-US" sz="900" b="1" kern="0" spc="120" dirty="0">
                <a:solidFill>
                  <a:srgbClr val="A3B4C4"/>
                </a:solidFill>
                <a:latin typeface="Arial" pitchFamily="34" charset="0"/>
                <a:ea typeface="Arial" pitchFamily="34" charset="-122"/>
                <a:cs typeface="Arial" pitchFamily="34" charset="-120"/>
              </a:rPr>
              <a:t>ROUTE 2</a:t>
            </a:r>
            <a:endParaRPr lang="en-US" sz="900" dirty="0"/>
          </a:p>
        </p:txBody>
      </p:sp>
      <p:sp>
        <p:nvSpPr>
          <p:cNvPr id="28" name="Shape 26"/>
          <p:cNvSpPr/>
          <p:nvPr/>
        </p:nvSpPr>
        <p:spPr>
          <a:xfrm>
            <a:off x="7726680" y="3600907"/>
            <a:ext cx="3566160" cy="22860"/>
          </a:xfrm>
          <a:prstGeom prst="rect">
            <a:avLst/>
          </a:prstGeom>
          <a:solidFill>
            <a:srgbClr val="34465A"/>
          </a:solidFill>
          <a:ln/>
        </p:spPr>
      </p:sp>
      <p:sp>
        <p:nvSpPr>
          <p:cNvPr id="29" name="Shape 27"/>
          <p:cNvSpPr/>
          <p:nvPr/>
        </p:nvSpPr>
        <p:spPr>
          <a:xfrm>
            <a:off x="7635240" y="3520440"/>
            <a:ext cx="182880" cy="182880"/>
          </a:xfrm>
          <a:prstGeom prst="ellipse">
            <a:avLst/>
          </a:prstGeom>
          <a:solidFill>
            <a:srgbClr val="FF9E5E"/>
          </a:solidFill>
          <a:ln w="12700">
            <a:solidFill>
              <a:srgbClr val="FF9E5E"/>
            </a:solidFill>
            <a:prstDash val="solid"/>
          </a:ln>
        </p:spPr>
      </p:sp>
      <p:sp>
        <p:nvSpPr>
          <p:cNvPr id="30" name="Shape 28"/>
          <p:cNvSpPr/>
          <p:nvPr/>
        </p:nvSpPr>
        <p:spPr>
          <a:xfrm>
            <a:off x="8526780" y="3520440"/>
            <a:ext cx="182880" cy="182880"/>
          </a:xfrm>
          <a:prstGeom prst="ellipse">
            <a:avLst/>
          </a:prstGeom>
          <a:solidFill>
            <a:srgbClr val="FF9E5E"/>
          </a:solidFill>
          <a:ln w="12700">
            <a:solidFill>
              <a:srgbClr val="FF9E5E"/>
            </a:solidFill>
            <a:prstDash val="solid"/>
          </a:ln>
        </p:spPr>
      </p:sp>
      <p:sp>
        <p:nvSpPr>
          <p:cNvPr id="31" name="Shape 29"/>
          <p:cNvSpPr/>
          <p:nvPr/>
        </p:nvSpPr>
        <p:spPr>
          <a:xfrm>
            <a:off x="9418320" y="3520440"/>
            <a:ext cx="182880" cy="182880"/>
          </a:xfrm>
          <a:prstGeom prst="ellipse">
            <a:avLst/>
          </a:prstGeom>
          <a:solidFill>
            <a:srgbClr val="FF9E5E"/>
          </a:solidFill>
          <a:ln w="12700">
            <a:solidFill>
              <a:srgbClr val="FF9E5E"/>
            </a:solidFill>
            <a:prstDash val="solid"/>
          </a:ln>
        </p:spPr>
      </p:sp>
      <p:sp>
        <p:nvSpPr>
          <p:cNvPr id="32" name="Shape 30"/>
          <p:cNvSpPr/>
          <p:nvPr/>
        </p:nvSpPr>
        <p:spPr>
          <a:xfrm>
            <a:off x="10309860" y="3520440"/>
            <a:ext cx="182880" cy="182880"/>
          </a:xfrm>
          <a:prstGeom prst="ellipse">
            <a:avLst/>
          </a:prstGeom>
          <a:solidFill>
            <a:srgbClr val="FF9E5E"/>
          </a:solidFill>
          <a:ln w="12700">
            <a:solidFill>
              <a:srgbClr val="FF9E5E"/>
            </a:solidFill>
            <a:prstDash val="solid"/>
          </a:ln>
        </p:spPr>
      </p:sp>
      <p:sp>
        <p:nvSpPr>
          <p:cNvPr id="33" name="Shape 31"/>
          <p:cNvSpPr/>
          <p:nvPr/>
        </p:nvSpPr>
        <p:spPr>
          <a:xfrm>
            <a:off x="11201400" y="3520440"/>
            <a:ext cx="182880" cy="182880"/>
          </a:xfrm>
          <a:prstGeom prst="ellipse">
            <a:avLst/>
          </a:prstGeom>
          <a:solidFill>
            <a:srgbClr val="22303F"/>
          </a:solidFill>
          <a:ln w="12700">
            <a:solidFill>
              <a:srgbClr val="34465A"/>
            </a:solidFill>
            <a:prstDash val="solid"/>
          </a:ln>
        </p:spPr>
      </p:sp>
      <p:sp>
        <p:nvSpPr>
          <p:cNvPr id="34" name="Text 32"/>
          <p:cNvSpPr txBox="1"/>
          <p:nvPr/>
        </p:nvSpPr>
        <p:spPr>
          <a:xfrm>
            <a:off x="6583680" y="3438144"/>
            <a:ext cx="914400" cy="347472"/>
          </a:xfrm>
          <a:prstGeom prst="rect">
            <a:avLst/>
          </a:prstGeom>
          <a:noFill/>
          <a:ln/>
        </p:spPr>
        <p:txBody>
          <a:bodyPr wrap="square" lIns="0" tIns="0" rIns="0" bIns="0" rtlCol="0" anchor="ctr"/>
          <a:lstStyle/>
          <a:p>
            <a:pPr marL="0" indent="0" algn="r">
              <a:buNone/>
            </a:pPr>
            <a:r>
              <a:rPr lang="en-US" sz="900" b="1" kern="0" spc="120" dirty="0">
                <a:solidFill>
                  <a:srgbClr val="A3B4C4"/>
                </a:solidFill>
                <a:latin typeface="Arial" pitchFamily="34" charset="0"/>
                <a:ea typeface="Arial" pitchFamily="34" charset="-122"/>
                <a:cs typeface="Arial" pitchFamily="34" charset="-120"/>
              </a:rPr>
              <a:t>ROUTE 3</a:t>
            </a:r>
            <a:endParaRPr lang="en-US" sz="900" dirty="0"/>
          </a:p>
        </p:txBody>
      </p:sp>
      <p:sp>
        <p:nvSpPr>
          <p:cNvPr id="35" name="Shape 33"/>
          <p:cNvSpPr/>
          <p:nvPr/>
        </p:nvSpPr>
        <p:spPr>
          <a:xfrm>
            <a:off x="9052560" y="4315968"/>
            <a:ext cx="914400" cy="914400"/>
          </a:xfrm>
          <a:prstGeom prst="ellipse">
            <a:avLst/>
          </a:prstGeom>
          <a:solidFill>
            <a:srgbClr val="E85D04"/>
          </a:solidFill>
          <a:ln/>
        </p:spPr>
      </p:sp>
      <p:pic>
        <p:nvPicPr>
          <p:cNvPr id="36" name="Image 0" descr="preencoded.png"/>
          <p:cNvPicPr>
            <a:picLocks noChangeAspect="1"/>
          </p:cNvPicPr>
          <p:nvPr/>
        </p:nvPicPr>
        <p:blipFill>
          <a:blip r:embed="rId3"/>
          <a:stretch>
            <a:fillRect/>
          </a:stretch>
        </p:blipFill>
        <p:spPr>
          <a:xfrm>
            <a:off x="9262872" y="4562856"/>
            <a:ext cx="493776" cy="4206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5E6D7D"/>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5E6D7D"/>
                </a:solidFill>
                <a:latin typeface="Arial" pitchFamily="34" charset="0"/>
                <a:ea typeface="Arial" pitchFamily="34" charset="-122"/>
                <a:cs typeface="Arial" pitchFamily="34" charset="-120"/>
              </a:rPr>
              <a:t>02</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THE CHALLENGE</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16202B"/>
                </a:solidFill>
                <a:latin typeface="Arial" pitchFamily="34" charset="0"/>
                <a:ea typeface="Arial" pitchFamily="34" charset="-122"/>
                <a:cs typeface="Arial" pitchFamily="34" charset="-120"/>
              </a:rPr>
              <a:t>Where plant movement breaks down today</a:t>
            </a:r>
            <a:endParaRPr lang="en-US" sz="3000" dirty="0"/>
          </a:p>
        </p:txBody>
      </p:sp>
      <p:sp>
        <p:nvSpPr>
          <p:cNvPr id="6" name="Shape 4"/>
          <p:cNvSpPr/>
          <p:nvPr/>
        </p:nvSpPr>
        <p:spPr>
          <a:xfrm>
            <a:off x="566928" y="1572768"/>
            <a:ext cx="3484778" cy="1783080"/>
          </a:xfrm>
          <a:prstGeom prst="roundRect">
            <a:avLst>
              <a:gd name="adj" fmla="val 6154"/>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7" name="Shape 5"/>
          <p:cNvSpPr/>
          <p:nvPr/>
        </p:nvSpPr>
        <p:spPr>
          <a:xfrm>
            <a:off x="841248" y="1828800"/>
            <a:ext cx="493776" cy="493776"/>
          </a:xfrm>
          <a:prstGeom prst="ellipse">
            <a:avLst/>
          </a:prstGeom>
          <a:solidFill>
            <a:srgbClr val="FFEDE0"/>
          </a:solidFill>
          <a:ln/>
        </p:spPr>
      </p:sp>
      <p:pic>
        <p:nvPicPr>
          <p:cNvPr id="8" name="Image 0" descr="preencoded.png"/>
          <p:cNvPicPr>
            <a:picLocks noChangeAspect="1"/>
          </p:cNvPicPr>
          <p:nvPr/>
        </p:nvPicPr>
        <p:blipFill>
          <a:blip r:embed="rId3"/>
          <a:stretch>
            <a:fillRect/>
          </a:stretch>
        </p:blipFill>
        <p:spPr>
          <a:xfrm>
            <a:off x="969630" y="1957182"/>
            <a:ext cx="237012" cy="237012"/>
          </a:xfrm>
          <a:prstGeom prst="rect">
            <a:avLst/>
          </a:prstGeom>
        </p:spPr>
      </p:pic>
      <p:sp>
        <p:nvSpPr>
          <p:cNvPr id="9" name="Text 6"/>
          <p:cNvSpPr txBox="1"/>
          <p:nvPr/>
        </p:nvSpPr>
        <p:spPr>
          <a:xfrm>
            <a:off x="841248" y="2414016"/>
            <a:ext cx="2936138" cy="274320"/>
          </a:xfrm>
          <a:prstGeom prst="rect">
            <a:avLst/>
          </a:prstGeom>
          <a:noFill/>
          <a:ln/>
        </p:spPr>
        <p:txBody>
          <a:bodyPr wrap="square" lIns="0" tIns="0" rIns="0" bIns="0" rtlCol="0" anchor="ctr"/>
          <a:lstStyle/>
          <a:p>
            <a:pPr marL="0" indent="0">
              <a:buNone/>
            </a:pPr>
            <a:r>
              <a:rPr lang="en-US" sz="1350" b="1" dirty="0">
                <a:solidFill>
                  <a:srgbClr val="16202B"/>
                </a:solidFill>
                <a:latin typeface="Arial" pitchFamily="34" charset="0"/>
                <a:ea typeface="Arial" pitchFamily="34" charset="-122"/>
                <a:cs typeface="Arial" pitchFamily="34" charset="-120"/>
              </a:rPr>
              <a:t>Waiting in the dark</a:t>
            </a:r>
            <a:endParaRPr lang="en-US" sz="1350" dirty="0"/>
          </a:p>
        </p:txBody>
      </p:sp>
      <p:sp>
        <p:nvSpPr>
          <p:cNvPr id="10" name="Text 7"/>
          <p:cNvSpPr txBox="1"/>
          <p:nvPr/>
        </p:nvSpPr>
        <p:spPr>
          <a:xfrm>
            <a:off x="841248" y="2706624"/>
            <a:ext cx="2936138" cy="548640"/>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Employees don't know when a cab will arrive, or whether it has a free seat.</a:t>
            </a:r>
            <a:endParaRPr lang="en-US" sz="1100" dirty="0"/>
          </a:p>
        </p:txBody>
      </p:sp>
      <p:sp>
        <p:nvSpPr>
          <p:cNvPr id="11" name="Shape 8"/>
          <p:cNvSpPr/>
          <p:nvPr/>
        </p:nvSpPr>
        <p:spPr>
          <a:xfrm>
            <a:off x="4353458" y="1572768"/>
            <a:ext cx="3484778" cy="1783080"/>
          </a:xfrm>
          <a:prstGeom prst="roundRect">
            <a:avLst>
              <a:gd name="adj" fmla="val 6154"/>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12" name="Shape 9"/>
          <p:cNvSpPr/>
          <p:nvPr/>
        </p:nvSpPr>
        <p:spPr>
          <a:xfrm>
            <a:off x="4627778" y="1828800"/>
            <a:ext cx="493776" cy="493776"/>
          </a:xfrm>
          <a:prstGeom prst="ellipse">
            <a:avLst/>
          </a:prstGeom>
          <a:solidFill>
            <a:srgbClr val="FFEDE0"/>
          </a:solidFill>
          <a:ln/>
        </p:spPr>
      </p:sp>
      <p:pic>
        <p:nvPicPr>
          <p:cNvPr id="13" name="Image 1" descr="preencoded.png"/>
          <p:cNvPicPr>
            <a:picLocks noChangeAspect="1"/>
          </p:cNvPicPr>
          <p:nvPr/>
        </p:nvPicPr>
        <p:blipFill>
          <a:blip r:embed="rId4"/>
          <a:stretch>
            <a:fillRect/>
          </a:stretch>
        </p:blipFill>
        <p:spPr>
          <a:xfrm>
            <a:off x="4756160" y="1957182"/>
            <a:ext cx="237012" cy="237012"/>
          </a:xfrm>
          <a:prstGeom prst="rect">
            <a:avLst/>
          </a:prstGeom>
        </p:spPr>
      </p:pic>
      <p:sp>
        <p:nvSpPr>
          <p:cNvPr id="14" name="Text 10"/>
          <p:cNvSpPr txBox="1"/>
          <p:nvPr/>
        </p:nvSpPr>
        <p:spPr>
          <a:xfrm>
            <a:off x="4627778" y="2414016"/>
            <a:ext cx="2936138" cy="274320"/>
          </a:xfrm>
          <a:prstGeom prst="rect">
            <a:avLst/>
          </a:prstGeom>
          <a:noFill/>
          <a:ln/>
        </p:spPr>
        <p:txBody>
          <a:bodyPr wrap="square" lIns="0" tIns="0" rIns="0" bIns="0" rtlCol="0" anchor="ctr"/>
          <a:lstStyle/>
          <a:p>
            <a:pPr marL="0" indent="0">
              <a:buNone/>
            </a:pPr>
            <a:r>
              <a:rPr lang="en-US" sz="1350" b="1" dirty="0">
                <a:solidFill>
                  <a:srgbClr val="16202B"/>
                </a:solidFill>
                <a:latin typeface="Arial" pitchFamily="34" charset="0"/>
                <a:ea typeface="Arial" pitchFamily="34" charset="-122"/>
                <a:cs typeface="Arial" pitchFamily="34" charset="-120"/>
              </a:rPr>
              <a:t>Manual booking</a:t>
            </a:r>
            <a:endParaRPr lang="en-US" sz="1350" dirty="0"/>
          </a:p>
        </p:txBody>
      </p:sp>
      <p:sp>
        <p:nvSpPr>
          <p:cNvPr id="15" name="Text 11"/>
          <p:cNvSpPr txBox="1"/>
          <p:nvPr/>
        </p:nvSpPr>
        <p:spPr>
          <a:xfrm>
            <a:off x="4627778" y="2706624"/>
            <a:ext cx="2936138" cy="548640"/>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Rides are arranged by phone calls and a register at the transport desk.</a:t>
            </a:r>
            <a:endParaRPr lang="en-US" sz="1100" dirty="0"/>
          </a:p>
        </p:txBody>
      </p:sp>
      <p:sp>
        <p:nvSpPr>
          <p:cNvPr id="16" name="Shape 12"/>
          <p:cNvSpPr/>
          <p:nvPr/>
        </p:nvSpPr>
        <p:spPr>
          <a:xfrm>
            <a:off x="8139989" y="1572768"/>
            <a:ext cx="3484778" cy="1783080"/>
          </a:xfrm>
          <a:prstGeom prst="roundRect">
            <a:avLst>
              <a:gd name="adj" fmla="val 6154"/>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17" name="Shape 13"/>
          <p:cNvSpPr/>
          <p:nvPr/>
        </p:nvSpPr>
        <p:spPr>
          <a:xfrm>
            <a:off x="8414309" y="1828800"/>
            <a:ext cx="493776" cy="493776"/>
          </a:xfrm>
          <a:prstGeom prst="ellipse">
            <a:avLst/>
          </a:prstGeom>
          <a:solidFill>
            <a:srgbClr val="FFEDE0"/>
          </a:solidFill>
          <a:ln/>
        </p:spPr>
      </p:sp>
      <p:pic>
        <p:nvPicPr>
          <p:cNvPr id="18" name="Image 2" descr="preencoded.png"/>
          <p:cNvPicPr>
            <a:picLocks noChangeAspect="1"/>
          </p:cNvPicPr>
          <p:nvPr/>
        </p:nvPicPr>
        <p:blipFill>
          <a:blip r:embed="rId5"/>
          <a:stretch>
            <a:fillRect/>
          </a:stretch>
        </p:blipFill>
        <p:spPr>
          <a:xfrm>
            <a:off x="8542691" y="1957182"/>
            <a:ext cx="237012" cy="237012"/>
          </a:xfrm>
          <a:prstGeom prst="rect">
            <a:avLst/>
          </a:prstGeom>
        </p:spPr>
      </p:pic>
      <p:sp>
        <p:nvSpPr>
          <p:cNvPr id="19" name="Text 14"/>
          <p:cNvSpPr txBox="1"/>
          <p:nvPr/>
        </p:nvSpPr>
        <p:spPr>
          <a:xfrm>
            <a:off x="8414309" y="2414016"/>
            <a:ext cx="2936138" cy="274320"/>
          </a:xfrm>
          <a:prstGeom prst="rect">
            <a:avLst/>
          </a:prstGeom>
          <a:noFill/>
          <a:ln/>
        </p:spPr>
        <p:txBody>
          <a:bodyPr wrap="square" lIns="0" tIns="0" rIns="0" bIns="0" rtlCol="0" anchor="ctr"/>
          <a:lstStyle/>
          <a:p>
            <a:pPr marL="0" indent="0">
              <a:buNone/>
            </a:pPr>
            <a:r>
              <a:rPr lang="en-US" sz="1350" b="1" dirty="0">
                <a:solidFill>
                  <a:srgbClr val="16202B"/>
                </a:solidFill>
                <a:latin typeface="Arial" pitchFamily="34" charset="0"/>
                <a:ea typeface="Arial" pitchFamily="34" charset="-122"/>
                <a:cs typeface="Arial" pitchFamily="34" charset="-120"/>
              </a:rPr>
              <a:t>Half-empty cabs</a:t>
            </a:r>
            <a:endParaRPr lang="en-US" sz="1350" dirty="0"/>
          </a:p>
        </p:txBody>
      </p:sp>
      <p:sp>
        <p:nvSpPr>
          <p:cNvPr id="20" name="Text 15"/>
          <p:cNvSpPr txBox="1"/>
          <p:nvPr/>
        </p:nvSpPr>
        <p:spPr>
          <a:xfrm>
            <a:off x="8414309" y="2706624"/>
            <a:ext cx="2936138" cy="548640"/>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Cabs often run with a single rider while others wait for the same route.</a:t>
            </a:r>
            <a:endParaRPr lang="en-US" sz="1100" dirty="0"/>
          </a:p>
        </p:txBody>
      </p:sp>
      <p:sp>
        <p:nvSpPr>
          <p:cNvPr id="21" name="Shape 16"/>
          <p:cNvSpPr/>
          <p:nvPr/>
        </p:nvSpPr>
        <p:spPr>
          <a:xfrm>
            <a:off x="566928" y="3630168"/>
            <a:ext cx="3484778" cy="1783080"/>
          </a:xfrm>
          <a:prstGeom prst="roundRect">
            <a:avLst>
              <a:gd name="adj" fmla="val 6154"/>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22" name="Shape 17"/>
          <p:cNvSpPr/>
          <p:nvPr/>
        </p:nvSpPr>
        <p:spPr>
          <a:xfrm>
            <a:off x="841248" y="3886200"/>
            <a:ext cx="493776" cy="493776"/>
          </a:xfrm>
          <a:prstGeom prst="ellipse">
            <a:avLst/>
          </a:prstGeom>
          <a:solidFill>
            <a:srgbClr val="FFEDE0"/>
          </a:solidFill>
          <a:ln/>
        </p:spPr>
      </p:sp>
      <p:pic>
        <p:nvPicPr>
          <p:cNvPr id="23" name="Image 3" descr="preencoded.png"/>
          <p:cNvPicPr>
            <a:picLocks noChangeAspect="1"/>
          </p:cNvPicPr>
          <p:nvPr/>
        </p:nvPicPr>
        <p:blipFill>
          <a:blip r:embed="rId6"/>
          <a:stretch>
            <a:fillRect/>
          </a:stretch>
        </p:blipFill>
        <p:spPr>
          <a:xfrm>
            <a:off x="969630" y="4014582"/>
            <a:ext cx="237012" cy="237012"/>
          </a:xfrm>
          <a:prstGeom prst="rect">
            <a:avLst/>
          </a:prstGeom>
        </p:spPr>
      </p:pic>
      <p:sp>
        <p:nvSpPr>
          <p:cNvPr id="24" name="Text 18"/>
          <p:cNvSpPr txBox="1"/>
          <p:nvPr/>
        </p:nvSpPr>
        <p:spPr>
          <a:xfrm>
            <a:off x="841248" y="4471416"/>
            <a:ext cx="2936138" cy="274320"/>
          </a:xfrm>
          <a:prstGeom prst="rect">
            <a:avLst/>
          </a:prstGeom>
          <a:noFill/>
          <a:ln/>
        </p:spPr>
        <p:txBody>
          <a:bodyPr wrap="square" lIns="0" tIns="0" rIns="0" bIns="0" rtlCol="0" anchor="ctr"/>
          <a:lstStyle/>
          <a:p>
            <a:pPr marL="0" indent="0">
              <a:buNone/>
            </a:pPr>
            <a:r>
              <a:rPr lang="en-US" sz="1350" b="1" dirty="0">
                <a:solidFill>
                  <a:srgbClr val="16202B"/>
                </a:solidFill>
                <a:latin typeface="Arial" pitchFamily="34" charset="0"/>
                <a:ea typeface="Arial" pitchFamily="34" charset="-122"/>
                <a:cs typeface="Arial" pitchFamily="34" charset="-120"/>
              </a:rPr>
              <a:t>Cost not traced</a:t>
            </a:r>
            <a:endParaRPr lang="en-US" sz="1350" dirty="0"/>
          </a:p>
        </p:txBody>
      </p:sp>
      <p:sp>
        <p:nvSpPr>
          <p:cNvPr id="25" name="Text 19"/>
          <p:cNvSpPr txBox="1"/>
          <p:nvPr/>
        </p:nvSpPr>
        <p:spPr>
          <a:xfrm>
            <a:off x="841248" y="4764024"/>
            <a:ext cx="2936138" cy="548640"/>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Transport spend lands in general overhead, not on the department that used it.</a:t>
            </a:r>
            <a:endParaRPr lang="en-US" sz="1100" dirty="0"/>
          </a:p>
        </p:txBody>
      </p:sp>
      <p:sp>
        <p:nvSpPr>
          <p:cNvPr id="26" name="Shape 20"/>
          <p:cNvSpPr/>
          <p:nvPr/>
        </p:nvSpPr>
        <p:spPr>
          <a:xfrm>
            <a:off x="4353458" y="3630168"/>
            <a:ext cx="3484778" cy="1783080"/>
          </a:xfrm>
          <a:prstGeom prst="roundRect">
            <a:avLst>
              <a:gd name="adj" fmla="val 6154"/>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27" name="Shape 21"/>
          <p:cNvSpPr/>
          <p:nvPr/>
        </p:nvSpPr>
        <p:spPr>
          <a:xfrm>
            <a:off x="4627778" y="3886200"/>
            <a:ext cx="493776" cy="493776"/>
          </a:xfrm>
          <a:prstGeom prst="ellipse">
            <a:avLst/>
          </a:prstGeom>
          <a:solidFill>
            <a:srgbClr val="FFEDE0"/>
          </a:solidFill>
          <a:ln/>
        </p:spPr>
      </p:sp>
      <p:pic>
        <p:nvPicPr>
          <p:cNvPr id="28" name="Image 4" descr="preencoded.png"/>
          <p:cNvPicPr>
            <a:picLocks noChangeAspect="1"/>
          </p:cNvPicPr>
          <p:nvPr/>
        </p:nvPicPr>
        <p:blipFill>
          <a:blip r:embed="rId7"/>
          <a:stretch>
            <a:fillRect/>
          </a:stretch>
        </p:blipFill>
        <p:spPr>
          <a:xfrm>
            <a:off x="4756160" y="4014582"/>
            <a:ext cx="237012" cy="237012"/>
          </a:xfrm>
          <a:prstGeom prst="rect">
            <a:avLst/>
          </a:prstGeom>
        </p:spPr>
      </p:pic>
      <p:sp>
        <p:nvSpPr>
          <p:cNvPr id="29" name="Text 22"/>
          <p:cNvSpPr txBox="1"/>
          <p:nvPr/>
        </p:nvSpPr>
        <p:spPr>
          <a:xfrm>
            <a:off x="4627778" y="4471416"/>
            <a:ext cx="2936138" cy="274320"/>
          </a:xfrm>
          <a:prstGeom prst="rect">
            <a:avLst/>
          </a:prstGeom>
          <a:noFill/>
          <a:ln/>
        </p:spPr>
        <p:txBody>
          <a:bodyPr wrap="square" lIns="0" tIns="0" rIns="0" bIns="0" rtlCol="0" anchor="ctr"/>
          <a:lstStyle/>
          <a:p>
            <a:pPr marL="0" indent="0">
              <a:buNone/>
            </a:pPr>
            <a:r>
              <a:rPr lang="en-US" sz="1350" b="1" dirty="0">
                <a:solidFill>
                  <a:srgbClr val="16202B"/>
                </a:solidFill>
                <a:latin typeface="Arial" pitchFamily="34" charset="0"/>
                <a:ea typeface="Arial" pitchFamily="34" charset="-122"/>
                <a:cs typeface="Arial" pitchFamily="34" charset="-120"/>
              </a:rPr>
              <a:t>No live visibility</a:t>
            </a:r>
            <a:endParaRPr lang="en-US" sz="1350" dirty="0"/>
          </a:p>
        </p:txBody>
      </p:sp>
      <p:sp>
        <p:nvSpPr>
          <p:cNvPr id="30" name="Text 23"/>
          <p:cNvSpPr txBox="1"/>
          <p:nvPr/>
        </p:nvSpPr>
        <p:spPr>
          <a:xfrm>
            <a:off x="4627778" y="4764024"/>
            <a:ext cx="2936138" cy="548640"/>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Speeding, route changes and SOS events are hard to see while they happen.</a:t>
            </a:r>
            <a:endParaRPr lang="en-US" sz="1100" dirty="0"/>
          </a:p>
        </p:txBody>
      </p:sp>
      <p:sp>
        <p:nvSpPr>
          <p:cNvPr id="31" name="Shape 24"/>
          <p:cNvSpPr/>
          <p:nvPr/>
        </p:nvSpPr>
        <p:spPr>
          <a:xfrm>
            <a:off x="8139989" y="3630168"/>
            <a:ext cx="3484778" cy="1783080"/>
          </a:xfrm>
          <a:prstGeom prst="roundRect">
            <a:avLst>
              <a:gd name="adj" fmla="val 6154"/>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32" name="Shape 25"/>
          <p:cNvSpPr/>
          <p:nvPr/>
        </p:nvSpPr>
        <p:spPr>
          <a:xfrm>
            <a:off x="8414309" y="3886200"/>
            <a:ext cx="493776" cy="493776"/>
          </a:xfrm>
          <a:prstGeom prst="ellipse">
            <a:avLst/>
          </a:prstGeom>
          <a:solidFill>
            <a:srgbClr val="FFEDE0"/>
          </a:solidFill>
          <a:ln/>
        </p:spPr>
      </p:sp>
      <p:pic>
        <p:nvPicPr>
          <p:cNvPr id="33" name="Image 5" descr="preencoded.png"/>
          <p:cNvPicPr>
            <a:picLocks noChangeAspect="1"/>
          </p:cNvPicPr>
          <p:nvPr/>
        </p:nvPicPr>
        <p:blipFill>
          <a:blip r:embed="rId8"/>
          <a:stretch>
            <a:fillRect/>
          </a:stretch>
        </p:blipFill>
        <p:spPr>
          <a:xfrm>
            <a:off x="8542691" y="4014582"/>
            <a:ext cx="237012" cy="237012"/>
          </a:xfrm>
          <a:prstGeom prst="rect">
            <a:avLst/>
          </a:prstGeom>
        </p:spPr>
      </p:pic>
      <p:sp>
        <p:nvSpPr>
          <p:cNvPr id="34" name="Text 26"/>
          <p:cNvSpPr txBox="1"/>
          <p:nvPr/>
        </p:nvSpPr>
        <p:spPr>
          <a:xfrm>
            <a:off x="8414309" y="4471416"/>
            <a:ext cx="2936138" cy="274320"/>
          </a:xfrm>
          <a:prstGeom prst="rect">
            <a:avLst/>
          </a:prstGeom>
          <a:noFill/>
          <a:ln/>
        </p:spPr>
        <p:txBody>
          <a:bodyPr wrap="square" lIns="0" tIns="0" rIns="0" bIns="0" rtlCol="0" anchor="ctr"/>
          <a:lstStyle/>
          <a:p>
            <a:pPr marL="0" indent="0">
              <a:buNone/>
            </a:pPr>
            <a:r>
              <a:rPr lang="en-US" sz="1350" b="1" dirty="0">
                <a:solidFill>
                  <a:srgbClr val="16202B"/>
                </a:solidFill>
                <a:latin typeface="Arial" pitchFamily="34" charset="0"/>
                <a:ea typeface="Arial" pitchFamily="34" charset="-122"/>
                <a:cs typeface="Arial" pitchFamily="34" charset="-120"/>
              </a:rPr>
              <a:t>Records scattered</a:t>
            </a:r>
            <a:endParaRPr lang="en-US" sz="1350" dirty="0"/>
          </a:p>
        </p:txBody>
      </p:sp>
      <p:sp>
        <p:nvSpPr>
          <p:cNvPr id="35" name="Text 27"/>
          <p:cNvSpPr txBox="1"/>
          <p:nvPr/>
        </p:nvSpPr>
        <p:spPr>
          <a:xfrm>
            <a:off x="8414309" y="4764024"/>
            <a:ext cx="2936138" cy="548640"/>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Gate passes, insurance validity, fuel and KM logs sit in separate registers.</a:t>
            </a:r>
            <a:endParaRPr lang="en-US" sz="1100" dirty="0"/>
          </a:p>
        </p:txBody>
      </p:sp>
      <p:sp>
        <p:nvSpPr>
          <p:cNvPr id="36" name="Shape 28"/>
          <p:cNvSpPr/>
          <p:nvPr/>
        </p:nvSpPr>
        <p:spPr>
          <a:xfrm>
            <a:off x="566928" y="5687568"/>
            <a:ext cx="11057839" cy="658368"/>
          </a:xfrm>
          <a:prstGeom prst="roundRect">
            <a:avLst>
              <a:gd name="adj" fmla="val 16667"/>
            </a:avLst>
          </a:prstGeom>
          <a:solidFill>
            <a:srgbClr val="0E141B"/>
          </a:solidFill>
          <a:ln/>
        </p:spPr>
      </p:sp>
      <p:sp>
        <p:nvSpPr>
          <p:cNvPr id="37" name="Text 29"/>
          <p:cNvSpPr txBox="1"/>
          <p:nvPr/>
        </p:nvSpPr>
        <p:spPr>
          <a:xfrm>
            <a:off x="877824" y="5687568"/>
            <a:ext cx="10436047" cy="658368"/>
          </a:xfrm>
          <a:prstGeom prst="rect">
            <a:avLst/>
          </a:prstGeom>
          <a:noFill/>
          <a:ln/>
        </p:spPr>
        <p:txBody>
          <a:bodyPr wrap="square" lIns="0" tIns="0" rIns="0" bIns="0" rtlCol="0" anchor="ctr"/>
          <a:lstStyle/>
          <a:p>
            <a:pPr marL="0" indent="0">
              <a:buNone/>
            </a:pPr>
            <a:r>
              <a:rPr lang="en-US" sz="1200" b="1" dirty="0">
                <a:solidFill>
                  <a:srgbClr val="FF9E5E"/>
                </a:solidFill>
                <a:latin typeface="Arial" pitchFamily="34" charset="0"/>
                <a:ea typeface="Arial" pitchFamily="34" charset="-122"/>
                <a:cs typeface="Arial" pitchFamily="34" charset="-120"/>
              </a:rPr>
              <a:t>The result   </a:t>
            </a:r>
            <a:r>
              <a:rPr lang="en-US" sz="1250" dirty="0">
                <a:solidFill>
                  <a:srgbClr val="FFFFFF"/>
                </a:solidFill>
                <a:latin typeface="Calibri" pitchFamily="34" charset="0"/>
                <a:ea typeface="Calibri" pitchFamily="34" charset="-122"/>
                <a:cs typeface="Calibri" pitchFamily="34" charset="-120"/>
              </a:rPr>
              <a:t>Lost working hours, more vehicles on the road than the plant needs, and weak control over fleet, safety and spend.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5E6D7D"/>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5E6D7D"/>
                </a:solidFill>
                <a:latin typeface="Arial" pitchFamily="34" charset="0"/>
                <a:ea typeface="Arial" pitchFamily="34" charset="-122"/>
                <a:cs typeface="Arial" pitchFamily="34" charset="-120"/>
              </a:rPr>
              <a:t>03</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THE GAP</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16202B"/>
                </a:solidFill>
                <a:latin typeface="Arial" pitchFamily="34" charset="0"/>
                <a:ea typeface="Arial" pitchFamily="34" charset="-122"/>
                <a:cs typeface="Arial" pitchFamily="34" charset="-120"/>
              </a:rPr>
              <a:t>What we change, and how we will know it worked</a:t>
            </a:r>
            <a:endParaRPr lang="en-US" sz="3000" dirty="0"/>
          </a:p>
        </p:txBody>
      </p:sp>
      <p:sp>
        <p:nvSpPr>
          <p:cNvPr id="6" name="Text 4"/>
          <p:cNvSpPr txBox="1"/>
          <p:nvPr/>
        </p:nvSpPr>
        <p:spPr>
          <a:xfrm>
            <a:off x="566928" y="1179576"/>
            <a:ext cx="9509742" cy="274320"/>
          </a:xfrm>
          <a:prstGeom prst="rect">
            <a:avLst/>
          </a:prstGeom>
          <a:noFill/>
          <a:ln/>
        </p:spPr>
        <p:txBody>
          <a:bodyPr wrap="square" lIns="0" tIns="0" rIns="0" bIns="0" rtlCol="0" anchor="ctr"/>
          <a:lstStyle/>
          <a:p>
            <a:pPr marL="0" indent="0">
              <a:buNone/>
            </a:pPr>
            <a:r>
              <a:rPr lang="en-US" sz="1300" dirty="0">
                <a:solidFill>
                  <a:srgbClr val="5E6D7D"/>
                </a:solidFill>
                <a:latin typeface="Calibri" pitchFamily="34" charset="0"/>
                <a:ea typeface="Calibri" pitchFamily="34" charset="-122"/>
                <a:cs typeface="Calibri" pitchFamily="34" charset="-120"/>
              </a:rPr>
              <a:t>Every claim on this slide becomes a measured number in the discovery workshop.</a:t>
            </a:r>
            <a:endParaRPr lang="en-US" sz="1300" dirty="0"/>
          </a:p>
        </p:txBody>
      </p:sp>
      <p:sp>
        <p:nvSpPr>
          <p:cNvPr id="7" name="Text 5"/>
          <p:cNvSpPr txBox="1"/>
          <p:nvPr/>
        </p:nvSpPr>
        <p:spPr>
          <a:xfrm>
            <a:off x="566928" y="1664208"/>
            <a:ext cx="4617720" cy="219456"/>
          </a:xfrm>
          <a:prstGeom prst="rect">
            <a:avLst/>
          </a:prstGeom>
          <a:noFill/>
          <a:ln/>
        </p:spPr>
        <p:txBody>
          <a:bodyPr wrap="square" lIns="0" tIns="0" rIns="0" bIns="0" rtlCol="0" anchor="t"/>
          <a:lstStyle/>
          <a:p>
            <a:pPr marL="0" indent="0">
              <a:buNone/>
            </a:pPr>
            <a:r>
              <a:rPr lang="en-US" sz="950" b="1" kern="0" spc="180" dirty="0">
                <a:solidFill>
                  <a:srgbClr val="5E6D7D"/>
                </a:solidFill>
                <a:latin typeface="Arial" pitchFamily="34" charset="0"/>
                <a:ea typeface="Arial" pitchFamily="34" charset="-122"/>
                <a:cs typeface="Arial" pitchFamily="34" charset="-120"/>
              </a:rPr>
              <a:t>TODAY  ·  ASSUMED</a:t>
            </a:r>
            <a:endParaRPr lang="en-US" sz="950" dirty="0"/>
          </a:p>
        </p:txBody>
      </p:sp>
      <p:sp>
        <p:nvSpPr>
          <p:cNvPr id="8" name="Text 6"/>
          <p:cNvSpPr txBox="1"/>
          <p:nvPr/>
        </p:nvSpPr>
        <p:spPr>
          <a:xfrm>
            <a:off x="5751576" y="1664208"/>
            <a:ext cx="5440680" cy="219456"/>
          </a:xfrm>
          <a:prstGeom prst="rect">
            <a:avLst/>
          </a:prstGeom>
          <a:noFill/>
          <a:ln/>
        </p:spPr>
        <p:txBody>
          <a:bodyPr wrap="square" lIns="0" tIns="0" rIns="0" bIns="0" rtlCol="0" anchor="t"/>
          <a:lstStyle/>
          <a:p>
            <a:pPr marL="0" indent="0">
              <a:buNone/>
            </a:pPr>
            <a:r>
              <a:rPr lang="en-US" sz="950" b="1" kern="0" spc="180" dirty="0">
                <a:solidFill>
                  <a:srgbClr val="00A896"/>
                </a:solidFill>
                <a:latin typeface="Arial" pitchFamily="34" charset="0"/>
                <a:ea typeface="Arial" pitchFamily="34" charset="-122"/>
                <a:cs typeface="Arial" pitchFamily="34" charset="-120"/>
              </a:rPr>
              <a:t>WITH PLANT RIDE</a:t>
            </a:r>
            <a:endParaRPr lang="en-US" sz="950" dirty="0"/>
          </a:p>
        </p:txBody>
      </p:sp>
      <p:sp>
        <p:nvSpPr>
          <p:cNvPr id="9" name="Shape 7"/>
          <p:cNvSpPr/>
          <p:nvPr/>
        </p:nvSpPr>
        <p:spPr>
          <a:xfrm>
            <a:off x="566928" y="1993392"/>
            <a:ext cx="4617720" cy="749808"/>
          </a:xfrm>
          <a:prstGeom prst="roundRect">
            <a:avLst>
              <a:gd name="adj" fmla="val 14634"/>
            </a:avLst>
          </a:prstGeom>
          <a:solidFill>
            <a:srgbClr val="F7F8FA"/>
          </a:solidFill>
          <a:ln w="12700">
            <a:solidFill>
              <a:srgbClr val="E8ECF1"/>
            </a:solidFill>
            <a:prstDash val="solid"/>
          </a:ln>
        </p:spPr>
      </p:sp>
      <p:sp>
        <p:nvSpPr>
          <p:cNvPr id="10" name="Text 8"/>
          <p:cNvSpPr txBox="1"/>
          <p:nvPr/>
        </p:nvSpPr>
        <p:spPr>
          <a:xfrm>
            <a:off x="822960" y="1993392"/>
            <a:ext cx="4105656" cy="749808"/>
          </a:xfrm>
          <a:prstGeom prst="rect">
            <a:avLst/>
          </a:prstGeom>
          <a:noFill/>
          <a:ln/>
        </p:spPr>
        <p:txBody>
          <a:bodyPr wrap="square" lIns="0" tIns="0" rIns="0" bIns="0" rtlCol="0" anchor="ctr"/>
          <a:lstStyle/>
          <a:p>
            <a:pPr marL="0" indent="0">
              <a:buNone/>
            </a:pPr>
            <a:r>
              <a:rPr lang="en-US" sz="1150" dirty="0">
                <a:solidFill>
                  <a:srgbClr val="5E6D7D"/>
                </a:solidFill>
                <a:latin typeface="Calibri" pitchFamily="34" charset="0"/>
                <a:ea typeface="Calibri" pitchFamily="34" charset="-122"/>
                <a:cs typeface="Calibri" pitchFamily="34" charset="-120"/>
              </a:rPr>
              <a:t>Booked by phone call or register at the desk</a:t>
            </a:r>
            <a:endParaRPr lang="en-US" sz="1150" dirty="0"/>
          </a:p>
        </p:txBody>
      </p:sp>
      <p:sp>
        <p:nvSpPr>
          <p:cNvPr id="11" name="Shape 9"/>
          <p:cNvSpPr/>
          <p:nvPr/>
        </p:nvSpPr>
        <p:spPr>
          <a:xfrm>
            <a:off x="5294376" y="2286000"/>
            <a:ext cx="347472" cy="164592"/>
          </a:xfrm>
          <a:prstGeom prst="rightArrow">
            <a:avLst/>
          </a:prstGeom>
          <a:solidFill>
            <a:srgbClr val="E85D04"/>
          </a:solidFill>
          <a:ln/>
        </p:spPr>
      </p:sp>
      <p:sp>
        <p:nvSpPr>
          <p:cNvPr id="12" name="Shape 10"/>
          <p:cNvSpPr/>
          <p:nvPr/>
        </p:nvSpPr>
        <p:spPr>
          <a:xfrm>
            <a:off x="5751576" y="1993392"/>
            <a:ext cx="5440680" cy="749808"/>
          </a:xfrm>
          <a:prstGeom prst="roundRect">
            <a:avLst>
              <a:gd name="adj" fmla="val 14634"/>
            </a:avLst>
          </a:prstGeom>
          <a:solidFill>
            <a:srgbClr val="FFFFFF"/>
          </a:solidFill>
          <a:ln w="12700">
            <a:solidFill>
              <a:srgbClr val="DCE4EC"/>
            </a:solidFill>
            <a:prstDash val="solid"/>
          </a:ln>
          <a:effectLst>
            <a:outerShdw blurRad="127000" dist="25400" dir="5400000" algn="bl" rotWithShape="0">
              <a:srgbClr val="0E141B">
                <a:alpha val="10000"/>
              </a:srgbClr>
            </a:outerShdw>
          </a:effectLst>
        </p:spPr>
      </p:sp>
      <p:sp>
        <p:nvSpPr>
          <p:cNvPr id="13" name="Shape 11"/>
          <p:cNvSpPr/>
          <p:nvPr/>
        </p:nvSpPr>
        <p:spPr>
          <a:xfrm>
            <a:off x="5952744" y="2135124"/>
            <a:ext cx="466344" cy="466344"/>
          </a:xfrm>
          <a:prstGeom prst="ellipse">
            <a:avLst/>
          </a:prstGeom>
          <a:solidFill>
            <a:srgbClr val="E2F6F3"/>
          </a:solidFill>
          <a:ln/>
        </p:spPr>
      </p:sp>
      <p:pic>
        <p:nvPicPr>
          <p:cNvPr id="14" name="Image 0" descr="preencoded.png"/>
          <p:cNvPicPr>
            <a:picLocks noChangeAspect="1"/>
          </p:cNvPicPr>
          <p:nvPr/>
        </p:nvPicPr>
        <p:blipFill>
          <a:blip r:embed="rId3"/>
          <a:stretch>
            <a:fillRect/>
          </a:stretch>
        </p:blipFill>
        <p:spPr>
          <a:xfrm>
            <a:off x="6073993" y="2256373"/>
            <a:ext cx="223845" cy="223845"/>
          </a:xfrm>
          <a:prstGeom prst="rect">
            <a:avLst/>
          </a:prstGeom>
        </p:spPr>
      </p:pic>
      <p:sp>
        <p:nvSpPr>
          <p:cNvPr id="15" name="Text 12"/>
          <p:cNvSpPr txBox="1"/>
          <p:nvPr/>
        </p:nvSpPr>
        <p:spPr>
          <a:xfrm>
            <a:off x="6537960" y="1993392"/>
            <a:ext cx="4434840" cy="749808"/>
          </a:xfrm>
          <a:prstGeom prst="rect">
            <a:avLst/>
          </a:prstGeom>
          <a:noFill/>
          <a:ln/>
        </p:spPr>
        <p:txBody>
          <a:bodyPr wrap="square" lIns="0" tIns="0" rIns="0" bIns="0" rtlCol="0" anchor="ctr"/>
          <a:lstStyle/>
          <a:p>
            <a:pPr marL="0" indent="0">
              <a:buNone/>
            </a:pPr>
            <a:r>
              <a:rPr lang="en-US" sz="1150" b="1" dirty="0">
                <a:solidFill>
                  <a:srgbClr val="16202B"/>
                </a:solidFill>
                <a:latin typeface="Calibri" pitchFamily="34" charset="0"/>
                <a:ea typeface="Calibri" pitchFamily="34" charset="-122"/>
                <a:cs typeface="Calibri" pitchFamily="34" charset="-120"/>
              </a:rPr>
              <a:t>Booked in under 30 seconds on the phone, web or a kiosk</a:t>
            </a:r>
            <a:endParaRPr lang="en-US" sz="1150" dirty="0"/>
          </a:p>
        </p:txBody>
      </p:sp>
      <p:sp>
        <p:nvSpPr>
          <p:cNvPr id="16" name="Shape 13"/>
          <p:cNvSpPr/>
          <p:nvPr/>
        </p:nvSpPr>
        <p:spPr>
          <a:xfrm>
            <a:off x="566928" y="2898648"/>
            <a:ext cx="4617720" cy="749808"/>
          </a:xfrm>
          <a:prstGeom prst="roundRect">
            <a:avLst>
              <a:gd name="adj" fmla="val 14634"/>
            </a:avLst>
          </a:prstGeom>
          <a:solidFill>
            <a:srgbClr val="F7F8FA"/>
          </a:solidFill>
          <a:ln w="12700">
            <a:solidFill>
              <a:srgbClr val="E8ECF1"/>
            </a:solidFill>
            <a:prstDash val="solid"/>
          </a:ln>
        </p:spPr>
      </p:sp>
      <p:sp>
        <p:nvSpPr>
          <p:cNvPr id="17" name="Text 14"/>
          <p:cNvSpPr txBox="1"/>
          <p:nvPr/>
        </p:nvSpPr>
        <p:spPr>
          <a:xfrm>
            <a:off x="822960" y="2898648"/>
            <a:ext cx="4105656" cy="749808"/>
          </a:xfrm>
          <a:prstGeom prst="rect">
            <a:avLst/>
          </a:prstGeom>
          <a:noFill/>
          <a:ln/>
        </p:spPr>
        <p:txBody>
          <a:bodyPr wrap="square" lIns="0" tIns="0" rIns="0" bIns="0" rtlCol="0" anchor="ctr"/>
          <a:lstStyle/>
          <a:p>
            <a:pPr marL="0" indent="0">
              <a:buNone/>
            </a:pPr>
            <a:r>
              <a:rPr lang="en-US" sz="1150" dirty="0">
                <a:solidFill>
                  <a:srgbClr val="5E6D7D"/>
                </a:solidFill>
                <a:latin typeface="Calibri" pitchFamily="34" charset="0"/>
                <a:ea typeface="Calibri" pitchFamily="34" charset="-122"/>
                <a:cs typeface="Calibri" pitchFamily="34" charset="-120"/>
              </a:rPr>
              <a:t>No idea when the cab will come</a:t>
            </a:r>
            <a:endParaRPr lang="en-US" sz="1150" dirty="0"/>
          </a:p>
        </p:txBody>
      </p:sp>
      <p:sp>
        <p:nvSpPr>
          <p:cNvPr id="18" name="Shape 15"/>
          <p:cNvSpPr/>
          <p:nvPr/>
        </p:nvSpPr>
        <p:spPr>
          <a:xfrm>
            <a:off x="5294376" y="3191256"/>
            <a:ext cx="347472" cy="164592"/>
          </a:xfrm>
          <a:prstGeom prst="rightArrow">
            <a:avLst/>
          </a:prstGeom>
          <a:solidFill>
            <a:srgbClr val="E85D04"/>
          </a:solidFill>
          <a:ln/>
        </p:spPr>
      </p:sp>
      <p:sp>
        <p:nvSpPr>
          <p:cNvPr id="19" name="Shape 16"/>
          <p:cNvSpPr/>
          <p:nvPr/>
        </p:nvSpPr>
        <p:spPr>
          <a:xfrm>
            <a:off x="5751576" y="2898648"/>
            <a:ext cx="5440680" cy="749808"/>
          </a:xfrm>
          <a:prstGeom prst="roundRect">
            <a:avLst>
              <a:gd name="adj" fmla="val 14634"/>
            </a:avLst>
          </a:prstGeom>
          <a:solidFill>
            <a:srgbClr val="FFFFFF"/>
          </a:solidFill>
          <a:ln w="12700">
            <a:solidFill>
              <a:srgbClr val="DCE4EC"/>
            </a:solidFill>
            <a:prstDash val="solid"/>
          </a:ln>
          <a:effectLst>
            <a:outerShdw blurRad="127000" dist="25400" dir="5400000" algn="bl" rotWithShape="0">
              <a:srgbClr val="0E141B">
                <a:alpha val="10000"/>
              </a:srgbClr>
            </a:outerShdw>
          </a:effectLst>
        </p:spPr>
      </p:sp>
      <p:sp>
        <p:nvSpPr>
          <p:cNvPr id="20" name="Shape 17"/>
          <p:cNvSpPr/>
          <p:nvPr/>
        </p:nvSpPr>
        <p:spPr>
          <a:xfrm>
            <a:off x="5952744" y="3040380"/>
            <a:ext cx="466344" cy="466344"/>
          </a:xfrm>
          <a:prstGeom prst="ellipse">
            <a:avLst/>
          </a:prstGeom>
          <a:solidFill>
            <a:srgbClr val="E2F6F3"/>
          </a:solidFill>
          <a:ln/>
        </p:spPr>
      </p:sp>
      <p:pic>
        <p:nvPicPr>
          <p:cNvPr id="21" name="Image 1" descr="preencoded.png"/>
          <p:cNvPicPr>
            <a:picLocks noChangeAspect="1"/>
          </p:cNvPicPr>
          <p:nvPr/>
        </p:nvPicPr>
        <p:blipFill>
          <a:blip r:embed="rId4"/>
          <a:stretch>
            <a:fillRect/>
          </a:stretch>
        </p:blipFill>
        <p:spPr>
          <a:xfrm>
            <a:off x="6073993" y="3161629"/>
            <a:ext cx="223845" cy="223845"/>
          </a:xfrm>
          <a:prstGeom prst="rect">
            <a:avLst/>
          </a:prstGeom>
        </p:spPr>
      </p:pic>
      <p:sp>
        <p:nvSpPr>
          <p:cNvPr id="22" name="Text 18"/>
          <p:cNvSpPr txBox="1"/>
          <p:nvPr/>
        </p:nvSpPr>
        <p:spPr>
          <a:xfrm>
            <a:off x="6537960" y="2898648"/>
            <a:ext cx="4434840" cy="749808"/>
          </a:xfrm>
          <a:prstGeom prst="rect">
            <a:avLst/>
          </a:prstGeom>
          <a:noFill/>
          <a:ln/>
        </p:spPr>
        <p:txBody>
          <a:bodyPr wrap="square" lIns="0" tIns="0" rIns="0" bIns="0" rtlCol="0" anchor="ctr"/>
          <a:lstStyle/>
          <a:p>
            <a:pPr marL="0" indent="0">
              <a:buNone/>
            </a:pPr>
            <a:r>
              <a:rPr lang="en-US" sz="1150" b="1" dirty="0">
                <a:solidFill>
                  <a:srgbClr val="16202B"/>
                </a:solidFill>
                <a:latin typeface="Calibri" pitchFamily="34" charset="0"/>
                <a:ea typeface="Calibri" pitchFamily="34" charset="-122"/>
                <a:cs typeface="Calibri" pitchFamily="34" charset="-120"/>
              </a:rPr>
              <a:t>Live ETA, vehicle number and driver contact on the screen</a:t>
            </a:r>
            <a:endParaRPr lang="en-US" sz="1150" dirty="0"/>
          </a:p>
        </p:txBody>
      </p:sp>
      <p:sp>
        <p:nvSpPr>
          <p:cNvPr id="23" name="Shape 19"/>
          <p:cNvSpPr/>
          <p:nvPr/>
        </p:nvSpPr>
        <p:spPr>
          <a:xfrm>
            <a:off x="566928" y="3803904"/>
            <a:ext cx="4617720" cy="749808"/>
          </a:xfrm>
          <a:prstGeom prst="roundRect">
            <a:avLst>
              <a:gd name="adj" fmla="val 14634"/>
            </a:avLst>
          </a:prstGeom>
          <a:solidFill>
            <a:srgbClr val="F7F8FA"/>
          </a:solidFill>
          <a:ln w="12700">
            <a:solidFill>
              <a:srgbClr val="E8ECF1"/>
            </a:solidFill>
            <a:prstDash val="solid"/>
          </a:ln>
        </p:spPr>
      </p:sp>
      <p:sp>
        <p:nvSpPr>
          <p:cNvPr id="24" name="Text 20"/>
          <p:cNvSpPr txBox="1"/>
          <p:nvPr/>
        </p:nvSpPr>
        <p:spPr>
          <a:xfrm>
            <a:off x="822960" y="3803904"/>
            <a:ext cx="4105656" cy="749808"/>
          </a:xfrm>
          <a:prstGeom prst="rect">
            <a:avLst/>
          </a:prstGeom>
          <a:noFill/>
          <a:ln/>
        </p:spPr>
        <p:txBody>
          <a:bodyPr wrap="square" lIns="0" tIns="0" rIns="0" bIns="0" rtlCol="0" anchor="ctr"/>
          <a:lstStyle/>
          <a:p>
            <a:pPr marL="0" indent="0">
              <a:buNone/>
            </a:pPr>
            <a:r>
              <a:rPr lang="en-US" sz="1150" dirty="0">
                <a:solidFill>
                  <a:srgbClr val="5E6D7D"/>
                </a:solidFill>
                <a:latin typeface="Calibri" pitchFamily="34" charset="0"/>
                <a:ea typeface="Calibri" pitchFamily="34" charset="-122"/>
                <a:cs typeface="Calibri" pitchFamily="34" charset="-120"/>
              </a:rPr>
              <a:t>Many cabs run with one passenger</a:t>
            </a:r>
            <a:endParaRPr lang="en-US" sz="1150" dirty="0"/>
          </a:p>
        </p:txBody>
      </p:sp>
      <p:sp>
        <p:nvSpPr>
          <p:cNvPr id="25" name="Shape 21"/>
          <p:cNvSpPr/>
          <p:nvPr/>
        </p:nvSpPr>
        <p:spPr>
          <a:xfrm>
            <a:off x="5294376" y="4096512"/>
            <a:ext cx="347472" cy="164592"/>
          </a:xfrm>
          <a:prstGeom prst="rightArrow">
            <a:avLst/>
          </a:prstGeom>
          <a:solidFill>
            <a:srgbClr val="E85D04"/>
          </a:solidFill>
          <a:ln/>
        </p:spPr>
      </p:sp>
      <p:sp>
        <p:nvSpPr>
          <p:cNvPr id="26" name="Shape 22"/>
          <p:cNvSpPr/>
          <p:nvPr/>
        </p:nvSpPr>
        <p:spPr>
          <a:xfrm>
            <a:off x="5751576" y="3803904"/>
            <a:ext cx="5440680" cy="749808"/>
          </a:xfrm>
          <a:prstGeom prst="roundRect">
            <a:avLst>
              <a:gd name="adj" fmla="val 14634"/>
            </a:avLst>
          </a:prstGeom>
          <a:solidFill>
            <a:srgbClr val="FFFFFF"/>
          </a:solidFill>
          <a:ln w="12700">
            <a:solidFill>
              <a:srgbClr val="DCE4EC"/>
            </a:solidFill>
            <a:prstDash val="solid"/>
          </a:ln>
          <a:effectLst>
            <a:outerShdw blurRad="127000" dist="25400" dir="5400000" algn="bl" rotWithShape="0">
              <a:srgbClr val="0E141B">
                <a:alpha val="10000"/>
              </a:srgbClr>
            </a:outerShdw>
          </a:effectLst>
        </p:spPr>
      </p:sp>
      <p:sp>
        <p:nvSpPr>
          <p:cNvPr id="27" name="Shape 23"/>
          <p:cNvSpPr/>
          <p:nvPr/>
        </p:nvSpPr>
        <p:spPr>
          <a:xfrm>
            <a:off x="5952744" y="3945636"/>
            <a:ext cx="466344" cy="466344"/>
          </a:xfrm>
          <a:prstGeom prst="ellipse">
            <a:avLst/>
          </a:prstGeom>
          <a:solidFill>
            <a:srgbClr val="E2F6F3"/>
          </a:solidFill>
          <a:ln/>
        </p:spPr>
      </p:sp>
      <p:pic>
        <p:nvPicPr>
          <p:cNvPr id="28" name="Image 2" descr="preencoded.png"/>
          <p:cNvPicPr>
            <a:picLocks noChangeAspect="1"/>
          </p:cNvPicPr>
          <p:nvPr/>
        </p:nvPicPr>
        <p:blipFill>
          <a:blip r:embed="rId5"/>
          <a:stretch>
            <a:fillRect/>
          </a:stretch>
        </p:blipFill>
        <p:spPr>
          <a:xfrm>
            <a:off x="6073993" y="4066885"/>
            <a:ext cx="223845" cy="223845"/>
          </a:xfrm>
          <a:prstGeom prst="rect">
            <a:avLst/>
          </a:prstGeom>
        </p:spPr>
      </p:pic>
      <p:sp>
        <p:nvSpPr>
          <p:cNvPr id="29" name="Text 24"/>
          <p:cNvSpPr txBox="1"/>
          <p:nvPr/>
        </p:nvSpPr>
        <p:spPr>
          <a:xfrm>
            <a:off x="6537960" y="3803904"/>
            <a:ext cx="4434840" cy="749808"/>
          </a:xfrm>
          <a:prstGeom prst="rect">
            <a:avLst/>
          </a:prstGeom>
          <a:noFill/>
          <a:ln/>
        </p:spPr>
        <p:txBody>
          <a:bodyPr wrap="square" lIns="0" tIns="0" rIns="0" bIns="0" rtlCol="0" anchor="ctr"/>
          <a:lstStyle/>
          <a:p>
            <a:pPr marL="0" indent="0">
              <a:buNone/>
            </a:pPr>
            <a:r>
              <a:rPr lang="en-US" sz="1150" b="1" dirty="0">
                <a:solidFill>
                  <a:srgbClr val="16202B"/>
                </a:solidFill>
                <a:latin typeface="Calibri" pitchFamily="34" charset="0"/>
                <a:ea typeface="Calibri" pitchFamily="34" charset="-122"/>
                <a:cs typeface="Calibri" pitchFamily="34" charset="-120"/>
              </a:rPr>
              <a:t>Sequenced routes and pooling - fewer cabs, more trips</a:t>
            </a:r>
            <a:endParaRPr lang="en-US" sz="1150" dirty="0"/>
          </a:p>
        </p:txBody>
      </p:sp>
      <p:sp>
        <p:nvSpPr>
          <p:cNvPr id="30" name="Shape 25"/>
          <p:cNvSpPr/>
          <p:nvPr/>
        </p:nvSpPr>
        <p:spPr>
          <a:xfrm>
            <a:off x="566928" y="4709160"/>
            <a:ext cx="4617720" cy="749808"/>
          </a:xfrm>
          <a:prstGeom prst="roundRect">
            <a:avLst>
              <a:gd name="adj" fmla="val 14634"/>
            </a:avLst>
          </a:prstGeom>
          <a:solidFill>
            <a:srgbClr val="F7F8FA"/>
          </a:solidFill>
          <a:ln w="12700">
            <a:solidFill>
              <a:srgbClr val="E8ECF1"/>
            </a:solidFill>
            <a:prstDash val="solid"/>
          </a:ln>
        </p:spPr>
      </p:sp>
      <p:sp>
        <p:nvSpPr>
          <p:cNvPr id="31" name="Text 26"/>
          <p:cNvSpPr txBox="1"/>
          <p:nvPr/>
        </p:nvSpPr>
        <p:spPr>
          <a:xfrm>
            <a:off x="822960" y="4709160"/>
            <a:ext cx="4105656" cy="749808"/>
          </a:xfrm>
          <a:prstGeom prst="rect">
            <a:avLst/>
          </a:prstGeom>
          <a:noFill/>
          <a:ln/>
        </p:spPr>
        <p:txBody>
          <a:bodyPr wrap="square" lIns="0" tIns="0" rIns="0" bIns="0" rtlCol="0" anchor="ctr"/>
          <a:lstStyle/>
          <a:p>
            <a:pPr marL="0" indent="0">
              <a:buNone/>
            </a:pPr>
            <a:r>
              <a:rPr lang="en-US" sz="1150" dirty="0">
                <a:solidFill>
                  <a:srgbClr val="5E6D7D"/>
                </a:solidFill>
                <a:latin typeface="Calibri" pitchFamily="34" charset="0"/>
                <a:ea typeface="Calibri" pitchFamily="34" charset="-122"/>
                <a:cs typeface="Calibri" pitchFamily="34" charset="-120"/>
              </a:rPr>
              <a:t>Cost goes to general overhead</a:t>
            </a:r>
            <a:endParaRPr lang="en-US" sz="1150" dirty="0"/>
          </a:p>
        </p:txBody>
      </p:sp>
      <p:sp>
        <p:nvSpPr>
          <p:cNvPr id="32" name="Shape 27"/>
          <p:cNvSpPr/>
          <p:nvPr/>
        </p:nvSpPr>
        <p:spPr>
          <a:xfrm>
            <a:off x="5294376" y="5001768"/>
            <a:ext cx="347472" cy="164592"/>
          </a:xfrm>
          <a:prstGeom prst="rightArrow">
            <a:avLst/>
          </a:prstGeom>
          <a:solidFill>
            <a:srgbClr val="E85D04"/>
          </a:solidFill>
          <a:ln/>
        </p:spPr>
      </p:sp>
      <p:sp>
        <p:nvSpPr>
          <p:cNvPr id="33" name="Shape 28"/>
          <p:cNvSpPr/>
          <p:nvPr/>
        </p:nvSpPr>
        <p:spPr>
          <a:xfrm>
            <a:off x="5751576" y="4709160"/>
            <a:ext cx="5440680" cy="749808"/>
          </a:xfrm>
          <a:prstGeom prst="roundRect">
            <a:avLst>
              <a:gd name="adj" fmla="val 14634"/>
            </a:avLst>
          </a:prstGeom>
          <a:solidFill>
            <a:srgbClr val="FFFFFF"/>
          </a:solidFill>
          <a:ln w="12700">
            <a:solidFill>
              <a:srgbClr val="DCE4EC"/>
            </a:solidFill>
            <a:prstDash val="solid"/>
          </a:ln>
          <a:effectLst>
            <a:outerShdw blurRad="127000" dist="25400" dir="5400000" algn="bl" rotWithShape="0">
              <a:srgbClr val="0E141B">
                <a:alpha val="10000"/>
              </a:srgbClr>
            </a:outerShdw>
          </a:effectLst>
        </p:spPr>
      </p:sp>
      <p:sp>
        <p:nvSpPr>
          <p:cNvPr id="34" name="Shape 29"/>
          <p:cNvSpPr/>
          <p:nvPr/>
        </p:nvSpPr>
        <p:spPr>
          <a:xfrm>
            <a:off x="5952744" y="4850892"/>
            <a:ext cx="466344" cy="466344"/>
          </a:xfrm>
          <a:prstGeom prst="ellipse">
            <a:avLst/>
          </a:prstGeom>
          <a:solidFill>
            <a:srgbClr val="E2F6F3"/>
          </a:solidFill>
          <a:ln/>
        </p:spPr>
      </p:sp>
      <p:pic>
        <p:nvPicPr>
          <p:cNvPr id="35" name="Image 3" descr="preencoded.png"/>
          <p:cNvPicPr>
            <a:picLocks noChangeAspect="1"/>
          </p:cNvPicPr>
          <p:nvPr/>
        </p:nvPicPr>
        <p:blipFill>
          <a:blip r:embed="rId6"/>
          <a:stretch>
            <a:fillRect/>
          </a:stretch>
        </p:blipFill>
        <p:spPr>
          <a:xfrm>
            <a:off x="6073993" y="4972141"/>
            <a:ext cx="223845" cy="223845"/>
          </a:xfrm>
          <a:prstGeom prst="rect">
            <a:avLst/>
          </a:prstGeom>
        </p:spPr>
      </p:pic>
      <p:sp>
        <p:nvSpPr>
          <p:cNvPr id="36" name="Text 30"/>
          <p:cNvSpPr txBox="1"/>
          <p:nvPr/>
        </p:nvSpPr>
        <p:spPr>
          <a:xfrm>
            <a:off x="6537960" y="4709160"/>
            <a:ext cx="4434840" cy="749808"/>
          </a:xfrm>
          <a:prstGeom prst="rect">
            <a:avLst/>
          </a:prstGeom>
          <a:noFill/>
          <a:ln/>
        </p:spPr>
        <p:txBody>
          <a:bodyPr wrap="square" lIns="0" tIns="0" rIns="0" bIns="0" rtlCol="0" anchor="ctr"/>
          <a:lstStyle/>
          <a:p>
            <a:pPr marL="0" indent="0">
              <a:buNone/>
            </a:pPr>
            <a:r>
              <a:rPr lang="en-US" sz="1150" b="1" dirty="0">
                <a:solidFill>
                  <a:srgbClr val="16202B"/>
                </a:solidFill>
                <a:latin typeface="Calibri" pitchFamily="34" charset="0"/>
                <a:ea typeface="Calibri" pitchFamily="34" charset="-122"/>
                <a:cs typeface="Calibri" pitchFamily="34" charset="-120"/>
              </a:rPr>
              <a:t>Every kilometre charged to the right cost centre</a:t>
            </a:r>
            <a:endParaRPr lang="en-US" sz="1150" dirty="0"/>
          </a:p>
        </p:txBody>
      </p:sp>
      <p:sp>
        <p:nvSpPr>
          <p:cNvPr id="37" name="Shape 31"/>
          <p:cNvSpPr/>
          <p:nvPr/>
        </p:nvSpPr>
        <p:spPr>
          <a:xfrm>
            <a:off x="566928" y="5650992"/>
            <a:ext cx="2599868" cy="566928"/>
          </a:xfrm>
          <a:prstGeom prst="roundRect">
            <a:avLst>
              <a:gd name="adj" fmla="val 19355"/>
            </a:avLst>
          </a:prstGeom>
          <a:solidFill>
            <a:srgbClr val="0E141B"/>
          </a:solidFill>
          <a:ln/>
        </p:spPr>
      </p:sp>
      <p:sp>
        <p:nvSpPr>
          <p:cNvPr id="38" name="Text 32"/>
          <p:cNvSpPr txBox="1"/>
          <p:nvPr/>
        </p:nvSpPr>
        <p:spPr>
          <a:xfrm>
            <a:off x="768096" y="5650992"/>
            <a:ext cx="2197532" cy="566928"/>
          </a:xfrm>
          <a:prstGeom prst="rect">
            <a:avLst/>
          </a:prstGeom>
          <a:noFill/>
          <a:ln/>
        </p:spPr>
        <p:txBody>
          <a:bodyPr wrap="square" lIns="0" tIns="0" rIns="0" bIns="0" rtlCol="0" anchor="ctr"/>
          <a:lstStyle/>
          <a:p>
            <a:pPr marL="0" indent="0">
              <a:buNone/>
            </a:pPr>
            <a:r>
              <a:rPr lang="en-US" sz="800" b="1" kern="0" spc="140" dirty="0">
                <a:solidFill>
                  <a:srgbClr val="FF9E5E"/>
                </a:solidFill>
                <a:latin typeface="Arial" pitchFamily="34" charset="0"/>
                <a:ea typeface="Arial" pitchFamily="34" charset="-122"/>
                <a:cs typeface="Arial" pitchFamily="34" charset="-120"/>
              </a:rPr>
              <a:t>MEASURE   </a:t>
            </a:r>
            <a:r>
              <a:rPr lang="en-US" sz="1050" dirty="0">
                <a:solidFill>
                  <a:srgbClr val="FFFFFF"/>
                </a:solidFill>
                <a:latin typeface="Calibri" pitchFamily="34" charset="0"/>
                <a:ea typeface="Calibri" pitchFamily="34" charset="-122"/>
                <a:cs typeface="Calibri" pitchFamily="34" charset="-120"/>
              </a:rPr>
              <a:t>Average wait at pickup</a:t>
            </a:r>
            <a:endParaRPr lang="en-US" sz="800" dirty="0"/>
          </a:p>
        </p:txBody>
      </p:sp>
      <p:sp>
        <p:nvSpPr>
          <p:cNvPr id="39" name="Shape 33"/>
          <p:cNvSpPr/>
          <p:nvPr/>
        </p:nvSpPr>
        <p:spPr>
          <a:xfrm>
            <a:off x="3386252" y="5650992"/>
            <a:ext cx="2599868" cy="566928"/>
          </a:xfrm>
          <a:prstGeom prst="roundRect">
            <a:avLst>
              <a:gd name="adj" fmla="val 19355"/>
            </a:avLst>
          </a:prstGeom>
          <a:solidFill>
            <a:srgbClr val="0E141B"/>
          </a:solidFill>
          <a:ln/>
        </p:spPr>
      </p:sp>
      <p:sp>
        <p:nvSpPr>
          <p:cNvPr id="40" name="Text 34"/>
          <p:cNvSpPr txBox="1"/>
          <p:nvPr/>
        </p:nvSpPr>
        <p:spPr>
          <a:xfrm>
            <a:off x="3587420" y="5650992"/>
            <a:ext cx="2197532" cy="566928"/>
          </a:xfrm>
          <a:prstGeom prst="rect">
            <a:avLst/>
          </a:prstGeom>
          <a:noFill/>
          <a:ln/>
        </p:spPr>
        <p:txBody>
          <a:bodyPr wrap="square" lIns="0" tIns="0" rIns="0" bIns="0" rtlCol="0" anchor="ctr"/>
          <a:lstStyle/>
          <a:p>
            <a:pPr marL="0" indent="0">
              <a:buNone/>
            </a:pPr>
            <a:r>
              <a:rPr lang="en-US" sz="800" b="1" kern="0" spc="140" dirty="0">
                <a:solidFill>
                  <a:srgbClr val="FF9E5E"/>
                </a:solidFill>
                <a:latin typeface="Arial" pitchFamily="34" charset="0"/>
                <a:ea typeface="Arial" pitchFamily="34" charset="-122"/>
                <a:cs typeface="Arial" pitchFamily="34" charset="-120"/>
              </a:rPr>
              <a:t>MEASURE   </a:t>
            </a:r>
            <a:r>
              <a:rPr lang="en-US" sz="1050" dirty="0">
                <a:solidFill>
                  <a:srgbClr val="FFFFFF"/>
                </a:solidFill>
                <a:latin typeface="Calibri" pitchFamily="34" charset="0"/>
                <a:ea typeface="Calibri" pitchFamily="34" charset="-122"/>
                <a:cs typeface="Calibri" pitchFamily="34" charset="-120"/>
              </a:rPr>
              <a:t>Seat occupancy</a:t>
            </a:r>
            <a:endParaRPr lang="en-US" sz="800" dirty="0"/>
          </a:p>
        </p:txBody>
      </p:sp>
      <p:sp>
        <p:nvSpPr>
          <p:cNvPr id="41" name="Shape 35"/>
          <p:cNvSpPr/>
          <p:nvPr/>
        </p:nvSpPr>
        <p:spPr>
          <a:xfrm>
            <a:off x="6205576" y="5650992"/>
            <a:ext cx="2599868" cy="566928"/>
          </a:xfrm>
          <a:prstGeom prst="roundRect">
            <a:avLst>
              <a:gd name="adj" fmla="val 19355"/>
            </a:avLst>
          </a:prstGeom>
          <a:solidFill>
            <a:srgbClr val="0E141B"/>
          </a:solidFill>
          <a:ln/>
        </p:spPr>
      </p:sp>
      <p:sp>
        <p:nvSpPr>
          <p:cNvPr id="42" name="Text 36"/>
          <p:cNvSpPr txBox="1"/>
          <p:nvPr/>
        </p:nvSpPr>
        <p:spPr>
          <a:xfrm>
            <a:off x="6406744" y="5650992"/>
            <a:ext cx="2197532" cy="566928"/>
          </a:xfrm>
          <a:prstGeom prst="rect">
            <a:avLst/>
          </a:prstGeom>
          <a:noFill/>
          <a:ln/>
        </p:spPr>
        <p:txBody>
          <a:bodyPr wrap="square" lIns="0" tIns="0" rIns="0" bIns="0" rtlCol="0" anchor="ctr"/>
          <a:lstStyle/>
          <a:p>
            <a:pPr marL="0" indent="0">
              <a:buNone/>
            </a:pPr>
            <a:r>
              <a:rPr lang="en-US" sz="800" b="1" kern="0" spc="140" dirty="0">
                <a:solidFill>
                  <a:srgbClr val="FF9E5E"/>
                </a:solidFill>
                <a:latin typeface="Arial" pitchFamily="34" charset="0"/>
                <a:ea typeface="Arial" pitchFamily="34" charset="-122"/>
                <a:cs typeface="Arial" pitchFamily="34" charset="-120"/>
              </a:rPr>
              <a:t>MEASURE   </a:t>
            </a:r>
            <a:r>
              <a:rPr lang="en-US" sz="1050" dirty="0">
                <a:solidFill>
                  <a:srgbClr val="FFFFFF"/>
                </a:solidFill>
                <a:latin typeface="Calibri" pitchFamily="34" charset="0"/>
                <a:ea typeface="Calibri" pitchFamily="34" charset="-122"/>
                <a:cs typeface="Calibri" pitchFamily="34" charset="-120"/>
              </a:rPr>
              <a:t>Empty-kilometre share</a:t>
            </a:r>
            <a:endParaRPr lang="en-US" sz="800" dirty="0"/>
          </a:p>
        </p:txBody>
      </p:sp>
      <p:sp>
        <p:nvSpPr>
          <p:cNvPr id="43" name="Shape 37"/>
          <p:cNvSpPr/>
          <p:nvPr/>
        </p:nvSpPr>
        <p:spPr>
          <a:xfrm>
            <a:off x="9024899" y="5650992"/>
            <a:ext cx="2599868" cy="566928"/>
          </a:xfrm>
          <a:prstGeom prst="roundRect">
            <a:avLst>
              <a:gd name="adj" fmla="val 19355"/>
            </a:avLst>
          </a:prstGeom>
          <a:solidFill>
            <a:srgbClr val="0E141B"/>
          </a:solidFill>
          <a:ln/>
        </p:spPr>
      </p:sp>
      <p:sp>
        <p:nvSpPr>
          <p:cNvPr id="44" name="Text 38"/>
          <p:cNvSpPr txBox="1"/>
          <p:nvPr/>
        </p:nvSpPr>
        <p:spPr>
          <a:xfrm>
            <a:off x="9226067" y="5650992"/>
            <a:ext cx="2197532" cy="566928"/>
          </a:xfrm>
          <a:prstGeom prst="rect">
            <a:avLst/>
          </a:prstGeom>
          <a:noFill/>
          <a:ln/>
        </p:spPr>
        <p:txBody>
          <a:bodyPr wrap="square" lIns="0" tIns="0" rIns="0" bIns="0" rtlCol="0" anchor="ctr"/>
          <a:lstStyle/>
          <a:p>
            <a:pPr marL="0" indent="0">
              <a:buNone/>
            </a:pPr>
            <a:r>
              <a:rPr lang="en-US" sz="800" b="1" kern="0" spc="140" dirty="0">
                <a:solidFill>
                  <a:srgbClr val="FF9E5E"/>
                </a:solidFill>
                <a:latin typeface="Arial" pitchFamily="34" charset="0"/>
                <a:ea typeface="Arial" pitchFamily="34" charset="-122"/>
                <a:cs typeface="Arial" pitchFamily="34" charset="-120"/>
              </a:rPr>
              <a:t>MEASURE   </a:t>
            </a:r>
            <a:r>
              <a:rPr lang="en-US" sz="1050" dirty="0">
                <a:solidFill>
                  <a:srgbClr val="FFFFFF"/>
                </a:solidFill>
                <a:latin typeface="Calibri" pitchFamily="34" charset="0"/>
                <a:ea typeface="Calibri" pitchFamily="34" charset="-122"/>
                <a:cs typeface="Calibri" pitchFamily="34" charset="-120"/>
              </a:rPr>
              <a:t>Cost per trip</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1B"/>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A3B4C4"/>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A3B4C4"/>
                </a:solidFill>
                <a:latin typeface="Arial" pitchFamily="34" charset="0"/>
                <a:ea typeface="Arial" pitchFamily="34" charset="-122"/>
                <a:cs typeface="Arial" pitchFamily="34" charset="-120"/>
              </a:rPr>
              <a:t>04</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OUR SOLUTION</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FFFFFF"/>
                </a:solidFill>
                <a:latin typeface="Arial" pitchFamily="34" charset="0"/>
                <a:ea typeface="Arial" pitchFamily="34" charset="-122"/>
                <a:cs typeface="Arial" pitchFamily="34" charset="-120"/>
              </a:rPr>
              <a:t>How the pieces fit together</a:t>
            </a:r>
            <a:endParaRPr lang="en-US" sz="3000" dirty="0"/>
          </a:p>
        </p:txBody>
      </p:sp>
      <p:sp>
        <p:nvSpPr>
          <p:cNvPr id="6" name="Shape 4"/>
          <p:cNvSpPr/>
          <p:nvPr/>
        </p:nvSpPr>
        <p:spPr>
          <a:xfrm>
            <a:off x="566928" y="1554480"/>
            <a:ext cx="3484778" cy="960120"/>
          </a:xfrm>
          <a:prstGeom prst="roundRect">
            <a:avLst>
              <a:gd name="adj" fmla="val 11429"/>
            </a:avLst>
          </a:prstGeom>
          <a:solidFill>
            <a:srgbClr val="18222D"/>
          </a:solidFill>
          <a:ln w="12700">
            <a:solidFill>
              <a:srgbClr val="34465A"/>
            </a:solidFill>
            <a:prstDash val="solid"/>
          </a:ln>
        </p:spPr>
      </p:sp>
      <p:sp>
        <p:nvSpPr>
          <p:cNvPr id="7" name="Shape 5"/>
          <p:cNvSpPr/>
          <p:nvPr/>
        </p:nvSpPr>
        <p:spPr>
          <a:xfrm>
            <a:off x="804672" y="1783080"/>
            <a:ext cx="502920" cy="502920"/>
          </a:xfrm>
          <a:prstGeom prst="ellipse">
            <a:avLst/>
          </a:prstGeom>
          <a:solidFill>
            <a:srgbClr val="22303F"/>
          </a:solidFill>
          <a:ln/>
        </p:spPr>
      </p:sp>
      <p:pic>
        <p:nvPicPr>
          <p:cNvPr id="8" name="Image 0" descr="preencoded.png"/>
          <p:cNvPicPr>
            <a:picLocks noChangeAspect="1"/>
          </p:cNvPicPr>
          <p:nvPr/>
        </p:nvPicPr>
        <p:blipFill>
          <a:blip r:embed="rId3"/>
          <a:stretch>
            <a:fillRect/>
          </a:stretch>
        </p:blipFill>
        <p:spPr>
          <a:xfrm>
            <a:off x="935431" y="1913839"/>
            <a:ext cx="241402" cy="241402"/>
          </a:xfrm>
          <a:prstGeom prst="rect">
            <a:avLst/>
          </a:prstGeom>
        </p:spPr>
      </p:pic>
      <p:sp>
        <p:nvSpPr>
          <p:cNvPr id="9" name="Text 6"/>
          <p:cNvSpPr txBox="1"/>
          <p:nvPr/>
        </p:nvSpPr>
        <p:spPr>
          <a:xfrm>
            <a:off x="1426464" y="1755648"/>
            <a:ext cx="2387498"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Employee app</a:t>
            </a:r>
            <a:endParaRPr lang="en-US" sz="1300" dirty="0"/>
          </a:p>
        </p:txBody>
      </p:sp>
      <p:sp>
        <p:nvSpPr>
          <p:cNvPr id="10" name="Text 7"/>
          <p:cNvSpPr txBox="1"/>
          <p:nvPr/>
        </p:nvSpPr>
        <p:spPr>
          <a:xfrm>
            <a:off x="1426464" y="2048256"/>
            <a:ext cx="2387498" cy="256032"/>
          </a:xfrm>
          <a:prstGeom prst="rect">
            <a:avLst/>
          </a:prstGeom>
          <a:noFill/>
          <a:ln/>
        </p:spPr>
        <p:txBody>
          <a:bodyPr wrap="square" lIns="0" tIns="0" rIns="0" bIns="0" rtlCol="0" anchor="t"/>
          <a:lstStyle/>
          <a:p>
            <a:pPr marL="0" indent="0">
              <a:buNone/>
            </a:pPr>
            <a:r>
              <a:rPr lang="en-US" sz="1050" dirty="0">
                <a:solidFill>
                  <a:srgbClr val="A3B4C4"/>
                </a:solidFill>
                <a:latin typeface="Calibri" pitchFamily="34" charset="0"/>
                <a:ea typeface="Calibri" pitchFamily="34" charset="-122"/>
                <a:cs typeface="Calibri" pitchFamily="34" charset="-120"/>
              </a:rPr>
              <a:t>Book, track and rate rides</a:t>
            </a:r>
            <a:endParaRPr lang="en-US" sz="1050" dirty="0"/>
          </a:p>
        </p:txBody>
      </p:sp>
      <p:sp>
        <p:nvSpPr>
          <p:cNvPr id="11" name="Shape 8"/>
          <p:cNvSpPr/>
          <p:nvPr/>
        </p:nvSpPr>
        <p:spPr>
          <a:xfrm>
            <a:off x="4353458" y="1554480"/>
            <a:ext cx="3484778" cy="960120"/>
          </a:xfrm>
          <a:prstGeom prst="roundRect">
            <a:avLst>
              <a:gd name="adj" fmla="val 11429"/>
            </a:avLst>
          </a:prstGeom>
          <a:solidFill>
            <a:srgbClr val="18222D"/>
          </a:solidFill>
          <a:ln w="12700">
            <a:solidFill>
              <a:srgbClr val="34465A"/>
            </a:solidFill>
            <a:prstDash val="solid"/>
          </a:ln>
        </p:spPr>
      </p:sp>
      <p:sp>
        <p:nvSpPr>
          <p:cNvPr id="12" name="Shape 9"/>
          <p:cNvSpPr/>
          <p:nvPr/>
        </p:nvSpPr>
        <p:spPr>
          <a:xfrm>
            <a:off x="4591202" y="1783080"/>
            <a:ext cx="502920" cy="502920"/>
          </a:xfrm>
          <a:prstGeom prst="ellipse">
            <a:avLst/>
          </a:prstGeom>
          <a:solidFill>
            <a:srgbClr val="22303F"/>
          </a:solidFill>
          <a:ln/>
        </p:spPr>
      </p:sp>
      <p:pic>
        <p:nvPicPr>
          <p:cNvPr id="13" name="Image 1" descr="preencoded.png"/>
          <p:cNvPicPr>
            <a:picLocks noChangeAspect="1"/>
          </p:cNvPicPr>
          <p:nvPr/>
        </p:nvPicPr>
        <p:blipFill>
          <a:blip r:embed="rId4"/>
          <a:stretch>
            <a:fillRect/>
          </a:stretch>
        </p:blipFill>
        <p:spPr>
          <a:xfrm>
            <a:off x="4721962" y="1913839"/>
            <a:ext cx="241402" cy="241402"/>
          </a:xfrm>
          <a:prstGeom prst="rect">
            <a:avLst/>
          </a:prstGeom>
        </p:spPr>
      </p:pic>
      <p:sp>
        <p:nvSpPr>
          <p:cNvPr id="14" name="Text 10"/>
          <p:cNvSpPr txBox="1"/>
          <p:nvPr/>
        </p:nvSpPr>
        <p:spPr>
          <a:xfrm>
            <a:off x="5212994" y="1755648"/>
            <a:ext cx="2387498"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Driver app</a:t>
            </a:r>
            <a:endParaRPr lang="en-US" sz="1300" dirty="0"/>
          </a:p>
        </p:txBody>
      </p:sp>
      <p:sp>
        <p:nvSpPr>
          <p:cNvPr id="15" name="Text 11"/>
          <p:cNvSpPr txBox="1"/>
          <p:nvPr/>
        </p:nvSpPr>
        <p:spPr>
          <a:xfrm>
            <a:off x="5212994" y="2048256"/>
            <a:ext cx="2387498" cy="256032"/>
          </a:xfrm>
          <a:prstGeom prst="rect">
            <a:avLst/>
          </a:prstGeom>
          <a:noFill/>
          <a:ln/>
        </p:spPr>
        <p:txBody>
          <a:bodyPr wrap="square" lIns="0" tIns="0" rIns="0" bIns="0" rtlCol="0" anchor="t"/>
          <a:lstStyle/>
          <a:p>
            <a:pPr marL="0" indent="0">
              <a:buNone/>
            </a:pPr>
            <a:r>
              <a:rPr lang="en-US" sz="1050" dirty="0">
                <a:solidFill>
                  <a:srgbClr val="A3B4C4"/>
                </a:solidFill>
                <a:latin typeface="Calibri" pitchFamily="34" charset="0"/>
                <a:ea typeface="Calibri" pitchFamily="34" charset="-122"/>
                <a:cs typeface="Calibri" pitchFamily="34" charset="-120"/>
              </a:rPr>
              <a:t>Trip queue, OTP, navigation</a:t>
            </a:r>
            <a:endParaRPr lang="en-US" sz="1050" dirty="0"/>
          </a:p>
        </p:txBody>
      </p:sp>
      <p:sp>
        <p:nvSpPr>
          <p:cNvPr id="16" name="Shape 12"/>
          <p:cNvSpPr/>
          <p:nvPr/>
        </p:nvSpPr>
        <p:spPr>
          <a:xfrm>
            <a:off x="8139989" y="1554480"/>
            <a:ext cx="3484778" cy="960120"/>
          </a:xfrm>
          <a:prstGeom prst="roundRect">
            <a:avLst>
              <a:gd name="adj" fmla="val 11429"/>
            </a:avLst>
          </a:prstGeom>
          <a:solidFill>
            <a:srgbClr val="18222D"/>
          </a:solidFill>
          <a:ln w="12700">
            <a:solidFill>
              <a:srgbClr val="34465A"/>
            </a:solidFill>
            <a:prstDash val="solid"/>
          </a:ln>
        </p:spPr>
      </p:sp>
      <p:sp>
        <p:nvSpPr>
          <p:cNvPr id="17" name="Shape 13"/>
          <p:cNvSpPr/>
          <p:nvPr/>
        </p:nvSpPr>
        <p:spPr>
          <a:xfrm>
            <a:off x="8377733" y="1783080"/>
            <a:ext cx="502920" cy="502920"/>
          </a:xfrm>
          <a:prstGeom prst="ellipse">
            <a:avLst/>
          </a:prstGeom>
          <a:solidFill>
            <a:srgbClr val="22303F"/>
          </a:solidFill>
          <a:ln/>
        </p:spPr>
      </p:sp>
      <p:pic>
        <p:nvPicPr>
          <p:cNvPr id="18" name="Image 2" descr="preencoded.png"/>
          <p:cNvPicPr>
            <a:picLocks noChangeAspect="1"/>
          </p:cNvPicPr>
          <p:nvPr/>
        </p:nvPicPr>
        <p:blipFill>
          <a:blip r:embed="rId5"/>
          <a:stretch>
            <a:fillRect/>
          </a:stretch>
        </p:blipFill>
        <p:spPr>
          <a:xfrm>
            <a:off x="8508492" y="1913839"/>
            <a:ext cx="241402" cy="241402"/>
          </a:xfrm>
          <a:prstGeom prst="rect">
            <a:avLst/>
          </a:prstGeom>
        </p:spPr>
      </p:pic>
      <p:sp>
        <p:nvSpPr>
          <p:cNvPr id="19" name="Text 14"/>
          <p:cNvSpPr txBox="1"/>
          <p:nvPr/>
        </p:nvSpPr>
        <p:spPr>
          <a:xfrm>
            <a:off x="8999525" y="1755648"/>
            <a:ext cx="2387498"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GPS &amp; IoT devices</a:t>
            </a:r>
            <a:endParaRPr lang="en-US" sz="1300" dirty="0"/>
          </a:p>
        </p:txBody>
      </p:sp>
      <p:sp>
        <p:nvSpPr>
          <p:cNvPr id="20" name="Text 15"/>
          <p:cNvSpPr txBox="1"/>
          <p:nvPr/>
        </p:nvSpPr>
        <p:spPr>
          <a:xfrm>
            <a:off x="8999525" y="2048256"/>
            <a:ext cx="2387498" cy="256032"/>
          </a:xfrm>
          <a:prstGeom prst="rect">
            <a:avLst/>
          </a:prstGeom>
          <a:noFill/>
          <a:ln/>
        </p:spPr>
        <p:txBody>
          <a:bodyPr wrap="square" lIns="0" tIns="0" rIns="0" bIns="0" rtlCol="0" anchor="t"/>
          <a:lstStyle/>
          <a:p>
            <a:pPr marL="0" indent="0">
              <a:buNone/>
            </a:pPr>
            <a:r>
              <a:rPr lang="en-US" sz="1050" dirty="0">
                <a:solidFill>
                  <a:srgbClr val="A3B4C4"/>
                </a:solidFill>
                <a:latin typeface="Calibri" pitchFamily="34" charset="0"/>
                <a:ea typeface="Calibri" pitchFamily="34" charset="-122"/>
                <a:cs typeface="Calibri" pitchFamily="34" charset="-120"/>
              </a:rPr>
              <a:t>Live vehicle and engine data</a:t>
            </a:r>
            <a:endParaRPr lang="en-US" sz="1050" dirty="0"/>
          </a:p>
        </p:txBody>
      </p:sp>
      <p:sp>
        <p:nvSpPr>
          <p:cNvPr id="21" name="Shape 16"/>
          <p:cNvSpPr/>
          <p:nvPr/>
        </p:nvSpPr>
        <p:spPr>
          <a:xfrm>
            <a:off x="2231593" y="2578608"/>
            <a:ext cx="155448" cy="237744"/>
          </a:xfrm>
          <a:prstGeom prst="downArrow">
            <a:avLst/>
          </a:prstGeom>
          <a:solidFill>
            <a:srgbClr val="34465A"/>
          </a:solidFill>
          <a:ln/>
        </p:spPr>
      </p:sp>
      <p:sp>
        <p:nvSpPr>
          <p:cNvPr id="22" name="Shape 17"/>
          <p:cNvSpPr/>
          <p:nvPr/>
        </p:nvSpPr>
        <p:spPr>
          <a:xfrm>
            <a:off x="6018124" y="2578608"/>
            <a:ext cx="155448" cy="237744"/>
          </a:xfrm>
          <a:prstGeom prst="downArrow">
            <a:avLst/>
          </a:prstGeom>
          <a:solidFill>
            <a:srgbClr val="34465A"/>
          </a:solidFill>
          <a:ln/>
        </p:spPr>
      </p:sp>
      <p:sp>
        <p:nvSpPr>
          <p:cNvPr id="23" name="Shape 18"/>
          <p:cNvSpPr/>
          <p:nvPr/>
        </p:nvSpPr>
        <p:spPr>
          <a:xfrm>
            <a:off x="9804654" y="2578608"/>
            <a:ext cx="155448" cy="237744"/>
          </a:xfrm>
          <a:prstGeom prst="downArrow">
            <a:avLst/>
          </a:prstGeom>
          <a:solidFill>
            <a:srgbClr val="34465A"/>
          </a:solidFill>
          <a:ln/>
        </p:spPr>
      </p:sp>
      <p:sp>
        <p:nvSpPr>
          <p:cNvPr id="24" name="Shape 19"/>
          <p:cNvSpPr/>
          <p:nvPr/>
        </p:nvSpPr>
        <p:spPr>
          <a:xfrm>
            <a:off x="566928" y="2871216"/>
            <a:ext cx="11057839" cy="1207008"/>
          </a:xfrm>
          <a:prstGeom prst="roundRect">
            <a:avLst>
              <a:gd name="adj" fmla="val 10606"/>
            </a:avLst>
          </a:prstGeom>
          <a:solidFill>
            <a:srgbClr val="E85D04"/>
          </a:solidFill>
          <a:ln/>
        </p:spPr>
      </p:sp>
      <p:sp>
        <p:nvSpPr>
          <p:cNvPr id="25" name="Text 20"/>
          <p:cNvSpPr txBox="1"/>
          <p:nvPr/>
        </p:nvSpPr>
        <p:spPr>
          <a:xfrm>
            <a:off x="877824" y="2980944"/>
            <a:ext cx="4572000" cy="256032"/>
          </a:xfrm>
          <a:prstGeom prst="rect">
            <a:avLst/>
          </a:prstGeom>
          <a:noFill/>
          <a:ln/>
        </p:spPr>
        <p:txBody>
          <a:bodyPr wrap="square" lIns="0" tIns="0" rIns="0" bIns="0" rtlCol="0" anchor="ctr"/>
          <a:lstStyle/>
          <a:p>
            <a:pPr marL="0" indent="0">
              <a:buNone/>
            </a:pPr>
            <a:r>
              <a:rPr lang="en-US" sz="1000" b="1" kern="0" spc="220" dirty="0">
                <a:solidFill>
                  <a:srgbClr val="FFFFFF"/>
                </a:solidFill>
                <a:latin typeface="Arial" pitchFamily="34" charset="0"/>
                <a:ea typeface="Arial" pitchFamily="34" charset="-122"/>
                <a:cs typeface="Arial" pitchFamily="34" charset="-120"/>
              </a:rPr>
              <a:t>PLANT RIDE CORE PLATFORM</a:t>
            </a:r>
            <a:endParaRPr lang="en-US" sz="1000" dirty="0"/>
          </a:p>
        </p:txBody>
      </p:sp>
      <p:sp>
        <p:nvSpPr>
          <p:cNvPr id="26" name="Shape 21"/>
          <p:cNvSpPr/>
          <p:nvPr/>
        </p:nvSpPr>
        <p:spPr>
          <a:xfrm>
            <a:off x="877824" y="3346704"/>
            <a:ext cx="1970166" cy="512064"/>
          </a:xfrm>
          <a:prstGeom prst="roundRect">
            <a:avLst>
              <a:gd name="adj" fmla="val 17857"/>
            </a:avLst>
          </a:prstGeom>
          <a:solidFill>
            <a:srgbClr val="FFFFFF">
              <a:alpha val="20000"/>
            </a:srgbClr>
          </a:solidFill>
          <a:ln/>
        </p:spPr>
      </p:sp>
      <p:sp>
        <p:nvSpPr>
          <p:cNvPr id="27" name="Text 22"/>
          <p:cNvSpPr txBox="1"/>
          <p:nvPr/>
        </p:nvSpPr>
        <p:spPr>
          <a:xfrm>
            <a:off x="877824" y="3346704"/>
            <a:ext cx="1970166" cy="51206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Booking</a:t>
            </a:r>
            <a:endParaRPr lang="en-US" sz="1150" dirty="0"/>
          </a:p>
        </p:txBody>
      </p:sp>
      <p:sp>
        <p:nvSpPr>
          <p:cNvPr id="28" name="Shape 23"/>
          <p:cNvSpPr/>
          <p:nvPr/>
        </p:nvSpPr>
        <p:spPr>
          <a:xfrm>
            <a:off x="2994294" y="3346704"/>
            <a:ext cx="1970166" cy="512064"/>
          </a:xfrm>
          <a:prstGeom prst="roundRect">
            <a:avLst>
              <a:gd name="adj" fmla="val 17857"/>
            </a:avLst>
          </a:prstGeom>
          <a:solidFill>
            <a:srgbClr val="FFFFFF">
              <a:alpha val="20000"/>
            </a:srgbClr>
          </a:solidFill>
          <a:ln/>
        </p:spPr>
      </p:sp>
      <p:sp>
        <p:nvSpPr>
          <p:cNvPr id="29" name="Text 24"/>
          <p:cNvSpPr txBox="1"/>
          <p:nvPr/>
        </p:nvSpPr>
        <p:spPr>
          <a:xfrm>
            <a:off x="2994294" y="3346704"/>
            <a:ext cx="1970166" cy="51206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Matching engine</a:t>
            </a:r>
            <a:endParaRPr lang="en-US" sz="1150" dirty="0"/>
          </a:p>
        </p:txBody>
      </p:sp>
      <p:sp>
        <p:nvSpPr>
          <p:cNvPr id="30" name="Shape 25"/>
          <p:cNvSpPr/>
          <p:nvPr/>
        </p:nvSpPr>
        <p:spPr>
          <a:xfrm>
            <a:off x="5110764" y="3346704"/>
            <a:ext cx="1970166" cy="512064"/>
          </a:xfrm>
          <a:prstGeom prst="roundRect">
            <a:avLst>
              <a:gd name="adj" fmla="val 17857"/>
            </a:avLst>
          </a:prstGeom>
          <a:solidFill>
            <a:srgbClr val="FFFFFF">
              <a:alpha val="20000"/>
            </a:srgbClr>
          </a:solidFill>
          <a:ln/>
        </p:spPr>
      </p:sp>
      <p:sp>
        <p:nvSpPr>
          <p:cNvPr id="31" name="Text 26"/>
          <p:cNvSpPr txBox="1"/>
          <p:nvPr/>
        </p:nvSpPr>
        <p:spPr>
          <a:xfrm>
            <a:off x="5110764" y="3346704"/>
            <a:ext cx="1970166" cy="51206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GPS processing</a:t>
            </a:r>
            <a:endParaRPr lang="en-US" sz="1150" dirty="0"/>
          </a:p>
        </p:txBody>
      </p:sp>
      <p:sp>
        <p:nvSpPr>
          <p:cNvPr id="32" name="Shape 27"/>
          <p:cNvSpPr/>
          <p:nvPr/>
        </p:nvSpPr>
        <p:spPr>
          <a:xfrm>
            <a:off x="7227235" y="3346704"/>
            <a:ext cx="1970166" cy="512064"/>
          </a:xfrm>
          <a:prstGeom prst="roundRect">
            <a:avLst>
              <a:gd name="adj" fmla="val 17857"/>
            </a:avLst>
          </a:prstGeom>
          <a:solidFill>
            <a:srgbClr val="FFFFFF">
              <a:alpha val="20000"/>
            </a:srgbClr>
          </a:solidFill>
          <a:ln/>
        </p:spPr>
      </p:sp>
      <p:sp>
        <p:nvSpPr>
          <p:cNvPr id="33" name="Text 28"/>
          <p:cNvSpPr txBox="1"/>
          <p:nvPr/>
        </p:nvSpPr>
        <p:spPr>
          <a:xfrm>
            <a:off x="7227235" y="3346704"/>
            <a:ext cx="1970166" cy="51206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Notifications</a:t>
            </a:r>
            <a:endParaRPr lang="en-US" sz="1150" dirty="0"/>
          </a:p>
        </p:txBody>
      </p:sp>
      <p:sp>
        <p:nvSpPr>
          <p:cNvPr id="34" name="Shape 29"/>
          <p:cNvSpPr/>
          <p:nvPr/>
        </p:nvSpPr>
        <p:spPr>
          <a:xfrm>
            <a:off x="9343705" y="3346704"/>
            <a:ext cx="1970166" cy="512064"/>
          </a:xfrm>
          <a:prstGeom prst="roundRect">
            <a:avLst>
              <a:gd name="adj" fmla="val 17857"/>
            </a:avLst>
          </a:prstGeom>
          <a:solidFill>
            <a:srgbClr val="FFFFFF">
              <a:alpha val="20000"/>
            </a:srgbClr>
          </a:solidFill>
          <a:ln/>
        </p:spPr>
      </p:sp>
      <p:sp>
        <p:nvSpPr>
          <p:cNvPr id="35" name="Text 30"/>
          <p:cNvSpPr txBox="1"/>
          <p:nvPr/>
        </p:nvSpPr>
        <p:spPr>
          <a:xfrm>
            <a:off x="9343705" y="3346704"/>
            <a:ext cx="1970166" cy="51206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Billing</a:t>
            </a:r>
            <a:endParaRPr lang="en-US" sz="1150" dirty="0"/>
          </a:p>
        </p:txBody>
      </p:sp>
      <p:sp>
        <p:nvSpPr>
          <p:cNvPr id="36" name="Shape 31"/>
          <p:cNvSpPr/>
          <p:nvPr/>
        </p:nvSpPr>
        <p:spPr>
          <a:xfrm>
            <a:off x="1782280" y="4151376"/>
            <a:ext cx="155448" cy="237744"/>
          </a:xfrm>
          <a:prstGeom prst="downArrow">
            <a:avLst/>
          </a:prstGeom>
          <a:solidFill>
            <a:srgbClr val="34465A"/>
          </a:solidFill>
          <a:ln/>
        </p:spPr>
      </p:sp>
      <p:sp>
        <p:nvSpPr>
          <p:cNvPr id="37" name="Shape 32"/>
          <p:cNvSpPr/>
          <p:nvPr/>
        </p:nvSpPr>
        <p:spPr>
          <a:xfrm>
            <a:off x="566928" y="4462272"/>
            <a:ext cx="2586152" cy="1207008"/>
          </a:xfrm>
          <a:prstGeom prst="roundRect">
            <a:avLst>
              <a:gd name="adj" fmla="val 9091"/>
            </a:avLst>
          </a:prstGeom>
          <a:solidFill>
            <a:srgbClr val="18222D"/>
          </a:solidFill>
          <a:ln w="12700">
            <a:solidFill>
              <a:srgbClr val="34465A"/>
            </a:solidFill>
            <a:prstDash val="solid"/>
          </a:ln>
        </p:spPr>
      </p:sp>
      <p:sp>
        <p:nvSpPr>
          <p:cNvPr id="38" name="Shape 33"/>
          <p:cNvSpPr/>
          <p:nvPr/>
        </p:nvSpPr>
        <p:spPr>
          <a:xfrm>
            <a:off x="804672" y="4663440"/>
            <a:ext cx="457200" cy="457200"/>
          </a:xfrm>
          <a:prstGeom prst="ellipse">
            <a:avLst/>
          </a:prstGeom>
          <a:solidFill>
            <a:srgbClr val="22303F"/>
          </a:solidFill>
          <a:ln/>
        </p:spPr>
      </p:sp>
      <p:pic>
        <p:nvPicPr>
          <p:cNvPr id="39" name="Image 3" descr="preencoded.png"/>
          <p:cNvPicPr>
            <a:picLocks noChangeAspect="1"/>
          </p:cNvPicPr>
          <p:nvPr/>
        </p:nvPicPr>
        <p:blipFill>
          <a:blip r:embed="rId6"/>
          <a:stretch>
            <a:fillRect/>
          </a:stretch>
        </p:blipFill>
        <p:spPr>
          <a:xfrm>
            <a:off x="923544" y="4782312"/>
            <a:ext cx="219456" cy="219456"/>
          </a:xfrm>
          <a:prstGeom prst="rect">
            <a:avLst/>
          </a:prstGeom>
        </p:spPr>
      </p:pic>
      <p:sp>
        <p:nvSpPr>
          <p:cNvPr id="40" name="Text 34"/>
          <p:cNvSpPr txBox="1"/>
          <p:nvPr/>
        </p:nvSpPr>
        <p:spPr>
          <a:xfrm>
            <a:off x="804672" y="5175504"/>
            <a:ext cx="2110664"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Command centre</a:t>
            </a:r>
            <a:endParaRPr lang="en-US" sz="1200" dirty="0"/>
          </a:p>
        </p:txBody>
      </p:sp>
      <p:sp>
        <p:nvSpPr>
          <p:cNvPr id="41" name="Text 35"/>
          <p:cNvSpPr txBox="1"/>
          <p:nvPr/>
        </p:nvSpPr>
        <p:spPr>
          <a:xfrm>
            <a:off x="804672" y="5431536"/>
            <a:ext cx="2110664" cy="237744"/>
          </a:xfrm>
          <a:prstGeom prst="rect">
            <a:avLst/>
          </a:prstGeom>
          <a:noFill/>
          <a:ln/>
        </p:spPr>
        <p:txBody>
          <a:bodyPr wrap="square" lIns="0" tIns="0" rIns="0" bIns="0" rtlCol="0" anchor="t"/>
          <a:lstStyle/>
          <a:p>
            <a:pPr marL="0" indent="0">
              <a:buNone/>
            </a:pPr>
            <a:r>
              <a:rPr lang="en-US" sz="1000" dirty="0">
                <a:solidFill>
                  <a:srgbClr val="A3B4C4"/>
                </a:solidFill>
                <a:latin typeface="Calibri" pitchFamily="34" charset="0"/>
                <a:ea typeface="Calibri" pitchFamily="34" charset="-122"/>
                <a:cs typeface="Calibri" pitchFamily="34" charset="-120"/>
              </a:rPr>
              <a:t>Live fleet on one screen</a:t>
            </a:r>
            <a:endParaRPr lang="en-US" sz="1000" dirty="0"/>
          </a:p>
        </p:txBody>
      </p:sp>
      <p:sp>
        <p:nvSpPr>
          <p:cNvPr id="42" name="Shape 36"/>
          <p:cNvSpPr/>
          <p:nvPr/>
        </p:nvSpPr>
        <p:spPr>
          <a:xfrm>
            <a:off x="4606176" y="4151376"/>
            <a:ext cx="155448" cy="237744"/>
          </a:xfrm>
          <a:prstGeom prst="downArrow">
            <a:avLst/>
          </a:prstGeom>
          <a:solidFill>
            <a:srgbClr val="34465A"/>
          </a:solidFill>
          <a:ln/>
        </p:spPr>
      </p:sp>
      <p:sp>
        <p:nvSpPr>
          <p:cNvPr id="43" name="Shape 37"/>
          <p:cNvSpPr/>
          <p:nvPr/>
        </p:nvSpPr>
        <p:spPr>
          <a:xfrm>
            <a:off x="3390824" y="4462272"/>
            <a:ext cx="2586152" cy="1207008"/>
          </a:xfrm>
          <a:prstGeom prst="roundRect">
            <a:avLst>
              <a:gd name="adj" fmla="val 9091"/>
            </a:avLst>
          </a:prstGeom>
          <a:solidFill>
            <a:srgbClr val="18222D"/>
          </a:solidFill>
          <a:ln w="12700">
            <a:solidFill>
              <a:srgbClr val="34465A"/>
            </a:solidFill>
            <a:prstDash val="solid"/>
          </a:ln>
        </p:spPr>
      </p:sp>
      <p:sp>
        <p:nvSpPr>
          <p:cNvPr id="44" name="Shape 38"/>
          <p:cNvSpPr/>
          <p:nvPr/>
        </p:nvSpPr>
        <p:spPr>
          <a:xfrm>
            <a:off x="3628568" y="4663440"/>
            <a:ext cx="457200" cy="457200"/>
          </a:xfrm>
          <a:prstGeom prst="ellipse">
            <a:avLst/>
          </a:prstGeom>
          <a:solidFill>
            <a:srgbClr val="22303F"/>
          </a:solidFill>
          <a:ln/>
        </p:spPr>
      </p:sp>
      <p:pic>
        <p:nvPicPr>
          <p:cNvPr id="45" name="Image 4" descr="preencoded.png"/>
          <p:cNvPicPr>
            <a:picLocks noChangeAspect="1"/>
          </p:cNvPicPr>
          <p:nvPr/>
        </p:nvPicPr>
        <p:blipFill>
          <a:blip r:embed="rId7"/>
          <a:stretch>
            <a:fillRect/>
          </a:stretch>
        </p:blipFill>
        <p:spPr>
          <a:xfrm>
            <a:off x="3747440" y="4782312"/>
            <a:ext cx="219456" cy="219456"/>
          </a:xfrm>
          <a:prstGeom prst="rect">
            <a:avLst/>
          </a:prstGeom>
        </p:spPr>
      </p:pic>
      <p:sp>
        <p:nvSpPr>
          <p:cNvPr id="46" name="Text 39"/>
          <p:cNvSpPr txBox="1"/>
          <p:nvPr/>
        </p:nvSpPr>
        <p:spPr>
          <a:xfrm>
            <a:off x="3628568" y="5175504"/>
            <a:ext cx="2110664"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Cost allocation</a:t>
            </a:r>
            <a:endParaRPr lang="en-US" sz="1200" dirty="0"/>
          </a:p>
        </p:txBody>
      </p:sp>
      <p:sp>
        <p:nvSpPr>
          <p:cNvPr id="47" name="Text 40"/>
          <p:cNvSpPr txBox="1"/>
          <p:nvPr/>
        </p:nvSpPr>
        <p:spPr>
          <a:xfrm>
            <a:off x="3628568" y="5431536"/>
            <a:ext cx="2110664" cy="237744"/>
          </a:xfrm>
          <a:prstGeom prst="rect">
            <a:avLst/>
          </a:prstGeom>
          <a:noFill/>
          <a:ln/>
        </p:spPr>
        <p:txBody>
          <a:bodyPr wrap="square" lIns="0" tIns="0" rIns="0" bIns="0" rtlCol="0" anchor="t"/>
          <a:lstStyle/>
          <a:p>
            <a:pPr marL="0" indent="0">
              <a:buNone/>
            </a:pPr>
            <a:r>
              <a:rPr lang="en-US" sz="1000" dirty="0">
                <a:solidFill>
                  <a:srgbClr val="A3B4C4"/>
                </a:solidFill>
                <a:latin typeface="Calibri" pitchFamily="34" charset="0"/>
                <a:ea typeface="Calibri" pitchFamily="34" charset="-122"/>
                <a:cs typeface="Calibri" pitchFamily="34" charset="-120"/>
              </a:rPr>
              <a:t>Billing and ERP export</a:t>
            </a:r>
            <a:endParaRPr lang="en-US" sz="1000" dirty="0"/>
          </a:p>
        </p:txBody>
      </p:sp>
      <p:sp>
        <p:nvSpPr>
          <p:cNvPr id="48" name="Shape 41"/>
          <p:cNvSpPr/>
          <p:nvPr/>
        </p:nvSpPr>
        <p:spPr>
          <a:xfrm>
            <a:off x="7430071" y="4151376"/>
            <a:ext cx="155448" cy="237744"/>
          </a:xfrm>
          <a:prstGeom prst="downArrow">
            <a:avLst/>
          </a:prstGeom>
          <a:solidFill>
            <a:srgbClr val="34465A"/>
          </a:solidFill>
          <a:ln/>
        </p:spPr>
      </p:sp>
      <p:sp>
        <p:nvSpPr>
          <p:cNvPr id="49" name="Shape 42"/>
          <p:cNvSpPr/>
          <p:nvPr/>
        </p:nvSpPr>
        <p:spPr>
          <a:xfrm>
            <a:off x="6214720" y="4462272"/>
            <a:ext cx="2586152" cy="1207008"/>
          </a:xfrm>
          <a:prstGeom prst="roundRect">
            <a:avLst>
              <a:gd name="adj" fmla="val 9091"/>
            </a:avLst>
          </a:prstGeom>
          <a:solidFill>
            <a:srgbClr val="18222D"/>
          </a:solidFill>
          <a:ln w="12700">
            <a:solidFill>
              <a:srgbClr val="34465A"/>
            </a:solidFill>
            <a:prstDash val="solid"/>
          </a:ln>
        </p:spPr>
      </p:sp>
      <p:sp>
        <p:nvSpPr>
          <p:cNvPr id="50" name="Shape 43"/>
          <p:cNvSpPr/>
          <p:nvPr/>
        </p:nvSpPr>
        <p:spPr>
          <a:xfrm>
            <a:off x="6452464" y="4663440"/>
            <a:ext cx="457200" cy="457200"/>
          </a:xfrm>
          <a:prstGeom prst="ellipse">
            <a:avLst/>
          </a:prstGeom>
          <a:solidFill>
            <a:srgbClr val="22303F"/>
          </a:solidFill>
          <a:ln/>
        </p:spPr>
      </p:sp>
      <p:pic>
        <p:nvPicPr>
          <p:cNvPr id="51" name="Image 5" descr="preencoded.png"/>
          <p:cNvPicPr>
            <a:picLocks noChangeAspect="1"/>
          </p:cNvPicPr>
          <p:nvPr/>
        </p:nvPicPr>
        <p:blipFill>
          <a:blip r:embed="rId8"/>
          <a:stretch>
            <a:fillRect/>
          </a:stretch>
        </p:blipFill>
        <p:spPr>
          <a:xfrm>
            <a:off x="6571336" y="4782312"/>
            <a:ext cx="219456" cy="219456"/>
          </a:xfrm>
          <a:prstGeom prst="rect">
            <a:avLst/>
          </a:prstGeom>
        </p:spPr>
      </p:pic>
      <p:sp>
        <p:nvSpPr>
          <p:cNvPr id="52" name="Text 44"/>
          <p:cNvSpPr txBox="1"/>
          <p:nvPr/>
        </p:nvSpPr>
        <p:spPr>
          <a:xfrm>
            <a:off x="6452464" y="5175504"/>
            <a:ext cx="2110664"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Safety &amp; compliance</a:t>
            </a:r>
            <a:endParaRPr lang="en-US" sz="1200" dirty="0"/>
          </a:p>
        </p:txBody>
      </p:sp>
      <p:sp>
        <p:nvSpPr>
          <p:cNvPr id="53" name="Text 45"/>
          <p:cNvSpPr txBox="1"/>
          <p:nvPr/>
        </p:nvSpPr>
        <p:spPr>
          <a:xfrm>
            <a:off x="6452464" y="5431536"/>
            <a:ext cx="2110664" cy="237744"/>
          </a:xfrm>
          <a:prstGeom prst="rect">
            <a:avLst/>
          </a:prstGeom>
          <a:noFill/>
          <a:ln/>
        </p:spPr>
        <p:txBody>
          <a:bodyPr wrap="square" lIns="0" tIns="0" rIns="0" bIns="0" rtlCol="0" anchor="t"/>
          <a:lstStyle/>
          <a:p>
            <a:pPr marL="0" indent="0">
              <a:buNone/>
            </a:pPr>
            <a:r>
              <a:rPr lang="en-US" sz="1000" dirty="0">
                <a:solidFill>
                  <a:srgbClr val="A3B4C4"/>
                </a:solidFill>
                <a:latin typeface="Calibri" pitchFamily="34" charset="0"/>
                <a:ea typeface="Calibri" pitchFamily="34" charset="-122"/>
                <a:cs typeface="Calibri" pitchFamily="34" charset="-120"/>
              </a:rPr>
              <a:t>Alerts and audit trail</a:t>
            </a:r>
            <a:endParaRPr lang="en-US" sz="1000" dirty="0"/>
          </a:p>
        </p:txBody>
      </p:sp>
      <p:sp>
        <p:nvSpPr>
          <p:cNvPr id="54" name="Shape 46"/>
          <p:cNvSpPr/>
          <p:nvPr/>
        </p:nvSpPr>
        <p:spPr>
          <a:xfrm>
            <a:off x="10253967" y="4151376"/>
            <a:ext cx="155448" cy="237744"/>
          </a:xfrm>
          <a:prstGeom prst="downArrow">
            <a:avLst/>
          </a:prstGeom>
          <a:solidFill>
            <a:srgbClr val="34465A"/>
          </a:solidFill>
          <a:ln/>
        </p:spPr>
      </p:sp>
      <p:sp>
        <p:nvSpPr>
          <p:cNvPr id="55" name="Shape 47"/>
          <p:cNvSpPr/>
          <p:nvPr/>
        </p:nvSpPr>
        <p:spPr>
          <a:xfrm>
            <a:off x="9038615" y="4462272"/>
            <a:ext cx="2586152" cy="1207008"/>
          </a:xfrm>
          <a:prstGeom prst="roundRect">
            <a:avLst>
              <a:gd name="adj" fmla="val 9091"/>
            </a:avLst>
          </a:prstGeom>
          <a:solidFill>
            <a:srgbClr val="18222D"/>
          </a:solidFill>
          <a:ln w="12700">
            <a:solidFill>
              <a:srgbClr val="34465A"/>
            </a:solidFill>
            <a:prstDash val="solid"/>
          </a:ln>
        </p:spPr>
      </p:sp>
      <p:sp>
        <p:nvSpPr>
          <p:cNvPr id="56" name="Shape 48"/>
          <p:cNvSpPr/>
          <p:nvPr/>
        </p:nvSpPr>
        <p:spPr>
          <a:xfrm>
            <a:off x="9276359" y="4663440"/>
            <a:ext cx="457200" cy="457200"/>
          </a:xfrm>
          <a:prstGeom prst="ellipse">
            <a:avLst/>
          </a:prstGeom>
          <a:solidFill>
            <a:srgbClr val="22303F"/>
          </a:solidFill>
          <a:ln/>
        </p:spPr>
      </p:sp>
      <p:pic>
        <p:nvPicPr>
          <p:cNvPr id="57" name="Image 6" descr="preencoded.png"/>
          <p:cNvPicPr>
            <a:picLocks noChangeAspect="1"/>
          </p:cNvPicPr>
          <p:nvPr/>
        </p:nvPicPr>
        <p:blipFill>
          <a:blip r:embed="rId9"/>
          <a:stretch>
            <a:fillRect/>
          </a:stretch>
        </p:blipFill>
        <p:spPr>
          <a:xfrm>
            <a:off x="9395231" y="4782312"/>
            <a:ext cx="219456" cy="219456"/>
          </a:xfrm>
          <a:prstGeom prst="rect">
            <a:avLst/>
          </a:prstGeom>
        </p:spPr>
      </p:pic>
      <p:sp>
        <p:nvSpPr>
          <p:cNvPr id="58" name="Text 49"/>
          <p:cNvSpPr txBox="1"/>
          <p:nvPr/>
        </p:nvSpPr>
        <p:spPr>
          <a:xfrm>
            <a:off x="9276359" y="5175504"/>
            <a:ext cx="2110664"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Insights</a:t>
            </a:r>
            <a:endParaRPr lang="en-US" sz="1200" dirty="0"/>
          </a:p>
        </p:txBody>
      </p:sp>
      <p:sp>
        <p:nvSpPr>
          <p:cNvPr id="59" name="Text 50"/>
          <p:cNvSpPr txBox="1"/>
          <p:nvPr/>
        </p:nvSpPr>
        <p:spPr>
          <a:xfrm>
            <a:off x="9276359" y="5431536"/>
            <a:ext cx="2110664" cy="237744"/>
          </a:xfrm>
          <a:prstGeom prst="rect">
            <a:avLst/>
          </a:prstGeom>
          <a:noFill/>
          <a:ln/>
        </p:spPr>
        <p:txBody>
          <a:bodyPr wrap="square" lIns="0" tIns="0" rIns="0" bIns="0" rtlCol="0" anchor="t"/>
          <a:lstStyle/>
          <a:p>
            <a:pPr marL="0" indent="0">
              <a:buNone/>
            </a:pPr>
            <a:r>
              <a:rPr lang="en-US" sz="1000" dirty="0">
                <a:solidFill>
                  <a:srgbClr val="A3B4C4"/>
                </a:solidFill>
                <a:latin typeface="Calibri" pitchFamily="34" charset="0"/>
                <a:ea typeface="Calibri" pitchFamily="34" charset="-122"/>
                <a:cs typeface="Calibri" pitchFamily="34" charset="-120"/>
              </a:rPr>
              <a:t>Reports for HR and finance</a:t>
            </a:r>
            <a:endParaRPr lang="en-US" sz="1000" dirty="0"/>
          </a:p>
        </p:txBody>
      </p:sp>
      <p:sp>
        <p:nvSpPr>
          <p:cNvPr id="60" name="Text 51"/>
          <p:cNvSpPr txBox="1"/>
          <p:nvPr/>
        </p:nvSpPr>
        <p:spPr>
          <a:xfrm>
            <a:off x="566928" y="5833872"/>
            <a:ext cx="11057839" cy="274320"/>
          </a:xfrm>
          <a:prstGeom prst="rect">
            <a:avLst/>
          </a:prstGeom>
          <a:noFill/>
          <a:ln/>
        </p:spPr>
        <p:txBody>
          <a:bodyPr wrap="square" lIns="0" tIns="0" rIns="0" bIns="0" rtlCol="0" anchor="t"/>
          <a:lstStyle/>
          <a:p>
            <a:pPr marL="0" indent="0">
              <a:buNone/>
            </a:pPr>
            <a:r>
              <a:rPr lang="en-US" sz="1100" i="1" dirty="0">
                <a:solidFill>
                  <a:srgbClr val="A3B4C4"/>
                </a:solidFill>
                <a:latin typeface="Calibri" pitchFamily="34" charset="0"/>
                <a:ea typeface="Calibri" pitchFamily="34" charset="-122"/>
                <a:cs typeface="Calibri" pitchFamily="34" charset="-120"/>
              </a:rPr>
              <a:t>Inputs from employees, drivers and vehicles feed one core platform, which powers the command centre, billing, safety and reporting.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5E6D7D"/>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5E6D7D"/>
                </a:solidFill>
                <a:latin typeface="Arial" pitchFamily="34" charset="0"/>
                <a:ea typeface="Arial" pitchFamily="34" charset="-122"/>
                <a:cs typeface="Arial" pitchFamily="34" charset="-120"/>
              </a:rPr>
              <a:t>05</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HOW IT WORKS</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16202B"/>
                </a:solidFill>
                <a:latin typeface="Arial" pitchFamily="34" charset="0"/>
                <a:ea typeface="Arial" pitchFamily="34" charset="-122"/>
                <a:cs typeface="Arial" pitchFamily="34" charset="-120"/>
              </a:rPr>
              <a:t>From booking to billing, end to end</a:t>
            </a:r>
            <a:endParaRPr lang="en-US" sz="3000" dirty="0"/>
          </a:p>
        </p:txBody>
      </p:sp>
      <p:sp>
        <p:nvSpPr>
          <p:cNvPr id="6" name="Shape 4"/>
          <p:cNvSpPr/>
          <p:nvPr/>
        </p:nvSpPr>
        <p:spPr>
          <a:xfrm>
            <a:off x="566928" y="1591056"/>
            <a:ext cx="2558720" cy="2011680"/>
          </a:xfrm>
          <a:prstGeom prst="roundRect">
            <a:avLst>
              <a:gd name="adj" fmla="val 545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7" name="Shape 5"/>
          <p:cNvSpPr/>
          <p:nvPr/>
        </p:nvSpPr>
        <p:spPr>
          <a:xfrm>
            <a:off x="822960" y="1828800"/>
            <a:ext cx="420624" cy="420624"/>
          </a:xfrm>
          <a:prstGeom prst="ellipse">
            <a:avLst/>
          </a:prstGeom>
          <a:solidFill>
            <a:srgbClr val="0E141B"/>
          </a:solidFill>
          <a:ln/>
        </p:spPr>
      </p:sp>
      <p:sp>
        <p:nvSpPr>
          <p:cNvPr id="8" name="Text 6"/>
          <p:cNvSpPr txBox="1"/>
          <p:nvPr/>
        </p:nvSpPr>
        <p:spPr>
          <a:xfrm>
            <a:off x="822960" y="18288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pic>
        <p:nvPicPr>
          <p:cNvPr id="9" name="Image 0" descr="preencoded.png"/>
          <p:cNvPicPr>
            <a:picLocks noChangeAspect="1"/>
          </p:cNvPicPr>
          <p:nvPr/>
        </p:nvPicPr>
        <p:blipFill>
          <a:blip r:embed="rId3"/>
          <a:stretch>
            <a:fillRect/>
          </a:stretch>
        </p:blipFill>
        <p:spPr>
          <a:xfrm>
            <a:off x="2412416" y="1865376"/>
            <a:ext cx="347472" cy="347472"/>
          </a:xfrm>
          <a:prstGeom prst="rect">
            <a:avLst/>
          </a:prstGeom>
        </p:spPr>
      </p:pic>
      <p:sp>
        <p:nvSpPr>
          <p:cNvPr id="10" name="Text 7"/>
          <p:cNvSpPr txBox="1"/>
          <p:nvPr/>
        </p:nvSpPr>
        <p:spPr>
          <a:xfrm>
            <a:off x="822960" y="2414016"/>
            <a:ext cx="2046656" cy="292608"/>
          </a:xfrm>
          <a:prstGeom prst="rect">
            <a:avLst/>
          </a:prstGeom>
          <a:noFill/>
          <a:ln/>
        </p:spPr>
        <p:txBody>
          <a:bodyPr wrap="square" lIns="0" tIns="0" rIns="0" bIns="0" rtlCol="0" anchor="ctr"/>
          <a:lstStyle/>
          <a:p>
            <a:pPr marL="0" indent="0">
              <a:buNone/>
            </a:pPr>
            <a:r>
              <a:rPr lang="en-US" sz="1400" b="1" dirty="0">
                <a:solidFill>
                  <a:srgbClr val="16202B"/>
                </a:solidFill>
                <a:latin typeface="Arial" pitchFamily="34" charset="0"/>
                <a:ea typeface="Arial" pitchFamily="34" charset="-122"/>
                <a:cs typeface="Arial" pitchFamily="34" charset="-120"/>
              </a:rPr>
              <a:t>Employee books</a:t>
            </a:r>
            <a:endParaRPr lang="en-US" sz="1400" dirty="0"/>
          </a:p>
        </p:txBody>
      </p:sp>
      <p:sp>
        <p:nvSpPr>
          <p:cNvPr id="11" name="Text 8"/>
          <p:cNvSpPr txBox="1"/>
          <p:nvPr/>
        </p:nvSpPr>
        <p:spPr>
          <a:xfrm>
            <a:off x="822960" y="2743200"/>
            <a:ext cx="2046656" cy="713232"/>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From, to, time and seats - app, web or kiosk</a:t>
            </a:r>
            <a:endParaRPr lang="en-US" sz="1100" dirty="0"/>
          </a:p>
        </p:txBody>
      </p:sp>
      <p:sp>
        <p:nvSpPr>
          <p:cNvPr id="12" name="Shape 9"/>
          <p:cNvSpPr/>
          <p:nvPr/>
        </p:nvSpPr>
        <p:spPr>
          <a:xfrm>
            <a:off x="3175940" y="2519172"/>
            <a:ext cx="173736" cy="155448"/>
          </a:xfrm>
          <a:prstGeom prst="rightArrow">
            <a:avLst/>
          </a:prstGeom>
          <a:solidFill>
            <a:srgbClr val="FF9E5E"/>
          </a:solidFill>
          <a:ln/>
        </p:spPr>
      </p:sp>
      <p:sp>
        <p:nvSpPr>
          <p:cNvPr id="13" name="Shape 10"/>
          <p:cNvSpPr/>
          <p:nvPr/>
        </p:nvSpPr>
        <p:spPr>
          <a:xfrm>
            <a:off x="3399968" y="1591056"/>
            <a:ext cx="2558720" cy="2011680"/>
          </a:xfrm>
          <a:prstGeom prst="roundRect">
            <a:avLst>
              <a:gd name="adj" fmla="val 545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14" name="Shape 11"/>
          <p:cNvSpPr/>
          <p:nvPr/>
        </p:nvSpPr>
        <p:spPr>
          <a:xfrm>
            <a:off x="3656000" y="1828800"/>
            <a:ext cx="420624" cy="420624"/>
          </a:xfrm>
          <a:prstGeom prst="ellipse">
            <a:avLst/>
          </a:prstGeom>
          <a:solidFill>
            <a:srgbClr val="0E141B"/>
          </a:solidFill>
          <a:ln/>
        </p:spPr>
      </p:sp>
      <p:sp>
        <p:nvSpPr>
          <p:cNvPr id="15" name="Text 12"/>
          <p:cNvSpPr txBox="1"/>
          <p:nvPr/>
        </p:nvSpPr>
        <p:spPr>
          <a:xfrm>
            <a:off x="3656000" y="18288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pic>
        <p:nvPicPr>
          <p:cNvPr id="16" name="Image 1" descr="preencoded.png"/>
          <p:cNvPicPr>
            <a:picLocks noChangeAspect="1"/>
          </p:cNvPicPr>
          <p:nvPr/>
        </p:nvPicPr>
        <p:blipFill>
          <a:blip r:embed="rId4"/>
          <a:stretch>
            <a:fillRect/>
          </a:stretch>
        </p:blipFill>
        <p:spPr>
          <a:xfrm>
            <a:off x="5245456" y="1865376"/>
            <a:ext cx="347472" cy="347472"/>
          </a:xfrm>
          <a:prstGeom prst="rect">
            <a:avLst/>
          </a:prstGeom>
        </p:spPr>
      </p:pic>
      <p:sp>
        <p:nvSpPr>
          <p:cNvPr id="17" name="Text 13"/>
          <p:cNvSpPr txBox="1"/>
          <p:nvPr/>
        </p:nvSpPr>
        <p:spPr>
          <a:xfrm>
            <a:off x="3656000" y="2414016"/>
            <a:ext cx="2046656" cy="292608"/>
          </a:xfrm>
          <a:prstGeom prst="rect">
            <a:avLst/>
          </a:prstGeom>
          <a:noFill/>
          <a:ln/>
        </p:spPr>
        <p:txBody>
          <a:bodyPr wrap="square" lIns="0" tIns="0" rIns="0" bIns="0" rtlCol="0" anchor="ctr"/>
          <a:lstStyle/>
          <a:p>
            <a:pPr marL="0" indent="0">
              <a:buNone/>
            </a:pPr>
            <a:r>
              <a:rPr lang="en-US" sz="1400" b="1" dirty="0">
                <a:solidFill>
                  <a:srgbClr val="16202B"/>
                </a:solidFill>
                <a:latin typeface="Arial" pitchFamily="34" charset="0"/>
                <a:ea typeface="Arial" pitchFamily="34" charset="-122"/>
                <a:cs typeface="Arial" pitchFamily="34" charset="-120"/>
              </a:rPr>
              <a:t>Engine matches</a:t>
            </a:r>
            <a:endParaRPr lang="en-US" sz="1400" dirty="0"/>
          </a:p>
        </p:txBody>
      </p:sp>
      <p:sp>
        <p:nvSpPr>
          <p:cNvPr id="18" name="Text 14"/>
          <p:cNvSpPr txBox="1"/>
          <p:nvPr/>
        </p:nvSpPr>
        <p:spPr>
          <a:xfrm>
            <a:off x="3656000" y="2743200"/>
            <a:ext cx="2046656" cy="713232"/>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Best cab with free seats, inside the occupancy rule</a:t>
            </a:r>
            <a:endParaRPr lang="en-US" sz="1100" dirty="0"/>
          </a:p>
        </p:txBody>
      </p:sp>
      <p:sp>
        <p:nvSpPr>
          <p:cNvPr id="19" name="Shape 15"/>
          <p:cNvSpPr/>
          <p:nvPr/>
        </p:nvSpPr>
        <p:spPr>
          <a:xfrm>
            <a:off x="6008980" y="2519172"/>
            <a:ext cx="173736" cy="155448"/>
          </a:xfrm>
          <a:prstGeom prst="rightArrow">
            <a:avLst/>
          </a:prstGeom>
          <a:solidFill>
            <a:srgbClr val="FF9E5E"/>
          </a:solidFill>
          <a:ln/>
        </p:spPr>
      </p:sp>
      <p:sp>
        <p:nvSpPr>
          <p:cNvPr id="20" name="Shape 16"/>
          <p:cNvSpPr/>
          <p:nvPr/>
        </p:nvSpPr>
        <p:spPr>
          <a:xfrm>
            <a:off x="6233008" y="1591056"/>
            <a:ext cx="2558720" cy="2011680"/>
          </a:xfrm>
          <a:prstGeom prst="roundRect">
            <a:avLst>
              <a:gd name="adj" fmla="val 545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21" name="Shape 17"/>
          <p:cNvSpPr/>
          <p:nvPr/>
        </p:nvSpPr>
        <p:spPr>
          <a:xfrm>
            <a:off x="6489040" y="1828800"/>
            <a:ext cx="420624" cy="420624"/>
          </a:xfrm>
          <a:prstGeom prst="ellipse">
            <a:avLst/>
          </a:prstGeom>
          <a:solidFill>
            <a:srgbClr val="0E141B"/>
          </a:solidFill>
          <a:ln/>
        </p:spPr>
      </p:sp>
      <p:sp>
        <p:nvSpPr>
          <p:cNvPr id="22" name="Text 18"/>
          <p:cNvSpPr txBox="1"/>
          <p:nvPr/>
        </p:nvSpPr>
        <p:spPr>
          <a:xfrm>
            <a:off x="6489040" y="18288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pic>
        <p:nvPicPr>
          <p:cNvPr id="23" name="Image 2" descr="preencoded.png"/>
          <p:cNvPicPr>
            <a:picLocks noChangeAspect="1"/>
          </p:cNvPicPr>
          <p:nvPr/>
        </p:nvPicPr>
        <p:blipFill>
          <a:blip r:embed="rId5"/>
          <a:stretch>
            <a:fillRect/>
          </a:stretch>
        </p:blipFill>
        <p:spPr>
          <a:xfrm>
            <a:off x="8078495" y="1865376"/>
            <a:ext cx="347472" cy="347472"/>
          </a:xfrm>
          <a:prstGeom prst="rect">
            <a:avLst/>
          </a:prstGeom>
        </p:spPr>
      </p:pic>
      <p:sp>
        <p:nvSpPr>
          <p:cNvPr id="24" name="Text 19"/>
          <p:cNvSpPr txBox="1"/>
          <p:nvPr/>
        </p:nvSpPr>
        <p:spPr>
          <a:xfrm>
            <a:off x="6489040" y="2414016"/>
            <a:ext cx="2046656" cy="292608"/>
          </a:xfrm>
          <a:prstGeom prst="rect">
            <a:avLst/>
          </a:prstGeom>
          <a:noFill/>
          <a:ln/>
        </p:spPr>
        <p:txBody>
          <a:bodyPr wrap="square" lIns="0" tIns="0" rIns="0" bIns="0" rtlCol="0" anchor="ctr"/>
          <a:lstStyle/>
          <a:p>
            <a:pPr marL="0" indent="0">
              <a:buNone/>
            </a:pPr>
            <a:r>
              <a:rPr lang="en-US" sz="1400" b="1" dirty="0">
                <a:solidFill>
                  <a:srgbClr val="16202B"/>
                </a:solidFill>
                <a:latin typeface="Arial" pitchFamily="34" charset="0"/>
                <a:ea typeface="Arial" pitchFamily="34" charset="-122"/>
                <a:cs typeface="Arial" pitchFamily="34" charset="-120"/>
              </a:rPr>
              <a:t>Driver notified</a:t>
            </a:r>
            <a:endParaRPr lang="en-US" sz="1400" dirty="0"/>
          </a:p>
        </p:txBody>
      </p:sp>
      <p:sp>
        <p:nvSpPr>
          <p:cNvPr id="25" name="Text 20"/>
          <p:cNvSpPr txBox="1"/>
          <p:nvPr/>
        </p:nvSpPr>
        <p:spPr>
          <a:xfrm>
            <a:off x="6489040" y="2743200"/>
            <a:ext cx="2046656" cy="713232"/>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Pickup added to the driver's queue in route sequence</a:t>
            </a:r>
            <a:endParaRPr lang="en-US" sz="1100" dirty="0"/>
          </a:p>
        </p:txBody>
      </p:sp>
      <p:sp>
        <p:nvSpPr>
          <p:cNvPr id="26" name="Shape 21"/>
          <p:cNvSpPr/>
          <p:nvPr/>
        </p:nvSpPr>
        <p:spPr>
          <a:xfrm>
            <a:off x="8842019" y="2519172"/>
            <a:ext cx="173736" cy="155448"/>
          </a:xfrm>
          <a:prstGeom prst="rightArrow">
            <a:avLst/>
          </a:prstGeom>
          <a:solidFill>
            <a:srgbClr val="FF9E5E"/>
          </a:solidFill>
          <a:ln/>
        </p:spPr>
      </p:sp>
      <p:sp>
        <p:nvSpPr>
          <p:cNvPr id="27" name="Shape 22"/>
          <p:cNvSpPr/>
          <p:nvPr/>
        </p:nvSpPr>
        <p:spPr>
          <a:xfrm>
            <a:off x="9066047" y="1591056"/>
            <a:ext cx="2558720" cy="2011680"/>
          </a:xfrm>
          <a:prstGeom prst="roundRect">
            <a:avLst>
              <a:gd name="adj" fmla="val 545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28" name="Shape 23"/>
          <p:cNvSpPr/>
          <p:nvPr/>
        </p:nvSpPr>
        <p:spPr>
          <a:xfrm>
            <a:off x="9322079" y="1828800"/>
            <a:ext cx="420624" cy="420624"/>
          </a:xfrm>
          <a:prstGeom prst="ellipse">
            <a:avLst/>
          </a:prstGeom>
          <a:solidFill>
            <a:srgbClr val="0E141B"/>
          </a:solidFill>
          <a:ln/>
        </p:spPr>
      </p:sp>
      <p:sp>
        <p:nvSpPr>
          <p:cNvPr id="29" name="Text 24"/>
          <p:cNvSpPr txBox="1"/>
          <p:nvPr/>
        </p:nvSpPr>
        <p:spPr>
          <a:xfrm>
            <a:off x="9322079" y="18288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pic>
        <p:nvPicPr>
          <p:cNvPr id="30" name="Image 3" descr="preencoded.png"/>
          <p:cNvPicPr>
            <a:picLocks noChangeAspect="1"/>
          </p:cNvPicPr>
          <p:nvPr/>
        </p:nvPicPr>
        <p:blipFill>
          <a:blip r:embed="rId6"/>
          <a:stretch>
            <a:fillRect/>
          </a:stretch>
        </p:blipFill>
        <p:spPr>
          <a:xfrm>
            <a:off x="10911535" y="1865376"/>
            <a:ext cx="347472" cy="347472"/>
          </a:xfrm>
          <a:prstGeom prst="rect">
            <a:avLst/>
          </a:prstGeom>
        </p:spPr>
      </p:pic>
      <p:sp>
        <p:nvSpPr>
          <p:cNvPr id="31" name="Text 25"/>
          <p:cNvSpPr txBox="1"/>
          <p:nvPr/>
        </p:nvSpPr>
        <p:spPr>
          <a:xfrm>
            <a:off x="9322079" y="2414016"/>
            <a:ext cx="2046656" cy="292608"/>
          </a:xfrm>
          <a:prstGeom prst="rect">
            <a:avLst/>
          </a:prstGeom>
          <a:noFill/>
          <a:ln/>
        </p:spPr>
        <p:txBody>
          <a:bodyPr wrap="square" lIns="0" tIns="0" rIns="0" bIns="0" rtlCol="0" anchor="ctr"/>
          <a:lstStyle/>
          <a:p>
            <a:pPr marL="0" indent="0">
              <a:buNone/>
            </a:pPr>
            <a:r>
              <a:rPr lang="en-US" sz="1400" b="1" dirty="0">
                <a:solidFill>
                  <a:srgbClr val="16202B"/>
                </a:solidFill>
                <a:latin typeface="Arial" pitchFamily="34" charset="0"/>
                <a:ea typeface="Arial" pitchFamily="34" charset="-122"/>
                <a:cs typeface="Arial" pitchFamily="34" charset="-120"/>
              </a:rPr>
              <a:t>Live tracking</a:t>
            </a:r>
            <a:endParaRPr lang="en-US" sz="1400" dirty="0"/>
          </a:p>
        </p:txBody>
      </p:sp>
      <p:sp>
        <p:nvSpPr>
          <p:cNvPr id="32" name="Text 26"/>
          <p:cNvSpPr txBox="1"/>
          <p:nvPr/>
        </p:nvSpPr>
        <p:spPr>
          <a:xfrm>
            <a:off x="9322079" y="2743200"/>
            <a:ext cx="2046656" cy="713232"/>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Rider gets vehicle number, driver contact, tracking link</a:t>
            </a:r>
            <a:endParaRPr lang="en-US" sz="1100" dirty="0"/>
          </a:p>
        </p:txBody>
      </p:sp>
      <p:sp>
        <p:nvSpPr>
          <p:cNvPr id="33" name="Shape 27"/>
          <p:cNvSpPr/>
          <p:nvPr/>
        </p:nvSpPr>
        <p:spPr>
          <a:xfrm>
            <a:off x="566928" y="3877056"/>
            <a:ext cx="2558720" cy="2011680"/>
          </a:xfrm>
          <a:prstGeom prst="roundRect">
            <a:avLst>
              <a:gd name="adj" fmla="val 545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34" name="Shape 28"/>
          <p:cNvSpPr/>
          <p:nvPr/>
        </p:nvSpPr>
        <p:spPr>
          <a:xfrm>
            <a:off x="822960" y="4114800"/>
            <a:ext cx="420624" cy="420624"/>
          </a:xfrm>
          <a:prstGeom prst="ellipse">
            <a:avLst/>
          </a:prstGeom>
          <a:solidFill>
            <a:srgbClr val="0E141B"/>
          </a:solidFill>
          <a:ln/>
        </p:spPr>
      </p:sp>
      <p:sp>
        <p:nvSpPr>
          <p:cNvPr id="35" name="Text 29"/>
          <p:cNvSpPr txBox="1"/>
          <p:nvPr/>
        </p:nvSpPr>
        <p:spPr>
          <a:xfrm>
            <a:off x="822960" y="41148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pic>
        <p:nvPicPr>
          <p:cNvPr id="36" name="Image 4" descr="preencoded.png"/>
          <p:cNvPicPr>
            <a:picLocks noChangeAspect="1"/>
          </p:cNvPicPr>
          <p:nvPr/>
        </p:nvPicPr>
        <p:blipFill>
          <a:blip r:embed="rId7"/>
          <a:stretch>
            <a:fillRect/>
          </a:stretch>
        </p:blipFill>
        <p:spPr>
          <a:xfrm>
            <a:off x="2412416" y="4151376"/>
            <a:ext cx="347472" cy="347472"/>
          </a:xfrm>
          <a:prstGeom prst="rect">
            <a:avLst/>
          </a:prstGeom>
        </p:spPr>
      </p:pic>
      <p:sp>
        <p:nvSpPr>
          <p:cNvPr id="37" name="Text 30"/>
          <p:cNvSpPr txBox="1"/>
          <p:nvPr/>
        </p:nvSpPr>
        <p:spPr>
          <a:xfrm>
            <a:off x="822960" y="4700016"/>
            <a:ext cx="2046656" cy="292608"/>
          </a:xfrm>
          <a:prstGeom prst="rect">
            <a:avLst/>
          </a:prstGeom>
          <a:noFill/>
          <a:ln/>
        </p:spPr>
        <p:txBody>
          <a:bodyPr wrap="square" lIns="0" tIns="0" rIns="0" bIns="0" rtlCol="0" anchor="ctr"/>
          <a:lstStyle/>
          <a:p>
            <a:pPr marL="0" indent="0">
              <a:buNone/>
            </a:pPr>
            <a:r>
              <a:rPr lang="en-US" sz="1400" b="1" dirty="0">
                <a:solidFill>
                  <a:srgbClr val="16202B"/>
                </a:solidFill>
                <a:latin typeface="Arial" pitchFamily="34" charset="0"/>
                <a:ea typeface="Arial" pitchFamily="34" charset="-122"/>
                <a:cs typeface="Arial" pitchFamily="34" charset="-120"/>
              </a:rPr>
              <a:t>OTP boarding</a:t>
            </a:r>
            <a:endParaRPr lang="en-US" sz="1400" dirty="0"/>
          </a:p>
        </p:txBody>
      </p:sp>
      <p:sp>
        <p:nvSpPr>
          <p:cNvPr id="38" name="Text 31"/>
          <p:cNvSpPr txBox="1"/>
          <p:nvPr/>
        </p:nvSpPr>
        <p:spPr>
          <a:xfrm>
            <a:off x="822960" y="5029200"/>
            <a:ext cx="2046656" cy="713232"/>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A 4-digit code confirms the right rider, right cab</a:t>
            </a:r>
            <a:endParaRPr lang="en-US" sz="1100" dirty="0"/>
          </a:p>
        </p:txBody>
      </p:sp>
      <p:sp>
        <p:nvSpPr>
          <p:cNvPr id="39" name="Shape 32"/>
          <p:cNvSpPr/>
          <p:nvPr/>
        </p:nvSpPr>
        <p:spPr>
          <a:xfrm>
            <a:off x="3175940" y="4805172"/>
            <a:ext cx="173736" cy="155448"/>
          </a:xfrm>
          <a:prstGeom prst="rightArrow">
            <a:avLst/>
          </a:prstGeom>
          <a:solidFill>
            <a:srgbClr val="FF9E5E"/>
          </a:solidFill>
          <a:ln/>
        </p:spPr>
      </p:sp>
      <p:sp>
        <p:nvSpPr>
          <p:cNvPr id="40" name="Shape 33"/>
          <p:cNvSpPr/>
          <p:nvPr/>
        </p:nvSpPr>
        <p:spPr>
          <a:xfrm>
            <a:off x="3399968" y="3877056"/>
            <a:ext cx="2558720" cy="2011680"/>
          </a:xfrm>
          <a:prstGeom prst="roundRect">
            <a:avLst>
              <a:gd name="adj" fmla="val 545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41" name="Shape 34"/>
          <p:cNvSpPr/>
          <p:nvPr/>
        </p:nvSpPr>
        <p:spPr>
          <a:xfrm>
            <a:off x="3656000" y="4114800"/>
            <a:ext cx="420624" cy="420624"/>
          </a:xfrm>
          <a:prstGeom prst="ellipse">
            <a:avLst/>
          </a:prstGeom>
          <a:solidFill>
            <a:srgbClr val="0E141B"/>
          </a:solidFill>
          <a:ln/>
        </p:spPr>
      </p:sp>
      <p:sp>
        <p:nvSpPr>
          <p:cNvPr id="42" name="Text 35"/>
          <p:cNvSpPr txBox="1"/>
          <p:nvPr/>
        </p:nvSpPr>
        <p:spPr>
          <a:xfrm>
            <a:off x="3656000" y="41148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pic>
        <p:nvPicPr>
          <p:cNvPr id="43" name="Image 5" descr="preencoded.png"/>
          <p:cNvPicPr>
            <a:picLocks noChangeAspect="1"/>
          </p:cNvPicPr>
          <p:nvPr/>
        </p:nvPicPr>
        <p:blipFill>
          <a:blip r:embed="rId8"/>
          <a:stretch>
            <a:fillRect/>
          </a:stretch>
        </p:blipFill>
        <p:spPr>
          <a:xfrm>
            <a:off x="5245456" y="4151376"/>
            <a:ext cx="347472" cy="347472"/>
          </a:xfrm>
          <a:prstGeom prst="rect">
            <a:avLst/>
          </a:prstGeom>
        </p:spPr>
      </p:pic>
      <p:sp>
        <p:nvSpPr>
          <p:cNvPr id="44" name="Text 36"/>
          <p:cNvSpPr txBox="1"/>
          <p:nvPr/>
        </p:nvSpPr>
        <p:spPr>
          <a:xfrm>
            <a:off x="3656000" y="4700016"/>
            <a:ext cx="2046656" cy="292608"/>
          </a:xfrm>
          <a:prstGeom prst="rect">
            <a:avLst/>
          </a:prstGeom>
          <a:noFill/>
          <a:ln/>
        </p:spPr>
        <p:txBody>
          <a:bodyPr wrap="square" lIns="0" tIns="0" rIns="0" bIns="0" rtlCol="0" anchor="ctr"/>
          <a:lstStyle/>
          <a:p>
            <a:pPr marL="0" indent="0">
              <a:buNone/>
            </a:pPr>
            <a:r>
              <a:rPr lang="en-US" sz="1400" b="1" dirty="0">
                <a:solidFill>
                  <a:srgbClr val="16202B"/>
                </a:solidFill>
                <a:latin typeface="Arial" pitchFamily="34" charset="0"/>
                <a:ea typeface="Arial" pitchFamily="34" charset="-122"/>
                <a:cs typeface="Arial" pitchFamily="34" charset="-120"/>
              </a:rPr>
              <a:t>Auto close</a:t>
            </a:r>
            <a:endParaRPr lang="en-US" sz="1400" dirty="0"/>
          </a:p>
        </p:txBody>
      </p:sp>
      <p:sp>
        <p:nvSpPr>
          <p:cNvPr id="45" name="Text 37"/>
          <p:cNvSpPr txBox="1"/>
          <p:nvPr/>
        </p:nvSpPr>
        <p:spPr>
          <a:xfrm>
            <a:off x="3656000" y="5029200"/>
            <a:ext cx="2046656" cy="713232"/>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Geofence at the drop point ends the trip</a:t>
            </a:r>
            <a:endParaRPr lang="en-US" sz="1100" dirty="0"/>
          </a:p>
        </p:txBody>
      </p:sp>
      <p:sp>
        <p:nvSpPr>
          <p:cNvPr id="46" name="Shape 38"/>
          <p:cNvSpPr/>
          <p:nvPr/>
        </p:nvSpPr>
        <p:spPr>
          <a:xfrm>
            <a:off x="6008980" y="4805172"/>
            <a:ext cx="173736" cy="155448"/>
          </a:xfrm>
          <a:prstGeom prst="rightArrow">
            <a:avLst/>
          </a:prstGeom>
          <a:solidFill>
            <a:srgbClr val="FF9E5E"/>
          </a:solidFill>
          <a:ln/>
        </p:spPr>
      </p:sp>
      <p:sp>
        <p:nvSpPr>
          <p:cNvPr id="47" name="Shape 39"/>
          <p:cNvSpPr/>
          <p:nvPr/>
        </p:nvSpPr>
        <p:spPr>
          <a:xfrm>
            <a:off x="6233008" y="3877056"/>
            <a:ext cx="2558720" cy="2011680"/>
          </a:xfrm>
          <a:prstGeom prst="roundRect">
            <a:avLst>
              <a:gd name="adj" fmla="val 545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48" name="Shape 40"/>
          <p:cNvSpPr/>
          <p:nvPr/>
        </p:nvSpPr>
        <p:spPr>
          <a:xfrm>
            <a:off x="6489040" y="4114800"/>
            <a:ext cx="420624" cy="420624"/>
          </a:xfrm>
          <a:prstGeom prst="ellipse">
            <a:avLst/>
          </a:prstGeom>
          <a:solidFill>
            <a:srgbClr val="0E141B"/>
          </a:solidFill>
          <a:ln/>
        </p:spPr>
      </p:sp>
      <p:sp>
        <p:nvSpPr>
          <p:cNvPr id="49" name="Text 41"/>
          <p:cNvSpPr txBox="1"/>
          <p:nvPr/>
        </p:nvSpPr>
        <p:spPr>
          <a:xfrm>
            <a:off x="6489040" y="41148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pic>
        <p:nvPicPr>
          <p:cNvPr id="50" name="Image 6" descr="preencoded.png"/>
          <p:cNvPicPr>
            <a:picLocks noChangeAspect="1"/>
          </p:cNvPicPr>
          <p:nvPr/>
        </p:nvPicPr>
        <p:blipFill>
          <a:blip r:embed="rId9"/>
          <a:stretch>
            <a:fillRect/>
          </a:stretch>
        </p:blipFill>
        <p:spPr>
          <a:xfrm>
            <a:off x="8078495" y="4151376"/>
            <a:ext cx="347472" cy="347472"/>
          </a:xfrm>
          <a:prstGeom prst="rect">
            <a:avLst/>
          </a:prstGeom>
        </p:spPr>
      </p:pic>
      <p:sp>
        <p:nvSpPr>
          <p:cNvPr id="51" name="Text 42"/>
          <p:cNvSpPr txBox="1"/>
          <p:nvPr/>
        </p:nvSpPr>
        <p:spPr>
          <a:xfrm>
            <a:off x="6489040" y="4700016"/>
            <a:ext cx="2046656" cy="292608"/>
          </a:xfrm>
          <a:prstGeom prst="rect">
            <a:avLst/>
          </a:prstGeom>
          <a:noFill/>
          <a:ln/>
        </p:spPr>
        <p:txBody>
          <a:bodyPr wrap="square" lIns="0" tIns="0" rIns="0" bIns="0" rtlCol="0" anchor="ctr"/>
          <a:lstStyle/>
          <a:p>
            <a:pPr marL="0" indent="0">
              <a:buNone/>
            </a:pPr>
            <a:r>
              <a:rPr lang="en-US" sz="1400" b="1" dirty="0">
                <a:solidFill>
                  <a:srgbClr val="16202B"/>
                </a:solidFill>
                <a:latin typeface="Arial" pitchFamily="34" charset="0"/>
                <a:ea typeface="Arial" pitchFamily="34" charset="-122"/>
                <a:cs typeface="Arial" pitchFamily="34" charset="-120"/>
              </a:rPr>
              <a:t>Cost allocated</a:t>
            </a:r>
            <a:endParaRPr lang="en-US" sz="1400" dirty="0"/>
          </a:p>
        </p:txBody>
      </p:sp>
      <p:sp>
        <p:nvSpPr>
          <p:cNvPr id="52" name="Text 43"/>
          <p:cNvSpPr txBox="1"/>
          <p:nvPr/>
        </p:nvSpPr>
        <p:spPr>
          <a:xfrm>
            <a:off x="6489040" y="5029200"/>
            <a:ext cx="2046656" cy="713232"/>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Trip charged to the rider's cost centre</a:t>
            </a:r>
            <a:endParaRPr lang="en-US" sz="1100" dirty="0"/>
          </a:p>
        </p:txBody>
      </p:sp>
      <p:sp>
        <p:nvSpPr>
          <p:cNvPr id="53" name="Shape 44"/>
          <p:cNvSpPr/>
          <p:nvPr/>
        </p:nvSpPr>
        <p:spPr>
          <a:xfrm>
            <a:off x="8842019" y="4805172"/>
            <a:ext cx="173736" cy="155448"/>
          </a:xfrm>
          <a:prstGeom prst="rightArrow">
            <a:avLst/>
          </a:prstGeom>
          <a:solidFill>
            <a:srgbClr val="FF9E5E"/>
          </a:solidFill>
          <a:ln/>
        </p:spPr>
      </p:sp>
      <p:sp>
        <p:nvSpPr>
          <p:cNvPr id="54" name="Shape 45"/>
          <p:cNvSpPr/>
          <p:nvPr/>
        </p:nvSpPr>
        <p:spPr>
          <a:xfrm>
            <a:off x="9066047" y="3877056"/>
            <a:ext cx="2558720" cy="2011680"/>
          </a:xfrm>
          <a:prstGeom prst="roundRect">
            <a:avLst>
              <a:gd name="adj" fmla="val 545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55" name="Shape 46"/>
          <p:cNvSpPr/>
          <p:nvPr/>
        </p:nvSpPr>
        <p:spPr>
          <a:xfrm>
            <a:off x="9322079" y="4114800"/>
            <a:ext cx="420624" cy="420624"/>
          </a:xfrm>
          <a:prstGeom prst="ellipse">
            <a:avLst/>
          </a:prstGeom>
          <a:solidFill>
            <a:srgbClr val="0E141B"/>
          </a:solidFill>
          <a:ln/>
        </p:spPr>
      </p:sp>
      <p:sp>
        <p:nvSpPr>
          <p:cNvPr id="56" name="Text 47"/>
          <p:cNvSpPr txBox="1"/>
          <p:nvPr/>
        </p:nvSpPr>
        <p:spPr>
          <a:xfrm>
            <a:off x="9322079" y="41148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pic>
        <p:nvPicPr>
          <p:cNvPr id="57" name="Image 7" descr="preencoded.png"/>
          <p:cNvPicPr>
            <a:picLocks noChangeAspect="1"/>
          </p:cNvPicPr>
          <p:nvPr/>
        </p:nvPicPr>
        <p:blipFill>
          <a:blip r:embed="rId10"/>
          <a:stretch>
            <a:fillRect/>
          </a:stretch>
        </p:blipFill>
        <p:spPr>
          <a:xfrm>
            <a:off x="10911535" y="4151376"/>
            <a:ext cx="347472" cy="347472"/>
          </a:xfrm>
          <a:prstGeom prst="rect">
            <a:avLst/>
          </a:prstGeom>
        </p:spPr>
      </p:pic>
      <p:sp>
        <p:nvSpPr>
          <p:cNvPr id="58" name="Text 48"/>
          <p:cNvSpPr txBox="1"/>
          <p:nvPr/>
        </p:nvSpPr>
        <p:spPr>
          <a:xfrm>
            <a:off x="9322079" y="4700016"/>
            <a:ext cx="2046656" cy="292608"/>
          </a:xfrm>
          <a:prstGeom prst="rect">
            <a:avLst/>
          </a:prstGeom>
          <a:noFill/>
          <a:ln/>
        </p:spPr>
        <p:txBody>
          <a:bodyPr wrap="square" lIns="0" tIns="0" rIns="0" bIns="0" rtlCol="0" anchor="ctr"/>
          <a:lstStyle/>
          <a:p>
            <a:pPr marL="0" indent="0">
              <a:buNone/>
            </a:pPr>
            <a:r>
              <a:rPr lang="en-US" sz="1400" b="1" dirty="0">
                <a:solidFill>
                  <a:srgbClr val="16202B"/>
                </a:solidFill>
                <a:latin typeface="Arial" pitchFamily="34" charset="0"/>
                <a:ea typeface="Arial" pitchFamily="34" charset="-122"/>
                <a:cs typeface="Arial" pitchFamily="34" charset="-120"/>
              </a:rPr>
              <a:t>Insights</a:t>
            </a:r>
            <a:endParaRPr lang="en-US" sz="1400" dirty="0"/>
          </a:p>
        </p:txBody>
      </p:sp>
      <p:sp>
        <p:nvSpPr>
          <p:cNvPr id="59" name="Text 49"/>
          <p:cNvSpPr txBox="1"/>
          <p:nvPr/>
        </p:nvSpPr>
        <p:spPr>
          <a:xfrm>
            <a:off x="9322079" y="5029200"/>
            <a:ext cx="2046656" cy="713232"/>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Dashboards for transport, HR and finance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5E6D7D"/>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5E6D7D"/>
                </a:solidFill>
                <a:latin typeface="Arial" pitchFamily="34" charset="0"/>
                <a:ea typeface="Arial" pitchFamily="34" charset="-122"/>
                <a:cs typeface="Arial" pitchFamily="34" charset="-120"/>
              </a:rPr>
              <a:t>06</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WHO IT SERVES</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16202B"/>
                </a:solidFill>
                <a:latin typeface="Arial" pitchFamily="34" charset="0"/>
                <a:ea typeface="Arial" pitchFamily="34" charset="-122"/>
                <a:cs typeface="Arial" pitchFamily="34" charset="-120"/>
              </a:rPr>
              <a:t>One platform, a clear role for everyone</a:t>
            </a:r>
            <a:endParaRPr lang="en-US" sz="3000" dirty="0"/>
          </a:p>
        </p:txBody>
      </p:sp>
      <p:sp>
        <p:nvSpPr>
          <p:cNvPr id="6" name="Shape 4"/>
          <p:cNvSpPr/>
          <p:nvPr/>
        </p:nvSpPr>
        <p:spPr>
          <a:xfrm>
            <a:off x="566928" y="1591056"/>
            <a:ext cx="2558720" cy="2011680"/>
          </a:xfrm>
          <a:prstGeom prst="roundRect">
            <a:avLst>
              <a:gd name="adj" fmla="val 545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7" name="Shape 5"/>
          <p:cNvSpPr/>
          <p:nvPr/>
        </p:nvSpPr>
        <p:spPr>
          <a:xfrm>
            <a:off x="841248" y="1883664"/>
            <a:ext cx="530352" cy="530352"/>
          </a:xfrm>
          <a:prstGeom prst="ellipse">
            <a:avLst/>
          </a:prstGeom>
          <a:solidFill>
            <a:srgbClr val="FFEDE0"/>
          </a:solidFill>
          <a:ln/>
        </p:spPr>
      </p:sp>
      <p:pic>
        <p:nvPicPr>
          <p:cNvPr id="8" name="Image 0" descr="preencoded.png"/>
          <p:cNvPicPr>
            <a:picLocks noChangeAspect="1"/>
          </p:cNvPicPr>
          <p:nvPr/>
        </p:nvPicPr>
        <p:blipFill>
          <a:blip r:embed="rId3"/>
          <a:stretch>
            <a:fillRect/>
          </a:stretch>
        </p:blipFill>
        <p:spPr>
          <a:xfrm>
            <a:off x="979140" y="2021556"/>
            <a:ext cx="254569" cy="254569"/>
          </a:xfrm>
          <a:prstGeom prst="rect">
            <a:avLst/>
          </a:prstGeom>
        </p:spPr>
      </p:pic>
      <p:sp>
        <p:nvSpPr>
          <p:cNvPr id="9" name="Text 6"/>
          <p:cNvSpPr txBox="1"/>
          <p:nvPr/>
        </p:nvSpPr>
        <p:spPr>
          <a:xfrm>
            <a:off x="841248" y="2523744"/>
            <a:ext cx="2010080" cy="310896"/>
          </a:xfrm>
          <a:prstGeom prst="rect">
            <a:avLst/>
          </a:prstGeom>
          <a:noFill/>
          <a:ln/>
        </p:spPr>
        <p:txBody>
          <a:bodyPr wrap="square" lIns="0" tIns="0" rIns="0" bIns="0" rtlCol="0" anchor="ctr"/>
          <a:lstStyle/>
          <a:p>
            <a:pPr marL="0" indent="0">
              <a:buNone/>
            </a:pPr>
            <a:r>
              <a:rPr lang="en-US" sz="1400" b="1" dirty="0">
                <a:solidFill>
                  <a:srgbClr val="16202B"/>
                </a:solidFill>
                <a:latin typeface="Arial" pitchFamily="34" charset="0"/>
                <a:ea typeface="Arial" pitchFamily="34" charset="-122"/>
                <a:cs typeface="Arial" pitchFamily="34" charset="-120"/>
              </a:rPr>
              <a:t>Employee</a:t>
            </a:r>
            <a:endParaRPr lang="en-US" sz="1400" dirty="0"/>
          </a:p>
        </p:txBody>
      </p:sp>
      <p:sp>
        <p:nvSpPr>
          <p:cNvPr id="10" name="Text 7"/>
          <p:cNvSpPr txBox="1"/>
          <p:nvPr/>
        </p:nvSpPr>
        <p:spPr>
          <a:xfrm>
            <a:off x="841248" y="2871216"/>
            <a:ext cx="2010080" cy="566928"/>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Books, tracks and rates rides</a:t>
            </a:r>
            <a:endParaRPr lang="en-US" sz="1100" dirty="0"/>
          </a:p>
        </p:txBody>
      </p:sp>
      <p:sp>
        <p:nvSpPr>
          <p:cNvPr id="11" name="Shape 8"/>
          <p:cNvSpPr/>
          <p:nvPr/>
        </p:nvSpPr>
        <p:spPr>
          <a:xfrm>
            <a:off x="3399968" y="1591056"/>
            <a:ext cx="2558720" cy="2011680"/>
          </a:xfrm>
          <a:prstGeom prst="roundRect">
            <a:avLst>
              <a:gd name="adj" fmla="val 5455"/>
            </a:avLst>
          </a:prstGeom>
          <a:solidFill>
            <a:srgbClr val="0E141B"/>
          </a:solidFill>
          <a:ln/>
        </p:spPr>
      </p:sp>
      <p:sp>
        <p:nvSpPr>
          <p:cNvPr id="12" name="Shape 9"/>
          <p:cNvSpPr/>
          <p:nvPr/>
        </p:nvSpPr>
        <p:spPr>
          <a:xfrm>
            <a:off x="3674288" y="1883664"/>
            <a:ext cx="530352" cy="530352"/>
          </a:xfrm>
          <a:prstGeom prst="ellipse">
            <a:avLst/>
          </a:prstGeom>
          <a:solidFill>
            <a:srgbClr val="22303F"/>
          </a:solidFill>
          <a:ln/>
        </p:spPr>
      </p:sp>
      <p:pic>
        <p:nvPicPr>
          <p:cNvPr id="13" name="Image 1" descr="preencoded.png"/>
          <p:cNvPicPr>
            <a:picLocks noChangeAspect="1"/>
          </p:cNvPicPr>
          <p:nvPr/>
        </p:nvPicPr>
        <p:blipFill>
          <a:blip r:embed="rId4"/>
          <a:stretch>
            <a:fillRect/>
          </a:stretch>
        </p:blipFill>
        <p:spPr>
          <a:xfrm>
            <a:off x="3812179" y="2021556"/>
            <a:ext cx="254569" cy="254569"/>
          </a:xfrm>
          <a:prstGeom prst="rect">
            <a:avLst/>
          </a:prstGeom>
        </p:spPr>
      </p:pic>
      <p:sp>
        <p:nvSpPr>
          <p:cNvPr id="14" name="Text 10"/>
          <p:cNvSpPr txBox="1"/>
          <p:nvPr/>
        </p:nvSpPr>
        <p:spPr>
          <a:xfrm>
            <a:off x="3674288" y="2523744"/>
            <a:ext cx="2010080" cy="310896"/>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Host employee</a:t>
            </a:r>
            <a:endParaRPr lang="en-US" sz="1400" dirty="0"/>
          </a:p>
        </p:txBody>
      </p:sp>
      <p:sp>
        <p:nvSpPr>
          <p:cNvPr id="15" name="Text 11"/>
          <p:cNvSpPr txBox="1"/>
          <p:nvPr/>
        </p:nvSpPr>
        <p:spPr>
          <a:xfrm>
            <a:off x="3674288" y="2871216"/>
            <a:ext cx="2010080" cy="566928"/>
          </a:xfrm>
          <a:prstGeom prst="rect">
            <a:avLst/>
          </a:prstGeom>
          <a:noFill/>
          <a:ln/>
        </p:spPr>
        <p:txBody>
          <a:bodyPr wrap="square" lIns="0" tIns="0" rIns="0" bIns="0" rtlCol="0" anchor="t"/>
          <a:lstStyle/>
          <a:p>
            <a:pPr marL="0" indent="0">
              <a:lnSpc>
                <a:spcPts val="1500"/>
              </a:lnSpc>
              <a:buNone/>
            </a:pPr>
            <a:r>
              <a:rPr lang="en-US" sz="1100" dirty="0">
                <a:solidFill>
                  <a:srgbClr val="A3B4C4"/>
                </a:solidFill>
                <a:latin typeface="Calibri" pitchFamily="34" charset="0"/>
                <a:ea typeface="Calibri" pitchFamily="34" charset="-122"/>
                <a:cs typeface="Calibri" pitchFamily="34" charset="-120"/>
              </a:rPr>
              <a:t>Books for a visitor and owns the cost</a:t>
            </a:r>
            <a:endParaRPr lang="en-US" sz="1100" dirty="0"/>
          </a:p>
        </p:txBody>
      </p:sp>
      <p:sp>
        <p:nvSpPr>
          <p:cNvPr id="16" name="Shape 12"/>
          <p:cNvSpPr/>
          <p:nvPr/>
        </p:nvSpPr>
        <p:spPr>
          <a:xfrm>
            <a:off x="6233008" y="1591056"/>
            <a:ext cx="2558720" cy="2011680"/>
          </a:xfrm>
          <a:prstGeom prst="roundRect">
            <a:avLst>
              <a:gd name="adj" fmla="val 545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17" name="Shape 13"/>
          <p:cNvSpPr/>
          <p:nvPr/>
        </p:nvSpPr>
        <p:spPr>
          <a:xfrm>
            <a:off x="6507328" y="1883664"/>
            <a:ext cx="530352" cy="530352"/>
          </a:xfrm>
          <a:prstGeom prst="ellipse">
            <a:avLst/>
          </a:prstGeom>
          <a:solidFill>
            <a:srgbClr val="FFEDE0"/>
          </a:solidFill>
          <a:ln/>
        </p:spPr>
      </p:sp>
      <p:pic>
        <p:nvPicPr>
          <p:cNvPr id="18" name="Image 2" descr="preencoded.png"/>
          <p:cNvPicPr>
            <a:picLocks noChangeAspect="1"/>
          </p:cNvPicPr>
          <p:nvPr/>
        </p:nvPicPr>
        <p:blipFill>
          <a:blip r:embed="rId5"/>
          <a:stretch>
            <a:fillRect/>
          </a:stretch>
        </p:blipFill>
        <p:spPr>
          <a:xfrm>
            <a:off x="6645219" y="2021556"/>
            <a:ext cx="254569" cy="254569"/>
          </a:xfrm>
          <a:prstGeom prst="rect">
            <a:avLst/>
          </a:prstGeom>
        </p:spPr>
      </p:pic>
      <p:sp>
        <p:nvSpPr>
          <p:cNvPr id="19" name="Text 14"/>
          <p:cNvSpPr txBox="1"/>
          <p:nvPr/>
        </p:nvSpPr>
        <p:spPr>
          <a:xfrm>
            <a:off x="6507328" y="2523744"/>
            <a:ext cx="2010080" cy="310896"/>
          </a:xfrm>
          <a:prstGeom prst="rect">
            <a:avLst/>
          </a:prstGeom>
          <a:noFill/>
          <a:ln/>
        </p:spPr>
        <p:txBody>
          <a:bodyPr wrap="square" lIns="0" tIns="0" rIns="0" bIns="0" rtlCol="0" anchor="ctr"/>
          <a:lstStyle/>
          <a:p>
            <a:pPr marL="0" indent="0">
              <a:buNone/>
            </a:pPr>
            <a:r>
              <a:rPr lang="en-US" sz="1400" b="1" dirty="0">
                <a:solidFill>
                  <a:srgbClr val="16202B"/>
                </a:solidFill>
                <a:latin typeface="Arial" pitchFamily="34" charset="0"/>
                <a:ea typeface="Arial" pitchFamily="34" charset="-122"/>
                <a:cs typeface="Arial" pitchFamily="34" charset="-120"/>
              </a:rPr>
              <a:t>Approver</a:t>
            </a:r>
            <a:endParaRPr lang="en-US" sz="1400" dirty="0"/>
          </a:p>
        </p:txBody>
      </p:sp>
      <p:sp>
        <p:nvSpPr>
          <p:cNvPr id="20" name="Text 15"/>
          <p:cNvSpPr txBox="1"/>
          <p:nvPr/>
        </p:nvSpPr>
        <p:spPr>
          <a:xfrm>
            <a:off x="6507328" y="2871216"/>
            <a:ext cx="2010080" cy="566928"/>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Clears exclusive and out-of-policy rides</a:t>
            </a:r>
            <a:endParaRPr lang="en-US" sz="1100" dirty="0"/>
          </a:p>
        </p:txBody>
      </p:sp>
      <p:sp>
        <p:nvSpPr>
          <p:cNvPr id="21" name="Shape 16"/>
          <p:cNvSpPr/>
          <p:nvPr/>
        </p:nvSpPr>
        <p:spPr>
          <a:xfrm>
            <a:off x="9066047" y="1591056"/>
            <a:ext cx="2558720" cy="2011680"/>
          </a:xfrm>
          <a:prstGeom prst="roundRect">
            <a:avLst>
              <a:gd name="adj" fmla="val 5455"/>
            </a:avLst>
          </a:prstGeom>
          <a:solidFill>
            <a:srgbClr val="0E141B"/>
          </a:solidFill>
          <a:ln/>
        </p:spPr>
      </p:sp>
      <p:sp>
        <p:nvSpPr>
          <p:cNvPr id="22" name="Shape 17"/>
          <p:cNvSpPr/>
          <p:nvPr/>
        </p:nvSpPr>
        <p:spPr>
          <a:xfrm>
            <a:off x="9340367" y="1883664"/>
            <a:ext cx="530352" cy="530352"/>
          </a:xfrm>
          <a:prstGeom prst="ellipse">
            <a:avLst/>
          </a:prstGeom>
          <a:solidFill>
            <a:srgbClr val="22303F"/>
          </a:solidFill>
          <a:ln/>
        </p:spPr>
      </p:sp>
      <p:pic>
        <p:nvPicPr>
          <p:cNvPr id="23" name="Image 3" descr="preencoded.png"/>
          <p:cNvPicPr>
            <a:picLocks noChangeAspect="1"/>
          </p:cNvPicPr>
          <p:nvPr/>
        </p:nvPicPr>
        <p:blipFill>
          <a:blip r:embed="rId6"/>
          <a:stretch>
            <a:fillRect/>
          </a:stretch>
        </p:blipFill>
        <p:spPr>
          <a:xfrm>
            <a:off x="9478259" y="2021556"/>
            <a:ext cx="254569" cy="254569"/>
          </a:xfrm>
          <a:prstGeom prst="rect">
            <a:avLst/>
          </a:prstGeom>
        </p:spPr>
      </p:pic>
      <p:sp>
        <p:nvSpPr>
          <p:cNvPr id="24" name="Text 18"/>
          <p:cNvSpPr txBox="1"/>
          <p:nvPr/>
        </p:nvSpPr>
        <p:spPr>
          <a:xfrm>
            <a:off x="9340367" y="2523744"/>
            <a:ext cx="2010080" cy="310896"/>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Driver</a:t>
            </a:r>
            <a:endParaRPr lang="en-US" sz="1400" dirty="0"/>
          </a:p>
        </p:txBody>
      </p:sp>
      <p:sp>
        <p:nvSpPr>
          <p:cNvPr id="25" name="Text 19"/>
          <p:cNvSpPr txBox="1"/>
          <p:nvPr/>
        </p:nvSpPr>
        <p:spPr>
          <a:xfrm>
            <a:off x="9340367" y="2871216"/>
            <a:ext cx="2010080" cy="566928"/>
          </a:xfrm>
          <a:prstGeom prst="rect">
            <a:avLst/>
          </a:prstGeom>
          <a:noFill/>
          <a:ln/>
        </p:spPr>
        <p:txBody>
          <a:bodyPr wrap="square" lIns="0" tIns="0" rIns="0" bIns="0" rtlCol="0" anchor="t"/>
          <a:lstStyle/>
          <a:p>
            <a:pPr marL="0" indent="0">
              <a:lnSpc>
                <a:spcPts val="1500"/>
              </a:lnSpc>
              <a:buNone/>
            </a:pPr>
            <a:r>
              <a:rPr lang="en-US" sz="1100" dirty="0">
                <a:solidFill>
                  <a:srgbClr val="A3B4C4"/>
                </a:solidFill>
                <a:latin typeface="Calibri" pitchFamily="34" charset="0"/>
                <a:ea typeface="Calibri" pitchFamily="34" charset="-122"/>
                <a:cs typeface="Calibri" pitchFamily="34" charset="-120"/>
              </a:rPr>
              <a:t>Trip queue, OTP pickup, issue reports</a:t>
            </a:r>
            <a:endParaRPr lang="en-US" sz="1100" dirty="0"/>
          </a:p>
        </p:txBody>
      </p:sp>
      <p:sp>
        <p:nvSpPr>
          <p:cNvPr id="26" name="Shape 20"/>
          <p:cNvSpPr/>
          <p:nvPr/>
        </p:nvSpPr>
        <p:spPr>
          <a:xfrm>
            <a:off x="566928" y="3877056"/>
            <a:ext cx="2558720" cy="2011680"/>
          </a:xfrm>
          <a:prstGeom prst="roundRect">
            <a:avLst>
              <a:gd name="adj" fmla="val 545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27" name="Shape 21"/>
          <p:cNvSpPr/>
          <p:nvPr/>
        </p:nvSpPr>
        <p:spPr>
          <a:xfrm>
            <a:off x="841248" y="4169664"/>
            <a:ext cx="530352" cy="530352"/>
          </a:xfrm>
          <a:prstGeom prst="ellipse">
            <a:avLst/>
          </a:prstGeom>
          <a:solidFill>
            <a:srgbClr val="FFEDE0"/>
          </a:solidFill>
          <a:ln/>
        </p:spPr>
      </p:sp>
      <p:pic>
        <p:nvPicPr>
          <p:cNvPr id="28" name="Image 4" descr="preencoded.png"/>
          <p:cNvPicPr>
            <a:picLocks noChangeAspect="1"/>
          </p:cNvPicPr>
          <p:nvPr/>
        </p:nvPicPr>
        <p:blipFill>
          <a:blip r:embed="rId7"/>
          <a:stretch>
            <a:fillRect/>
          </a:stretch>
        </p:blipFill>
        <p:spPr>
          <a:xfrm>
            <a:off x="979140" y="4307556"/>
            <a:ext cx="254569" cy="254569"/>
          </a:xfrm>
          <a:prstGeom prst="rect">
            <a:avLst/>
          </a:prstGeom>
        </p:spPr>
      </p:pic>
      <p:sp>
        <p:nvSpPr>
          <p:cNvPr id="29" name="Text 22"/>
          <p:cNvSpPr txBox="1"/>
          <p:nvPr/>
        </p:nvSpPr>
        <p:spPr>
          <a:xfrm>
            <a:off x="841248" y="4809744"/>
            <a:ext cx="2010080" cy="310896"/>
          </a:xfrm>
          <a:prstGeom prst="rect">
            <a:avLst/>
          </a:prstGeom>
          <a:noFill/>
          <a:ln/>
        </p:spPr>
        <p:txBody>
          <a:bodyPr wrap="square" lIns="0" tIns="0" rIns="0" bIns="0" rtlCol="0" anchor="ctr"/>
          <a:lstStyle/>
          <a:p>
            <a:pPr marL="0" indent="0">
              <a:buNone/>
            </a:pPr>
            <a:r>
              <a:rPr lang="en-US" sz="1400" b="1" dirty="0">
                <a:solidFill>
                  <a:srgbClr val="16202B"/>
                </a:solidFill>
                <a:latin typeface="Arial" pitchFamily="34" charset="0"/>
                <a:ea typeface="Arial" pitchFamily="34" charset="-122"/>
                <a:cs typeface="Arial" pitchFamily="34" charset="-120"/>
              </a:rPr>
              <a:t>Transport desk</a:t>
            </a:r>
            <a:endParaRPr lang="en-US" sz="1400" dirty="0"/>
          </a:p>
        </p:txBody>
      </p:sp>
      <p:sp>
        <p:nvSpPr>
          <p:cNvPr id="30" name="Text 23"/>
          <p:cNvSpPr txBox="1"/>
          <p:nvPr/>
        </p:nvSpPr>
        <p:spPr>
          <a:xfrm>
            <a:off x="841248" y="5157216"/>
            <a:ext cx="2010080" cy="566928"/>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Live board, overrides, escalations</a:t>
            </a:r>
            <a:endParaRPr lang="en-US" sz="1100" dirty="0"/>
          </a:p>
        </p:txBody>
      </p:sp>
      <p:sp>
        <p:nvSpPr>
          <p:cNvPr id="31" name="Shape 24"/>
          <p:cNvSpPr/>
          <p:nvPr/>
        </p:nvSpPr>
        <p:spPr>
          <a:xfrm>
            <a:off x="3399968" y="3877056"/>
            <a:ext cx="2558720" cy="2011680"/>
          </a:xfrm>
          <a:prstGeom prst="roundRect">
            <a:avLst>
              <a:gd name="adj" fmla="val 5455"/>
            </a:avLst>
          </a:prstGeom>
          <a:solidFill>
            <a:srgbClr val="0E141B"/>
          </a:solidFill>
          <a:ln/>
        </p:spPr>
      </p:sp>
      <p:sp>
        <p:nvSpPr>
          <p:cNvPr id="32" name="Shape 25"/>
          <p:cNvSpPr/>
          <p:nvPr/>
        </p:nvSpPr>
        <p:spPr>
          <a:xfrm>
            <a:off x="3674288" y="4169664"/>
            <a:ext cx="530352" cy="530352"/>
          </a:xfrm>
          <a:prstGeom prst="ellipse">
            <a:avLst/>
          </a:prstGeom>
          <a:solidFill>
            <a:srgbClr val="22303F"/>
          </a:solidFill>
          <a:ln/>
        </p:spPr>
      </p:sp>
      <p:pic>
        <p:nvPicPr>
          <p:cNvPr id="33" name="Image 5" descr="preencoded.png"/>
          <p:cNvPicPr>
            <a:picLocks noChangeAspect="1"/>
          </p:cNvPicPr>
          <p:nvPr/>
        </p:nvPicPr>
        <p:blipFill>
          <a:blip r:embed="rId8"/>
          <a:stretch>
            <a:fillRect/>
          </a:stretch>
        </p:blipFill>
        <p:spPr>
          <a:xfrm>
            <a:off x="3812179" y="4307556"/>
            <a:ext cx="254569" cy="254569"/>
          </a:xfrm>
          <a:prstGeom prst="rect">
            <a:avLst/>
          </a:prstGeom>
        </p:spPr>
      </p:pic>
      <p:sp>
        <p:nvSpPr>
          <p:cNvPr id="34" name="Text 26"/>
          <p:cNvSpPr txBox="1"/>
          <p:nvPr/>
        </p:nvSpPr>
        <p:spPr>
          <a:xfrm>
            <a:off x="3674288" y="4809744"/>
            <a:ext cx="2010080" cy="310896"/>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Vendor</a:t>
            </a:r>
            <a:endParaRPr lang="en-US" sz="1400" dirty="0"/>
          </a:p>
        </p:txBody>
      </p:sp>
      <p:sp>
        <p:nvSpPr>
          <p:cNvPr id="35" name="Text 27"/>
          <p:cNvSpPr txBox="1"/>
          <p:nvPr/>
        </p:nvSpPr>
        <p:spPr>
          <a:xfrm>
            <a:off x="3674288" y="5157216"/>
            <a:ext cx="2010080" cy="566928"/>
          </a:xfrm>
          <a:prstGeom prst="rect">
            <a:avLst/>
          </a:prstGeom>
          <a:noFill/>
          <a:ln/>
        </p:spPr>
        <p:txBody>
          <a:bodyPr wrap="square" lIns="0" tIns="0" rIns="0" bIns="0" rtlCol="0" anchor="t"/>
          <a:lstStyle/>
          <a:p>
            <a:pPr marL="0" indent="0">
              <a:lnSpc>
                <a:spcPts val="1500"/>
              </a:lnSpc>
              <a:buNone/>
            </a:pPr>
            <a:r>
              <a:rPr lang="en-US" sz="1100" dirty="0">
                <a:solidFill>
                  <a:srgbClr val="A3B4C4"/>
                </a:solidFill>
                <a:latin typeface="Calibri" pitchFamily="34" charset="0"/>
                <a:ea typeface="Calibri" pitchFamily="34" charset="-122"/>
                <a:cs typeface="Calibri" pitchFamily="34" charset="-120"/>
              </a:rPr>
              <a:t>Own cabs and drivers, trips and bills</a:t>
            </a:r>
            <a:endParaRPr lang="en-US" sz="1100" dirty="0"/>
          </a:p>
        </p:txBody>
      </p:sp>
      <p:sp>
        <p:nvSpPr>
          <p:cNvPr id="36" name="Shape 28"/>
          <p:cNvSpPr/>
          <p:nvPr/>
        </p:nvSpPr>
        <p:spPr>
          <a:xfrm>
            <a:off x="6233008" y="3877056"/>
            <a:ext cx="2558720" cy="2011680"/>
          </a:xfrm>
          <a:prstGeom prst="roundRect">
            <a:avLst>
              <a:gd name="adj" fmla="val 545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37" name="Shape 29"/>
          <p:cNvSpPr/>
          <p:nvPr/>
        </p:nvSpPr>
        <p:spPr>
          <a:xfrm>
            <a:off x="6507328" y="4169664"/>
            <a:ext cx="530352" cy="530352"/>
          </a:xfrm>
          <a:prstGeom prst="ellipse">
            <a:avLst/>
          </a:prstGeom>
          <a:solidFill>
            <a:srgbClr val="FFEDE0"/>
          </a:solidFill>
          <a:ln/>
        </p:spPr>
      </p:sp>
      <p:pic>
        <p:nvPicPr>
          <p:cNvPr id="38" name="Image 6" descr="preencoded.png"/>
          <p:cNvPicPr>
            <a:picLocks noChangeAspect="1"/>
          </p:cNvPicPr>
          <p:nvPr/>
        </p:nvPicPr>
        <p:blipFill>
          <a:blip r:embed="rId9"/>
          <a:stretch>
            <a:fillRect/>
          </a:stretch>
        </p:blipFill>
        <p:spPr>
          <a:xfrm>
            <a:off x="6645219" y="4307556"/>
            <a:ext cx="254569" cy="254569"/>
          </a:xfrm>
          <a:prstGeom prst="rect">
            <a:avLst/>
          </a:prstGeom>
        </p:spPr>
      </p:pic>
      <p:sp>
        <p:nvSpPr>
          <p:cNvPr id="39" name="Text 30"/>
          <p:cNvSpPr txBox="1"/>
          <p:nvPr/>
        </p:nvSpPr>
        <p:spPr>
          <a:xfrm>
            <a:off x="6507328" y="4809744"/>
            <a:ext cx="2010080" cy="310896"/>
          </a:xfrm>
          <a:prstGeom prst="rect">
            <a:avLst/>
          </a:prstGeom>
          <a:noFill/>
          <a:ln/>
        </p:spPr>
        <p:txBody>
          <a:bodyPr wrap="square" lIns="0" tIns="0" rIns="0" bIns="0" rtlCol="0" anchor="ctr"/>
          <a:lstStyle/>
          <a:p>
            <a:pPr marL="0" indent="0">
              <a:buNone/>
            </a:pPr>
            <a:r>
              <a:rPr lang="en-US" sz="1400" b="1" dirty="0">
                <a:solidFill>
                  <a:srgbClr val="16202B"/>
                </a:solidFill>
                <a:latin typeface="Arial" pitchFamily="34" charset="0"/>
                <a:ea typeface="Arial" pitchFamily="34" charset="-122"/>
                <a:cs typeface="Arial" pitchFamily="34" charset="-120"/>
              </a:rPr>
              <a:t>Fleet admin &amp; finance</a:t>
            </a:r>
            <a:endParaRPr lang="en-US" sz="1400" dirty="0"/>
          </a:p>
        </p:txBody>
      </p:sp>
      <p:sp>
        <p:nvSpPr>
          <p:cNvPr id="40" name="Text 31"/>
          <p:cNvSpPr txBox="1"/>
          <p:nvPr/>
        </p:nvSpPr>
        <p:spPr>
          <a:xfrm>
            <a:off x="6507328" y="5157216"/>
            <a:ext cx="2010080" cy="566928"/>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Vehicles, routes, rules, cost centres</a:t>
            </a:r>
            <a:endParaRPr lang="en-US" sz="1100" dirty="0"/>
          </a:p>
        </p:txBody>
      </p:sp>
      <p:sp>
        <p:nvSpPr>
          <p:cNvPr id="41" name="Shape 32"/>
          <p:cNvSpPr/>
          <p:nvPr/>
        </p:nvSpPr>
        <p:spPr>
          <a:xfrm>
            <a:off x="9066047" y="3877056"/>
            <a:ext cx="2558720" cy="2011680"/>
          </a:xfrm>
          <a:prstGeom prst="roundRect">
            <a:avLst>
              <a:gd name="adj" fmla="val 5455"/>
            </a:avLst>
          </a:prstGeom>
          <a:solidFill>
            <a:srgbClr val="0E141B"/>
          </a:solidFill>
          <a:ln/>
        </p:spPr>
      </p:sp>
      <p:sp>
        <p:nvSpPr>
          <p:cNvPr id="42" name="Shape 33"/>
          <p:cNvSpPr/>
          <p:nvPr/>
        </p:nvSpPr>
        <p:spPr>
          <a:xfrm>
            <a:off x="9340367" y="4169664"/>
            <a:ext cx="530352" cy="530352"/>
          </a:xfrm>
          <a:prstGeom prst="ellipse">
            <a:avLst/>
          </a:prstGeom>
          <a:solidFill>
            <a:srgbClr val="22303F"/>
          </a:solidFill>
          <a:ln/>
        </p:spPr>
      </p:sp>
      <p:pic>
        <p:nvPicPr>
          <p:cNvPr id="43" name="Image 7" descr="preencoded.png"/>
          <p:cNvPicPr>
            <a:picLocks noChangeAspect="1"/>
          </p:cNvPicPr>
          <p:nvPr/>
        </p:nvPicPr>
        <p:blipFill>
          <a:blip r:embed="rId10"/>
          <a:stretch>
            <a:fillRect/>
          </a:stretch>
        </p:blipFill>
        <p:spPr>
          <a:xfrm>
            <a:off x="9478259" y="4307556"/>
            <a:ext cx="254569" cy="254569"/>
          </a:xfrm>
          <a:prstGeom prst="rect">
            <a:avLst/>
          </a:prstGeom>
        </p:spPr>
      </p:pic>
      <p:sp>
        <p:nvSpPr>
          <p:cNvPr id="44" name="Text 34"/>
          <p:cNvSpPr txBox="1"/>
          <p:nvPr/>
        </p:nvSpPr>
        <p:spPr>
          <a:xfrm>
            <a:off x="9340367" y="4809744"/>
            <a:ext cx="2010080" cy="310896"/>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Gate security</a:t>
            </a:r>
            <a:endParaRPr lang="en-US" sz="1400" dirty="0"/>
          </a:p>
        </p:txBody>
      </p:sp>
      <p:sp>
        <p:nvSpPr>
          <p:cNvPr id="45" name="Text 35"/>
          <p:cNvSpPr txBox="1"/>
          <p:nvPr/>
        </p:nvSpPr>
        <p:spPr>
          <a:xfrm>
            <a:off x="9340367" y="5157216"/>
            <a:ext cx="2010080" cy="566928"/>
          </a:xfrm>
          <a:prstGeom prst="rect">
            <a:avLst/>
          </a:prstGeom>
          <a:noFill/>
          <a:ln/>
        </p:spPr>
        <p:txBody>
          <a:bodyPr wrap="square" lIns="0" tIns="0" rIns="0" bIns="0" rtlCol="0" anchor="t"/>
          <a:lstStyle/>
          <a:p>
            <a:pPr marL="0" indent="0">
              <a:lnSpc>
                <a:spcPts val="1500"/>
              </a:lnSpc>
              <a:buNone/>
            </a:pPr>
            <a:r>
              <a:rPr lang="en-US" sz="1100" dirty="0">
                <a:solidFill>
                  <a:srgbClr val="A3B4C4"/>
                </a:solidFill>
                <a:latin typeface="Calibri" pitchFamily="34" charset="0"/>
                <a:ea typeface="Calibri" pitchFamily="34" charset="-122"/>
                <a:cs typeface="Calibri" pitchFamily="34" charset="-120"/>
              </a:rPr>
              <a:t>Verifies vehicle and trip at the gate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5E6D7D"/>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5E6D7D"/>
                </a:solidFill>
                <a:latin typeface="Arial" pitchFamily="34" charset="0"/>
                <a:ea typeface="Arial" pitchFamily="34" charset="-122"/>
                <a:cs typeface="Arial" pitchFamily="34" charset="-120"/>
              </a:rPr>
              <a:t>07</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RIDE OPTIONS</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16202B"/>
                </a:solidFill>
                <a:latin typeface="Arial" pitchFamily="34" charset="0"/>
                <a:ea typeface="Arial" pitchFamily="34" charset="-122"/>
                <a:cs typeface="Arial" pitchFamily="34" charset="-120"/>
              </a:rPr>
              <a:t>Four ways to ride, one booking screen</a:t>
            </a:r>
            <a:endParaRPr lang="en-US" sz="3000" dirty="0"/>
          </a:p>
        </p:txBody>
      </p:sp>
      <p:sp>
        <p:nvSpPr>
          <p:cNvPr id="6" name="Shape 4"/>
          <p:cNvSpPr/>
          <p:nvPr/>
        </p:nvSpPr>
        <p:spPr>
          <a:xfrm>
            <a:off x="566928" y="1572768"/>
            <a:ext cx="2558720" cy="4224528"/>
          </a:xfrm>
          <a:prstGeom prst="roundRect">
            <a:avLst>
              <a:gd name="adj" fmla="val 4288"/>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7" name="Shape 5"/>
          <p:cNvSpPr/>
          <p:nvPr/>
        </p:nvSpPr>
        <p:spPr>
          <a:xfrm>
            <a:off x="859536" y="1883664"/>
            <a:ext cx="566928" cy="566928"/>
          </a:xfrm>
          <a:prstGeom prst="ellipse">
            <a:avLst/>
          </a:prstGeom>
          <a:solidFill>
            <a:srgbClr val="FFEDE0"/>
          </a:solidFill>
          <a:ln/>
        </p:spPr>
      </p:sp>
      <p:pic>
        <p:nvPicPr>
          <p:cNvPr id="8" name="Image 0" descr="preencoded.png"/>
          <p:cNvPicPr>
            <a:picLocks noChangeAspect="1"/>
          </p:cNvPicPr>
          <p:nvPr/>
        </p:nvPicPr>
        <p:blipFill>
          <a:blip r:embed="rId3"/>
          <a:stretch>
            <a:fillRect/>
          </a:stretch>
        </p:blipFill>
        <p:spPr>
          <a:xfrm>
            <a:off x="1006937" y="2031065"/>
            <a:ext cx="272125" cy="272125"/>
          </a:xfrm>
          <a:prstGeom prst="rect">
            <a:avLst/>
          </a:prstGeom>
        </p:spPr>
      </p:pic>
      <p:sp>
        <p:nvSpPr>
          <p:cNvPr id="9" name="Text 6"/>
          <p:cNvSpPr txBox="1"/>
          <p:nvPr/>
        </p:nvSpPr>
        <p:spPr>
          <a:xfrm>
            <a:off x="859536" y="2578608"/>
            <a:ext cx="1973504" cy="310896"/>
          </a:xfrm>
          <a:prstGeom prst="rect">
            <a:avLst/>
          </a:prstGeom>
          <a:noFill/>
          <a:ln/>
        </p:spPr>
        <p:txBody>
          <a:bodyPr wrap="square" lIns="0" tIns="0" rIns="0" bIns="0" rtlCol="0" anchor="ctr"/>
          <a:lstStyle/>
          <a:p>
            <a:pPr marL="0" indent="0">
              <a:buNone/>
            </a:pPr>
            <a:r>
              <a:rPr lang="en-US" sz="1600" b="1" dirty="0">
                <a:solidFill>
                  <a:srgbClr val="16202B"/>
                </a:solidFill>
                <a:latin typeface="Arial" pitchFamily="34" charset="0"/>
                <a:ea typeface="Arial" pitchFamily="34" charset="-122"/>
                <a:cs typeface="Arial" pitchFamily="34" charset="-120"/>
              </a:rPr>
              <a:t>Scheduled</a:t>
            </a:r>
            <a:endParaRPr lang="en-US" sz="1600" dirty="0"/>
          </a:p>
        </p:txBody>
      </p:sp>
      <p:sp>
        <p:nvSpPr>
          <p:cNvPr id="10" name="Text 7"/>
          <p:cNvSpPr txBox="1"/>
          <p:nvPr/>
        </p:nvSpPr>
        <p:spPr>
          <a:xfrm>
            <a:off x="859536" y="2962656"/>
            <a:ext cx="1973504" cy="1060704"/>
          </a:xfrm>
          <a:prstGeom prst="rect">
            <a:avLst/>
          </a:prstGeom>
          <a:noFill/>
          <a:ln/>
        </p:spPr>
        <p:txBody>
          <a:bodyPr wrap="square" lIns="0" tIns="0" rIns="0" bIns="0" rtlCol="0" anchor="t"/>
          <a:lstStyle/>
          <a:p>
            <a:pPr marL="0" indent="0">
              <a:lnSpc>
                <a:spcPts val="1600"/>
              </a:lnSpc>
              <a:buNone/>
            </a:pPr>
            <a:r>
              <a:rPr lang="en-US" sz="1150" dirty="0">
                <a:solidFill>
                  <a:srgbClr val="5E6D7D"/>
                </a:solidFill>
                <a:latin typeface="Calibri" pitchFamily="34" charset="0"/>
                <a:ea typeface="Calibri" pitchFamily="34" charset="-122"/>
                <a:cs typeface="Calibri" pitchFamily="34" charset="-120"/>
              </a:rPr>
              <a:t>Book up to 7 days ahead for a set time. Repeat bookings for regular trips.</a:t>
            </a:r>
            <a:endParaRPr lang="en-US" sz="1150" dirty="0"/>
          </a:p>
        </p:txBody>
      </p:sp>
      <p:sp>
        <p:nvSpPr>
          <p:cNvPr id="11" name="Text 8"/>
          <p:cNvSpPr txBox="1"/>
          <p:nvPr/>
        </p:nvSpPr>
        <p:spPr>
          <a:xfrm>
            <a:off x="859536" y="4114800"/>
            <a:ext cx="1973504" cy="201168"/>
          </a:xfrm>
          <a:prstGeom prst="rect">
            <a:avLst/>
          </a:prstGeom>
          <a:noFill/>
          <a:ln/>
        </p:spPr>
        <p:txBody>
          <a:bodyPr wrap="square" lIns="0" tIns="0" rIns="0" bIns="0" rtlCol="0" anchor="t"/>
          <a:lstStyle/>
          <a:p>
            <a:pPr marL="0" indent="0">
              <a:buNone/>
            </a:pPr>
            <a:r>
              <a:rPr lang="en-US" sz="850" b="1" kern="0" spc="140" dirty="0">
                <a:solidFill>
                  <a:srgbClr val="5E6D7D"/>
                </a:solidFill>
                <a:latin typeface="Arial" pitchFamily="34" charset="0"/>
                <a:ea typeface="Arial" pitchFamily="34" charset="-122"/>
                <a:cs typeface="Arial" pitchFamily="34" charset="-120"/>
              </a:rPr>
              <a:t>BEST FOR</a:t>
            </a:r>
            <a:endParaRPr lang="en-US" sz="850" dirty="0"/>
          </a:p>
        </p:txBody>
      </p:sp>
      <p:sp>
        <p:nvSpPr>
          <p:cNvPr id="12" name="Text 9"/>
          <p:cNvSpPr txBox="1"/>
          <p:nvPr/>
        </p:nvSpPr>
        <p:spPr>
          <a:xfrm>
            <a:off x="859536" y="4334256"/>
            <a:ext cx="1973504" cy="475488"/>
          </a:xfrm>
          <a:prstGeom prst="rect">
            <a:avLst/>
          </a:prstGeom>
          <a:noFill/>
          <a:ln/>
        </p:spPr>
        <p:txBody>
          <a:bodyPr wrap="square" lIns="0" tIns="0" rIns="0" bIns="0" rtlCol="0" anchor="t"/>
          <a:lstStyle/>
          <a:p>
            <a:pPr marL="0" indent="0">
              <a:lnSpc>
                <a:spcPts val="1500"/>
              </a:lnSpc>
              <a:buNone/>
            </a:pPr>
            <a:r>
              <a:rPr lang="en-US" sz="1100" b="1" dirty="0">
                <a:solidFill>
                  <a:srgbClr val="16202B"/>
                </a:solidFill>
                <a:latin typeface="Calibri" pitchFamily="34" charset="0"/>
                <a:ea typeface="Calibri" pitchFamily="34" charset="-122"/>
                <a:cs typeface="Calibri" pitchFamily="34" charset="-120"/>
              </a:rPr>
              <a:t>Meetings at other sites, daily commutes</a:t>
            </a:r>
            <a:endParaRPr lang="en-US" sz="1100" dirty="0"/>
          </a:p>
        </p:txBody>
      </p:sp>
      <p:sp>
        <p:nvSpPr>
          <p:cNvPr id="13" name="Text 10"/>
          <p:cNvSpPr txBox="1"/>
          <p:nvPr/>
        </p:nvSpPr>
        <p:spPr>
          <a:xfrm>
            <a:off x="859536" y="4846320"/>
            <a:ext cx="1973504" cy="201168"/>
          </a:xfrm>
          <a:prstGeom prst="rect">
            <a:avLst/>
          </a:prstGeom>
          <a:noFill/>
          <a:ln/>
        </p:spPr>
        <p:txBody>
          <a:bodyPr wrap="square" lIns="0" tIns="0" rIns="0" bIns="0" rtlCol="0" anchor="t"/>
          <a:lstStyle/>
          <a:p>
            <a:pPr marL="0" indent="0">
              <a:buNone/>
            </a:pPr>
            <a:r>
              <a:rPr lang="en-US" sz="850" b="1" kern="0" spc="140" dirty="0">
                <a:solidFill>
                  <a:srgbClr val="5E6D7D"/>
                </a:solidFill>
                <a:latin typeface="Arial" pitchFamily="34" charset="0"/>
                <a:ea typeface="Arial" pitchFamily="34" charset="-122"/>
                <a:cs typeface="Arial" pitchFamily="34" charset="-120"/>
              </a:rPr>
              <a:t>POOLING</a:t>
            </a:r>
            <a:endParaRPr lang="en-US" sz="850" dirty="0"/>
          </a:p>
        </p:txBody>
      </p:sp>
      <p:sp>
        <p:nvSpPr>
          <p:cNvPr id="14" name="Text 11"/>
          <p:cNvSpPr txBox="1"/>
          <p:nvPr/>
        </p:nvSpPr>
        <p:spPr>
          <a:xfrm>
            <a:off x="859536" y="5047488"/>
            <a:ext cx="1973504" cy="237744"/>
          </a:xfrm>
          <a:prstGeom prst="rect">
            <a:avLst/>
          </a:prstGeom>
          <a:noFill/>
          <a:ln/>
        </p:spPr>
        <p:txBody>
          <a:bodyPr wrap="square" lIns="0" tIns="0" rIns="0" bIns="0" rtlCol="0" anchor="t"/>
          <a:lstStyle/>
          <a:p>
            <a:pPr marL="0" indent="0">
              <a:buNone/>
            </a:pPr>
            <a:r>
              <a:rPr lang="en-US" sz="1100" dirty="0">
                <a:solidFill>
                  <a:srgbClr val="16202B"/>
                </a:solidFill>
                <a:latin typeface="Calibri" pitchFamily="34" charset="0"/>
                <a:ea typeface="Calibri" pitchFamily="34" charset="-122"/>
                <a:cs typeface="Calibri" pitchFamily="34" charset="-120"/>
              </a:rPr>
              <a:t>Pooled before dispatch</a:t>
            </a:r>
            <a:endParaRPr lang="en-US" sz="1100" dirty="0"/>
          </a:p>
        </p:txBody>
      </p:sp>
      <p:sp>
        <p:nvSpPr>
          <p:cNvPr id="15" name="Shape 12"/>
          <p:cNvSpPr/>
          <p:nvPr/>
        </p:nvSpPr>
        <p:spPr>
          <a:xfrm>
            <a:off x="859536" y="5321808"/>
            <a:ext cx="1042416" cy="274320"/>
          </a:xfrm>
          <a:prstGeom prst="roundRect">
            <a:avLst>
              <a:gd name="adj" fmla="val 46667"/>
            </a:avLst>
          </a:prstGeom>
          <a:solidFill>
            <a:srgbClr val="E2F6F3"/>
          </a:solidFill>
          <a:ln/>
        </p:spPr>
      </p:sp>
      <p:sp>
        <p:nvSpPr>
          <p:cNvPr id="16" name="Text 13"/>
          <p:cNvSpPr txBox="1"/>
          <p:nvPr/>
        </p:nvSpPr>
        <p:spPr>
          <a:xfrm>
            <a:off x="859536" y="5321808"/>
            <a:ext cx="1042416" cy="274320"/>
          </a:xfrm>
          <a:prstGeom prst="rect">
            <a:avLst/>
          </a:prstGeom>
          <a:noFill/>
          <a:ln/>
        </p:spPr>
        <p:txBody>
          <a:bodyPr wrap="square" lIns="0" tIns="0" rIns="0" bIns="0" rtlCol="0" anchor="ctr"/>
          <a:lstStyle/>
          <a:p>
            <a:pPr marL="0" indent="0" algn="ctr">
              <a:buNone/>
            </a:pPr>
            <a:r>
              <a:rPr lang="en-US" sz="900" b="1" dirty="0">
                <a:solidFill>
                  <a:srgbClr val="00A896"/>
                </a:solidFill>
                <a:latin typeface="Calibri" pitchFamily="34" charset="0"/>
                <a:ea typeface="Calibri" pitchFamily="34" charset="-122"/>
                <a:cs typeface="Calibri" pitchFamily="34" charset="-120"/>
              </a:rPr>
              <a:t>PHASE 1</a:t>
            </a:r>
            <a:endParaRPr lang="en-US" sz="900" dirty="0"/>
          </a:p>
        </p:txBody>
      </p:sp>
      <p:sp>
        <p:nvSpPr>
          <p:cNvPr id="17" name="Shape 14"/>
          <p:cNvSpPr/>
          <p:nvPr/>
        </p:nvSpPr>
        <p:spPr>
          <a:xfrm>
            <a:off x="3399968" y="1572768"/>
            <a:ext cx="2558720" cy="4224528"/>
          </a:xfrm>
          <a:prstGeom prst="roundRect">
            <a:avLst>
              <a:gd name="adj" fmla="val 4288"/>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18" name="Shape 15"/>
          <p:cNvSpPr/>
          <p:nvPr/>
        </p:nvSpPr>
        <p:spPr>
          <a:xfrm>
            <a:off x="3692576" y="1883664"/>
            <a:ext cx="566928" cy="566928"/>
          </a:xfrm>
          <a:prstGeom prst="ellipse">
            <a:avLst/>
          </a:prstGeom>
          <a:solidFill>
            <a:srgbClr val="FFEDE0"/>
          </a:solidFill>
          <a:ln/>
        </p:spPr>
      </p:sp>
      <p:pic>
        <p:nvPicPr>
          <p:cNvPr id="19" name="Image 1" descr="preencoded.png"/>
          <p:cNvPicPr>
            <a:picLocks noChangeAspect="1"/>
          </p:cNvPicPr>
          <p:nvPr/>
        </p:nvPicPr>
        <p:blipFill>
          <a:blip r:embed="rId4"/>
          <a:stretch>
            <a:fillRect/>
          </a:stretch>
        </p:blipFill>
        <p:spPr>
          <a:xfrm>
            <a:off x="3839977" y="2031065"/>
            <a:ext cx="272125" cy="272125"/>
          </a:xfrm>
          <a:prstGeom prst="rect">
            <a:avLst/>
          </a:prstGeom>
        </p:spPr>
      </p:pic>
      <p:sp>
        <p:nvSpPr>
          <p:cNvPr id="20" name="Text 16"/>
          <p:cNvSpPr txBox="1"/>
          <p:nvPr/>
        </p:nvSpPr>
        <p:spPr>
          <a:xfrm>
            <a:off x="3692576" y="2578608"/>
            <a:ext cx="1973504" cy="310896"/>
          </a:xfrm>
          <a:prstGeom prst="rect">
            <a:avLst/>
          </a:prstGeom>
          <a:noFill/>
          <a:ln/>
        </p:spPr>
        <p:txBody>
          <a:bodyPr wrap="square" lIns="0" tIns="0" rIns="0" bIns="0" rtlCol="0" anchor="ctr"/>
          <a:lstStyle/>
          <a:p>
            <a:pPr marL="0" indent="0">
              <a:buNone/>
            </a:pPr>
            <a:r>
              <a:rPr lang="en-US" sz="1600" b="1" dirty="0">
                <a:solidFill>
                  <a:srgbClr val="16202B"/>
                </a:solidFill>
                <a:latin typeface="Arial" pitchFamily="34" charset="0"/>
                <a:ea typeface="Arial" pitchFamily="34" charset="-122"/>
                <a:cs typeface="Arial" pitchFamily="34" charset="-120"/>
              </a:rPr>
              <a:t>Shuttle loop</a:t>
            </a:r>
            <a:endParaRPr lang="en-US" sz="1600" dirty="0"/>
          </a:p>
        </p:txBody>
      </p:sp>
      <p:sp>
        <p:nvSpPr>
          <p:cNvPr id="21" name="Text 17"/>
          <p:cNvSpPr txBox="1"/>
          <p:nvPr/>
        </p:nvSpPr>
        <p:spPr>
          <a:xfrm>
            <a:off x="3692576" y="2962656"/>
            <a:ext cx="1973504" cy="1060704"/>
          </a:xfrm>
          <a:prstGeom prst="rect">
            <a:avLst/>
          </a:prstGeom>
          <a:noFill/>
          <a:ln/>
        </p:spPr>
        <p:txBody>
          <a:bodyPr wrap="square" lIns="0" tIns="0" rIns="0" bIns="0" rtlCol="0" anchor="t"/>
          <a:lstStyle/>
          <a:p>
            <a:pPr marL="0" indent="0">
              <a:lnSpc>
                <a:spcPts val="1600"/>
              </a:lnSpc>
              <a:buNone/>
            </a:pPr>
            <a:r>
              <a:rPr lang="en-US" sz="1150" dirty="0">
                <a:solidFill>
                  <a:srgbClr val="5E6D7D"/>
                </a:solidFill>
                <a:latin typeface="Calibri" pitchFamily="34" charset="0"/>
                <a:ea typeface="Calibri" pitchFamily="34" charset="-122"/>
                <a:cs typeface="Calibri" pitchFamily="34" charset="-120"/>
              </a:rPr>
              <a:t>Fixed route and timetable. No booking - the app shows the next shuttle and free seats.</a:t>
            </a:r>
            <a:endParaRPr lang="en-US" sz="1150" dirty="0"/>
          </a:p>
        </p:txBody>
      </p:sp>
      <p:sp>
        <p:nvSpPr>
          <p:cNvPr id="22" name="Text 18"/>
          <p:cNvSpPr txBox="1"/>
          <p:nvPr/>
        </p:nvSpPr>
        <p:spPr>
          <a:xfrm>
            <a:off x="3692576" y="4114800"/>
            <a:ext cx="1973504" cy="201168"/>
          </a:xfrm>
          <a:prstGeom prst="rect">
            <a:avLst/>
          </a:prstGeom>
          <a:noFill/>
          <a:ln/>
        </p:spPr>
        <p:txBody>
          <a:bodyPr wrap="square" lIns="0" tIns="0" rIns="0" bIns="0" rtlCol="0" anchor="t"/>
          <a:lstStyle/>
          <a:p>
            <a:pPr marL="0" indent="0">
              <a:buNone/>
            </a:pPr>
            <a:r>
              <a:rPr lang="en-US" sz="850" b="1" kern="0" spc="140" dirty="0">
                <a:solidFill>
                  <a:srgbClr val="5E6D7D"/>
                </a:solidFill>
                <a:latin typeface="Arial" pitchFamily="34" charset="0"/>
                <a:ea typeface="Arial" pitchFamily="34" charset="-122"/>
                <a:cs typeface="Arial" pitchFamily="34" charset="-120"/>
              </a:rPr>
              <a:t>BEST FOR</a:t>
            </a:r>
            <a:endParaRPr lang="en-US" sz="850" dirty="0"/>
          </a:p>
        </p:txBody>
      </p:sp>
      <p:sp>
        <p:nvSpPr>
          <p:cNvPr id="23" name="Text 19"/>
          <p:cNvSpPr txBox="1"/>
          <p:nvPr/>
        </p:nvSpPr>
        <p:spPr>
          <a:xfrm>
            <a:off x="3692576" y="4334256"/>
            <a:ext cx="1973504" cy="475488"/>
          </a:xfrm>
          <a:prstGeom prst="rect">
            <a:avLst/>
          </a:prstGeom>
          <a:noFill/>
          <a:ln/>
        </p:spPr>
        <p:txBody>
          <a:bodyPr wrap="square" lIns="0" tIns="0" rIns="0" bIns="0" rtlCol="0" anchor="t"/>
          <a:lstStyle/>
          <a:p>
            <a:pPr marL="0" indent="0">
              <a:lnSpc>
                <a:spcPts val="1500"/>
              </a:lnSpc>
              <a:buNone/>
            </a:pPr>
            <a:r>
              <a:rPr lang="en-US" sz="1100" b="1" dirty="0">
                <a:solidFill>
                  <a:srgbClr val="16202B"/>
                </a:solidFill>
                <a:latin typeface="Calibri" pitchFamily="34" charset="0"/>
                <a:ea typeface="Calibri" pitchFamily="34" charset="-122"/>
                <a:cs typeface="Calibri" pitchFamily="34" charset="-120"/>
              </a:rPr>
              <a:t>Busy corridors and shift change</a:t>
            </a:r>
            <a:endParaRPr lang="en-US" sz="1100" dirty="0"/>
          </a:p>
        </p:txBody>
      </p:sp>
      <p:sp>
        <p:nvSpPr>
          <p:cNvPr id="24" name="Text 20"/>
          <p:cNvSpPr txBox="1"/>
          <p:nvPr/>
        </p:nvSpPr>
        <p:spPr>
          <a:xfrm>
            <a:off x="3692576" y="4846320"/>
            <a:ext cx="1973504" cy="201168"/>
          </a:xfrm>
          <a:prstGeom prst="rect">
            <a:avLst/>
          </a:prstGeom>
          <a:noFill/>
          <a:ln/>
        </p:spPr>
        <p:txBody>
          <a:bodyPr wrap="square" lIns="0" tIns="0" rIns="0" bIns="0" rtlCol="0" anchor="t"/>
          <a:lstStyle/>
          <a:p>
            <a:pPr marL="0" indent="0">
              <a:buNone/>
            </a:pPr>
            <a:r>
              <a:rPr lang="en-US" sz="850" b="1" kern="0" spc="140" dirty="0">
                <a:solidFill>
                  <a:srgbClr val="5E6D7D"/>
                </a:solidFill>
                <a:latin typeface="Arial" pitchFamily="34" charset="0"/>
                <a:ea typeface="Arial" pitchFamily="34" charset="-122"/>
                <a:cs typeface="Arial" pitchFamily="34" charset="-120"/>
              </a:rPr>
              <a:t>POOLING</a:t>
            </a:r>
            <a:endParaRPr lang="en-US" sz="850" dirty="0"/>
          </a:p>
        </p:txBody>
      </p:sp>
      <p:sp>
        <p:nvSpPr>
          <p:cNvPr id="25" name="Text 21"/>
          <p:cNvSpPr txBox="1"/>
          <p:nvPr/>
        </p:nvSpPr>
        <p:spPr>
          <a:xfrm>
            <a:off x="3692576" y="5047488"/>
            <a:ext cx="1973504" cy="237744"/>
          </a:xfrm>
          <a:prstGeom prst="rect">
            <a:avLst/>
          </a:prstGeom>
          <a:noFill/>
          <a:ln/>
        </p:spPr>
        <p:txBody>
          <a:bodyPr wrap="square" lIns="0" tIns="0" rIns="0" bIns="0" rtlCol="0" anchor="t"/>
          <a:lstStyle/>
          <a:p>
            <a:pPr marL="0" indent="0">
              <a:buNone/>
            </a:pPr>
            <a:r>
              <a:rPr lang="en-US" sz="1100" dirty="0">
                <a:solidFill>
                  <a:srgbClr val="16202B"/>
                </a:solidFill>
                <a:latin typeface="Calibri" pitchFamily="34" charset="0"/>
                <a:ea typeface="Calibri" pitchFamily="34" charset="-122"/>
                <a:cs typeface="Calibri" pitchFamily="34" charset="-120"/>
              </a:rPr>
              <a:t>Pooled by design</a:t>
            </a:r>
            <a:endParaRPr lang="en-US" sz="1100" dirty="0"/>
          </a:p>
        </p:txBody>
      </p:sp>
      <p:sp>
        <p:nvSpPr>
          <p:cNvPr id="26" name="Shape 22"/>
          <p:cNvSpPr/>
          <p:nvPr/>
        </p:nvSpPr>
        <p:spPr>
          <a:xfrm>
            <a:off x="3692576" y="5321808"/>
            <a:ext cx="1042416" cy="274320"/>
          </a:xfrm>
          <a:prstGeom prst="roundRect">
            <a:avLst>
              <a:gd name="adj" fmla="val 46667"/>
            </a:avLst>
          </a:prstGeom>
          <a:solidFill>
            <a:srgbClr val="E2F6F3"/>
          </a:solidFill>
          <a:ln/>
        </p:spPr>
      </p:sp>
      <p:sp>
        <p:nvSpPr>
          <p:cNvPr id="27" name="Text 23"/>
          <p:cNvSpPr txBox="1"/>
          <p:nvPr/>
        </p:nvSpPr>
        <p:spPr>
          <a:xfrm>
            <a:off x="3692576" y="5321808"/>
            <a:ext cx="1042416" cy="274320"/>
          </a:xfrm>
          <a:prstGeom prst="rect">
            <a:avLst/>
          </a:prstGeom>
          <a:noFill/>
          <a:ln/>
        </p:spPr>
        <p:txBody>
          <a:bodyPr wrap="square" lIns="0" tIns="0" rIns="0" bIns="0" rtlCol="0" anchor="ctr"/>
          <a:lstStyle/>
          <a:p>
            <a:pPr marL="0" indent="0" algn="ctr">
              <a:buNone/>
            </a:pPr>
            <a:r>
              <a:rPr lang="en-US" sz="900" b="1" dirty="0">
                <a:solidFill>
                  <a:srgbClr val="00A896"/>
                </a:solidFill>
                <a:latin typeface="Calibri" pitchFamily="34" charset="0"/>
                <a:ea typeface="Calibri" pitchFamily="34" charset="-122"/>
                <a:cs typeface="Calibri" pitchFamily="34" charset="-120"/>
              </a:rPr>
              <a:t>PHASE 1</a:t>
            </a:r>
            <a:endParaRPr lang="en-US" sz="900" dirty="0"/>
          </a:p>
        </p:txBody>
      </p:sp>
      <p:sp>
        <p:nvSpPr>
          <p:cNvPr id="28" name="Shape 24"/>
          <p:cNvSpPr/>
          <p:nvPr/>
        </p:nvSpPr>
        <p:spPr>
          <a:xfrm>
            <a:off x="6233008" y="1572768"/>
            <a:ext cx="2558720" cy="4224528"/>
          </a:xfrm>
          <a:prstGeom prst="roundRect">
            <a:avLst>
              <a:gd name="adj" fmla="val 4288"/>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29" name="Shape 25"/>
          <p:cNvSpPr/>
          <p:nvPr/>
        </p:nvSpPr>
        <p:spPr>
          <a:xfrm>
            <a:off x="6525616" y="1883664"/>
            <a:ext cx="566928" cy="566928"/>
          </a:xfrm>
          <a:prstGeom prst="ellipse">
            <a:avLst/>
          </a:prstGeom>
          <a:solidFill>
            <a:srgbClr val="FFEDE0"/>
          </a:solidFill>
          <a:ln/>
        </p:spPr>
      </p:sp>
      <p:pic>
        <p:nvPicPr>
          <p:cNvPr id="30" name="Image 2" descr="preencoded.png"/>
          <p:cNvPicPr>
            <a:picLocks noChangeAspect="1"/>
          </p:cNvPicPr>
          <p:nvPr/>
        </p:nvPicPr>
        <p:blipFill>
          <a:blip r:embed="rId5"/>
          <a:stretch>
            <a:fillRect/>
          </a:stretch>
        </p:blipFill>
        <p:spPr>
          <a:xfrm>
            <a:off x="6673017" y="2031065"/>
            <a:ext cx="272125" cy="272125"/>
          </a:xfrm>
          <a:prstGeom prst="rect">
            <a:avLst/>
          </a:prstGeom>
        </p:spPr>
      </p:pic>
      <p:sp>
        <p:nvSpPr>
          <p:cNvPr id="31" name="Text 26"/>
          <p:cNvSpPr txBox="1"/>
          <p:nvPr/>
        </p:nvSpPr>
        <p:spPr>
          <a:xfrm>
            <a:off x="6525616" y="2578608"/>
            <a:ext cx="1973504" cy="310896"/>
          </a:xfrm>
          <a:prstGeom prst="rect">
            <a:avLst/>
          </a:prstGeom>
          <a:noFill/>
          <a:ln/>
        </p:spPr>
        <p:txBody>
          <a:bodyPr wrap="square" lIns="0" tIns="0" rIns="0" bIns="0" rtlCol="0" anchor="ctr"/>
          <a:lstStyle/>
          <a:p>
            <a:pPr marL="0" indent="0">
              <a:buNone/>
            </a:pPr>
            <a:r>
              <a:rPr lang="en-US" sz="1600" b="1" dirty="0">
                <a:solidFill>
                  <a:srgbClr val="16202B"/>
                </a:solidFill>
                <a:latin typeface="Arial" pitchFamily="34" charset="0"/>
                <a:ea typeface="Arial" pitchFamily="34" charset="-122"/>
                <a:cs typeface="Arial" pitchFamily="34" charset="-120"/>
              </a:rPr>
              <a:t>Exclusive</a:t>
            </a:r>
            <a:endParaRPr lang="en-US" sz="1600" dirty="0"/>
          </a:p>
        </p:txBody>
      </p:sp>
      <p:sp>
        <p:nvSpPr>
          <p:cNvPr id="32" name="Text 27"/>
          <p:cNvSpPr txBox="1"/>
          <p:nvPr/>
        </p:nvSpPr>
        <p:spPr>
          <a:xfrm>
            <a:off x="6525616" y="2962656"/>
            <a:ext cx="1973504" cy="1060704"/>
          </a:xfrm>
          <a:prstGeom prst="rect">
            <a:avLst/>
          </a:prstGeom>
          <a:noFill/>
          <a:ln/>
        </p:spPr>
        <p:txBody>
          <a:bodyPr wrap="square" lIns="0" tIns="0" rIns="0" bIns="0" rtlCol="0" anchor="t"/>
          <a:lstStyle/>
          <a:p>
            <a:pPr marL="0" indent="0">
              <a:lnSpc>
                <a:spcPts val="1600"/>
              </a:lnSpc>
              <a:buNone/>
            </a:pPr>
            <a:r>
              <a:rPr lang="en-US" sz="1150" dirty="0">
                <a:solidFill>
                  <a:srgbClr val="5E6D7D"/>
                </a:solidFill>
                <a:latin typeface="Calibri" pitchFamily="34" charset="0"/>
                <a:ea typeface="Calibri" pitchFamily="34" charset="-122"/>
                <a:cs typeface="Calibri" pitchFamily="34" charset="-120"/>
              </a:rPr>
              <a:t>The whole cab for one person or a group, released by an approval or grade rule.</a:t>
            </a:r>
            <a:endParaRPr lang="en-US" sz="1150" dirty="0"/>
          </a:p>
        </p:txBody>
      </p:sp>
      <p:sp>
        <p:nvSpPr>
          <p:cNvPr id="33" name="Text 28"/>
          <p:cNvSpPr txBox="1"/>
          <p:nvPr/>
        </p:nvSpPr>
        <p:spPr>
          <a:xfrm>
            <a:off x="6525616" y="4114800"/>
            <a:ext cx="1973504" cy="201168"/>
          </a:xfrm>
          <a:prstGeom prst="rect">
            <a:avLst/>
          </a:prstGeom>
          <a:noFill/>
          <a:ln/>
        </p:spPr>
        <p:txBody>
          <a:bodyPr wrap="square" lIns="0" tIns="0" rIns="0" bIns="0" rtlCol="0" anchor="t"/>
          <a:lstStyle/>
          <a:p>
            <a:pPr marL="0" indent="0">
              <a:buNone/>
            </a:pPr>
            <a:r>
              <a:rPr lang="en-US" sz="850" b="1" kern="0" spc="140" dirty="0">
                <a:solidFill>
                  <a:srgbClr val="5E6D7D"/>
                </a:solidFill>
                <a:latin typeface="Arial" pitchFamily="34" charset="0"/>
                <a:ea typeface="Arial" pitchFamily="34" charset="-122"/>
                <a:cs typeface="Arial" pitchFamily="34" charset="-120"/>
              </a:rPr>
              <a:t>BEST FOR</a:t>
            </a:r>
            <a:endParaRPr lang="en-US" sz="850" dirty="0"/>
          </a:p>
        </p:txBody>
      </p:sp>
      <p:sp>
        <p:nvSpPr>
          <p:cNvPr id="34" name="Text 29"/>
          <p:cNvSpPr txBox="1"/>
          <p:nvPr/>
        </p:nvSpPr>
        <p:spPr>
          <a:xfrm>
            <a:off x="6525616" y="4334256"/>
            <a:ext cx="1973504" cy="475488"/>
          </a:xfrm>
          <a:prstGeom prst="rect">
            <a:avLst/>
          </a:prstGeom>
          <a:noFill/>
          <a:ln/>
        </p:spPr>
        <p:txBody>
          <a:bodyPr wrap="square" lIns="0" tIns="0" rIns="0" bIns="0" rtlCol="0" anchor="t"/>
          <a:lstStyle/>
          <a:p>
            <a:pPr marL="0" indent="0">
              <a:lnSpc>
                <a:spcPts val="1500"/>
              </a:lnSpc>
              <a:buNone/>
            </a:pPr>
            <a:r>
              <a:rPr lang="en-US" sz="1100" b="1" dirty="0">
                <a:solidFill>
                  <a:srgbClr val="16202B"/>
                </a:solidFill>
                <a:latin typeface="Calibri" pitchFamily="34" charset="0"/>
                <a:ea typeface="Calibri" pitchFamily="34" charset="-122"/>
                <a:cs typeface="Calibri" pitchFamily="34" charset="-120"/>
              </a:rPr>
              <a:t>Senior staff, guests, urgent needs</a:t>
            </a:r>
            <a:endParaRPr lang="en-US" sz="1100" dirty="0"/>
          </a:p>
        </p:txBody>
      </p:sp>
      <p:sp>
        <p:nvSpPr>
          <p:cNvPr id="35" name="Text 30"/>
          <p:cNvSpPr txBox="1"/>
          <p:nvPr/>
        </p:nvSpPr>
        <p:spPr>
          <a:xfrm>
            <a:off x="6525616" y="4846320"/>
            <a:ext cx="1973504" cy="201168"/>
          </a:xfrm>
          <a:prstGeom prst="rect">
            <a:avLst/>
          </a:prstGeom>
          <a:noFill/>
          <a:ln/>
        </p:spPr>
        <p:txBody>
          <a:bodyPr wrap="square" lIns="0" tIns="0" rIns="0" bIns="0" rtlCol="0" anchor="t"/>
          <a:lstStyle/>
          <a:p>
            <a:pPr marL="0" indent="0">
              <a:buNone/>
            </a:pPr>
            <a:r>
              <a:rPr lang="en-US" sz="850" b="1" kern="0" spc="140" dirty="0">
                <a:solidFill>
                  <a:srgbClr val="5E6D7D"/>
                </a:solidFill>
                <a:latin typeface="Arial" pitchFamily="34" charset="0"/>
                <a:ea typeface="Arial" pitchFamily="34" charset="-122"/>
                <a:cs typeface="Arial" pitchFamily="34" charset="-120"/>
              </a:rPr>
              <a:t>POOLING</a:t>
            </a:r>
            <a:endParaRPr lang="en-US" sz="850" dirty="0"/>
          </a:p>
        </p:txBody>
      </p:sp>
      <p:sp>
        <p:nvSpPr>
          <p:cNvPr id="36" name="Text 31"/>
          <p:cNvSpPr txBox="1"/>
          <p:nvPr/>
        </p:nvSpPr>
        <p:spPr>
          <a:xfrm>
            <a:off x="6525616" y="5047488"/>
            <a:ext cx="1973504" cy="237744"/>
          </a:xfrm>
          <a:prstGeom prst="rect">
            <a:avLst/>
          </a:prstGeom>
          <a:noFill/>
          <a:ln/>
        </p:spPr>
        <p:txBody>
          <a:bodyPr wrap="square" lIns="0" tIns="0" rIns="0" bIns="0" rtlCol="0" anchor="t"/>
          <a:lstStyle/>
          <a:p>
            <a:pPr marL="0" indent="0">
              <a:buNone/>
            </a:pPr>
            <a:r>
              <a:rPr lang="en-US" sz="1100" dirty="0">
                <a:solidFill>
                  <a:srgbClr val="16202B"/>
                </a:solidFill>
                <a:latin typeface="Calibri" pitchFamily="34" charset="0"/>
                <a:ea typeface="Calibri" pitchFamily="34" charset="-122"/>
                <a:cs typeface="Calibri" pitchFamily="34" charset="-120"/>
              </a:rPr>
              <a:t>Not pooled</a:t>
            </a:r>
            <a:endParaRPr lang="en-US" sz="1100" dirty="0"/>
          </a:p>
        </p:txBody>
      </p:sp>
      <p:sp>
        <p:nvSpPr>
          <p:cNvPr id="37" name="Shape 32"/>
          <p:cNvSpPr/>
          <p:nvPr/>
        </p:nvSpPr>
        <p:spPr>
          <a:xfrm>
            <a:off x="6525616" y="5321808"/>
            <a:ext cx="1042416" cy="274320"/>
          </a:xfrm>
          <a:prstGeom prst="roundRect">
            <a:avLst>
              <a:gd name="adj" fmla="val 46667"/>
            </a:avLst>
          </a:prstGeom>
          <a:solidFill>
            <a:srgbClr val="E2F6F3"/>
          </a:solidFill>
          <a:ln/>
        </p:spPr>
      </p:sp>
      <p:sp>
        <p:nvSpPr>
          <p:cNvPr id="38" name="Text 33"/>
          <p:cNvSpPr txBox="1"/>
          <p:nvPr/>
        </p:nvSpPr>
        <p:spPr>
          <a:xfrm>
            <a:off x="6525616" y="5321808"/>
            <a:ext cx="1042416" cy="274320"/>
          </a:xfrm>
          <a:prstGeom prst="rect">
            <a:avLst/>
          </a:prstGeom>
          <a:noFill/>
          <a:ln/>
        </p:spPr>
        <p:txBody>
          <a:bodyPr wrap="square" lIns="0" tIns="0" rIns="0" bIns="0" rtlCol="0" anchor="ctr"/>
          <a:lstStyle/>
          <a:p>
            <a:pPr marL="0" indent="0" algn="ctr">
              <a:buNone/>
            </a:pPr>
            <a:r>
              <a:rPr lang="en-US" sz="900" b="1" dirty="0">
                <a:solidFill>
                  <a:srgbClr val="00A896"/>
                </a:solidFill>
                <a:latin typeface="Calibri" pitchFamily="34" charset="0"/>
                <a:ea typeface="Calibri" pitchFamily="34" charset="-122"/>
                <a:cs typeface="Calibri" pitchFamily="34" charset="-120"/>
              </a:rPr>
              <a:t>PHASE 1</a:t>
            </a:r>
            <a:endParaRPr lang="en-US" sz="900" dirty="0"/>
          </a:p>
        </p:txBody>
      </p:sp>
      <p:sp>
        <p:nvSpPr>
          <p:cNvPr id="39" name="Shape 34"/>
          <p:cNvSpPr/>
          <p:nvPr/>
        </p:nvSpPr>
        <p:spPr>
          <a:xfrm>
            <a:off x="9066047" y="1572768"/>
            <a:ext cx="2558720" cy="4224528"/>
          </a:xfrm>
          <a:prstGeom prst="roundRect">
            <a:avLst>
              <a:gd name="adj" fmla="val 4288"/>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40" name="Shape 35"/>
          <p:cNvSpPr/>
          <p:nvPr/>
        </p:nvSpPr>
        <p:spPr>
          <a:xfrm>
            <a:off x="9358655" y="1883664"/>
            <a:ext cx="566928" cy="566928"/>
          </a:xfrm>
          <a:prstGeom prst="ellipse">
            <a:avLst/>
          </a:prstGeom>
          <a:solidFill>
            <a:srgbClr val="FFEDE0"/>
          </a:solidFill>
          <a:ln/>
        </p:spPr>
      </p:sp>
      <p:pic>
        <p:nvPicPr>
          <p:cNvPr id="41" name="Image 3" descr="preencoded.png"/>
          <p:cNvPicPr>
            <a:picLocks noChangeAspect="1"/>
          </p:cNvPicPr>
          <p:nvPr/>
        </p:nvPicPr>
        <p:blipFill>
          <a:blip r:embed="rId6"/>
          <a:stretch>
            <a:fillRect/>
          </a:stretch>
        </p:blipFill>
        <p:spPr>
          <a:xfrm>
            <a:off x="9506057" y="2031065"/>
            <a:ext cx="272125" cy="272125"/>
          </a:xfrm>
          <a:prstGeom prst="rect">
            <a:avLst/>
          </a:prstGeom>
        </p:spPr>
      </p:pic>
      <p:sp>
        <p:nvSpPr>
          <p:cNvPr id="42" name="Text 36"/>
          <p:cNvSpPr txBox="1"/>
          <p:nvPr/>
        </p:nvSpPr>
        <p:spPr>
          <a:xfrm>
            <a:off x="9358655" y="2578608"/>
            <a:ext cx="1973504" cy="310896"/>
          </a:xfrm>
          <a:prstGeom prst="rect">
            <a:avLst/>
          </a:prstGeom>
          <a:noFill/>
          <a:ln/>
        </p:spPr>
        <p:txBody>
          <a:bodyPr wrap="square" lIns="0" tIns="0" rIns="0" bIns="0" rtlCol="0" anchor="ctr"/>
          <a:lstStyle/>
          <a:p>
            <a:pPr marL="0" indent="0">
              <a:buNone/>
            </a:pPr>
            <a:r>
              <a:rPr lang="en-US" sz="1600" b="1" dirty="0">
                <a:solidFill>
                  <a:srgbClr val="16202B"/>
                </a:solidFill>
                <a:latin typeface="Arial" pitchFamily="34" charset="0"/>
                <a:ea typeface="Arial" pitchFamily="34" charset="-122"/>
                <a:cs typeface="Arial" pitchFamily="34" charset="-120"/>
              </a:rPr>
              <a:t>Shared on demand</a:t>
            </a:r>
            <a:endParaRPr lang="en-US" sz="1600" dirty="0"/>
          </a:p>
        </p:txBody>
      </p:sp>
      <p:sp>
        <p:nvSpPr>
          <p:cNvPr id="43" name="Text 37"/>
          <p:cNvSpPr txBox="1"/>
          <p:nvPr/>
        </p:nvSpPr>
        <p:spPr>
          <a:xfrm>
            <a:off x="9358655" y="2962656"/>
            <a:ext cx="1973504" cy="1060704"/>
          </a:xfrm>
          <a:prstGeom prst="rect">
            <a:avLst/>
          </a:prstGeom>
          <a:noFill/>
          <a:ln/>
        </p:spPr>
        <p:txBody>
          <a:bodyPr wrap="square" lIns="0" tIns="0" rIns="0" bIns="0" rtlCol="0" anchor="t"/>
          <a:lstStyle/>
          <a:p>
            <a:pPr marL="0" indent="0">
              <a:lnSpc>
                <a:spcPts val="1600"/>
              </a:lnSpc>
              <a:buNone/>
            </a:pPr>
            <a:r>
              <a:rPr lang="en-US" sz="1150" dirty="0">
                <a:solidFill>
                  <a:srgbClr val="5E6D7D"/>
                </a:solidFill>
                <a:latin typeface="Calibri" pitchFamily="34" charset="0"/>
                <a:ea typeface="Calibri" pitchFamily="34" charset="-122"/>
                <a:cs typeface="Calibri" pitchFamily="34" charset="-120"/>
              </a:rPr>
              <a:t>Book now and join a cab already heading your way, within wait and detour limits.</a:t>
            </a:r>
            <a:endParaRPr lang="en-US" sz="1150" dirty="0"/>
          </a:p>
        </p:txBody>
      </p:sp>
      <p:sp>
        <p:nvSpPr>
          <p:cNvPr id="44" name="Text 38"/>
          <p:cNvSpPr txBox="1"/>
          <p:nvPr/>
        </p:nvSpPr>
        <p:spPr>
          <a:xfrm>
            <a:off x="9358655" y="4114800"/>
            <a:ext cx="1973504" cy="201168"/>
          </a:xfrm>
          <a:prstGeom prst="rect">
            <a:avLst/>
          </a:prstGeom>
          <a:noFill/>
          <a:ln/>
        </p:spPr>
        <p:txBody>
          <a:bodyPr wrap="square" lIns="0" tIns="0" rIns="0" bIns="0" rtlCol="0" anchor="t"/>
          <a:lstStyle/>
          <a:p>
            <a:pPr marL="0" indent="0">
              <a:buNone/>
            </a:pPr>
            <a:r>
              <a:rPr lang="en-US" sz="850" b="1" kern="0" spc="140" dirty="0">
                <a:solidFill>
                  <a:srgbClr val="5E6D7D"/>
                </a:solidFill>
                <a:latin typeface="Arial" pitchFamily="34" charset="0"/>
                <a:ea typeface="Arial" pitchFamily="34" charset="-122"/>
                <a:cs typeface="Arial" pitchFamily="34" charset="-120"/>
              </a:rPr>
              <a:t>BEST FOR</a:t>
            </a:r>
            <a:endParaRPr lang="en-US" sz="850" dirty="0"/>
          </a:p>
        </p:txBody>
      </p:sp>
      <p:sp>
        <p:nvSpPr>
          <p:cNvPr id="45" name="Text 39"/>
          <p:cNvSpPr txBox="1"/>
          <p:nvPr/>
        </p:nvSpPr>
        <p:spPr>
          <a:xfrm>
            <a:off x="9358655" y="4334256"/>
            <a:ext cx="1973504" cy="475488"/>
          </a:xfrm>
          <a:prstGeom prst="rect">
            <a:avLst/>
          </a:prstGeom>
          <a:noFill/>
          <a:ln/>
        </p:spPr>
        <p:txBody>
          <a:bodyPr wrap="square" lIns="0" tIns="0" rIns="0" bIns="0" rtlCol="0" anchor="t"/>
          <a:lstStyle/>
          <a:p>
            <a:pPr marL="0" indent="0">
              <a:lnSpc>
                <a:spcPts val="1500"/>
              </a:lnSpc>
              <a:buNone/>
            </a:pPr>
            <a:r>
              <a:rPr lang="en-US" sz="1100" b="1" dirty="0">
                <a:solidFill>
                  <a:srgbClr val="16202B"/>
                </a:solidFill>
                <a:latin typeface="Calibri" pitchFamily="34" charset="0"/>
                <a:ea typeface="Calibri" pitchFamily="34" charset="-122"/>
                <a:cs typeface="Calibri" pitchFamily="34" charset="-120"/>
              </a:rPr>
              <a:t>Quick hops between departments</a:t>
            </a:r>
            <a:endParaRPr lang="en-US" sz="1100" dirty="0"/>
          </a:p>
        </p:txBody>
      </p:sp>
      <p:sp>
        <p:nvSpPr>
          <p:cNvPr id="46" name="Text 40"/>
          <p:cNvSpPr txBox="1"/>
          <p:nvPr/>
        </p:nvSpPr>
        <p:spPr>
          <a:xfrm>
            <a:off x="9358655" y="4846320"/>
            <a:ext cx="1973504" cy="201168"/>
          </a:xfrm>
          <a:prstGeom prst="rect">
            <a:avLst/>
          </a:prstGeom>
          <a:noFill/>
          <a:ln/>
        </p:spPr>
        <p:txBody>
          <a:bodyPr wrap="square" lIns="0" tIns="0" rIns="0" bIns="0" rtlCol="0" anchor="t"/>
          <a:lstStyle/>
          <a:p>
            <a:pPr marL="0" indent="0">
              <a:buNone/>
            </a:pPr>
            <a:r>
              <a:rPr lang="en-US" sz="850" b="1" kern="0" spc="140" dirty="0">
                <a:solidFill>
                  <a:srgbClr val="5E6D7D"/>
                </a:solidFill>
                <a:latin typeface="Arial" pitchFamily="34" charset="0"/>
                <a:ea typeface="Arial" pitchFamily="34" charset="-122"/>
                <a:cs typeface="Arial" pitchFamily="34" charset="-120"/>
              </a:rPr>
              <a:t>POOLING</a:t>
            </a:r>
            <a:endParaRPr lang="en-US" sz="850" dirty="0"/>
          </a:p>
        </p:txBody>
      </p:sp>
      <p:sp>
        <p:nvSpPr>
          <p:cNvPr id="47" name="Text 41"/>
          <p:cNvSpPr txBox="1"/>
          <p:nvPr/>
        </p:nvSpPr>
        <p:spPr>
          <a:xfrm>
            <a:off x="9358655" y="5047488"/>
            <a:ext cx="1973504" cy="237744"/>
          </a:xfrm>
          <a:prstGeom prst="rect">
            <a:avLst/>
          </a:prstGeom>
          <a:noFill/>
          <a:ln/>
        </p:spPr>
        <p:txBody>
          <a:bodyPr wrap="square" lIns="0" tIns="0" rIns="0" bIns="0" rtlCol="0" anchor="t"/>
          <a:lstStyle/>
          <a:p>
            <a:pPr marL="0" indent="0">
              <a:buNone/>
            </a:pPr>
            <a:r>
              <a:rPr lang="en-US" sz="1100" dirty="0">
                <a:solidFill>
                  <a:srgbClr val="16202B"/>
                </a:solidFill>
                <a:latin typeface="Calibri" pitchFamily="34" charset="0"/>
                <a:ea typeface="Calibri" pitchFamily="34" charset="-122"/>
                <a:cs typeface="Calibri" pitchFamily="34" charset="-120"/>
              </a:rPr>
              <a:t>Pooled live</a:t>
            </a:r>
            <a:endParaRPr lang="en-US" sz="1100" dirty="0"/>
          </a:p>
        </p:txBody>
      </p:sp>
      <p:sp>
        <p:nvSpPr>
          <p:cNvPr id="48" name="Shape 42"/>
          <p:cNvSpPr/>
          <p:nvPr/>
        </p:nvSpPr>
        <p:spPr>
          <a:xfrm>
            <a:off x="9358655" y="5321808"/>
            <a:ext cx="1042416" cy="274320"/>
          </a:xfrm>
          <a:prstGeom prst="roundRect">
            <a:avLst>
              <a:gd name="adj" fmla="val 46667"/>
            </a:avLst>
          </a:prstGeom>
          <a:solidFill>
            <a:srgbClr val="FFEDE0"/>
          </a:solidFill>
          <a:ln/>
        </p:spPr>
      </p:sp>
      <p:sp>
        <p:nvSpPr>
          <p:cNvPr id="49" name="Text 43"/>
          <p:cNvSpPr txBox="1"/>
          <p:nvPr/>
        </p:nvSpPr>
        <p:spPr>
          <a:xfrm>
            <a:off x="9358655" y="5321808"/>
            <a:ext cx="1042416" cy="274320"/>
          </a:xfrm>
          <a:prstGeom prst="rect">
            <a:avLst/>
          </a:prstGeom>
          <a:noFill/>
          <a:ln/>
        </p:spPr>
        <p:txBody>
          <a:bodyPr wrap="square" lIns="0" tIns="0" rIns="0" bIns="0" rtlCol="0" anchor="ctr"/>
          <a:lstStyle/>
          <a:p>
            <a:pPr marL="0" indent="0" algn="ctr">
              <a:buNone/>
            </a:pPr>
            <a:r>
              <a:rPr lang="en-US" sz="900" b="1" dirty="0">
                <a:solidFill>
                  <a:srgbClr val="E85D04"/>
                </a:solidFill>
                <a:latin typeface="Calibri" pitchFamily="34" charset="0"/>
                <a:ea typeface="Calibri" pitchFamily="34" charset="-122"/>
                <a:cs typeface="Calibri" pitchFamily="34" charset="-120"/>
              </a:rPr>
              <a:t>PHASE 2</a:t>
            </a:r>
            <a:endParaRPr lang="en-US" sz="900" dirty="0"/>
          </a:p>
        </p:txBody>
      </p:sp>
      <p:sp>
        <p:nvSpPr>
          <p:cNvPr id="50" name="Text 44"/>
          <p:cNvSpPr txBox="1"/>
          <p:nvPr/>
        </p:nvSpPr>
        <p:spPr>
          <a:xfrm>
            <a:off x="566928" y="5925312"/>
            <a:ext cx="11057839" cy="274320"/>
          </a:xfrm>
          <a:prstGeom prst="rect">
            <a:avLst/>
          </a:prstGeom>
          <a:noFill/>
          <a:ln/>
        </p:spPr>
        <p:txBody>
          <a:bodyPr wrap="square" lIns="0" tIns="0" rIns="0" bIns="0" rtlCol="0" anchor="t"/>
          <a:lstStyle/>
          <a:p>
            <a:pPr marL="0" indent="0">
              <a:buNone/>
            </a:pPr>
            <a:r>
              <a:rPr lang="en-US" sz="1100" i="1" dirty="0">
                <a:solidFill>
                  <a:srgbClr val="5E6D7D"/>
                </a:solidFill>
                <a:latin typeface="Calibri" pitchFamily="34" charset="0"/>
                <a:ea typeface="Calibri" pitchFamily="34" charset="-122"/>
                <a:cs typeface="Calibri" pitchFamily="34" charset="-120"/>
              </a:rPr>
              <a:t>Recommendation: launch scheduled, shuttle and exclusive first. Turn on live pooling once a few weeks of plant GPS data make the ETAs trustworthy.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5E6D7D"/>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5E6D7D"/>
                </a:solidFill>
                <a:latin typeface="Arial" pitchFamily="34" charset="0"/>
                <a:ea typeface="Arial" pitchFamily="34" charset="-122"/>
                <a:cs typeface="Arial" pitchFamily="34" charset="-120"/>
              </a:rPr>
              <a:t>08</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LOCATION SEQUENCING</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16202B"/>
                </a:solidFill>
                <a:latin typeface="Arial" pitchFamily="34" charset="0"/>
                <a:ea typeface="Arial" pitchFamily="34" charset="-122"/>
                <a:cs typeface="Arial" pitchFamily="34" charset="-120"/>
              </a:rPr>
              <a:t>Three configured routes, every stop in order</a:t>
            </a:r>
            <a:endParaRPr lang="en-US" sz="3000" dirty="0"/>
          </a:p>
        </p:txBody>
      </p:sp>
      <p:sp>
        <p:nvSpPr>
          <p:cNvPr id="6" name="Text 4"/>
          <p:cNvSpPr txBox="1"/>
          <p:nvPr/>
        </p:nvSpPr>
        <p:spPr>
          <a:xfrm>
            <a:off x="566928" y="1179576"/>
            <a:ext cx="9509742" cy="274320"/>
          </a:xfrm>
          <a:prstGeom prst="rect">
            <a:avLst/>
          </a:prstGeom>
          <a:noFill/>
          <a:ln/>
        </p:spPr>
        <p:txBody>
          <a:bodyPr wrap="square" lIns="0" tIns="0" rIns="0" bIns="0" rtlCol="0" anchor="ctr"/>
          <a:lstStyle/>
          <a:p>
            <a:pPr marL="0" indent="0">
              <a:buNone/>
            </a:pPr>
            <a:r>
              <a:rPr lang="en-US" sz="1300" dirty="0">
                <a:solidFill>
                  <a:srgbClr val="5E6D7D"/>
                </a:solidFill>
                <a:latin typeface="Calibri" pitchFamily="34" charset="0"/>
                <a:ea typeface="Calibri" pitchFamily="34" charset="-122"/>
                <a:cs typeface="Calibri" pitchFamily="34" charset="-120"/>
              </a:rPr>
              <a:t>Systematic routing: a vehicle serves its stops in sequence, so it never doubles back across the plant.</a:t>
            </a:r>
            <a:endParaRPr lang="en-US" sz="1300" dirty="0"/>
          </a:p>
        </p:txBody>
      </p:sp>
      <p:sp>
        <p:nvSpPr>
          <p:cNvPr id="7" name="Shape 5"/>
          <p:cNvSpPr/>
          <p:nvPr/>
        </p:nvSpPr>
        <p:spPr>
          <a:xfrm>
            <a:off x="566928" y="1828800"/>
            <a:ext cx="11057839" cy="1133856"/>
          </a:xfrm>
          <a:prstGeom prst="roundRect">
            <a:avLst>
              <a:gd name="adj" fmla="val 9677"/>
            </a:avLst>
          </a:prstGeom>
          <a:solidFill>
            <a:srgbClr val="FFFFFF"/>
          </a:solidFill>
          <a:ln w="12700">
            <a:solidFill>
              <a:srgbClr val="DCE4EC"/>
            </a:solidFill>
            <a:prstDash val="solid"/>
          </a:ln>
        </p:spPr>
      </p:sp>
      <p:sp>
        <p:nvSpPr>
          <p:cNvPr id="8" name="Shape 6"/>
          <p:cNvSpPr/>
          <p:nvPr/>
        </p:nvSpPr>
        <p:spPr>
          <a:xfrm>
            <a:off x="804672" y="2093976"/>
            <a:ext cx="603504" cy="603504"/>
          </a:xfrm>
          <a:prstGeom prst="roundRect">
            <a:avLst>
              <a:gd name="adj" fmla="val 18182"/>
            </a:avLst>
          </a:prstGeom>
          <a:solidFill>
            <a:srgbClr val="0E141B"/>
          </a:solidFill>
          <a:ln/>
        </p:spPr>
      </p:sp>
      <p:sp>
        <p:nvSpPr>
          <p:cNvPr id="9" name="Text 7"/>
          <p:cNvSpPr txBox="1"/>
          <p:nvPr/>
        </p:nvSpPr>
        <p:spPr>
          <a:xfrm>
            <a:off x="804672" y="2093976"/>
            <a:ext cx="603504" cy="603504"/>
          </a:xfrm>
          <a:prstGeom prst="rect">
            <a:avLst/>
          </a:prstGeom>
          <a:noFill/>
          <a:ln/>
        </p:spPr>
        <p:txBody>
          <a:bodyPr wrap="square" lIns="0" tIns="0" rIns="0" bIns="0" rtlCol="0" anchor="ctr"/>
          <a:lstStyle/>
          <a:p>
            <a:pPr marL="0" indent="0" algn="ctr">
              <a:buNone/>
            </a:pPr>
            <a:r>
              <a:rPr lang="en-US" sz="1700" b="1" dirty="0">
                <a:solidFill>
                  <a:srgbClr val="FF9E5E"/>
                </a:solidFill>
                <a:latin typeface="Arial" pitchFamily="34" charset="0"/>
                <a:ea typeface="Arial" pitchFamily="34" charset="-122"/>
                <a:cs typeface="Arial" pitchFamily="34" charset="-120"/>
              </a:rPr>
              <a:t>R1</a:t>
            </a:r>
            <a:endParaRPr lang="en-US" sz="1700" dirty="0"/>
          </a:p>
        </p:txBody>
      </p:sp>
      <p:sp>
        <p:nvSpPr>
          <p:cNvPr id="10" name="Text 8"/>
          <p:cNvSpPr txBox="1"/>
          <p:nvPr/>
        </p:nvSpPr>
        <p:spPr>
          <a:xfrm>
            <a:off x="1517904" y="2066544"/>
            <a:ext cx="2926080" cy="27432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Route 1  ·  North corridor</a:t>
            </a:r>
            <a:endParaRPr lang="en-US" sz="1300" dirty="0"/>
          </a:p>
        </p:txBody>
      </p:sp>
      <p:sp>
        <p:nvSpPr>
          <p:cNvPr id="11" name="Text 9"/>
          <p:cNvSpPr txBox="1"/>
          <p:nvPr/>
        </p:nvSpPr>
        <p:spPr>
          <a:xfrm>
            <a:off x="1517904" y="2359152"/>
            <a:ext cx="2926080" cy="402336"/>
          </a:xfrm>
          <a:prstGeom prst="rect">
            <a:avLst/>
          </a:prstGeom>
          <a:noFill/>
          <a:ln/>
        </p:spPr>
        <p:txBody>
          <a:bodyPr wrap="square" lIns="0" tIns="0" rIns="0" bIns="0" rtlCol="0" anchor="t"/>
          <a:lstStyle/>
          <a:p>
            <a:pPr marL="0" indent="0">
              <a:lnSpc>
                <a:spcPts val="1300"/>
              </a:lnSpc>
              <a:buNone/>
            </a:pPr>
            <a:r>
              <a:rPr lang="en-US" sz="950" dirty="0">
                <a:solidFill>
                  <a:srgbClr val="5E6D7D"/>
                </a:solidFill>
                <a:latin typeface="Calibri" pitchFamily="34" charset="0"/>
                <a:ea typeface="Calibri" pitchFamily="34" charset="-122"/>
                <a:cs typeface="Calibri" pitchFamily="34" charset="-120"/>
              </a:rPr>
              <a:t>5 stops  ·  24 min loop  ·  every 20 min</a:t>
            </a:r>
            <a:endParaRPr lang="en-US" sz="950" dirty="0"/>
          </a:p>
        </p:txBody>
      </p:sp>
      <p:sp>
        <p:nvSpPr>
          <p:cNvPr id="12" name="Shape 10"/>
          <p:cNvSpPr/>
          <p:nvPr/>
        </p:nvSpPr>
        <p:spPr>
          <a:xfrm>
            <a:off x="4754880" y="2318004"/>
            <a:ext cx="6172200" cy="27432"/>
          </a:xfrm>
          <a:prstGeom prst="rect">
            <a:avLst/>
          </a:prstGeom>
          <a:solidFill>
            <a:srgbClr val="DCE4EC"/>
          </a:solidFill>
          <a:ln/>
        </p:spPr>
      </p:sp>
      <p:sp>
        <p:nvSpPr>
          <p:cNvPr id="13" name="Shape 11"/>
          <p:cNvSpPr/>
          <p:nvPr/>
        </p:nvSpPr>
        <p:spPr>
          <a:xfrm>
            <a:off x="4617720" y="2194560"/>
            <a:ext cx="274320" cy="274320"/>
          </a:xfrm>
          <a:prstGeom prst="ellipse">
            <a:avLst/>
          </a:prstGeom>
          <a:solidFill>
            <a:srgbClr val="E85D04"/>
          </a:solidFill>
          <a:ln w="19050">
            <a:solidFill>
              <a:srgbClr val="E85D04"/>
            </a:solidFill>
            <a:prstDash val="solid"/>
          </a:ln>
        </p:spPr>
      </p:sp>
      <p:sp>
        <p:nvSpPr>
          <p:cNvPr id="14" name="Text 12"/>
          <p:cNvSpPr txBox="1"/>
          <p:nvPr/>
        </p:nvSpPr>
        <p:spPr>
          <a:xfrm>
            <a:off x="4617720" y="2194560"/>
            <a:ext cx="27432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15" name="Text 13"/>
          <p:cNvSpPr txBox="1"/>
          <p:nvPr/>
        </p:nvSpPr>
        <p:spPr>
          <a:xfrm>
            <a:off x="4069080" y="2523744"/>
            <a:ext cx="1371600" cy="384048"/>
          </a:xfrm>
          <a:prstGeom prst="rect">
            <a:avLst/>
          </a:prstGeom>
          <a:noFill/>
          <a:ln/>
        </p:spPr>
        <p:txBody>
          <a:bodyPr wrap="square" lIns="0" tIns="0" rIns="0" bIns="0" rtlCol="0" anchor="t"/>
          <a:lstStyle/>
          <a:p>
            <a:pPr marL="0" indent="0" algn="ctr">
              <a:buNone/>
            </a:pPr>
            <a:r>
              <a:rPr lang="en-US" sz="900" dirty="0">
                <a:solidFill>
                  <a:srgbClr val="16202B"/>
                </a:solidFill>
                <a:latin typeface="Calibri" pitchFamily="34" charset="0"/>
                <a:ea typeface="Calibri" pitchFamily="34" charset="-122"/>
                <a:cs typeface="Calibri" pitchFamily="34" charset="-120"/>
              </a:rPr>
              <a:t>Gate 2</a:t>
            </a:r>
            <a:endParaRPr lang="en-US" sz="900" dirty="0"/>
          </a:p>
        </p:txBody>
      </p:sp>
      <p:sp>
        <p:nvSpPr>
          <p:cNvPr id="16" name="Text 14"/>
          <p:cNvSpPr txBox="1"/>
          <p:nvPr/>
        </p:nvSpPr>
        <p:spPr>
          <a:xfrm>
            <a:off x="4754880" y="1901952"/>
            <a:ext cx="1543050" cy="237744"/>
          </a:xfrm>
          <a:prstGeom prst="rect">
            <a:avLst/>
          </a:prstGeom>
          <a:noFill/>
          <a:ln/>
        </p:spPr>
        <p:txBody>
          <a:bodyPr wrap="square" lIns="0" tIns="0" rIns="0" bIns="0" rtlCol="0" anchor="ctr"/>
          <a:lstStyle/>
          <a:p>
            <a:pPr marL="0" indent="0" algn="ctr">
              <a:buNone/>
            </a:pPr>
            <a:r>
              <a:rPr lang="en-US" sz="800" i="1" dirty="0">
                <a:solidFill>
                  <a:srgbClr val="5E6D7D"/>
                </a:solidFill>
                <a:latin typeface="Calibri" pitchFamily="34" charset="0"/>
                <a:ea typeface="Calibri" pitchFamily="34" charset="-122"/>
                <a:cs typeface="Calibri" pitchFamily="34" charset="-120"/>
              </a:rPr>
              <a:t>4 min</a:t>
            </a:r>
            <a:endParaRPr lang="en-US" sz="800" dirty="0"/>
          </a:p>
        </p:txBody>
      </p:sp>
      <p:sp>
        <p:nvSpPr>
          <p:cNvPr id="17" name="Shape 15"/>
          <p:cNvSpPr/>
          <p:nvPr/>
        </p:nvSpPr>
        <p:spPr>
          <a:xfrm>
            <a:off x="6160770" y="2194560"/>
            <a:ext cx="274320" cy="274320"/>
          </a:xfrm>
          <a:prstGeom prst="ellipse">
            <a:avLst/>
          </a:prstGeom>
          <a:solidFill>
            <a:srgbClr val="FFFFFF"/>
          </a:solidFill>
          <a:ln w="19050">
            <a:solidFill>
              <a:srgbClr val="5E6D7D"/>
            </a:solidFill>
            <a:prstDash val="solid"/>
          </a:ln>
        </p:spPr>
      </p:sp>
      <p:sp>
        <p:nvSpPr>
          <p:cNvPr id="18" name="Text 16"/>
          <p:cNvSpPr txBox="1"/>
          <p:nvPr/>
        </p:nvSpPr>
        <p:spPr>
          <a:xfrm>
            <a:off x="6160770" y="2194560"/>
            <a:ext cx="274320" cy="274320"/>
          </a:xfrm>
          <a:prstGeom prst="rect">
            <a:avLst/>
          </a:prstGeom>
          <a:noFill/>
          <a:ln/>
        </p:spPr>
        <p:txBody>
          <a:bodyPr wrap="square" lIns="0" tIns="0" rIns="0" bIns="0" rtlCol="0" anchor="ctr"/>
          <a:lstStyle/>
          <a:p>
            <a:pPr marL="0" indent="0" algn="ctr">
              <a:buNone/>
            </a:pPr>
            <a:r>
              <a:rPr lang="en-US" sz="850" b="1" dirty="0">
                <a:solidFill>
                  <a:srgbClr val="5E6D7D"/>
                </a:solidFill>
                <a:latin typeface="Arial" pitchFamily="34" charset="0"/>
                <a:ea typeface="Arial" pitchFamily="34" charset="-122"/>
                <a:cs typeface="Arial" pitchFamily="34" charset="-120"/>
              </a:rPr>
              <a:t>2</a:t>
            </a:r>
            <a:endParaRPr lang="en-US" sz="850" dirty="0"/>
          </a:p>
        </p:txBody>
      </p:sp>
      <p:sp>
        <p:nvSpPr>
          <p:cNvPr id="19" name="Text 17"/>
          <p:cNvSpPr txBox="1"/>
          <p:nvPr/>
        </p:nvSpPr>
        <p:spPr>
          <a:xfrm>
            <a:off x="5612130" y="2523744"/>
            <a:ext cx="1371600" cy="384048"/>
          </a:xfrm>
          <a:prstGeom prst="rect">
            <a:avLst/>
          </a:prstGeom>
          <a:noFill/>
          <a:ln/>
        </p:spPr>
        <p:txBody>
          <a:bodyPr wrap="square" lIns="0" tIns="0" rIns="0" bIns="0" rtlCol="0" anchor="t"/>
          <a:lstStyle/>
          <a:p>
            <a:pPr marL="0" indent="0" algn="ctr">
              <a:buNone/>
            </a:pPr>
            <a:r>
              <a:rPr lang="en-US" sz="900" dirty="0">
                <a:solidFill>
                  <a:srgbClr val="16202B"/>
                </a:solidFill>
                <a:latin typeface="Calibri" pitchFamily="34" charset="0"/>
                <a:ea typeface="Calibri" pitchFamily="34" charset="-122"/>
                <a:cs typeface="Calibri" pitchFamily="34" charset="-120"/>
              </a:rPr>
              <a:t>Admin Block</a:t>
            </a:r>
            <a:endParaRPr lang="en-US" sz="900" dirty="0"/>
          </a:p>
        </p:txBody>
      </p:sp>
      <p:sp>
        <p:nvSpPr>
          <p:cNvPr id="20" name="Text 18"/>
          <p:cNvSpPr txBox="1"/>
          <p:nvPr/>
        </p:nvSpPr>
        <p:spPr>
          <a:xfrm>
            <a:off x="6297930" y="1901952"/>
            <a:ext cx="1543050" cy="237744"/>
          </a:xfrm>
          <a:prstGeom prst="rect">
            <a:avLst/>
          </a:prstGeom>
          <a:noFill/>
          <a:ln/>
        </p:spPr>
        <p:txBody>
          <a:bodyPr wrap="square" lIns="0" tIns="0" rIns="0" bIns="0" rtlCol="0" anchor="ctr"/>
          <a:lstStyle/>
          <a:p>
            <a:pPr marL="0" indent="0" algn="ctr">
              <a:buNone/>
            </a:pPr>
            <a:r>
              <a:rPr lang="en-US" sz="800" i="1" dirty="0">
                <a:solidFill>
                  <a:srgbClr val="5E6D7D"/>
                </a:solidFill>
                <a:latin typeface="Calibri" pitchFamily="34" charset="0"/>
                <a:ea typeface="Calibri" pitchFamily="34" charset="-122"/>
                <a:cs typeface="Calibri" pitchFamily="34" charset="-120"/>
              </a:rPr>
              <a:t>6 min</a:t>
            </a:r>
            <a:endParaRPr lang="en-US" sz="800" dirty="0"/>
          </a:p>
        </p:txBody>
      </p:sp>
      <p:sp>
        <p:nvSpPr>
          <p:cNvPr id="21" name="Shape 19"/>
          <p:cNvSpPr/>
          <p:nvPr/>
        </p:nvSpPr>
        <p:spPr>
          <a:xfrm>
            <a:off x="7703820" y="2194560"/>
            <a:ext cx="274320" cy="274320"/>
          </a:xfrm>
          <a:prstGeom prst="ellipse">
            <a:avLst/>
          </a:prstGeom>
          <a:solidFill>
            <a:srgbClr val="FFFFFF"/>
          </a:solidFill>
          <a:ln w="19050">
            <a:solidFill>
              <a:srgbClr val="5E6D7D"/>
            </a:solidFill>
            <a:prstDash val="solid"/>
          </a:ln>
        </p:spPr>
      </p:sp>
      <p:sp>
        <p:nvSpPr>
          <p:cNvPr id="22" name="Text 20"/>
          <p:cNvSpPr txBox="1"/>
          <p:nvPr/>
        </p:nvSpPr>
        <p:spPr>
          <a:xfrm>
            <a:off x="7703820" y="2194560"/>
            <a:ext cx="274320" cy="274320"/>
          </a:xfrm>
          <a:prstGeom prst="rect">
            <a:avLst/>
          </a:prstGeom>
          <a:noFill/>
          <a:ln/>
        </p:spPr>
        <p:txBody>
          <a:bodyPr wrap="square" lIns="0" tIns="0" rIns="0" bIns="0" rtlCol="0" anchor="ctr"/>
          <a:lstStyle/>
          <a:p>
            <a:pPr marL="0" indent="0" algn="ctr">
              <a:buNone/>
            </a:pPr>
            <a:r>
              <a:rPr lang="en-US" sz="850" b="1" dirty="0">
                <a:solidFill>
                  <a:srgbClr val="5E6D7D"/>
                </a:solidFill>
                <a:latin typeface="Arial" pitchFamily="34" charset="0"/>
                <a:ea typeface="Arial" pitchFamily="34" charset="-122"/>
                <a:cs typeface="Arial" pitchFamily="34" charset="-120"/>
              </a:rPr>
              <a:t>3</a:t>
            </a:r>
            <a:endParaRPr lang="en-US" sz="850" dirty="0"/>
          </a:p>
        </p:txBody>
      </p:sp>
      <p:sp>
        <p:nvSpPr>
          <p:cNvPr id="23" name="Text 21"/>
          <p:cNvSpPr txBox="1"/>
          <p:nvPr/>
        </p:nvSpPr>
        <p:spPr>
          <a:xfrm>
            <a:off x="7155180" y="2523744"/>
            <a:ext cx="1371600" cy="384048"/>
          </a:xfrm>
          <a:prstGeom prst="rect">
            <a:avLst/>
          </a:prstGeom>
          <a:noFill/>
          <a:ln/>
        </p:spPr>
        <p:txBody>
          <a:bodyPr wrap="square" lIns="0" tIns="0" rIns="0" bIns="0" rtlCol="0" anchor="t"/>
          <a:lstStyle/>
          <a:p>
            <a:pPr marL="0" indent="0" algn="ctr">
              <a:buNone/>
            </a:pPr>
            <a:r>
              <a:rPr lang="en-US" sz="900" dirty="0">
                <a:solidFill>
                  <a:srgbClr val="16202B"/>
                </a:solidFill>
                <a:latin typeface="Calibri" pitchFamily="34" charset="0"/>
                <a:ea typeface="Calibri" pitchFamily="34" charset="-122"/>
                <a:cs typeface="Calibri" pitchFamily="34" charset="-120"/>
              </a:rPr>
              <a:t>Coke Plant</a:t>
            </a:r>
            <a:endParaRPr lang="en-US" sz="900" dirty="0"/>
          </a:p>
        </p:txBody>
      </p:sp>
      <p:sp>
        <p:nvSpPr>
          <p:cNvPr id="24" name="Text 22"/>
          <p:cNvSpPr txBox="1"/>
          <p:nvPr/>
        </p:nvSpPr>
        <p:spPr>
          <a:xfrm>
            <a:off x="7840980" y="1901952"/>
            <a:ext cx="1543050" cy="237744"/>
          </a:xfrm>
          <a:prstGeom prst="rect">
            <a:avLst/>
          </a:prstGeom>
          <a:noFill/>
          <a:ln/>
        </p:spPr>
        <p:txBody>
          <a:bodyPr wrap="square" lIns="0" tIns="0" rIns="0" bIns="0" rtlCol="0" anchor="ctr"/>
          <a:lstStyle/>
          <a:p>
            <a:pPr marL="0" indent="0" algn="ctr">
              <a:buNone/>
            </a:pPr>
            <a:r>
              <a:rPr lang="en-US" sz="800" i="1" dirty="0">
                <a:solidFill>
                  <a:srgbClr val="5E6D7D"/>
                </a:solidFill>
                <a:latin typeface="Calibri" pitchFamily="34" charset="0"/>
                <a:ea typeface="Calibri" pitchFamily="34" charset="-122"/>
                <a:cs typeface="Calibri" pitchFamily="34" charset="-120"/>
              </a:rPr>
              <a:t>5 min</a:t>
            </a:r>
            <a:endParaRPr lang="en-US" sz="800" dirty="0"/>
          </a:p>
        </p:txBody>
      </p:sp>
      <p:sp>
        <p:nvSpPr>
          <p:cNvPr id="25" name="Shape 23"/>
          <p:cNvSpPr/>
          <p:nvPr/>
        </p:nvSpPr>
        <p:spPr>
          <a:xfrm>
            <a:off x="9246870" y="2194560"/>
            <a:ext cx="274320" cy="274320"/>
          </a:xfrm>
          <a:prstGeom prst="ellipse">
            <a:avLst/>
          </a:prstGeom>
          <a:solidFill>
            <a:srgbClr val="FFFFFF"/>
          </a:solidFill>
          <a:ln w="19050">
            <a:solidFill>
              <a:srgbClr val="5E6D7D"/>
            </a:solidFill>
            <a:prstDash val="solid"/>
          </a:ln>
        </p:spPr>
      </p:sp>
      <p:sp>
        <p:nvSpPr>
          <p:cNvPr id="26" name="Text 24"/>
          <p:cNvSpPr txBox="1"/>
          <p:nvPr/>
        </p:nvSpPr>
        <p:spPr>
          <a:xfrm>
            <a:off x="9246870" y="2194560"/>
            <a:ext cx="274320" cy="274320"/>
          </a:xfrm>
          <a:prstGeom prst="rect">
            <a:avLst/>
          </a:prstGeom>
          <a:noFill/>
          <a:ln/>
        </p:spPr>
        <p:txBody>
          <a:bodyPr wrap="square" lIns="0" tIns="0" rIns="0" bIns="0" rtlCol="0" anchor="ctr"/>
          <a:lstStyle/>
          <a:p>
            <a:pPr marL="0" indent="0" algn="ctr">
              <a:buNone/>
            </a:pPr>
            <a:r>
              <a:rPr lang="en-US" sz="850" b="1" dirty="0">
                <a:solidFill>
                  <a:srgbClr val="5E6D7D"/>
                </a:solidFill>
                <a:latin typeface="Arial" pitchFamily="34" charset="0"/>
                <a:ea typeface="Arial" pitchFamily="34" charset="-122"/>
                <a:cs typeface="Arial" pitchFamily="34" charset="-120"/>
              </a:rPr>
              <a:t>4</a:t>
            </a:r>
            <a:endParaRPr lang="en-US" sz="850" dirty="0"/>
          </a:p>
        </p:txBody>
      </p:sp>
      <p:sp>
        <p:nvSpPr>
          <p:cNvPr id="27" name="Text 25"/>
          <p:cNvSpPr txBox="1"/>
          <p:nvPr/>
        </p:nvSpPr>
        <p:spPr>
          <a:xfrm>
            <a:off x="8698230" y="2523744"/>
            <a:ext cx="1371600" cy="384048"/>
          </a:xfrm>
          <a:prstGeom prst="rect">
            <a:avLst/>
          </a:prstGeom>
          <a:noFill/>
          <a:ln/>
        </p:spPr>
        <p:txBody>
          <a:bodyPr wrap="square" lIns="0" tIns="0" rIns="0" bIns="0" rtlCol="0" anchor="t"/>
          <a:lstStyle/>
          <a:p>
            <a:pPr marL="0" indent="0" algn="ctr">
              <a:buNone/>
            </a:pPr>
            <a:r>
              <a:rPr lang="en-US" sz="900" dirty="0">
                <a:solidFill>
                  <a:srgbClr val="16202B"/>
                </a:solidFill>
                <a:latin typeface="Calibri" pitchFamily="34" charset="0"/>
                <a:ea typeface="Calibri" pitchFamily="34" charset="-122"/>
                <a:cs typeface="Calibri" pitchFamily="34" charset="-120"/>
              </a:rPr>
              <a:t>Blast Furnace</a:t>
            </a:r>
            <a:endParaRPr lang="en-US" sz="900" dirty="0"/>
          </a:p>
        </p:txBody>
      </p:sp>
      <p:sp>
        <p:nvSpPr>
          <p:cNvPr id="28" name="Text 26"/>
          <p:cNvSpPr txBox="1"/>
          <p:nvPr/>
        </p:nvSpPr>
        <p:spPr>
          <a:xfrm>
            <a:off x="9384030" y="1901952"/>
            <a:ext cx="1543050" cy="237744"/>
          </a:xfrm>
          <a:prstGeom prst="rect">
            <a:avLst/>
          </a:prstGeom>
          <a:noFill/>
          <a:ln/>
        </p:spPr>
        <p:txBody>
          <a:bodyPr wrap="square" lIns="0" tIns="0" rIns="0" bIns="0" rtlCol="0" anchor="ctr"/>
          <a:lstStyle/>
          <a:p>
            <a:pPr marL="0" indent="0" algn="ctr">
              <a:buNone/>
            </a:pPr>
            <a:r>
              <a:rPr lang="en-US" sz="800" i="1" dirty="0">
                <a:solidFill>
                  <a:srgbClr val="5E6D7D"/>
                </a:solidFill>
                <a:latin typeface="Calibri" pitchFamily="34" charset="0"/>
                <a:ea typeface="Calibri" pitchFamily="34" charset="-122"/>
                <a:cs typeface="Calibri" pitchFamily="34" charset="-120"/>
              </a:rPr>
              <a:t>9 min</a:t>
            </a:r>
            <a:endParaRPr lang="en-US" sz="800" dirty="0"/>
          </a:p>
        </p:txBody>
      </p:sp>
      <p:sp>
        <p:nvSpPr>
          <p:cNvPr id="29" name="Shape 27"/>
          <p:cNvSpPr/>
          <p:nvPr/>
        </p:nvSpPr>
        <p:spPr>
          <a:xfrm>
            <a:off x="10789920" y="2194560"/>
            <a:ext cx="274320" cy="274320"/>
          </a:xfrm>
          <a:prstGeom prst="ellipse">
            <a:avLst/>
          </a:prstGeom>
          <a:solidFill>
            <a:srgbClr val="00A896"/>
          </a:solidFill>
          <a:ln w="19050">
            <a:solidFill>
              <a:srgbClr val="00A896"/>
            </a:solidFill>
            <a:prstDash val="solid"/>
          </a:ln>
        </p:spPr>
      </p:sp>
      <p:sp>
        <p:nvSpPr>
          <p:cNvPr id="30" name="Text 28"/>
          <p:cNvSpPr txBox="1"/>
          <p:nvPr/>
        </p:nvSpPr>
        <p:spPr>
          <a:xfrm>
            <a:off x="10789920" y="2194560"/>
            <a:ext cx="27432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5</a:t>
            </a:r>
            <a:endParaRPr lang="en-US" sz="850" dirty="0"/>
          </a:p>
        </p:txBody>
      </p:sp>
      <p:sp>
        <p:nvSpPr>
          <p:cNvPr id="31" name="Text 29"/>
          <p:cNvSpPr txBox="1"/>
          <p:nvPr/>
        </p:nvSpPr>
        <p:spPr>
          <a:xfrm>
            <a:off x="10241280" y="2523744"/>
            <a:ext cx="1371600" cy="384048"/>
          </a:xfrm>
          <a:prstGeom prst="rect">
            <a:avLst/>
          </a:prstGeom>
          <a:noFill/>
          <a:ln/>
        </p:spPr>
        <p:txBody>
          <a:bodyPr wrap="square" lIns="0" tIns="0" rIns="0" bIns="0" rtlCol="0" anchor="t"/>
          <a:lstStyle/>
          <a:p>
            <a:pPr marL="0" indent="0" algn="ctr">
              <a:buNone/>
            </a:pPr>
            <a:r>
              <a:rPr lang="en-US" sz="900" dirty="0">
                <a:solidFill>
                  <a:srgbClr val="16202B"/>
                </a:solidFill>
                <a:latin typeface="Calibri" pitchFamily="34" charset="0"/>
                <a:ea typeface="Calibri" pitchFamily="34" charset="-122"/>
                <a:cs typeface="Calibri" pitchFamily="34" charset="-120"/>
              </a:rPr>
              <a:t>Gate 2</a:t>
            </a:r>
            <a:endParaRPr lang="en-US" sz="900" dirty="0"/>
          </a:p>
        </p:txBody>
      </p:sp>
      <p:sp>
        <p:nvSpPr>
          <p:cNvPr id="32" name="Shape 30"/>
          <p:cNvSpPr/>
          <p:nvPr/>
        </p:nvSpPr>
        <p:spPr>
          <a:xfrm>
            <a:off x="566928" y="3145536"/>
            <a:ext cx="11057839" cy="1133856"/>
          </a:xfrm>
          <a:prstGeom prst="roundRect">
            <a:avLst>
              <a:gd name="adj" fmla="val 9677"/>
            </a:avLst>
          </a:prstGeom>
          <a:solidFill>
            <a:srgbClr val="F7F9FB"/>
          </a:solidFill>
          <a:ln w="12700">
            <a:solidFill>
              <a:srgbClr val="DCE4EC"/>
            </a:solidFill>
            <a:prstDash val="solid"/>
          </a:ln>
        </p:spPr>
      </p:sp>
      <p:sp>
        <p:nvSpPr>
          <p:cNvPr id="33" name="Shape 31"/>
          <p:cNvSpPr/>
          <p:nvPr/>
        </p:nvSpPr>
        <p:spPr>
          <a:xfrm>
            <a:off x="804672" y="3410712"/>
            <a:ext cx="603504" cy="603504"/>
          </a:xfrm>
          <a:prstGeom prst="roundRect">
            <a:avLst>
              <a:gd name="adj" fmla="val 18182"/>
            </a:avLst>
          </a:prstGeom>
          <a:solidFill>
            <a:srgbClr val="0E141B"/>
          </a:solidFill>
          <a:ln/>
        </p:spPr>
      </p:sp>
      <p:sp>
        <p:nvSpPr>
          <p:cNvPr id="34" name="Text 32"/>
          <p:cNvSpPr txBox="1"/>
          <p:nvPr/>
        </p:nvSpPr>
        <p:spPr>
          <a:xfrm>
            <a:off x="804672" y="3410712"/>
            <a:ext cx="603504" cy="603504"/>
          </a:xfrm>
          <a:prstGeom prst="rect">
            <a:avLst/>
          </a:prstGeom>
          <a:noFill/>
          <a:ln/>
        </p:spPr>
        <p:txBody>
          <a:bodyPr wrap="square" lIns="0" tIns="0" rIns="0" bIns="0" rtlCol="0" anchor="ctr"/>
          <a:lstStyle/>
          <a:p>
            <a:pPr marL="0" indent="0" algn="ctr">
              <a:buNone/>
            </a:pPr>
            <a:r>
              <a:rPr lang="en-US" sz="1700" b="1" dirty="0">
                <a:solidFill>
                  <a:srgbClr val="FF9E5E"/>
                </a:solidFill>
                <a:latin typeface="Arial" pitchFamily="34" charset="0"/>
                <a:ea typeface="Arial" pitchFamily="34" charset="-122"/>
                <a:cs typeface="Arial" pitchFamily="34" charset="-120"/>
              </a:rPr>
              <a:t>R2</a:t>
            </a:r>
            <a:endParaRPr lang="en-US" sz="1700" dirty="0"/>
          </a:p>
        </p:txBody>
      </p:sp>
      <p:sp>
        <p:nvSpPr>
          <p:cNvPr id="35" name="Text 33"/>
          <p:cNvSpPr txBox="1"/>
          <p:nvPr/>
        </p:nvSpPr>
        <p:spPr>
          <a:xfrm>
            <a:off x="1517904" y="3383280"/>
            <a:ext cx="2926080" cy="27432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Route 2  ·  Mill corridor</a:t>
            </a:r>
            <a:endParaRPr lang="en-US" sz="1300" dirty="0"/>
          </a:p>
        </p:txBody>
      </p:sp>
      <p:sp>
        <p:nvSpPr>
          <p:cNvPr id="36" name="Text 34"/>
          <p:cNvSpPr txBox="1"/>
          <p:nvPr/>
        </p:nvSpPr>
        <p:spPr>
          <a:xfrm>
            <a:off x="1517904" y="3675888"/>
            <a:ext cx="2926080" cy="402336"/>
          </a:xfrm>
          <a:prstGeom prst="rect">
            <a:avLst/>
          </a:prstGeom>
          <a:noFill/>
          <a:ln/>
        </p:spPr>
        <p:txBody>
          <a:bodyPr wrap="square" lIns="0" tIns="0" rIns="0" bIns="0" rtlCol="0" anchor="t"/>
          <a:lstStyle/>
          <a:p>
            <a:pPr marL="0" indent="0">
              <a:lnSpc>
                <a:spcPts val="1300"/>
              </a:lnSpc>
              <a:buNone/>
            </a:pPr>
            <a:r>
              <a:rPr lang="en-US" sz="950" dirty="0">
                <a:solidFill>
                  <a:srgbClr val="5E6D7D"/>
                </a:solidFill>
                <a:latin typeface="Calibri" pitchFamily="34" charset="0"/>
                <a:ea typeface="Calibri" pitchFamily="34" charset="-122"/>
                <a:cs typeface="Calibri" pitchFamily="34" charset="-120"/>
              </a:rPr>
              <a:t>4 stops  ·  18 min one way  ·  shift-change peak</a:t>
            </a:r>
            <a:endParaRPr lang="en-US" sz="950" dirty="0"/>
          </a:p>
        </p:txBody>
      </p:sp>
      <p:sp>
        <p:nvSpPr>
          <p:cNvPr id="37" name="Shape 35"/>
          <p:cNvSpPr/>
          <p:nvPr/>
        </p:nvSpPr>
        <p:spPr>
          <a:xfrm>
            <a:off x="4754880" y="3634740"/>
            <a:ext cx="6172200" cy="27432"/>
          </a:xfrm>
          <a:prstGeom prst="rect">
            <a:avLst/>
          </a:prstGeom>
          <a:solidFill>
            <a:srgbClr val="DCE4EC"/>
          </a:solidFill>
          <a:ln/>
        </p:spPr>
      </p:sp>
      <p:sp>
        <p:nvSpPr>
          <p:cNvPr id="38" name="Shape 36"/>
          <p:cNvSpPr/>
          <p:nvPr/>
        </p:nvSpPr>
        <p:spPr>
          <a:xfrm>
            <a:off x="4617720" y="3511296"/>
            <a:ext cx="274320" cy="274320"/>
          </a:xfrm>
          <a:prstGeom prst="ellipse">
            <a:avLst/>
          </a:prstGeom>
          <a:solidFill>
            <a:srgbClr val="E85D04"/>
          </a:solidFill>
          <a:ln w="19050">
            <a:solidFill>
              <a:srgbClr val="E85D04"/>
            </a:solidFill>
            <a:prstDash val="solid"/>
          </a:ln>
        </p:spPr>
      </p:sp>
      <p:sp>
        <p:nvSpPr>
          <p:cNvPr id="39" name="Text 37"/>
          <p:cNvSpPr txBox="1"/>
          <p:nvPr/>
        </p:nvSpPr>
        <p:spPr>
          <a:xfrm>
            <a:off x="4617720" y="3511296"/>
            <a:ext cx="27432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40" name="Text 38"/>
          <p:cNvSpPr txBox="1"/>
          <p:nvPr/>
        </p:nvSpPr>
        <p:spPr>
          <a:xfrm>
            <a:off x="4069080" y="3840480"/>
            <a:ext cx="1371600" cy="384048"/>
          </a:xfrm>
          <a:prstGeom prst="rect">
            <a:avLst/>
          </a:prstGeom>
          <a:noFill/>
          <a:ln/>
        </p:spPr>
        <p:txBody>
          <a:bodyPr wrap="square" lIns="0" tIns="0" rIns="0" bIns="0" rtlCol="0" anchor="t"/>
          <a:lstStyle/>
          <a:p>
            <a:pPr marL="0" indent="0" algn="ctr">
              <a:buNone/>
            </a:pPr>
            <a:r>
              <a:rPr lang="en-US" sz="900" dirty="0">
                <a:solidFill>
                  <a:srgbClr val="16202B"/>
                </a:solidFill>
                <a:latin typeface="Calibri" pitchFamily="34" charset="0"/>
                <a:ea typeface="Calibri" pitchFamily="34" charset="-122"/>
                <a:cs typeface="Calibri" pitchFamily="34" charset="-120"/>
              </a:rPr>
              <a:t>Main Gate</a:t>
            </a:r>
            <a:endParaRPr lang="en-US" sz="900" dirty="0"/>
          </a:p>
        </p:txBody>
      </p:sp>
      <p:sp>
        <p:nvSpPr>
          <p:cNvPr id="41" name="Text 39"/>
          <p:cNvSpPr txBox="1"/>
          <p:nvPr/>
        </p:nvSpPr>
        <p:spPr>
          <a:xfrm>
            <a:off x="4754880" y="3218688"/>
            <a:ext cx="2057400" cy="237744"/>
          </a:xfrm>
          <a:prstGeom prst="rect">
            <a:avLst/>
          </a:prstGeom>
          <a:noFill/>
          <a:ln/>
        </p:spPr>
        <p:txBody>
          <a:bodyPr wrap="square" lIns="0" tIns="0" rIns="0" bIns="0" rtlCol="0" anchor="ctr"/>
          <a:lstStyle/>
          <a:p>
            <a:pPr marL="0" indent="0" algn="ctr">
              <a:buNone/>
            </a:pPr>
            <a:r>
              <a:rPr lang="en-US" sz="800" i="1" dirty="0">
                <a:solidFill>
                  <a:srgbClr val="5E6D7D"/>
                </a:solidFill>
                <a:latin typeface="Calibri" pitchFamily="34" charset="0"/>
                <a:ea typeface="Calibri" pitchFamily="34" charset="-122"/>
                <a:cs typeface="Calibri" pitchFamily="34" charset="-120"/>
              </a:rPr>
              <a:t>5 min</a:t>
            </a:r>
            <a:endParaRPr lang="en-US" sz="800" dirty="0"/>
          </a:p>
        </p:txBody>
      </p:sp>
      <p:sp>
        <p:nvSpPr>
          <p:cNvPr id="42" name="Shape 40"/>
          <p:cNvSpPr/>
          <p:nvPr/>
        </p:nvSpPr>
        <p:spPr>
          <a:xfrm>
            <a:off x="6675120" y="3511296"/>
            <a:ext cx="274320" cy="274320"/>
          </a:xfrm>
          <a:prstGeom prst="ellipse">
            <a:avLst/>
          </a:prstGeom>
          <a:solidFill>
            <a:srgbClr val="FFFFFF"/>
          </a:solidFill>
          <a:ln w="19050">
            <a:solidFill>
              <a:srgbClr val="5E6D7D"/>
            </a:solidFill>
            <a:prstDash val="solid"/>
          </a:ln>
        </p:spPr>
      </p:sp>
      <p:sp>
        <p:nvSpPr>
          <p:cNvPr id="43" name="Text 41"/>
          <p:cNvSpPr txBox="1"/>
          <p:nvPr/>
        </p:nvSpPr>
        <p:spPr>
          <a:xfrm>
            <a:off x="6675120" y="3511296"/>
            <a:ext cx="274320" cy="274320"/>
          </a:xfrm>
          <a:prstGeom prst="rect">
            <a:avLst/>
          </a:prstGeom>
          <a:noFill/>
          <a:ln/>
        </p:spPr>
        <p:txBody>
          <a:bodyPr wrap="square" lIns="0" tIns="0" rIns="0" bIns="0" rtlCol="0" anchor="ctr"/>
          <a:lstStyle/>
          <a:p>
            <a:pPr marL="0" indent="0" algn="ctr">
              <a:buNone/>
            </a:pPr>
            <a:r>
              <a:rPr lang="en-US" sz="850" b="1" dirty="0">
                <a:solidFill>
                  <a:srgbClr val="5E6D7D"/>
                </a:solidFill>
                <a:latin typeface="Arial" pitchFamily="34" charset="0"/>
                <a:ea typeface="Arial" pitchFamily="34" charset="-122"/>
                <a:cs typeface="Arial" pitchFamily="34" charset="-120"/>
              </a:rPr>
              <a:t>2</a:t>
            </a:r>
            <a:endParaRPr lang="en-US" sz="850" dirty="0"/>
          </a:p>
        </p:txBody>
      </p:sp>
      <p:sp>
        <p:nvSpPr>
          <p:cNvPr id="44" name="Text 42"/>
          <p:cNvSpPr txBox="1"/>
          <p:nvPr/>
        </p:nvSpPr>
        <p:spPr>
          <a:xfrm>
            <a:off x="6126480" y="3840480"/>
            <a:ext cx="1371600" cy="384048"/>
          </a:xfrm>
          <a:prstGeom prst="rect">
            <a:avLst/>
          </a:prstGeom>
          <a:noFill/>
          <a:ln/>
        </p:spPr>
        <p:txBody>
          <a:bodyPr wrap="square" lIns="0" tIns="0" rIns="0" bIns="0" rtlCol="0" anchor="t"/>
          <a:lstStyle/>
          <a:p>
            <a:pPr marL="0" indent="0" algn="ctr">
              <a:buNone/>
            </a:pPr>
            <a:r>
              <a:rPr lang="en-US" sz="900" dirty="0">
                <a:solidFill>
                  <a:srgbClr val="16202B"/>
                </a:solidFill>
                <a:latin typeface="Calibri" pitchFamily="34" charset="0"/>
                <a:ea typeface="Calibri" pitchFamily="34" charset="-122"/>
                <a:cs typeface="Calibri" pitchFamily="34" charset="-120"/>
              </a:rPr>
              <a:t>Sinter Plant</a:t>
            </a:r>
            <a:endParaRPr lang="en-US" sz="900" dirty="0"/>
          </a:p>
        </p:txBody>
      </p:sp>
      <p:sp>
        <p:nvSpPr>
          <p:cNvPr id="45" name="Text 43"/>
          <p:cNvSpPr txBox="1"/>
          <p:nvPr/>
        </p:nvSpPr>
        <p:spPr>
          <a:xfrm>
            <a:off x="6812280" y="3218688"/>
            <a:ext cx="2057400" cy="237744"/>
          </a:xfrm>
          <a:prstGeom prst="rect">
            <a:avLst/>
          </a:prstGeom>
          <a:noFill/>
          <a:ln/>
        </p:spPr>
        <p:txBody>
          <a:bodyPr wrap="square" lIns="0" tIns="0" rIns="0" bIns="0" rtlCol="0" anchor="ctr"/>
          <a:lstStyle/>
          <a:p>
            <a:pPr marL="0" indent="0" algn="ctr">
              <a:buNone/>
            </a:pPr>
            <a:r>
              <a:rPr lang="en-US" sz="800" i="1" dirty="0">
                <a:solidFill>
                  <a:srgbClr val="5E6D7D"/>
                </a:solidFill>
                <a:latin typeface="Calibri" pitchFamily="34" charset="0"/>
                <a:ea typeface="Calibri" pitchFamily="34" charset="-122"/>
                <a:cs typeface="Calibri" pitchFamily="34" charset="-120"/>
              </a:rPr>
              <a:t>7 min</a:t>
            </a:r>
            <a:endParaRPr lang="en-US" sz="800" dirty="0"/>
          </a:p>
        </p:txBody>
      </p:sp>
      <p:sp>
        <p:nvSpPr>
          <p:cNvPr id="46" name="Shape 44"/>
          <p:cNvSpPr/>
          <p:nvPr/>
        </p:nvSpPr>
        <p:spPr>
          <a:xfrm>
            <a:off x="8732520" y="3511296"/>
            <a:ext cx="274320" cy="274320"/>
          </a:xfrm>
          <a:prstGeom prst="ellipse">
            <a:avLst/>
          </a:prstGeom>
          <a:solidFill>
            <a:srgbClr val="FFFFFF"/>
          </a:solidFill>
          <a:ln w="19050">
            <a:solidFill>
              <a:srgbClr val="5E6D7D"/>
            </a:solidFill>
            <a:prstDash val="solid"/>
          </a:ln>
        </p:spPr>
      </p:sp>
      <p:sp>
        <p:nvSpPr>
          <p:cNvPr id="47" name="Text 45"/>
          <p:cNvSpPr txBox="1"/>
          <p:nvPr/>
        </p:nvSpPr>
        <p:spPr>
          <a:xfrm>
            <a:off x="8732520" y="3511296"/>
            <a:ext cx="274320" cy="274320"/>
          </a:xfrm>
          <a:prstGeom prst="rect">
            <a:avLst/>
          </a:prstGeom>
          <a:noFill/>
          <a:ln/>
        </p:spPr>
        <p:txBody>
          <a:bodyPr wrap="square" lIns="0" tIns="0" rIns="0" bIns="0" rtlCol="0" anchor="ctr"/>
          <a:lstStyle/>
          <a:p>
            <a:pPr marL="0" indent="0" algn="ctr">
              <a:buNone/>
            </a:pPr>
            <a:r>
              <a:rPr lang="en-US" sz="850" b="1" dirty="0">
                <a:solidFill>
                  <a:srgbClr val="5E6D7D"/>
                </a:solidFill>
                <a:latin typeface="Arial" pitchFamily="34" charset="0"/>
                <a:ea typeface="Arial" pitchFamily="34" charset="-122"/>
                <a:cs typeface="Arial" pitchFamily="34" charset="-120"/>
              </a:rPr>
              <a:t>3</a:t>
            </a:r>
            <a:endParaRPr lang="en-US" sz="850" dirty="0"/>
          </a:p>
        </p:txBody>
      </p:sp>
      <p:sp>
        <p:nvSpPr>
          <p:cNvPr id="48" name="Text 46"/>
          <p:cNvSpPr txBox="1"/>
          <p:nvPr/>
        </p:nvSpPr>
        <p:spPr>
          <a:xfrm>
            <a:off x="8183880" y="3840480"/>
            <a:ext cx="1371600" cy="384048"/>
          </a:xfrm>
          <a:prstGeom prst="rect">
            <a:avLst/>
          </a:prstGeom>
          <a:noFill/>
          <a:ln/>
        </p:spPr>
        <p:txBody>
          <a:bodyPr wrap="square" lIns="0" tIns="0" rIns="0" bIns="0" rtlCol="0" anchor="t"/>
          <a:lstStyle/>
          <a:p>
            <a:pPr marL="0" indent="0" algn="ctr">
              <a:buNone/>
            </a:pPr>
            <a:r>
              <a:rPr lang="en-US" sz="900" dirty="0">
                <a:solidFill>
                  <a:srgbClr val="16202B"/>
                </a:solidFill>
                <a:latin typeface="Calibri" pitchFamily="34" charset="0"/>
                <a:ea typeface="Calibri" pitchFamily="34" charset="-122"/>
                <a:cs typeface="Calibri" pitchFamily="34" charset="-120"/>
              </a:rPr>
              <a:t>Steel Melt Shop</a:t>
            </a:r>
            <a:endParaRPr lang="en-US" sz="900" dirty="0"/>
          </a:p>
        </p:txBody>
      </p:sp>
      <p:sp>
        <p:nvSpPr>
          <p:cNvPr id="49" name="Text 47"/>
          <p:cNvSpPr txBox="1"/>
          <p:nvPr/>
        </p:nvSpPr>
        <p:spPr>
          <a:xfrm>
            <a:off x="8869680" y="3218688"/>
            <a:ext cx="2057400" cy="237744"/>
          </a:xfrm>
          <a:prstGeom prst="rect">
            <a:avLst/>
          </a:prstGeom>
          <a:noFill/>
          <a:ln/>
        </p:spPr>
        <p:txBody>
          <a:bodyPr wrap="square" lIns="0" tIns="0" rIns="0" bIns="0" rtlCol="0" anchor="ctr"/>
          <a:lstStyle/>
          <a:p>
            <a:pPr marL="0" indent="0" algn="ctr">
              <a:buNone/>
            </a:pPr>
            <a:r>
              <a:rPr lang="en-US" sz="800" i="1" dirty="0">
                <a:solidFill>
                  <a:srgbClr val="5E6D7D"/>
                </a:solidFill>
                <a:latin typeface="Calibri" pitchFamily="34" charset="0"/>
                <a:ea typeface="Calibri" pitchFamily="34" charset="-122"/>
                <a:cs typeface="Calibri" pitchFamily="34" charset="-120"/>
              </a:rPr>
              <a:t>6 min</a:t>
            </a:r>
            <a:endParaRPr lang="en-US" sz="800" dirty="0"/>
          </a:p>
        </p:txBody>
      </p:sp>
      <p:sp>
        <p:nvSpPr>
          <p:cNvPr id="50" name="Shape 48"/>
          <p:cNvSpPr/>
          <p:nvPr/>
        </p:nvSpPr>
        <p:spPr>
          <a:xfrm>
            <a:off x="10789920" y="3511296"/>
            <a:ext cx="274320" cy="274320"/>
          </a:xfrm>
          <a:prstGeom prst="ellipse">
            <a:avLst/>
          </a:prstGeom>
          <a:solidFill>
            <a:srgbClr val="00A896"/>
          </a:solidFill>
          <a:ln w="19050">
            <a:solidFill>
              <a:srgbClr val="00A896"/>
            </a:solidFill>
            <a:prstDash val="solid"/>
          </a:ln>
        </p:spPr>
      </p:sp>
      <p:sp>
        <p:nvSpPr>
          <p:cNvPr id="51" name="Text 49"/>
          <p:cNvSpPr txBox="1"/>
          <p:nvPr/>
        </p:nvSpPr>
        <p:spPr>
          <a:xfrm>
            <a:off x="10789920" y="3511296"/>
            <a:ext cx="27432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52" name="Text 50"/>
          <p:cNvSpPr txBox="1"/>
          <p:nvPr/>
        </p:nvSpPr>
        <p:spPr>
          <a:xfrm>
            <a:off x="10241280" y="3840480"/>
            <a:ext cx="1371600" cy="384048"/>
          </a:xfrm>
          <a:prstGeom prst="rect">
            <a:avLst/>
          </a:prstGeom>
          <a:noFill/>
          <a:ln/>
        </p:spPr>
        <p:txBody>
          <a:bodyPr wrap="square" lIns="0" tIns="0" rIns="0" bIns="0" rtlCol="0" anchor="t"/>
          <a:lstStyle/>
          <a:p>
            <a:pPr marL="0" indent="0" algn="ctr">
              <a:buNone/>
            </a:pPr>
            <a:r>
              <a:rPr lang="en-US" sz="900" dirty="0">
                <a:solidFill>
                  <a:srgbClr val="16202B"/>
                </a:solidFill>
                <a:latin typeface="Calibri" pitchFamily="34" charset="0"/>
                <a:ea typeface="Calibri" pitchFamily="34" charset="-122"/>
                <a:cs typeface="Calibri" pitchFamily="34" charset="-120"/>
              </a:rPr>
              <a:t>Hot Strip Mill</a:t>
            </a:r>
            <a:endParaRPr lang="en-US" sz="900" dirty="0"/>
          </a:p>
        </p:txBody>
      </p:sp>
      <p:sp>
        <p:nvSpPr>
          <p:cNvPr id="53" name="Shape 51"/>
          <p:cNvSpPr/>
          <p:nvPr/>
        </p:nvSpPr>
        <p:spPr>
          <a:xfrm>
            <a:off x="566928" y="4462272"/>
            <a:ext cx="11057839" cy="1133856"/>
          </a:xfrm>
          <a:prstGeom prst="roundRect">
            <a:avLst>
              <a:gd name="adj" fmla="val 9677"/>
            </a:avLst>
          </a:prstGeom>
          <a:solidFill>
            <a:srgbClr val="FFFFFF"/>
          </a:solidFill>
          <a:ln w="12700">
            <a:solidFill>
              <a:srgbClr val="DCE4EC"/>
            </a:solidFill>
            <a:prstDash val="solid"/>
          </a:ln>
        </p:spPr>
      </p:sp>
      <p:sp>
        <p:nvSpPr>
          <p:cNvPr id="54" name="Shape 52"/>
          <p:cNvSpPr/>
          <p:nvPr/>
        </p:nvSpPr>
        <p:spPr>
          <a:xfrm>
            <a:off x="804672" y="4727448"/>
            <a:ext cx="603504" cy="603504"/>
          </a:xfrm>
          <a:prstGeom prst="roundRect">
            <a:avLst>
              <a:gd name="adj" fmla="val 18182"/>
            </a:avLst>
          </a:prstGeom>
          <a:solidFill>
            <a:srgbClr val="0E141B"/>
          </a:solidFill>
          <a:ln/>
        </p:spPr>
      </p:sp>
      <p:sp>
        <p:nvSpPr>
          <p:cNvPr id="55" name="Text 53"/>
          <p:cNvSpPr txBox="1"/>
          <p:nvPr/>
        </p:nvSpPr>
        <p:spPr>
          <a:xfrm>
            <a:off x="804672" y="4727448"/>
            <a:ext cx="603504" cy="603504"/>
          </a:xfrm>
          <a:prstGeom prst="rect">
            <a:avLst/>
          </a:prstGeom>
          <a:noFill/>
          <a:ln/>
        </p:spPr>
        <p:txBody>
          <a:bodyPr wrap="square" lIns="0" tIns="0" rIns="0" bIns="0" rtlCol="0" anchor="ctr"/>
          <a:lstStyle/>
          <a:p>
            <a:pPr marL="0" indent="0" algn="ctr">
              <a:buNone/>
            </a:pPr>
            <a:r>
              <a:rPr lang="en-US" sz="1700" b="1" dirty="0">
                <a:solidFill>
                  <a:srgbClr val="FF9E5E"/>
                </a:solidFill>
                <a:latin typeface="Arial" pitchFamily="34" charset="0"/>
                <a:ea typeface="Arial" pitchFamily="34" charset="-122"/>
                <a:cs typeface="Arial" pitchFamily="34" charset="-120"/>
              </a:rPr>
              <a:t>R3</a:t>
            </a:r>
            <a:endParaRPr lang="en-US" sz="1700" dirty="0"/>
          </a:p>
        </p:txBody>
      </p:sp>
      <p:sp>
        <p:nvSpPr>
          <p:cNvPr id="56" name="Text 54"/>
          <p:cNvSpPr txBox="1"/>
          <p:nvPr/>
        </p:nvSpPr>
        <p:spPr>
          <a:xfrm>
            <a:off x="1517904" y="4700016"/>
            <a:ext cx="2926080" cy="27432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Route 3  ·  Township link</a:t>
            </a:r>
            <a:endParaRPr lang="en-US" sz="1300" dirty="0"/>
          </a:p>
        </p:txBody>
      </p:sp>
      <p:sp>
        <p:nvSpPr>
          <p:cNvPr id="57" name="Text 55"/>
          <p:cNvSpPr txBox="1"/>
          <p:nvPr/>
        </p:nvSpPr>
        <p:spPr>
          <a:xfrm>
            <a:off x="1517904" y="4992624"/>
            <a:ext cx="2926080" cy="402336"/>
          </a:xfrm>
          <a:prstGeom prst="rect">
            <a:avLst/>
          </a:prstGeom>
          <a:noFill/>
          <a:ln/>
        </p:spPr>
        <p:txBody>
          <a:bodyPr wrap="square" lIns="0" tIns="0" rIns="0" bIns="0" rtlCol="0" anchor="t"/>
          <a:lstStyle/>
          <a:p>
            <a:pPr marL="0" indent="0">
              <a:lnSpc>
                <a:spcPts val="1300"/>
              </a:lnSpc>
              <a:buNone/>
            </a:pPr>
            <a:r>
              <a:rPr lang="en-US" sz="950" dirty="0">
                <a:solidFill>
                  <a:srgbClr val="5E6D7D"/>
                </a:solidFill>
                <a:latin typeface="Calibri" pitchFamily="34" charset="0"/>
                <a:ea typeface="Calibri" pitchFamily="34" charset="-122"/>
                <a:cs typeface="Calibri" pitchFamily="34" charset="-120"/>
              </a:rPr>
              <a:t>5 stops  ·  21 min one way  ·  all three shifts</a:t>
            </a:r>
            <a:endParaRPr lang="en-US" sz="950" dirty="0"/>
          </a:p>
        </p:txBody>
      </p:sp>
      <p:sp>
        <p:nvSpPr>
          <p:cNvPr id="58" name="Shape 56"/>
          <p:cNvSpPr/>
          <p:nvPr/>
        </p:nvSpPr>
        <p:spPr>
          <a:xfrm>
            <a:off x="4754880" y="4951476"/>
            <a:ext cx="6172200" cy="27432"/>
          </a:xfrm>
          <a:prstGeom prst="rect">
            <a:avLst/>
          </a:prstGeom>
          <a:solidFill>
            <a:srgbClr val="DCE4EC"/>
          </a:solidFill>
          <a:ln/>
        </p:spPr>
      </p:sp>
      <p:sp>
        <p:nvSpPr>
          <p:cNvPr id="59" name="Shape 57"/>
          <p:cNvSpPr/>
          <p:nvPr/>
        </p:nvSpPr>
        <p:spPr>
          <a:xfrm>
            <a:off x="4617720" y="4828032"/>
            <a:ext cx="274320" cy="274320"/>
          </a:xfrm>
          <a:prstGeom prst="ellipse">
            <a:avLst/>
          </a:prstGeom>
          <a:solidFill>
            <a:srgbClr val="E85D04"/>
          </a:solidFill>
          <a:ln w="19050">
            <a:solidFill>
              <a:srgbClr val="E85D04"/>
            </a:solidFill>
            <a:prstDash val="solid"/>
          </a:ln>
        </p:spPr>
      </p:sp>
      <p:sp>
        <p:nvSpPr>
          <p:cNvPr id="60" name="Text 58"/>
          <p:cNvSpPr txBox="1"/>
          <p:nvPr/>
        </p:nvSpPr>
        <p:spPr>
          <a:xfrm>
            <a:off x="4617720" y="4828032"/>
            <a:ext cx="27432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61" name="Text 59"/>
          <p:cNvSpPr txBox="1"/>
          <p:nvPr/>
        </p:nvSpPr>
        <p:spPr>
          <a:xfrm>
            <a:off x="4069080" y="5157216"/>
            <a:ext cx="1371600" cy="384048"/>
          </a:xfrm>
          <a:prstGeom prst="rect">
            <a:avLst/>
          </a:prstGeom>
          <a:noFill/>
          <a:ln/>
        </p:spPr>
        <p:txBody>
          <a:bodyPr wrap="square" lIns="0" tIns="0" rIns="0" bIns="0" rtlCol="0" anchor="t"/>
          <a:lstStyle/>
          <a:p>
            <a:pPr marL="0" indent="0" algn="ctr">
              <a:buNone/>
            </a:pPr>
            <a:r>
              <a:rPr lang="en-US" sz="900" dirty="0">
                <a:solidFill>
                  <a:srgbClr val="16202B"/>
                </a:solidFill>
                <a:latin typeface="Calibri" pitchFamily="34" charset="0"/>
                <a:ea typeface="Calibri" pitchFamily="34" charset="-122"/>
                <a:cs typeface="Calibri" pitchFamily="34" charset="-120"/>
              </a:rPr>
              <a:t>Township</a:t>
            </a:r>
            <a:endParaRPr lang="en-US" sz="900" dirty="0"/>
          </a:p>
        </p:txBody>
      </p:sp>
      <p:sp>
        <p:nvSpPr>
          <p:cNvPr id="62" name="Text 60"/>
          <p:cNvSpPr txBox="1"/>
          <p:nvPr/>
        </p:nvSpPr>
        <p:spPr>
          <a:xfrm>
            <a:off x="4754880" y="4535424"/>
            <a:ext cx="1543050" cy="237744"/>
          </a:xfrm>
          <a:prstGeom prst="rect">
            <a:avLst/>
          </a:prstGeom>
          <a:noFill/>
          <a:ln/>
        </p:spPr>
        <p:txBody>
          <a:bodyPr wrap="square" lIns="0" tIns="0" rIns="0" bIns="0" rtlCol="0" anchor="ctr"/>
          <a:lstStyle/>
          <a:p>
            <a:pPr marL="0" indent="0" algn="ctr">
              <a:buNone/>
            </a:pPr>
            <a:r>
              <a:rPr lang="en-US" sz="800" i="1" dirty="0">
                <a:solidFill>
                  <a:srgbClr val="5E6D7D"/>
                </a:solidFill>
                <a:latin typeface="Calibri" pitchFamily="34" charset="0"/>
                <a:ea typeface="Calibri" pitchFamily="34" charset="-122"/>
                <a:cs typeface="Calibri" pitchFamily="34" charset="-120"/>
              </a:rPr>
              <a:t>8 min</a:t>
            </a:r>
            <a:endParaRPr lang="en-US" sz="800" dirty="0"/>
          </a:p>
        </p:txBody>
      </p:sp>
      <p:sp>
        <p:nvSpPr>
          <p:cNvPr id="63" name="Shape 61"/>
          <p:cNvSpPr/>
          <p:nvPr/>
        </p:nvSpPr>
        <p:spPr>
          <a:xfrm>
            <a:off x="6160770" y="4828032"/>
            <a:ext cx="274320" cy="274320"/>
          </a:xfrm>
          <a:prstGeom prst="ellipse">
            <a:avLst/>
          </a:prstGeom>
          <a:solidFill>
            <a:srgbClr val="FFFFFF"/>
          </a:solidFill>
          <a:ln w="19050">
            <a:solidFill>
              <a:srgbClr val="5E6D7D"/>
            </a:solidFill>
            <a:prstDash val="solid"/>
          </a:ln>
        </p:spPr>
      </p:sp>
      <p:sp>
        <p:nvSpPr>
          <p:cNvPr id="64" name="Text 62"/>
          <p:cNvSpPr txBox="1"/>
          <p:nvPr/>
        </p:nvSpPr>
        <p:spPr>
          <a:xfrm>
            <a:off x="6160770" y="4828032"/>
            <a:ext cx="274320" cy="274320"/>
          </a:xfrm>
          <a:prstGeom prst="rect">
            <a:avLst/>
          </a:prstGeom>
          <a:noFill/>
          <a:ln/>
        </p:spPr>
        <p:txBody>
          <a:bodyPr wrap="square" lIns="0" tIns="0" rIns="0" bIns="0" rtlCol="0" anchor="ctr"/>
          <a:lstStyle/>
          <a:p>
            <a:pPr marL="0" indent="0" algn="ctr">
              <a:buNone/>
            </a:pPr>
            <a:r>
              <a:rPr lang="en-US" sz="850" b="1" dirty="0">
                <a:solidFill>
                  <a:srgbClr val="5E6D7D"/>
                </a:solidFill>
                <a:latin typeface="Arial" pitchFamily="34" charset="0"/>
                <a:ea typeface="Arial" pitchFamily="34" charset="-122"/>
                <a:cs typeface="Arial" pitchFamily="34" charset="-120"/>
              </a:rPr>
              <a:t>2</a:t>
            </a:r>
            <a:endParaRPr lang="en-US" sz="850" dirty="0"/>
          </a:p>
        </p:txBody>
      </p:sp>
      <p:sp>
        <p:nvSpPr>
          <p:cNvPr id="65" name="Text 63"/>
          <p:cNvSpPr txBox="1"/>
          <p:nvPr/>
        </p:nvSpPr>
        <p:spPr>
          <a:xfrm>
            <a:off x="5612130" y="5157216"/>
            <a:ext cx="1371600" cy="384048"/>
          </a:xfrm>
          <a:prstGeom prst="rect">
            <a:avLst/>
          </a:prstGeom>
          <a:noFill/>
          <a:ln/>
        </p:spPr>
        <p:txBody>
          <a:bodyPr wrap="square" lIns="0" tIns="0" rIns="0" bIns="0" rtlCol="0" anchor="t"/>
          <a:lstStyle/>
          <a:p>
            <a:pPr marL="0" indent="0" algn="ctr">
              <a:buNone/>
            </a:pPr>
            <a:r>
              <a:rPr lang="en-US" sz="900" dirty="0">
                <a:solidFill>
                  <a:srgbClr val="16202B"/>
                </a:solidFill>
                <a:latin typeface="Calibri" pitchFamily="34" charset="0"/>
                <a:ea typeface="Calibri" pitchFamily="34" charset="-122"/>
                <a:cs typeface="Calibri" pitchFamily="34" charset="-120"/>
              </a:rPr>
              <a:t>Gate 5</a:t>
            </a:r>
            <a:endParaRPr lang="en-US" sz="900" dirty="0"/>
          </a:p>
        </p:txBody>
      </p:sp>
      <p:sp>
        <p:nvSpPr>
          <p:cNvPr id="66" name="Text 64"/>
          <p:cNvSpPr txBox="1"/>
          <p:nvPr/>
        </p:nvSpPr>
        <p:spPr>
          <a:xfrm>
            <a:off x="6297930" y="4535424"/>
            <a:ext cx="1543050" cy="237744"/>
          </a:xfrm>
          <a:prstGeom prst="rect">
            <a:avLst/>
          </a:prstGeom>
          <a:noFill/>
          <a:ln/>
        </p:spPr>
        <p:txBody>
          <a:bodyPr wrap="square" lIns="0" tIns="0" rIns="0" bIns="0" rtlCol="0" anchor="ctr"/>
          <a:lstStyle/>
          <a:p>
            <a:pPr marL="0" indent="0" algn="ctr">
              <a:buNone/>
            </a:pPr>
            <a:r>
              <a:rPr lang="en-US" sz="800" i="1" dirty="0">
                <a:solidFill>
                  <a:srgbClr val="5E6D7D"/>
                </a:solidFill>
                <a:latin typeface="Calibri" pitchFamily="34" charset="0"/>
                <a:ea typeface="Calibri" pitchFamily="34" charset="-122"/>
                <a:cs typeface="Calibri" pitchFamily="34" charset="-120"/>
              </a:rPr>
              <a:t>4 min</a:t>
            </a:r>
            <a:endParaRPr lang="en-US" sz="800" dirty="0"/>
          </a:p>
        </p:txBody>
      </p:sp>
      <p:sp>
        <p:nvSpPr>
          <p:cNvPr id="67" name="Shape 65"/>
          <p:cNvSpPr/>
          <p:nvPr/>
        </p:nvSpPr>
        <p:spPr>
          <a:xfrm>
            <a:off x="7703820" y="4828032"/>
            <a:ext cx="274320" cy="274320"/>
          </a:xfrm>
          <a:prstGeom prst="ellipse">
            <a:avLst/>
          </a:prstGeom>
          <a:solidFill>
            <a:srgbClr val="FFFFFF"/>
          </a:solidFill>
          <a:ln w="19050">
            <a:solidFill>
              <a:srgbClr val="5E6D7D"/>
            </a:solidFill>
            <a:prstDash val="solid"/>
          </a:ln>
        </p:spPr>
      </p:sp>
      <p:sp>
        <p:nvSpPr>
          <p:cNvPr id="68" name="Text 66"/>
          <p:cNvSpPr txBox="1"/>
          <p:nvPr/>
        </p:nvSpPr>
        <p:spPr>
          <a:xfrm>
            <a:off x="7703820" y="4828032"/>
            <a:ext cx="274320" cy="274320"/>
          </a:xfrm>
          <a:prstGeom prst="rect">
            <a:avLst/>
          </a:prstGeom>
          <a:noFill/>
          <a:ln/>
        </p:spPr>
        <p:txBody>
          <a:bodyPr wrap="square" lIns="0" tIns="0" rIns="0" bIns="0" rtlCol="0" anchor="ctr"/>
          <a:lstStyle/>
          <a:p>
            <a:pPr marL="0" indent="0" algn="ctr">
              <a:buNone/>
            </a:pPr>
            <a:r>
              <a:rPr lang="en-US" sz="850" b="1" dirty="0">
                <a:solidFill>
                  <a:srgbClr val="5E6D7D"/>
                </a:solidFill>
                <a:latin typeface="Arial" pitchFamily="34" charset="0"/>
                <a:ea typeface="Arial" pitchFamily="34" charset="-122"/>
                <a:cs typeface="Arial" pitchFamily="34" charset="-120"/>
              </a:rPr>
              <a:t>3</a:t>
            </a:r>
            <a:endParaRPr lang="en-US" sz="850" dirty="0"/>
          </a:p>
        </p:txBody>
      </p:sp>
      <p:sp>
        <p:nvSpPr>
          <p:cNvPr id="69" name="Text 67"/>
          <p:cNvSpPr txBox="1"/>
          <p:nvPr/>
        </p:nvSpPr>
        <p:spPr>
          <a:xfrm>
            <a:off x="7155180" y="5157216"/>
            <a:ext cx="1371600" cy="384048"/>
          </a:xfrm>
          <a:prstGeom prst="rect">
            <a:avLst/>
          </a:prstGeom>
          <a:noFill/>
          <a:ln/>
        </p:spPr>
        <p:txBody>
          <a:bodyPr wrap="square" lIns="0" tIns="0" rIns="0" bIns="0" rtlCol="0" anchor="t"/>
          <a:lstStyle/>
          <a:p>
            <a:pPr marL="0" indent="0" algn="ctr">
              <a:buNone/>
            </a:pPr>
            <a:r>
              <a:rPr lang="en-US" sz="900" dirty="0">
                <a:solidFill>
                  <a:srgbClr val="16202B"/>
                </a:solidFill>
                <a:latin typeface="Calibri" pitchFamily="34" charset="0"/>
                <a:ea typeface="Calibri" pitchFamily="34" charset="-122"/>
                <a:cs typeface="Calibri" pitchFamily="34" charset="-120"/>
              </a:rPr>
              <a:t>Power Plant</a:t>
            </a:r>
            <a:endParaRPr lang="en-US" sz="900" dirty="0"/>
          </a:p>
        </p:txBody>
      </p:sp>
      <p:sp>
        <p:nvSpPr>
          <p:cNvPr id="70" name="Text 68"/>
          <p:cNvSpPr txBox="1"/>
          <p:nvPr/>
        </p:nvSpPr>
        <p:spPr>
          <a:xfrm>
            <a:off x="7840980" y="4535424"/>
            <a:ext cx="1543050" cy="237744"/>
          </a:xfrm>
          <a:prstGeom prst="rect">
            <a:avLst/>
          </a:prstGeom>
          <a:noFill/>
          <a:ln/>
        </p:spPr>
        <p:txBody>
          <a:bodyPr wrap="square" lIns="0" tIns="0" rIns="0" bIns="0" rtlCol="0" anchor="ctr"/>
          <a:lstStyle/>
          <a:p>
            <a:pPr marL="0" indent="0" algn="ctr">
              <a:buNone/>
            </a:pPr>
            <a:r>
              <a:rPr lang="en-US" sz="800" i="1" dirty="0">
                <a:solidFill>
                  <a:srgbClr val="5E6D7D"/>
                </a:solidFill>
                <a:latin typeface="Calibri" pitchFamily="34" charset="0"/>
                <a:ea typeface="Calibri" pitchFamily="34" charset="-122"/>
                <a:cs typeface="Calibri" pitchFamily="34" charset="-120"/>
              </a:rPr>
              <a:t>5 min</a:t>
            </a:r>
            <a:endParaRPr lang="en-US" sz="800" dirty="0"/>
          </a:p>
        </p:txBody>
      </p:sp>
      <p:sp>
        <p:nvSpPr>
          <p:cNvPr id="71" name="Shape 69"/>
          <p:cNvSpPr/>
          <p:nvPr/>
        </p:nvSpPr>
        <p:spPr>
          <a:xfrm>
            <a:off x="9246870" y="4828032"/>
            <a:ext cx="274320" cy="274320"/>
          </a:xfrm>
          <a:prstGeom prst="ellipse">
            <a:avLst/>
          </a:prstGeom>
          <a:solidFill>
            <a:srgbClr val="FFFFFF"/>
          </a:solidFill>
          <a:ln w="19050">
            <a:solidFill>
              <a:srgbClr val="5E6D7D"/>
            </a:solidFill>
            <a:prstDash val="solid"/>
          </a:ln>
        </p:spPr>
      </p:sp>
      <p:sp>
        <p:nvSpPr>
          <p:cNvPr id="72" name="Text 70"/>
          <p:cNvSpPr txBox="1"/>
          <p:nvPr/>
        </p:nvSpPr>
        <p:spPr>
          <a:xfrm>
            <a:off x="9246870" y="4828032"/>
            <a:ext cx="274320" cy="274320"/>
          </a:xfrm>
          <a:prstGeom prst="rect">
            <a:avLst/>
          </a:prstGeom>
          <a:noFill/>
          <a:ln/>
        </p:spPr>
        <p:txBody>
          <a:bodyPr wrap="square" lIns="0" tIns="0" rIns="0" bIns="0" rtlCol="0" anchor="ctr"/>
          <a:lstStyle/>
          <a:p>
            <a:pPr marL="0" indent="0" algn="ctr">
              <a:buNone/>
            </a:pPr>
            <a:r>
              <a:rPr lang="en-US" sz="850" b="1" dirty="0">
                <a:solidFill>
                  <a:srgbClr val="5E6D7D"/>
                </a:solidFill>
                <a:latin typeface="Arial" pitchFamily="34" charset="0"/>
                <a:ea typeface="Arial" pitchFamily="34" charset="-122"/>
                <a:cs typeface="Arial" pitchFamily="34" charset="-120"/>
              </a:rPr>
              <a:t>4</a:t>
            </a:r>
            <a:endParaRPr lang="en-US" sz="850" dirty="0"/>
          </a:p>
        </p:txBody>
      </p:sp>
      <p:sp>
        <p:nvSpPr>
          <p:cNvPr id="73" name="Text 71"/>
          <p:cNvSpPr txBox="1"/>
          <p:nvPr/>
        </p:nvSpPr>
        <p:spPr>
          <a:xfrm>
            <a:off x="8698230" y="5157216"/>
            <a:ext cx="1371600" cy="384048"/>
          </a:xfrm>
          <a:prstGeom prst="rect">
            <a:avLst/>
          </a:prstGeom>
          <a:noFill/>
          <a:ln/>
        </p:spPr>
        <p:txBody>
          <a:bodyPr wrap="square" lIns="0" tIns="0" rIns="0" bIns="0" rtlCol="0" anchor="t"/>
          <a:lstStyle/>
          <a:p>
            <a:pPr marL="0" indent="0" algn="ctr">
              <a:buNone/>
            </a:pPr>
            <a:r>
              <a:rPr lang="en-US" sz="900" dirty="0">
                <a:solidFill>
                  <a:srgbClr val="16202B"/>
                </a:solidFill>
                <a:latin typeface="Calibri" pitchFamily="34" charset="0"/>
                <a:ea typeface="Calibri" pitchFamily="34" charset="-122"/>
                <a:cs typeface="Calibri" pitchFamily="34" charset="-120"/>
              </a:rPr>
              <a:t>Rolling Mill</a:t>
            </a:r>
            <a:endParaRPr lang="en-US" sz="900" dirty="0"/>
          </a:p>
        </p:txBody>
      </p:sp>
      <p:sp>
        <p:nvSpPr>
          <p:cNvPr id="74" name="Text 72"/>
          <p:cNvSpPr txBox="1"/>
          <p:nvPr/>
        </p:nvSpPr>
        <p:spPr>
          <a:xfrm>
            <a:off x="9384030" y="4535424"/>
            <a:ext cx="1543050" cy="237744"/>
          </a:xfrm>
          <a:prstGeom prst="rect">
            <a:avLst/>
          </a:prstGeom>
          <a:noFill/>
          <a:ln/>
        </p:spPr>
        <p:txBody>
          <a:bodyPr wrap="square" lIns="0" tIns="0" rIns="0" bIns="0" rtlCol="0" anchor="ctr"/>
          <a:lstStyle/>
          <a:p>
            <a:pPr marL="0" indent="0" algn="ctr">
              <a:buNone/>
            </a:pPr>
            <a:r>
              <a:rPr lang="en-US" sz="800" i="1" dirty="0">
                <a:solidFill>
                  <a:srgbClr val="5E6D7D"/>
                </a:solidFill>
                <a:latin typeface="Calibri" pitchFamily="34" charset="0"/>
                <a:ea typeface="Calibri" pitchFamily="34" charset="-122"/>
                <a:cs typeface="Calibri" pitchFamily="34" charset="-120"/>
              </a:rPr>
              <a:t>4 min</a:t>
            </a:r>
            <a:endParaRPr lang="en-US" sz="800" dirty="0"/>
          </a:p>
        </p:txBody>
      </p:sp>
      <p:sp>
        <p:nvSpPr>
          <p:cNvPr id="75" name="Shape 73"/>
          <p:cNvSpPr/>
          <p:nvPr/>
        </p:nvSpPr>
        <p:spPr>
          <a:xfrm>
            <a:off x="10789920" y="4828032"/>
            <a:ext cx="274320" cy="274320"/>
          </a:xfrm>
          <a:prstGeom prst="ellipse">
            <a:avLst/>
          </a:prstGeom>
          <a:solidFill>
            <a:srgbClr val="00A896"/>
          </a:solidFill>
          <a:ln w="19050">
            <a:solidFill>
              <a:srgbClr val="00A896"/>
            </a:solidFill>
            <a:prstDash val="solid"/>
          </a:ln>
        </p:spPr>
      </p:sp>
      <p:sp>
        <p:nvSpPr>
          <p:cNvPr id="76" name="Text 74"/>
          <p:cNvSpPr txBox="1"/>
          <p:nvPr/>
        </p:nvSpPr>
        <p:spPr>
          <a:xfrm>
            <a:off x="10789920" y="4828032"/>
            <a:ext cx="27432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5</a:t>
            </a:r>
            <a:endParaRPr lang="en-US" sz="850" dirty="0"/>
          </a:p>
        </p:txBody>
      </p:sp>
      <p:sp>
        <p:nvSpPr>
          <p:cNvPr id="77" name="Text 75"/>
          <p:cNvSpPr txBox="1"/>
          <p:nvPr/>
        </p:nvSpPr>
        <p:spPr>
          <a:xfrm>
            <a:off x="10241280" y="5157216"/>
            <a:ext cx="1371600" cy="384048"/>
          </a:xfrm>
          <a:prstGeom prst="rect">
            <a:avLst/>
          </a:prstGeom>
          <a:noFill/>
          <a:ln/>
        </p:spPr>
        <p:txBody>
          <a:bodyPr wrap="square" lIns="0" tIns="0" rIns="0" bIns="0" rtlCol="0" anchor="t"/>
          <a:lstStyle/>
          <a:p>
            <a:pPr marL="0" indent="0" algn="ctr">
              <a:buNone/>
            </a:pPr>
            <a:r>
              <a:rPr lang="en-US" sz="900" dirty="0">
                <a:solidFill>
                  <a:srgbClr val="16202B"/>
                </a:solidFill>
                <a:latin typeface="Calibri" pitchFamily="34" charset="0"/>
                <a:ea typeface="Calibri" pitchFamily="34" charset="-122"/>
                <a:cs typeface="Calibri" pitchFamily="34" charset="-120"/>
              </a:rPr>
              <a:t>Stores</a:t>
            </a:r>
            <a:endParaRPr lang="en-US" sz="900" dirty="0"/>
          </a:p>
        </p:txBody>
      </p:sp>
      <p:sp>
        <p:nvSpPr>
          <p:cNvPr id="78" name="Shape 76"/>
          <p:cNvSpPr/>
          <p:nvPr/>
        </p:nvSpPr>
        <p:spPr>
          <a:xfrm>
            <a:off x="566928" y="5760720"/>
            <a:ext cx="11057839" cy="566928"/>
          </a:xfrm>
          <a:prstGeom prst="roundRect">
            <a:avLst>
              <a:gd name="adj" fmla="val 19355"/>
            </a:avLst>
          </a:prstGeom>
          <a:solidFill>
            <a:srgbClr val="0E141B"/>
          </a:solidFill>
          <a:ln/>
        </p:spPr>
      </p:sp>
      <p:sp>
        <p:nvSpPr>
          <p:cNvPr id="79" name="Text 77"/>
          <p:cNvSpPr txBox="1"/>
          <p:nvPr/>
        </p:nvSpPr>
        <p:spPr>
          <a:xfrm>
            <a:off x="859536" y="5760720"/>
            <a:ext cx="10472623" cy="566928"/>
          </a:xfrm>
          <a:prstGeom prst="rect">
            <a:avLst/>
          </a:prstGeom>
          <a:noFill/>
          <a:ln/>
        </p:spPr>
        <p:txBody>
          <a:bodyPr wrap="square" lIns="0" tIns="0" rIns="0" bIns="0" rtlCol="0" anchor="ctr"/>
          <a:lstStyle/>
          <a:p>
            <a:pPr marL="0" indent="0">
              <a:buNone/>
            </a:pPr>
            <a:r>
              <a:rPr lang="en-US" sz="1100" b="1" dirty="0">
                <a:solidFill>
                  <a:srgbClr val="FF9E5E"/>
                </a:solidFill>
                <a:latin typeface="Arial" pitchFamily="34" charset="0"/>
                <a:ea typeface="Arial" pitchFamily="34" charset="-122"/>
                <a:cs typeface="Arial" pitchFamily="34" charset="-120"/>
              </a:rPr>
              <a:t>Stops, order, leg times and geofences are master data.  </a:t>
            </a:r>
            <a:r>
              <a:rPr lang="en-US" sz="1100" dirty="0">
                <a:solidFill>
                  <a:srgbClr val="FFFFFF"/>
                </a:solidFill>
                <a:latin typeface="Calibri" pitchFamily="34" charset="0"/>
                <a:ea typeface="Calibri" pitchFamily="34" charset="-122"/>
                <a:cs typeface="Calibri" pitchFamily="34" charset="-120"/>
              </a:rPr>
              <a:t>LHS adds or re-sequences a route in the admin screen, with no software release. Stop names shown here are illustrative and set during configuration.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5E6D7D"/>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5E6D7D"/>
                </a:solidFill>
                <a:latin typeface="Arial" pitchFamily="34" charset="0"/>
                <a:ea typeface="Arial" pitchFamily="34" charset="-122"/>
                <a:cs typeface="Arial" pitchFamily="34" charset="-120"/>
              </a:rPr>
              <a:t>09</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OCCUPANCY RULE</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16202B"/>
                </a:solidFill>
                <a:latin typeface="Arial" pitchFamily="34" charset="0"/>
                <a:ea typeface="Arial" pitchFamily="34" charset="-122"/>
                <a:cs typeface="Arial" pitchFamily="34" charset="-120"/>
              </a:rPr>
              <a:t>Maximum 3 passengers per vehicle on pick-up runs</a:t>
            </a:r>
            <a:endParaRPr lang="en-US" sz="3000" dirty="0"/>
          </a:p>
        </p:txBody>
      </p:sp>
      <p:sp>
        <p:nvSpPr>
          <p:cNvPr id="6" name="Shape 4"/>
          <p:cNvSpPr/>
          <p:nvPr/>
        </p:nvSpPr>
        <p:spPr>
          <a:xfrm>
            <a:off x="566928" y="1627632"/>
            <a:ext cx="5532120" cy="1188720"/>
          </a:xfrm>
          <a:prstGeom prst="roundRect">
            <a:avLst>
              <a:gd name="adj" fmla="val 9231"/>
            </a:avLst>
          </a:prstGeom>
          <a:solidFill>
            <a:srgbClr val="0E141B"/>
          </a:solidFill>
          <a:ln/>
        </p:spPr>
      </p:sp>
      <p:sp>
        <p:nvSpPr>
          <p:cNvPr id="7" name="Text 5"/>
          <p:cNvSpPr txBox="1"/>
          <p:nvPr/>
        </p:nvSpPr>
        <p:spPr>
          <a:xfrm>
            <a:off x="877824" y="1700784"/>
            <a:ext cx="4910328" cy="658368"/>
          </a:xfrm>
          <a:prstGeom prst="rect">
            <a:avLst/>
          </a:prstGeom>
          <a:noFill/>
          <a:ln/>
        </p:spPr>
        <p:txBody>
          <a:bodyPr wrap="square" lIns="0" tIns="0" rIns="0" bIns="0" rtlCol="0" anchor="ctr"/>
          <a:lstStyle/>
          <a:p>
            <a:pPr marL="0" indent="0">
              <a:buNone/>
            </a:pPr>
            <a:r>
              <a:rPr lang="en-US" sz="4000" b="1" dirty="0">
                <a:solidFill>
                  <a:srgbClr val="E85D04"/>
                </a:solidFill>
                <a:latin typeface="Arial" pitchFamily="34" charset="0"/>
                <a:ea typeface="Arial" pitchFamily="34" charset="-122"/>
                <a:cs typeface="Arial" pitchFamily="34" charset="-120"/>
              </a:rPr>
              <a:t>3</a:t>
            </a:r>
            <a:r>
              <a:rPr lang="en-US" sz="1800" b="1" dirty="0">
                <a:solidFill>
                  <a:srgbClr val="FFFFFF"/>
                </a:solidFill>
                <a:latin typeface="Arial" pitchFamily="34" charset="0"/>
                <a:ea typeface="Arial" pitchFamily="34" charset="-122"/>
                <a:cs typeface="Arial" pitchFamily="34" charset="-120"/>
              </a:rPr>
              <a:t>  passengers</a:t>
            </a:r>
            <a:r>
              <a:rPr lang="en-US" sz="1300" dirty="0">
                <a:solidFill>
                  <a:srgbClr val="A3B4C4"/>
                </a:solidFill>
                <a:latin typeface="Calibri" pitchFamily="34" charset="0"/>
                <a:ea typeface="Calibri" pitchFamily="34" charset="-122"/>
                <a:cs typeface="Calibri" pitchFamily="34" charset="-120"/>
              </a:rPr>
              <a:t>  max per vehicle</a:t>
            </a:r>
            <a:endParaRPr lang="en-US" sz="4000" dirty="0"/>
          </a:p>
        </p:txBody>
      </p:sp>
      <p:sp>
        <p:nvSpPr>
          <p:cNvPr id="8" name="Text 6"/>
          <p:cNvSpPr txBox="1"/>
          <p:nvPr/>
        </p:nvSpPr>
        <p:spPr>
          <a:xfrm>
            <a:off x="877824" y="2359152"/>
            <a:ext cx="4910328" cy="384048"/>
          </a:xfrm>
          <a:prstGeom prst="rect">
            <a:avLst/>
          </a:prstGeom>
          <a:noFill/>
          <a:ln/>
        </p:spPr>
        <p:txBody>
          <a:bodyPr wrap="square" lIns="0" tIns="0" rIns="0" bIns="0" rtlCol="0" anchor="t"/>
          <a:lstStyle/>
          <a:p>
            <a:pPr marL="0" indent="0">
              <a:lnSpc>
                <a:spcPts val="1400"/>
              </a:lnSpc>
              <a:buNone/>
            </a:pPr>
            <a:r>
              <a:rPr lang="en-US" sz="1050" dirty="0">
                <a:solidFill>
                  <a:srgbClr val="A3B4C4"/>
                </a:solidFill>
                <a:latin typeface="Calibri" pitchFamily="34" charset="0"/>
                <a:ea typeface="Calibri" pitchFamily="34" charset="-122"/>
                <a:cs typeface="Calibri" pitchFamily="34" charset="-120"/>
              </a:rPr>
              <a:t>Applies to pick-up operations across all roads and routes. Shuttle loops and approved exclusive rides carry their own caps.</a:t>
            </a:r>
            <a:endParaRPr lang="en-US" sz="1050" dirty="0"/>
          </a:p>
        </p:txBody>
      </p:sp>
      <p:sp>
        <p:nvSpPr>
          <p:cNvPr id="9" name="Shape 7"/>
          <p:cNvSpPr/>
          <p:nvPr/>
        </p:nvSpPr>
        <p:spPr>
          <a:xfrm>
            <a:off x="566928" y="2962656"/>
            <a:ext cx="5532120" cy="969264"/>
          </a:xfrm>
          <a:prstGeom prst="roundRect">
            <a:avLst>
              <a:gd name="adj" fmla="val 11321"/>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10" name="Shape 8"/>
          <p:cNvSpPr/>
          <p:nvPr/>
        </p:nvSpPr>
        <p:spPr>
          <a:xfrm>
            <a:off x="804672" y="3200400"/>
            <a:ext cx="475488" cy="475488"/>
          </a:xfrm>
          <a:prstGeom prst="ellipse">
            <a:avLst/>
          </a:prstGeom>
          <a:solidFill>
            <a:srgbClr val="FFEDE0"/>
          </a:solidFill>
          <a:ln/>
        </p:spPr>
      </p:sp>
      <p:pic>
        <p:nvPicPr>
          <p:cNvPr id="11" name="Image 0" descr="preencoded.png"/>
          <p:cNvPicPr>
            <a:picLocks noChangeAspect="1"/>
          </p:cNvPicPr>
          <p:nvPr/>
        </p:nvPicPr>
        <p:blipFill>
          <a:blip r:embed="rId3"/>
          <a:stretch>
            <a:fillRect/>
          </a:stretch>
        </p:blipFill>
        <p:spPr>
          <a:xfrm>
            <a:off x="928299" y="3324027"/>
            <a:ext cx="228234" cy="228234"/>
          </a:xfrm>
          <a:prstGeom prst="rect">
            <a:avLst/>
          </a:prstGeom>
        </p:spPr>
      </p:pic>
      <p:sp>
        <p:nvSpPr>
          <p:cNvPr id="12" name="Text 9"/>
          <p:cNvSpPr txBox="1"/>
          <p:nvPr/>
        </p:nvSpPr>
        <p:spPr>
          <a:xfrm>
            <a:off x="1408176" y="3127248"/>
            <a:ext cx="4434840" cy="274320"/>
          </a:xfrm>
          <a:prstGeom prst="rect">
            <a:avLst/>
          </a:prstGeom>
          <a:noFill/>
          <a:ln/>
        </p:spPr>
        <p:txBody>
          <a:bodyPr wrap="square" lIns="0" tIns="0" rIns="0" bIns="0" rtlCol="0" anchor="ctr"/>
          <a:lstStyle/>
          <a:p>
            <a:pPr marL="0" indent="0">
              <a:buNone/>
            </a:pPr>
            <a:r>
              <a:rPr lang="en-US" sz="1250" b="1" dirty="0">
                <a:solidFill>
                  <a:srgbClr val="16202B"/>
                </a:solidFill>
                <a:latin typeface="Arial" pitchFamily="34" charset="0"/>
                <a:ea typeface="Arial" pitchFamily="34" charset="-122"/>
                <a:cs typeface="Arial" pitchFamily="34" charset="-120"/>
              </a:rPr>
              <a:t>Enforced as a hard rule</a:t>
            </a:r>
            <a:endParaRPr lang="en-US" sz="1250" dirty="0"/>
          </a:p>
        </p:txBody>
      </p:sp>
      <p:sp>
        <p:nvSpPr>
          <p:cNvPr id="13" name="Text 10"/>
          <p:cNvSpPr txBox="1"/>
          <p:nvPr/>
        </p:nvSpPr>
        <p:spPr>
          <a:xfrm>
            <a:off x="1408176" y="3419856"/>
            <a:ext cx="4434840" cy="438912"/>
          </a:xfrm>
          <a:prstGeom prst="rect">
            <a:avLst/>
          </a:prstGeom>
          <a:noFill/>
          <a:ln/>
        </p:spPr>
        <p:txBody>
          <a:bodyPr wrap="square" lIns="0" tIns="0" rIns="0" bIns="0" rtlCol="0" anchor="t"/>
          <a:lstStyle/>
          <a:p>
            <a:pPr marL="0" indent="0">
              <a:lnSpc>
                <a:spcPts val="1300"/>
              </a:lnSpc>
              <a:buNone/>
            </a:pPr>
            <a:r>
              <a:rPr lang="en-US" sz="1050" dirty="0">
                <a:solidFill>
                  <a:srgbClr val="5E6D7D"/>
                </a:solidFill>
                <a:latin typeface="Calibri" pitchFamily="34" charset="0"/>
                <a:ea typeface="Calibri" pitchFamily="34" charset="-122"/>
                <a:cs typeface="Calibri" pitchFamily="34" charset="-120"/>
              </a:rPr>
              <a:t>The matching engine drops any cab already carrying 3 riders before scoring begins. A fourth rider is never offered that vehicle.</a:t>
            </a:r>
            <a:endParaRPr lang="en-US" sz="1050" dirty="0"/>
          </a:p>
        </p:txBody>
      </p:sp>
      <p:sp>
        <p:nvSpPr>
          <p:cNvPr id="14" name="Shape 11"/>
          <p:cNvSpPr/>
          <p:nvPr/>
        </p:nvSpPr>
        <p:spPr>
          <a:xfrm>
            <a:off x="566928" y="4059936"/>
            <a:ext cx="5532120" cy="969264"/>
          </a:xfrm>
          <a:prstGeom prst="roundRect">
            <a:avLst>
              <a:gd name="adj" fmla="val 11321"/>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15" name="Shape 12"/>
          <p:cNvSpPr/>
          <p:nvPr/>
        </p:nvSpPr>
        <p:spPr>
          <a:xfrm>
            <a:off x="804672" y="4297680"/>
            <a:ext cx="475488" cy="475488"/>
          </a:xfrm>
          <a:prstGeom prst="ellipse">
            <a:avLst/>
          </a:prstGeom>
          <a:solidFill>
            <a:srgbClr val="FFEDE0"/>
          </a:solidFill>
          <a:ln/>
        </p:spPr>
      </p:sp>
      <p:pic>
        <p:nvPicPr>
          <p:cNvPr id="16" name="Image 1" descr="preencoded.png"/>
          <p:cNvPicPr>
            <a:picLocks noChangeAspect="1"/>
          </p:cNvPicPr>
          <p:nvPr/>
        </p:nvPicPr>
        <p:blipFill>
          <a:blip r:embed="rId4"/>
          <a:stretch>
            <a:fillRect/>
          </a:stretch>
        </p:blipFill>
        <p:spPr>
          <a:xfrm>
            <a:off x="928299" y="4421307"/>
            <a:ext cx="228234" cy="228234"/>
          </a:xfrm>
          <a:prstGeom prst="rect">
            <a:avLst/>
          </a:prstGeom>
        </p:spPr>
      </p:pic>
      <p:sp>
        <p:nvSpPr>
          <p:cNvPr id="17" name="Text 13"/>
          <p:cNvSpPr txBox="1"/>
          <p:nvPr/>
        </p:nvSpPr>
        <p:spPr>
          <a:xfrm>
            <a:off x="1408176" y="4224528"/>
            <a:ext cx="4434840" cy="274320"/>
          </a:xfrm>
          <a:prstGeom prst="rect">
            <a:avLst/>
          </a:prstGeom>
          <a:noFill/>
          <a:ln/>
        </p:spPr>
        <p:txBody>
          <a:bodyPr wrap="square" lIns="0" tIns="0" rIns="0" bIns="0" rtlCol="0" anchor="ctr"/>
          <a:lstStyle/>
          <a:p>
            <a:pPr marL="0" indent="0">
              <a:buNone/>
            </a:pPr>
            <a:r>
              <a:rPr lang="en-US" sz="1250" b="1" dirty="0">
                <a:solidFill>
                  <a:srgbClr val="16202B"/>
                </a:solidFill>
                <a:latin typeface="Arial" pitchFamily="34" charset="0"/>
                <a:ea typeface="Arial" pitchFamily="34" charset="-122"/>
                <a:cs typeface="Arial" pitchFamily="34" charset="-120"/>
              </a:rPr>
              <a:t>Configurable, not hard-coded</a:t>
            </a:r>
            <a:endParaRPr lang="en-US" sz="1250" dirty="0"/>
          </a:p>
        </p:txBody>
      </p:sp>
      <p:sp>
        <p:nvSpPr>
          <p:cNvPr id="18" name="Text 14"/>
          <p:cNvSpPr txBox="1"/>
          <p:nvPr/>
        </p:nvSpPr>
        <p:spPr>
          <a:xfrm>
            <a:off x="1408176" y="4517136"/>
            <a:ext cx="4434840" cy="438912"/>
          </a:xfrm>
          <a:prstGeom prst="rect">
            <a:avLst/>
          </a:prstGeom>
          <a:noFill/>
          <a:ln/>
        </p:spPr>
        <p:txBody>
          <a:bodyPr wrap="square" lIns="0" tIns="0" rIns="0" bIns="0" rtlCol="0" anchor="t"/>
          <a:lstStyle/>
          <a:p>
            <a:pPr marL="0" indent="0">
              <a:lnSpc>
                <a:spcPts val="1300"/>
              </a:lnSpc>
              <a:buNone/>
            </a:pPr>
            <a:r>
              <a:rPr lang="en-US" sz="1050" dirty="0">
                <a:solidFill>
                  <a:srgbClr val="5E6D7D"/>
                </a:solidFill>
                <a:latin typeface="Calibri" pitchFamily="34" charset="0"/>
                <a:ea typeface="Calibri" pitchFamily="34" charset="-122"/>
                <a:cs typeface="Calibri" pitchFamily="34" charset="-120"/>
              </a:rPr>
              <a:t>The cap is a setting per route and vehicle type. Admin changes it without a software release.</a:t>
            </a:r>
            <a:endParaRPr lang="en-US" sz="1050" dirty="0"/>
          </a:p>
        </p:txBody>
      </p:sp>
      <p:sp>
        <p:nvSpPr>
          <p:cNvPr id="19" name="Shape 15"/>
          <p:cNvSpPr/>
          <p:nvPr/>
        </p:nvSpPr>
        <p:spPr>
          <a:xfrm>
            <a:off x="566928" y="5157216"/>
            <a:ext cx="5532120" cy="969264"/>
          </a:xfrm>
          <a:prstGeom prst="roundRect">
            <a:avLst>
              <a:gd name="adj" fmla="val 11321"/>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20" name="Shape 16"/>
          <p:cNvSpPr/>
          <p:nvPr/>
        </p:nvSpPr>
        <p:spPr>
          <a:xfrm>
            <a:off x="804672" y="5394960"/>
            <a:ext cx="475488" cy="475488"/>
          </a:xfrm>
          <a:prstGeom prst="ellipse">
            <a:avLst/>
          </a:prstGeom>
          <a:solidFill>
            <a:srgbClr val="FFEDE0"/>
          </a:solidFill>
          <a:ln/>
        </p:spPr>
      </p:sp>
      <p:pic>
        <p:nvPicPr>
          <p:cNvPr id="21" name="Image 2" descr="preencoded.png"/>
          <p:cNvPicPr>
            <a:picLocks noChangeAspect="1"/>
          </p:cNvPicPr>
          <p:nvPr/>
        </p:nvPicPr>
        <p:blipFill>
          <a:blip r:embed="rId5"/>
          <a:stretch>
            <a:fillRect/>
          </a:stretch>
        </p:blipFill>
        <p:spPr>
          <a:xfrm>
            <a:off x="928299" y="5518587"/>
            <a:ext cx="228234" cy="228234"/>
          </a:xfrm>
          <a:prstGeom prst="rect">
            <a:avLst/>
          </a:prstGeom>
        </p:spPr>
      </p:pic>
      <p:sp>
        <p:nvSpPr>
          <p:cNvPr id="22" name="Text 17"/>
          <p:cNvSpPr txBox="1"/>
          <p:nvPr/>
        </p:nvSpPr>
        <p:spPr>
          <a:xfrm>
            <a:off x="1408176" y="5321808"/>
            <a:ext cx="4434840" cy="274320"/>
          </a:xfrm>
          <a:prstGeom prst="rect">
            <a:avLst/>
          </a:prstGeom>
          <a:noFill/>
          <a:ln/>
        </p:spPr>
        <p:txBody>
          <a:bodyPr wrap="square" lIns="0" tIns="0" rIns="0" bIns="0" rtlCol="0" anchor="ctr"/>
          <a:lstStyle/>
          <a:p>
            <a:pPr marL="0" indent="0">
              <a:buNone/>
            </a:pPr>
            <a:r>
              <a:rPr lang="en-US" sz="1250" b="1" dirty="0">
                <a:solidFill>
                  <a:srgbClr val="16202B"/>
                </a:solidFill>
                <a:latin typeface="Arial" pitchFamily="34" charset="0"/>
                <a:ea typeface="Arial" pitchFamily="34" charset="-122"/>
                <a:cs typeface="Arial" pitchFamily="34" charset="-120"/>
              </a:rPr>
              <a:t>Booking respects the cap</a:t>
            </a:r>
            <a:endParaRPr lang="en-US" sz="1250" dirty="0"/>
          </a:p>
        </p:txBody>
      </p:sp>
      <p:sp>
        <p:nvSpPr>
          <p:cNvPr id="23" name="Text 18"/>
          <p:cNvSpPr txBox="1"/>
          <p:nvPr/>
        </p:nvSpPr>
        <p:spPr>
          <a:xfrm>
            <a:off x="1408176" y="5614416"/>
            <a:ext cx="4434840" cy="438912"/>
          </a:xfrm>
          <a:prstGeom prst="rect">
            <a:avLst/>
          </a:prstGeom>
          <a:noFill/>
          <a:ln/>
        </p:spPr>
        <p:txBody>
          <a:bodyPr wrap="square" lIns="0" tIns="0" rIns="0" bIns="0" rtlCol="0" anchor="t"/>
          <a:lstStyle/>
          <a:p>
            <a:pPr marL="0" indent="0">
              <a:lnSpc>
                <a:spcPts val="1300"/>
              </a:lnSpc>
              <a:buNone/>
            </a:pPr>
            <a:r>
              <a:rPr lang="en-US" sz="1050" dirty="0">
                <a:solidFill>
                  <a:srgbClr val="5E6D7D"/>
                </a:solidFill>
                <a:latin typeface="Calibri" pitchFamily="34" charset="0"/>
                <a:ea typeface="Calibri" pitchFamily="34" charset="-122"/>
                <a:cs typeface="Calibri" pitchFamily="34" charset="-120"/>
              </a:rPr>
              <a:t>A group larger than the cap is split across vehicles, or routed to an exclusive ride with approval.</a:t>
            </a:r>
            <a:endParaRPr lang="en-US" sz="1050" dirty="0"/>
          </a:p>
        </p:txBody>
      </p:sp>
      <p:sp>
        <p:nvSpPr>
          <p:cNvPr id="24" name="Shape 19"/>
          <p:cNvSpPr/>
          <p:nvPr/>
        </p:nvSpPr>
        <p:spPr>
          <a:xfrm>
            <a:off x="6501384" y="1627632"/>
            <a:ext cx="5123383" cy="3017520"/>
          </a:xfrm>
          <a:prstGeom prst="roundRect">
            <a:avLst>
              <a:gd name="adj" fmla="val 3636"/>
            </a:avLst>
          </a:prstGeom>
          <a:solidFill>
            <a:srgbClr val="F7F9FB"/>
          </a:solidFill>
          <a:ln w="12700">
            <a:solidFill>
              <a:srgbClr val="DCE4EC"/>
            </a:solidFill>
            <a:prstDash val="solid"/>
          </a:ln>
        </p:spPr>
      </p:sp>
      <p:sp>
        <p:nvSpPr>
          <p:cNvPr id="25" name="Text 20"/>
          <p:cNvSpPr txBox="1"/>
          <p:nvPr/>
        </p:nvSpPr>
        <p:spPr>
          <a:xfrm>
            <a:off x="6812280" y="1828800"/>
            <a:ext cx="4501591" cy="219456"/>
          </a:xfrm>
          <a:prstGeom prst="rect">
            <a:avLst/>
          </a:prstGeom>
          <a:noFill/>
          <a:ln/>
        </p:spPr>
        <p:txBody>
          <a:bodyPr wrap="square" lIns="0" tIns="0" rIns="0" bIns="0" rtlCol="0" anchor="t"/>
          <a:lstStyle/>
          <a:p>
            <a:pPr marL="0" indent="0">
              <a:buNone/>
            </a:pPr>
            <a:r>
              <a:rPr lang="en-US" sz="900" b="1" kern="0" spc="160" dirty="0">
                <a:solidFill>
                  <a:srgbClr val="5E6D7D"/>
                </a:solidFill>
                <a:latin typeface="Arial" pitchFamily="34" charset="0"/>
                <a:ea typeface="Arial" pitchFamily="34" charset="-122"/>
                <a:cs typeface="Arial" pitchFamily="34" charset="-120"/>
              </a:rPr>
              <a:t>SEAT ALLOCATION  ·  4-PASSENGER CAB</a:t>
            </a:r>
            <a:endParaRPr lang="en-US" sz="900" dirty="0"/>
          </a:p>
        </p:txBody>
      </p:sp>
      <p:sp>
        <p:nvSpPr>
          <p:cNvPr id="26" name="Shape 21"/>
          <p:cNvSpPr/>
          <p:nvPr/>
        </p:nvSpPr>
        <p:spPr>
          <a:xfrm>
            <a:off x="7188556" y="2157984"/>
            <a:ext cx="3749040" cy="1883664"/>
          </a:xfrm>
          <a:prstGeom prst="roundRect">
            <a:avLst>
              <a:gd name="adj" fmla="val 13592"/>
            </a:avLst>
          </a:prstGeom>
          <a:solidFill>
            <a:srgbClr val="FFFFFF"/>
          </a:solidFill>
          <a:ln w="19050">
            <a:solidFill>
              <a:srgbClr val="34465A"/>
            </a:solidFill>
            <a:prstDash val="solid"/>
          </a:ln>
        </p:spPr>
      </p:sp>
      <p:sp>
        <p:nvSpPr>
          <p:cNvPr id="27" name="Shape 22"/>
          <p:cNvSpPr/>
          <p:nvPr/>
        </p:nvSpPr>
        <p:spPr>
          <a:xfrm>
            <a:off x="7389724" y="2340864"/>
            <a:ext cx="1545336" cy="713232"/>
          </a:xfrm>
          <a:prstGeom prst="roundRect">
            <a:avLst>
              <a:gd name="adj" fmla="val 12821"/>
            </a:avLst>
          </a:prstGeom>
          <a:solidFill>
            <a:srgbClr val="F3F6F9"/>
          </a:solidFill>
          <a:ln w="12700">
            <a:solidFill>
              <a:srgbClr val="DCE4EC"/>
            </a:solidFill>
            <a:prstDash val="solid"/>
          </a:ln>
        </p:spPr>
      </p:sp>
      <p:pic>
        <p:nvPicPr>
          <p:cNvPr id="28" name="Image 3" descr="preencoded.png"/>
          <p:cNvPicPr>
            <a:picLocks noChangeAspect="1"/>
          </p:cNvPicPr>
          <p:nvPr/>
        </p:nvPicPr>
        <p:blipFill>
          <a:blip r:embed="rId6"/>
          <a:stretch>
            <a:fillRect/>
          </a:stretch>
        </p:blipFill>
        <p:spPr>
          <a:xfrm>
            <a:off x="8016088" y="2459736"/>
            <a:ext cx="292608" cy="292608"/>
          </a:xfrm>
          <a:prstGeom prst="rect">
            <a:avLst/>
          </a:prstGeom>
        </p:spPr>
      </p:pic>
      <p:sp>
        <p:nvSpPr>
          <p:cNvPr id="29" name="Text 23"/>
          <p:cNvSpPr txBox="1"/>
          <p:nvPr/>
        </p:nvSpPr>
        <p:spPr>
          <a:xfrm>
            <a:off x="7389724" y="2770632"/>
            <a:ext cx="1545336" cy="219456"/>
          </a:xfrm>
          <a:prstGeom prst="rect">
            <a:avLst/>
          </a:prstGeom>
          <a:noFill/>
          <a:ln/>
        </p:spPr>
        <p:txBody>
          <a:bodyPr wrap="square" lIns="0" tIns="0" rIns="0" bIns="0" rtlCol="0" anchor="ctr"/>
          <a:lstStyle/>
          <a:p>
            <a:pPr marL="0" indent="0" algn="ctr">
              <a:buNone/>
            </a:pPr>
            <a:r>
              <a:rPr lang="en-US" sz="900" dirty="0">
                <a:solidFill>
                  <a:srgbClr val="5E6D7D"/>
                </a:solidFill>
                <a:latin typeface="Calibri" pitchFamily="34" charset="0"/>
                <a:ea typeface="Calibri" pitchFamily="34" charset="-122"/>
                <a:cs typeface="Calibri" pitchFamily="34" charset="-120"/>
              </a:rPr>
              <a:t>Driver</a:t>
            </a:r>
            <a:endParaRPr lang="en-US" sz="900" dirty="0"/>
          </a:p>
        </p:txBody>
      </p:sp>
      <p:sp>
        <p:nvSpPr>
          <p:cNvPr id="30" name="Shape 24"/>
          <p:cNvSpPr/>
          <p:nvPr/>
        </p:nvSpPr>
        <p:spPr>
          <a:xfrm>
            <a:off x="9191092" y="2340864"/>
            <a:ext cx="1545336" cy="713232"/>
          </a:xfrm>
          <a:prstGeom prst="roundRect">
            <a:avLst>
              <a:gd name="adj" fmla="val 12821"/>
            </a:avLst>
          </a:prstGeom>
          <a:solidFill>
            <a:srgbClr val="E85D04"/>
          </a:solidFill>
          <a:ln/>
        </p:spPr>
      </p:sp>
      <p:pic>
        <p:nvPicPr>
          <p:cNvPr id="31" name="Image 4" descr="preencoded.png"/>
          <p:cNvPicPr>
            <a:picLocks noChangeAspect="1"/>
          </p:cNvPicPr>
          <p:nvPr/>
        </p:nvPicPr>
        <p:blipFill>
          <a:blip r:embed="rId7"/>
          <a:stretch>
            <a:fillRect/>
          </a:stretch>
        </p:blipFill>
        <p:spPr>
          <a:xfrm>
            <a:off x="9826600" y="2459736"/>
            <a:ext cx="274320" cy="274320"/>
          </a:xfrm>
          <a:prstGeom prst="rect">
            <a:avLst/>
          </a:prstGeom>
        </p:spPr>
      </p:pic>
      <p:sp>
        <p:nvSpPr>
          <p:cNvPr id="32" name="Text 25"/>
          <p:cNvSpPr txBox="1"/>
          <p:nvPr/>
        </p:nvSpPr>
        <p:spPr>
          <a:xfrm>
            <a:off x="9191092" y="2752344"/>
            <a:ext cx="154533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Rider</a:t>
            </a:r>
            <a:endParaRPr lang="en-US" sz="900" dirty="0"/>
          </a:p>
        </p:txBody>
      </p:sp>
      <p:sp>
        <p:nvSpPr>
          <p:cNvPr id="33" name="Shape 26"/>
          <p:cNvSpPr/>
          <p:nvPr/>
        </p:nvSpPr>
        <p:spPr>
          <a:xfrm>
            <a:off x="7389724" y="3236976"/>
            <a:ext cx="1018032" cy="713232"/>
          </a:xfrm>
          <a:prstGeom prst="roundRect">
            <a:avLst>
              <a:gd name="adj" fmla="val 12821"/>
            </a:avLst>
          </a:prstGeom>
          <a:solidFill>
            <a:srgbClr val="E85D04"/>
          </a:solidFill>
          <a:ln/>
        </p:spPr>
      </p:sp>
      <p:pic>
        <p:nvPicPr>
          <p:cNvPr id="34" name="Image 5" descr="preencoded.png"/>
          <p:cNvPicPr>
            <a:picLocks noChangeAspect="1"/>
          </p:cNvPicPr>
          <p:nvPr/>
        </p:nvPicPr>
        <p:blipFill>
          <a:blip r:embed="rId7"/>
          <a:stretch>
            <a:fillRect/>
          </a:stretch>
        </p:blipFill>
        <p:spPr>
          <a:xfrm>
            <a:off x="7761580" y="3355848"/>
            <a:ext cx="274320" cy="274320"/>
          </a:xfrm>
          <a:prstGeom prst="rect">
            <a:avLst/>
          </a:prstGeom>
        </p:spPr>
      </p:pic>
      <p:sp>
        <p:nvSpPr>
          <p:cNvPr id="35" name="Text 27"/>
          <p:cNvSpPr txBox="1"/>
          <p:nvPr/>
        </p:nvSpPr>
        <p:spPr>
          <a:xfrm>
            <a:off x="7389724" y="3648456"/>
            <a:ext cx="1018032"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Rider</a:t>
            </a:r>
            <a:endParaRPr lang="en-US" sz="900" dirty="0"/>
          </a:p>
        </p:txBody>
      </p:sp>
      <p:sp>
        <p:nvSpPr>
          <p:cNvPr id="36" name="Shape 28"/>
          <p:cNvSpPr/>
          <p:nvPr/>
        </p:nvSpPr>
        <p:spPr>
          <a:xfrm>
            <a:off x="8554060" y="3236976"/>
            <a:ext cx="1018032" cy="713232"/>
          </a:xfrm>
          <a:prstGeom prst="roundRect">
            <a:avLst>
              <a:gd name="adj" fmla="val 12821"/>
            </a:avLst>
          </a:prstGeom>
          <a:solidFill>
            <a:srgbClr val="E85D04"/>
          </a:solidFill>
          <a:ln/>
        </p:spPr>
      </p:sp>
      <p:pic>
        <p:nvPicPr>
          <p:cNvPr id="37" name="Image 6" descr="preencoded.png"/>
          <p:cNvPicPr>
            <a:picLocks noChangeAspect="1"/>
          </p:cNvPicPr>
          <p:nvPr/>
        </p:nvPicPr>
        <p:blipFill>
          <a:blip r:embed="rId7"/>
          <a:stretch>
            <a:fillRect/>
          </a:stretch>
        </p:blipFill>
        <p:spPr>
          <a:xfrm>
            <a:off x="8925916" y="3355848"/>
            <a:ext cx="274320" cy="274320"/>
          </a:xfrm>
          <a:prstGeom prst="rect">
            <a:avLst/>
          </a:prstGeom>
        </p:spPr>
      </p:pic>
      <p:sp>
        <p:nvSpPr>
          <p:cNvPr id="38" name="Text 29"/>
          <p:cNvSpPr txBox="1"/>
          <p:nvPr/>
        </p:nvSpPr>
        <p:spPr>
          <a:xfrm>
            <a:off x="8554060" y="3648456"/>
            <a:ext cx="1018032"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Rider</a:t>
            </a:r>
            <a:endParaRPr lang="en-US" sz="900" dirty="0"/>
          </a:p>
        </p:txBody>
      </p:sp>
      <p:sp>
        <p:nvSpPr>
          <p:cNvPr id="39" name="Shape 30"/>
          <p:cNvSpPr/>
          <p:nvPr/>
        </p:nvSpPr>
        <p:spPr>
          <a:xfrm>
            <a:off x="9718396" y="3236976"/>
            <a:ext cx="1018032" cy="713232"/>
          </a:xfrm>
          <a:prstGeom prst="roundRect">
            <a:avLst>
              <a:gd name="adj" fmla="val 12821"/>
            </a:avLst>
          </a:prstGeom>
          <a:solidFill>
            <a:srgbClr val="FFFFFF"/>
          </a:solidFill>
          <a:ln w="19050">
            <a:solidFill>
              <a:srgbClr val="E85D04"/>
            </a:solidFill>
            <a:prstDash val="dash"/>
          </a:ln>
        </p:spPr>
      </p:sp>
      <p:pic>
        <p:nvPicPr>
          <p:cNvPr id="40" name="Image 7" descr="preencoded.png"/>
          <p:cNvPicPr>
            <a:picLocks noChangeAspect="1"/>
          </p:cNvPicPr>
          <p:nvPr/>
        </p:nvPicPr>
        <p:blipFill>
          <a:blip r:embed="rId8"/>
          <a:stretch>
            <a:fillRect/>
          </a:stretch>
        </p:blipFill>
        <p:spPr>
          <a:xfrm>
            <a:off x="10090252" y="3355848"/>
            <a:ext cx="274320" cy="274320"/>
          </a:xfrm>
          <a:prstGeom prst="rect">
            <a:avLst/>
          </a:prstGeom>
        </p:spPr>
      </p:pic>
      <p:sp>
        <p:nvSpPr>
          <p:cNvPr id="41" name="Text 31"/>
          <p:cNvSpPr txBox="1"/>
          <p:nvPr/>
        </p:nvSpPr>
        <p:spPr>
          <a:xfrm>
            <a:off x="9718396" y="3648456"/>
            <a:ext cx="1018032" cy="219456"/>
          </a:xfrm>
          <a:prstGeom prst="rect">
            <a:avLst/>
          </a:prstGeom>
          <a:noFill/>
          <a:ln/>
        </p:spPr>
        <p:txBody>
          <a:bodyPr wrap="square" lIns="0" tIns="0" rIns="0" bIns="0" rtlCol="0" anchor="ctr"/>
          <a:lstStyle/>
          <a:p>
            <a:pPr marL="0" indent="0" algn="ctr">
              <a:buNone/>
            </a:pPr>
            <a:r>
              <a:rPr lang="en-US" sz="900" b="1" dirty="0">
                <a:solidFill>
                  <a:srgbClr val="E85D04"/>
                </a:solidFill>
                <a:latin typeface="Calibri" pitchFamily="34" charset="0"/>
                <a:ea typeface="Calibri" pitchFamily="34" charset="-122"/>
                <a:cs typeface="Calibri" pitchFamily="34" charset="-120"/>
              </a:rPr>
              <a:t>Held free</a:t>
            </a:r>
            <a:endParaRPr lang="en-US" sz="900" dirty="0"/>
          </a:p>
        </p:txBody>
      </p:sp>
      <p:sp>
        <p:nvSpPr>
          <p:cNvPr id="42" name="Text 32"/>
          <p:cNvSpPr txBox="1"/>
          <p:nvPr/>
        </p:nvSpPr>
        <p:spPr>
          <a:xfrm>
            <a:off x="6812280" y="4151376"/>
            <a:ext cx="4501591" cy="420624"/>
          </a:xfrm>
          <a:prstGeom prst="rect">
            <a:avLst/>
          </a:prstGeom>
          <a:noFill/>
          <a:ln/>
        </p:spPr>
        <p:txBody>
          <a:bodyPr wrap="square" lIns="0" tIns="0" rIns="0" bIns="0" rtlCol="0" anchor="t"/>
          <a:lstStyle/>
          <a:p>
            <a:pPr marL="0" indent="0">
              <a:lnSpc>
                <a:spcPts val="1300"/>
              </a:lnSpc>
              <a:buNone/>
            </a:pPr>
            <a:r>
              <a:rPr lang="en-US" sz="1000" i="1" dirty="0">
                <a:solidFill>
                  <a:srgbClr val="5E6D7D"/>
                </a:solidFill>
                <a:latin typeface="Calibri" pitchFamily="34" charset="0"/>
                <a:ea typeface="Calibri" pitchFamily="34" charset="-122"/>
                <a:cs typeface="Calibri" pitchFamily="34" charset="-120"/>
              </a:rPr>
              <a:t>Three riders board; the fourth passenger seat stays free for comfort, luggage and safe boarding inside the plant.</a:t>
            </a:r>
            <a:endParaRPr lang="en-US" sz="1000" dirty="0"/>
          </a:p>
        </p:txBody>
      </p:sp>
      <p:sp>
        <p:nvSpPr>
          <p:cNvPr id="43" name="Shape 33"/>
          <p:cNvSpPr/>
          <p:nvPr/>
        </p:nvSpPr>
        <p:spPr>
          <a:xfrm>
            <a:off x="6501384" y="4809744"/>
            <a:ext cx="5123383" cy="1426464"/>
          </a:xfrm>
          <a:prstGeom prst="roundRect">
            <a:avLst>
              <a:gd name="adj" fmla="val 7692"/>
            </a:avLst>
          </a:prstGeom>
          <a:solidFill>
            <a:srgbClr val="0E141B"/>
          </a:solidFill>
          <a:ln/>
        </p:spPr>
      </p:sp>
      <p:sp>
        <p:nvSpPr>
          <p:cNvPr id="44" name="Text 34"/>
          <p:cNvSpPr txBox="1"/>
          <p:nvPr/>
        </p:nvSpPr>
        <p:spPr>
          <a:xfrm>
            <a:off x="6812280" y="4974336"/>
            <a:ext cx="4501591" cy="201168"/>
          </a:xfrm>
          <a:prstGeom prst="rect">
            <a:avLst/>
          </a:prstGeom>
          <a:noFill/>
          <a:ln/>
        </p:spPr>
        <p:txBody>
          <a:bodyPr wrap="square" lIns="0" tIns="0" rIns="0" bIns="0" rtlCol="0" anchor="t"/>
          <a:lstStyle/>
          <a:p>
            <a:pPr marL="0" indent="0">
              <a:buNone/>
            </a:pPr>
            <a:r>
              <a:rPr lang="en-US" sz="850" b="1" kern="0" spc="160" dirty="0">
                <a:solidFill>
                  <a:srgbClr val="A3B4C4"/>
                </a:solidFill>
                <a:latin typeface="Arial" pitchFamily="34" charset="0"/>
                <a:ea typeface="Arial" pitchFamily="34" charset="-122"/>
                <a:cs typeface="Arial" pitchFamily="34" charset="-120"/>
              </a:rPr>
              <a:t>MATCHING ENGINE  ·  LIVE DECISION</a:t>
            </a:r>
            <a:endParaRPr lang="en-US" sz="850" dirty="0"/>
          </a:p>
        </p:txBody>
      </p:sp>
      <p:sp>
        <p:nvSpPr>
          <p:cNvPr id="45" name="Text 35"/>
          <p:cNvSpPr txBox="1"/>
          <p:nvPr/>
        </p:nvSpPr>
        <p:spPr>
          <a:xfrm>
            <a:off x="6812280" y="5248656"/>
            <a:ext cx="2377440" cy="256032"/>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C-12</a:t>
            </a:r>
            <a:r>
              <a:rPr lang="en-US" sz="1000" dirty="0">
                <a:solidFill>
                  <a:srgbClr val="A3B4C4"/>
                </a:solidFill>
                <a:latin typeface="Calibri" pitchFamily="34" charset="0"/>
                <a:ea typeface="Calibri" pitchFamily="34" charset="-122"/>
                <a:cs typeface="Calibri" pitchFamily="34" charset="-120"/>
              </a:rPr>
              <a:t>   3 of 3 riders</a:t>
            </a:r>
            <a:endParaRPr lang="en-US" sz="1000" dirty="0"/>
          </a:p>
        </p:txBody>
      </p:sp>
      <p:sp>
        <p:nvSpPr>
          <p:cNvPr id="46" name="Text 36"/>
          <p:cNvSpPr txBox="1"/>
          <p:nvPr/>
        </p:nvSpPr>
        <p:spPr>
          <a:xfrm>
            <a:off x="8878824" y="5248656"/>
            <a:ext cx="2435047" cy="256032"/>
          </a:xfrm>
          <a:prstGeom prst="rect">
            <a:avLst/>
          </a:prstGeom>
          <a:noFill/>
          <a:ln/>
        </p:spPr>
        <p:txBody>
          <a:bodyPr wrap="square" lIns="0" tIns="0" rIns="0" bIns="0" rtlCol="0" anchor="ctr"/>
          <a:lstStyle/>
          <a:p>
            <a:pPr marL="0" indent="0" algn="r">
              <a:buNone/>
            </a:pPr>
            <a:r>
              <a:rPr lang="en-US" sz="1000" b="1" dirty="0">
                <a:solidFill>
                  <a:srgbClr val="FF9E5E"/>
                </a:solidFill>
                <a:latin typeface="Calibri" pitchFamily="34" charset="0"/>
                <a:ea typeface="Calibri" pitchFamily="34" charset="-122"/>
                <a:cs typeface="Calibri" pitchFamily="34" charset="-120"/>
              </a:rPr>
              <a:t>not offered</a:t>
            </a:r>
            <a:endParaRPr lang="en-US" sz="1000" dirty="0"/>
          </a:p>
        </p:txBody>
      </p:sp>
      <p:sp>
        <p:nvSpPr>
          <p:cNvPr id="47" name="Text 37"/>
          <p:cNvSpPr txBox="1"/>
          <p:nvPr/>
        </p:nvSpPr>
        <p:spPr>
          <a:xfrm>
            <a:off x="6812280" y="5550408"/>
            <a:ext cx="2377440" cy="256032"/>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C-21</a:t>
            </a:r>
            <a:r>
              <a:rPr lang="en-US" sz="1000" dirty="0">
                <a:solidFill>
                  <a:srgbClr val="A3B4C4"/>
                </a:solidFill>
                <a:latin typeface="Calibri" pitchFamily="34" charset="0"/>
                <a:ea typeface="Calibri" pitchFamily="34" charset="-122"/>
                <a:cs typeface="Calibri" pitchFamily="34" charset="-120"/>
              </a:rPr>
              <a:t>   1 of 3 riders</a:t>
            </a:r>
            <a:endParaRPr lang="en-US" sz="1000" dirty="0"/>
          </a:p>
        </p:txBody>
      </p:sp>
      <p:sp>
        <p:nvSpPr>
          <p:cNvPr id="48" name="Text 38"/>
          <p:cNvSpPr txBox="1"/>
          <p:nvPr/>
        </p:nvSpPr>
        <p:spPr>
          <a:xfrm>
            <a:off x="8878824" y="5550408"/>
            <a:ext cx="2435047" cy="256032"/>
          </a:xfrm>
          <a:prstGeom prst="rect">
            <a:avLst/>
          </a:prstGeom>
          <a:noFill/>
          <a:ln/>
        </p:spPr>
        <p:txBody>
          <a:bodyPr wrap="square" lIns="0" tIns="0" rIns="0" bIns="0" rtlCol="0" anchor="ctr"/>
          <a:lstStyle/>
          <a:p>
            <a:pPr marL="0" indent="0" algn="r">
              <a:buNone/>
            </a:pPr>
            <a:r>
              <a:rPr lang="en-US" sz="1000" b="1" dirty="0">
                <a:solidFill>
                  <a:srgbClr val="4FD1C2"/>
                </a:solidFill>
                <a:latin typeface="Calibri" pitchFamily="34" charset="0"/>
                <a:ea typeface="Calibri" pitchFamily="34" charset="-122"/>
                <a:cs typeface="Calibri" pitchFamily="34" charset="-120"/>
              </a:rPr>
              <a:t>offered · 2 free</a:t>
            </a:r>
            <a:endParaRPr lang="en-US" sz="1000" dirty="0"/>
          </a:p>
        </p:txBody>
      </p:sp>
      <p:sp>
        <p:nvSpPr>
          <p:cNvPr id="49" name="Text 39"/>
          <p:cNvSpPr txBox="1"/>
          <p:nvPr/>
        </p:nvSpPr>
        <p:spPr>
          <a:xfrm>
            <a:off x="6812280" y="5852160"/>
            <a:ext cx="2377440" cy="256032"/>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S-03</a:t>
            </a:r>
            <a:r>
              <a:rPr lang="en-US" sz="1000" dirty="0">
                <a:solidFill>
                  <a:srgbClr val="A3B4C4"/>
                </a:solidFill>
                <a:latin typeface="Calibri" pitchFamily="34" charset="0"/>
                <a:ea typeface="Calibri" pitchFamily="34" charset="-122"/>
                <a:cs typeface="Calibri" pitchFamily="34" charset="-120"/>
              </a:rPr>
              <a:t>   shuttle loop</a:t>
            </a:r>
            <a:endParaRPr lang="en-US" sz="1000" dirty="0"/>
          </a:p>
        </p:txBody>
      </p:sp>
      <p:sp>
        <p:nvSpPr>
          <p:cNvPr id="50" name="Text 40"/>
          <p:cNvSpPr txBox="1"/>
          <p:nvPr/>
        </p:nvSpPr>
        <p:spPr>
          <a:xfrm>
            <a:off x="8878824" y="5852160"/>
            <a:ext cx="2435047" cy="256032"/>
          </a:xfrm>
          <a:prstGeom prst="rect">
            <a:avLst/>
          </a:prstGeom>
          <a:noFill/>
          <a:ln/>
        </p:spPr>
        <p:txBody>
          <a:bodyPr wrap="square" lIns="0" tIns="0" rIns="0" bIns="0" rtlCol="0" anchor="ctr"/>
          <a:lstStyle/>
          <a:p>
            <a:pPr marL="0" indent="0" algn="r">
              <a:buNone/>
            </a:pPr>
            <a:r>
              <a:rPr lang="en-US" sz="1000" b="1" dirty="0">
                <a:solidFill>
                  <a:srgbClr val="A3B4C4"/>
                </a:solidFill>
                <a:latin typeface="Calibri" pitchFamily="34" charset="0"/>
                <a:ea typeface="Calibri" pitchFamily="34" charset="-122"/>
                <a:cs typeface="Calibri" pitchFamily="34" charset="-120"/>
              </a:rPr>
              <a:t>own cap applies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5E6D7D"/>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5E6D7D"/>
                </a:solidFill>
                <a:latin typeface="Arial" pitchFamily="34" charset="0"/>
                <a:ea typeface="Arial" pitchFamily="34" charset="-122"/>
                <a:cs typeface="Arial" pitchFamily="34" charset="-120"/>
              </a:rPr>
              <a:t>10</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EMPLOYEE APP</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16202B"/>
                </a:solidFill>
                <a:latin typeface="Arial" pitchFamily="34" charset="0"/>
                <a:ea typeface="Arial" pitchFamily="34" charset="-122"/>
                <a:cs typeface="Arial" pitchFamily="34" charset="-120"/>
              </a:rPr>
              <a:t>Book a ride in under 30 seconds</a:t>
            </a:r>
            <a:endParaRPr lang="en-US" sz="3000" dirty="0"/>
          </a:p>
        </p:txBody>
      </p:sp>
      <p:sp>
        <p:nvSpPr>
          <p:cNvPr id="6" name="Text 4"/>
          <p:cNvSpPr txBox="1"/>
          <p:nvPr/>
        </p:nvSpPr>
        <p:spPr>
          <a:xfrm>
            <a:off x="566928" y="1179576"/>
            <a:ext cx="9509742" cy="274320"/>
          </a:xfrm>
          <a:prstGeom prst="rect">
            <a:avLst/>
          </a:prstGeom>
          <a:noFill/>
          <a:ln/>
        </p:spPr>
        <p:txBody>
          <a:bodyPr wrap="square" lIns="0" tIns="0" rIns="0" bIns="0" rtlCol="0" anchor="ctr"/>
          <a:lstStyle/>
          <a:p>
            <a:pPr marL="0" indent="0">
              <a:buNone/>
            </a:pPr>
            <a:r>
              <a:rPr lang="en-US" sz="1300" dirty="0">
                <a:solidFill>
                  <a:srgbClr val="5E6D7D"/>
                </a:solidFill>
                <a:latin typeface="Calibri" pitchFamily="34" charset="0"/>
                <a:ea typeface="Calibri" pitchFamily="34" charset="-122"/>
                <a:cs typeface="Calibri" pitchFamily="34" charset="-120"/>
              </a:rPr>
              <a:t>An interface your people already know - the flow works the way Ola and Uber do.</a:t>
            </a:r>
            <a:endParaRPr lang="en-US" sz="1300" dirty="0"/>
          </a:p>
        </p:txBody>
      </p:sp>
      <p:sp>
        <p:nvSpPr>
          <p:cNvPr id="7" name="Shape 5"/>
          <p:cNvSpPr/>
          <p:nvPr/>
        </p:nvSpPr>
        <p:spPr>
          <a:xfrm>
            <a:off x="566928" y="1645920"/>
            <a:ext cx="2304288" cy="4498848"/>
          </a:xfrm>
          <a:prstGeom prst="roundRect">
            <a:avLst>
              <a:gd name="adj" fmla="val 8730"/>
            </a:avLst>
          </a:prstGeom>
          <a:solidFill>
            <a:srgbClr val="0E141B"/>
          </a:solidFill>
          <a:ln/>
          <a:effectLst>
            <a:outerShdw blurRad="203200" dist="50800" dir="5400000" algn="bl" rotWithShape="0">
              <a:srgbClr val="0E141B">
                <a:alpha val="22000"/>
              </a:srgbClr>
            </a:outerShdw>
          </a:effectLst>
        </p:spPr>
      </p:sp>
      <p:sp>
        <p:nvSpPr>
          <p:cNvPr id="8" name="Shape 6"/>
          <p:cNvSpPr/>
          <p:nvPr/>
        </p:nvSpPr>
        <p:spPr>
          <a:xfrm>
            <a:off x="644652" y="1723644"/>
            <a:ext cx="2148840" cy="4343400"/>
          </a:xfrm>
          <a:prstGeom prst="roundRect">
            <a:avLst>
              <a:gd name="adj" fmla="val 6809"/>
            </a:avLst>
          </a:prstGeom>
          <a:solidFill>
            <a:srgbClr val="FFFFFF"/>
          </a:solidFill>
          <a:ln/>
        </p:spPr>
      </p:sp>
      <p:sp>
        <p:nvSpPr>
          <p:cNvPr id="9" name="Shape 7"/>
          <p:cNvSpPr/>
          <p:nvPr/>
        </p:nvSpPr>
        <p:spPr>
          <a:xfrm>
            <a:off x="1463040" y="1769364"/>
            <a:ext cx="512064" cy="82296"/>
          </a:xfrm>
          <a:prstGeom prst="roundRect">
            <a:avLst>
              <a:gd name="adj" fmla="val 50000"/>
            </a:avLst>
          </a:prstGeom>
          <a:solidFill>
            <a:srgbClr val="0E141B"/>
          </a:solidFill>
          <a:ln/>
        </p:spPr>
      </p:sp>
      <p:sp>
        <p:nvSpPr>
          <p:cNvPr id="10" name="Text 8"/>
          <p:cNvSpPr txBox="1"/>
          <p:nvPr/>
        </p:nvSpPr>
        <p:spPr>
          <a:xfrm>
            <a:off x="745236" y="1961388"/>
            <a:ext cx="1947672" cy="274320"/>
          </a:xfrm>
          <a:prstGeom prst="rect">
            <a:avLst/>
          </a:prstGeom>
          <a:noFill/>
          <a:ln/>
        </p:spPr>
        <p:txBody>
          <a:bodyPr wrap="square" lIns="0" tIns="0" rIns="0" bIns="0" rtlCol="0" anchor="ctr"/>
          <a:lstStyle/>
          <a:p>
            <a:pPr marL="0" indent="0">
              <a:buNone/>
            </a:pPr>
            <a:r>
              <a:rPr lang="en-US" sz="1250" b="1" dirty="0">
                <a:solidFill>
                  <a:srgbClr val="16202B"/>
                </a:solidFill>
                <a:latin typeface="Arial" pitchFamily="34" charset="0"/>
                <a:ea typeface="Arial" pitchFamily="34" charset="-122"/>
                <a:cs typeface="Arial" pitchFamily="34" charset="-120"/>
              </a:rPr>
              <a:t>Book a ride</a:t>
            </a:r>
            <a:endParaRPr lang="en-US" sz="1250" dirty="0"/>
          </a:p>
        </p:txBody>
      </p:sp>
      <p:sp>
        <p:nvSpPr>
          <p:cNvPr id="11" name="Shape 9"/>
          <p:cNvSpPr/>
          <p:nvPr/>
        </p:nvSpPr>
        <p:spPr>
          <a:xfrm>
            <a:off x="745236" y="2308860"/>
            <a:ext cx="1947672" cy="402336"/>
          </a:xfrm>
          <a:prstGeom prst="roundRect">
            <a:avLst>
              <a:gd name="adj" fmla="val 18182"/>
            </a:avLst>
          </a:prstGeom>
          <a:solidFill>
            <a:srgbClr val="F3F6F9"/>
          </a:solidFill>
          <a:ln/>
        </p:spPr>
      </p:sp>
      <p:sp>
        <p:nvSpPr>
          <p:cNvPr id="12" name="Shape 10"/>
          <p:cNvSpPr/>
          <p:nvPr/>
        </p:nvSpPr>
        <p:spPr>
          <a:xfrm>
            <a:off x="854964" y="2455164"/>
            <a:ext cx="109728" cy="109728"/>
          </a:xfrm>
          <a:prstGeom prst="ellipse">
            <a:avLst/>
          </a:prstGeom>
          <a:solidFill>
            <a:srgbClr val="E85D04"/>
          </a:solidFill>
          <a:ln/>
        </p:spPr>
      </p:sp>
      <p:sp>
        <p:nvSpPr>
          <p:cNvPr id="13" name="Text 11"/>
          <p:cNvSpPr txBox="1"/>
          <p:nvPr/>
        </p:nvSpPr>
        <p:spPr>
          <a:xfrm>
            <a:off x="1037844" y="2308860"/>
            <a:ext cx="1563624" cy="402336"/>
          </a:xfrm>
          <a:prstGeom prst="rect">
            <a:avLst/>
          </a:prstGeom>
          <a:noFill/>
          <a:ln/>
        </p:spPr>
        <p:txBody>
          <a:bodyPr wrap="square" lIns="0" tIns="0" rIns="0" bIns="0" rtlCol="0" anchor="ctr"/>
          <a:lstStyle/>
          <a:p>
            <a:pPr marL="0" indent="0">
              <a:buNone/>
            </a:pPr>
            <a:r>
              <a:rPr lang="en-US" sz="950" dirty="0">
                <a:solidFill>
                  <a:srgbClr val="16202B"/>
                </a:solidFill>
                <a:latin typeface="Calibri" pitchFamily="34" charset="0"/>
                <a:ea typeface="Calibri" pitchFamily="34" charset="-122"/>
                <a:cs typeface="Calibri" pitchFamily="34" charset="-120"/>
              </a:rPr>
              <a:t>From · Gate 2</a:t>
            </a:r>
            <a:endParaRPr lang="en-US" sz="950" dirty="0"/>
          </a:p>
        </p:txBody>
      </p:sp>
      <p:sp>
        <p:nvSpPr>
          <p:cNvPr id="14" name="Shape 12"/>
          <p:cNvSpPr/>
          <p:nvPr/>
        </p:nvSpPr>
        <p:spPr>
          <a:xfrm>
            <a:off x="745236" y="2784348"/>
            <a:ext cx="1947672" cy="402336"/>
          </a:xfrm>
          <a:prstGeom prst="roundRect">
            <a:avLst>
              <a:gd name="adj" fmla="val 18182"/>
            </a:avLst>
          </a:prstGeom>
          <a:solidFill>
            <a:srgbClr val="F3F6F9"/>
          </a:solidFill>
          <a:ln/>
        </p:spPr>
      </p:sp>
      <p:sp>
        <p:nvSpPr>
          <p:cNvPr id="15" name="Shape 13"/>
          <p:cNvSpPr/>
          <p:nvPr/>
        </p:nvSpPr>
        <p:spPr>
          <a:xfrm>
            <a:off x="854964" y="2930652"/>
            <a:ext cx="109728" cy="109728"/>
          </a:xfrm>
          <a:prstGeom prst="ellipse">
            <a:avLst/>
          </a:prstGeom>
          <a:solidFill>
            <a:srgbClr val="00A896"/>
          </a:solidFill>
          <a:ln/>
        </p:spPr>
      </p:sp>
      <p:sp>
        <p:nvSpPr>
          <p:cNvPr id="16" name="Text 14"/>
          <p:cNvSpPr txBox="1"/>
          <p:nvPr/>
        </p:nvSpPr>
        <p:spPr>
          <a:xfrm>
            <a:off x="1037844" y="2784348"/>
            <a:ext cx="1563624" cy="402336"/>
          </a:xfrm>
          <a:prstGeom prst="rect">
            <a:avLst/>
          </a:prstGeom>
          <a:noFill/>
          <a:ln/>
        </p:spPr>
        <p:txBody>
          <a:bodyPr wrap="square" lIns="0" tIns="0" rIns="0" bIns="0" rtlCol="0" anchor="ctr"/>
          <a:lstStyle/>
          <a:p>
            <a:pPr marL="0" indent="0">
              <a:buNone/>
            </a:pPr>
            <a:r>
              <a:rPr lang="en-US" sz="950" dirty="0">
                <a:solidFill>
                  <a:srgbClr val="16202B"/>
                </a:solidFill>
                <a:latin typeface="Calibri" pitchFamily="34" charset="0"/>
                <a:ea typeface="Calibri" pitchFamily="34" charset="-122"/>
                <a:cs typeface="Calibri" pitchFamily="34" charset="-120"/>
              </a:rPr>
              <a:t>To · Blast Furnace</a:t>
            </a:r>
            <a:endParaRPr lang="en-US" sz="950" dirty="0"/>
          </a:p>
        </p:txBody>
      </p:sp>
      <p:sp>
        <p:nvSpPr>
          <p:cNvPr id="17" name="Shape 15"/>
          <p:cNvSpPr/>
          <p:nvPr/>
        </p:nvSpPr>
        <p:spPr>
          <a:xfrm>
            <a:off x="745236" y="3387852"/>
            <a:ext cx="1947672" cy="475488"/>
          </a:xfrm>
          <a:prstGeom prst="roundRect">
            <a:avLst>
              <a:gd name="adj" fmla="val 15385"/>
            </a:avLst>
          </a:prstGeom>
          <a:solidFill>
            <a:srgbClr val="E2F6F3"/>
          </a:solidFill>
          <a:ln w="12700">
            <a:solidFill>
              <a:srgbClr val="00A896"/>
            </a:solidFill>
            <a:prstDash val="solid"/>
          </a:ln>
        </p:spPr>
      </p:sp>
      <p:sp>
        <p:nvSpPr>
          <p:cNvPr id="18" name="Text 16"/>
          <p:cNvSpPr txBox="1"/>
          <p:nvPr/>
        </p:nvSpPr>
        <p:spPr>
          <a:xfrm>
            <a:off x="873252" y="3424428"/>
            <a:ext cx="1691640" cy="219456"/>
          </a:xfrm>
          <a:prstGeom prst="rect">
            <a:avLst/>
          </a:prstGeom>
          <a:noFill/>
          <a:ln/>
        </p:spPr>
        <p:txBody>
          <a:bodyPr wrap="square" lIns="0" tIns="0" rIns="0" bIns="0" rtlCol="0" anchor="ctr"/>
          <a:lstStyle/>
          <a:p>
            <a:pPr marL="0" indent="0">
              <a:buNone/>
            </a:pPr>
            <a:r>
              <a:rPr lang="en-US" sz="950" b="1" dirty="0">
                <a:solidFill>
                  <a:srgbClr val="16202B"/>
                </a:solidFill>
                <a:latin typeface="Calibri" pitchFamily="34" charset="0"/>
                <a:ea typeface="Calibri" pitchFamily="34" charset="-122"/>
                <a:cs typeface="Calibri" pitchFamily="34" charset="-120"/>
              </a:rPr>
              <a:t>Shuttle S3</a:t>
            </a:r>
            <a:endParaRPr lang="en-US" sz="950" dirty="0"/>
          </a:p>
        </p:txBody>
      </p:sp>
      <p:sp>
        <p:nvSpPr>
          <p:cNvPr id="19" name="Text 17"/>
          <p:cNvSpPr txBox="1"/>
          <p:nvPr/>
        </p:nvSpPr>
        <p:spPr>
          <a:xfrm>
            <a:off x="873252" y="3625596"/>
            <a:ext cx="1691640" cy="201168"/>
          </a:xfrm>
          <a:prstGeom prst="rect">
            <a:avLst/>
          </a:prstGeom>
          <a:noFill/>
          <a:ln/>
        </p:spPr>
        <p:txBody>
          <a:bodyPr wrap="square" lIns="0" tIns="0" rIns="0" bIns="0" rtlCol="0" anchor="ctr"/>
          <a:lstStyle/>
          <a:p>
            <a:pPr marL="0" indent="0">
              <a:buNone/>
            </a:pPr>
            <a:r>
              <a:rPr lang="en-US" sz="800" dirty="0">
                <a:solidFill>
                  <a:srgbClr val="00A896"/>
                </a:solidFill>
                <a:latin typeface="Calibri" pitchFamily="34" charset="0"/>
                <a:ea typeface="Calibri" pitchFamily="34" charset="-122"/>
                <a:cs typeface="Calibri" pitchFamily="34" charset="-120"/>
              </a:rPr>
              <a:t>4 min · 5 seats free</a:t>
            </a:r>
            <a:endParaRPr lang="en-US" sz="800" dirty="0"/>
          </a:p>
        </p:txBody>
      </p:sp>
      <p:sp>
        <p:nvSpPr>
          <p:cNvPr id="20" name="Shape 18"/>
          <p:cNvSpPr/>
          <p:nvPr/>
        </p:nvSpPr>
        <p:spPr>
          <a:xfrm>
            <a:off x="745236" y="3936492"/>
            <a:ext cx="1947672" cy="475488"/>
          </a:xfrm>
          <a:prstGeom prst="roundRect">
            <a:avLst>
              <a:gd name="adj" fmla="val 15385"/>
            </a:avLst>
          </a:prstGeom>
          <a:solidFill>
            <a:srgbClr val="FFFFFF"/>
          </a:solidFill>
          <a:ln w="12700">
            <a:solidFill>
              <a:srgbClr val="DCE4EC"/>
            </a:solidFill>
            <a:prstDash val="solid"/>
          </a:ln>
        </p:spPr>
      </p:sp>
      <p:sp>
        <p:nvSpPr>
          <p:cNvPr id="21" name="Text 19"/>
          <p:cNvSpPr txBox="1"/>
          <p:nvPr/>
        </p:nvSpPr>
        <p:spPr>
          <a:xfrm>
            <a:off x="873252" y="3973068"/>
            <a:ext cx="1691640" cy="219456"/>
          </a:xfrm>
          <a:prstGeom prst="rect">
            <a:avLst/>
          </a:prstGeom>
          <a:noFill/>
          <a:ln/>
        </p:spPr>
        <p:txBody>
          <a:bodyPr wrap="square" lIns="0" tIns="0" rIns="0" bIns="0" rtlCol="0" anchor="ctr"/>
          <a:lstStyle/>
          <a:p>
            <a:pPr marL="0" indent="0">
              <a:buNone/>
            </a:pPr>
            <a:r>
              <a:rPr lang="en-US" sz="950" b="1" dirty="0">
                <a:solidFill>
                  <a:srgbClr val="16202B"/>
                </a:solidFill>
                <a:latin typeface="Calibri" pitchFamily="34" charset="0"/>
                <a:ea typeface="Calibri" pitchFamily="34" charset="-122"/>
                <a:cs typeface="Calibri" pitchFamily="34" charset="-120"/>
              </a:rPr>
              <a:t>Shared cab</a:t>
            </a:r>
            <a:endParaRPr lang="en-US" sz="950" dirty="0"/>
          </a:p>
        </p:txBody>
      </p:sp>
      <p:sp>
        <p:nvSpPr>
          <p:cNvPr id="22" name="Text 20"/>
          <p:cNvSpPr txBox="1"/>
          <p:nvPr/>
        </p:nvSpPr>
        <p:spPr>
          <a:xfrm>
            <a:off x="873252" y="4174236"/>
            <a:ext cx="1691640" cy="201168"/>
          </a:xfrm>
          <a:prstGeom prst="rect">
            <a:avLst/>
          </a:prstGeom>
          <a:noFill/>
          <a:ln/>
        </p:spPr>
        <p:txBody>
          <a:bodyPr wrap="square" lIns="0" tIns="0" rIns="0" bIns="0" rtlCol="0" anchor="ctr"/>
          <a:lstStyle/>
          <a:p>
            <a:pPr marL="0" indent="0">
              <a:buNone/>
            </a:pPr>
            <a:r>
              <a:rPr lang="en-US" sz="800" dirty="0">
                <a:solidFill>
                  <a:srgbClr val="00A896"/>
                </a:solidFill>
                <a:latin typeface="Calibri" pitchFamily="34" charset="0"/>
                <a:ea typeface="Calibri" pitchFamily="34" charset="-122"/>
                <a:cs typeface="Calibri" pitchFamily="34" charset="-120"/>
              </a:rPr>
              <a:t>6 min · 2 seats free</a:t>
            </a:r>
            <a:endParaRPr lang="en-US" sz="800" dirty="0"/>
          </a:p>
        </p:txBody>
      </p:sp>
      <p:sp>
        <p:nvSpPr>
          <p:cNvPr id="23" name="Shape 21"/>
          <p:cNvSpPr/>
          <p:nvPr/>
        </p:nvSpPr>
        <p:spPr>
          <a:xfrm>
            <a:off x="745236" y="4485132"/>
            <a:ext cx="1947672" cy="475488"/>
          </a:xfrm>
          <a:prstGeom prst="roundRect">
            <a:avLst>
              <a:gd name="adj" fmla="val 15385"/>
            </a:avLst>
          </a:prstGeom>
          <a:solidFill>
            <a:srgbClr val="FFFFFF"/>
          </a:solidFill>
          <a:ln w="12700">
            <a:solidFill>
              <a:srgbClr val="DCE4EC"/>
            </a:solidFill>
            <a:prstDash val="solid"/>
          </a:ln>
        </p:spPr>
      </p:sp>
      <p:sp>
        <p:nvSpPr>
          <p:cNvPr id="24" name="Text 22"/>
          <p:cNvSpPr txBox="1"/>
          <p:nvPr/>
        </p:nvSpPr>
        <p:spPr>
          <a:xfrm>
            <a:off x="873252" y="4521708"/>
            <a:ext cx="1691640" cy="219456"/>
          </a:xfrm>
          <a:prstGeom prst="rect">
            <a:avLst/>
          </a:prstGeom>
          <a:noFill/>
          <a:ln/>
        </p:spPr>
        <p:txBody>
          <a:bodyPr wrap="square" lIns="0" tIns="0" rIns="0" bIns="0" rtlCol="0" anchor="ctr"/>
          <a:lstStyle/>
          <a:p>
            <a:pPr marL="0" indent="0">
              <a:buNone/>
            </a:pPr>
            <a:r>
              <a:rPr lang="en-US" sz="950" b="1" dirty="0">
                <a:solidFill>
                  <a:srgbClr val="16202B"/>
                </a:solidFill>
                <a:latin typeface="Calibri" pitchFamily="34" charset="0"/>
                <a:ea typeface="Calibri" pitchFamily="34" charset="-122"/>
                <a:cs typeface="Calibri" pitchFamily="34" charset="-120"/>
              </a:rPr>
              <a:t>Exclusive</a:t>
            </a:r>
            <a:endParaRPr lang="en-US" sz="950" dirty="0"/>
          </a:p>
        </p:txBody>
      </p:sp>
      <p:sp>
        <p:nvSpPr>
          <p:cNvPr id="25" name="Text 23"/>
          <p:cNvSpPr txBox="1"/>
          <p:nvPr/>
        </p:nvSpPr>
        <p:spPr>
          <a:xfrm>
            <a:off x="873252" y="4722876"/>
            <a:ext cx="1691640" cy="201168"/>
          </a:xfrm>
          <a:prstGeom prst="rect">
            <a:avLst/>
          </a:prstGeom>
          <a:noFill/>
          <a:ln/>
        </p:spPr>
        <p:txBody>
          <a:bodyPr wrap="square" lIns="0" tIns="0" rIns="0" bIns="0" rtlCol="0" anchor="ctr"/>
          <a:lstStyle/>
          <a:p>
            <a:pPr marL="0" indent="0">
              <a:buNone/>
            </a:pPr>
            <a:r>
              <a:rPr lang="en-US" sz="800" dirty="0">
                <a:solidFill>
                  <a:srgbClr val="5E6D7D"/>
                </a:solidFill>
                <a:latin typeface="Calibri" pitchFamily="34" charset="0"/>
                <a:ea typeface="Calibri" pitchFamily="34" charset="-122"/>
                <a:cs typeface="Calibri" pitchFamily="34" charset="-120"/>
              </a:rPr>
              <a:t>9 min · needs approval</a:t>
            </a:r>
            <a:endParaRPr lang="en-US" sz="800" dirty="0"/>
          </a:p>
        </p:txBody>
      </p:sp>
      <p:sp>
        <p:nvSpPr>
          <p:cNvPr id="26" name="Shape 24"/>
          <p:cNvSpPr/>
          <p:nvPr/>
        </p:nvSpPr>
        <p:spPr>
          <a:xfrm>
            <a:off x="745236" y="5125212"/>
            <a:ext cx="1947672" cy="420624"/>
          </a:xfrm>
          <a:prstGeom prst="roundRect">
            <a:avLst>
              <a:gd name="adj" fmla="val 21739"/>
            </a:avLst>
          </a:prstGeom>
          <a:solidFill>
            <a:srgbClr val="E85D04"/>
          </a:solidFill>
          <a:ln/>
        </p:spPr>
      </p:sp>
      <p:sp>
        <p:nvSpPr>
          <p:cNvPr id="27" name="Text 25"/>
          <p:cNvSpPr txBox="1"/>
          <p:nvPr/>
        </p:nvSpPr>
        <p:spPr>
          <a:xfrm>
            <a:off x="745236" y="5125212"/>
            <a:ext cx="1947672" cy="42062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Confirm ride</a:t>
            </a:r>
            <a:endParaRPr lang="en-US" sz="1050" dirty="0"/>
          </a:p>
        </p:txBody>
      </p:sp>
      <p:sp>
        <p:nvSpPr>
          <p:cNvPr id="28" name="Shape 26"/>
          <p:cNvSpPr/>
          <p:nvPr/>
        </p:nvSpPr>
        <p:spPr>
          <a:xfrm>
            <a:off x="3182112" y="1645920"/>
            <a:ext cx="4224528" cy="4498848"/>
          </a:xfrm>
          <a:prstGeom prst="roundRect">
            <a:avLst>
              <a:gd name="adj" fmla="val 2597"/>
            </a:avLst>
          </a:prstGeom>
          <a:solidFill>
            <a:srgbClr val="F7F9FB"/>
          </a:solidFill>
          <a:ln w="12700">
            <a:solidFill>
              <a:srgbClr val="DCE4EC"/>
            </a:solidFill>
            <a:prstDash val="solid"/>
          </a:ln>
        </p:spPr>
      </p:sp>
      <p:sp>
        <p:nvSpPr>
          <p:cNvPr id="29" name="Text 27"/>
          <p:cNvSpPr txBox="1"/>
          <p:nvPr/>
        </p:nvSpPr>
        <p:spPr>
          <a:xfrm>
            <a:off x="3456432" y="1847088"/>
            <a:ext cx="3675888" cy="219456"/>
          </a:xfrm>
          <a:prstGeom prst="rect">
            <a:avLst/>
          </a:prstGeom>
          <a:noFill/>
          <a:ln/>
        </p:spPr>
        <p:txBody>
          <a:bodyPr wrap="square" lIns="0" tIns="0" rIns="0" bIns="0" rtlCol="0" anchor="t"/>
          <a:lstStyle/>
          <a:p>
            <a:pPr marL="0" indent="0">
              <a:buNone/>
            </a:pPr>
            <a:r>
              <a:rPr lang="en-US" sz="900" b="1" kern="0" spc="160" dirty="0">
                <a:solidFill>
                  <a:srgbClr val="5E6D7D"/>
                </a:solidFill>
                <a:latin typeface="Arial" pitchFamily="34" charset="0"/>
                <a:ea typeface="Arial" pitchFamily="34" charset="-122"/>
                <a:cs typeface="Arial" pitchFamily="34" charset="-120"/>
              </a:rPr>
              <a:t>EMPLOYEE DETAILS</a:t>
            </a:r>
            <a:endParaRPr lang="en-US" sz="900" dirty="0"/>
          </a:p>
        </p:txBody>
      </p:sp>
      <p:sp>
        <p:nvSpPr>
          <p:cNvPr id="30" name="Text 28"/>
          <p:cNvSpPr txBox="1"/>
          <p:nvPr/>
        </p:nvSpPr>
        <p:spPr>
          <a:xfrm>
            <a:off x="3456432" y="2066544"/>
            <a:ext cx="3675888" cy="274320"/>
          </a:xfrm>
          <a:prstGeom prst="rect">
            <a:avLst/>
          </a:prstGeom>
          <a:noFill/>
          <a:ln/>
        </p:spPr>
        <p:txBody>
          <a:bodyPr wrap="square" lIns="0" tIns="0" rIns="0" bIns="0" rtlCol="0" anchor="ctr"/>
          <a:lstStyle/>
          <a:p>
            <a:pPr marL="0" indent="0">
              <a:buNone/>
            </a:pPr>
            <a:r>
              <a:rPr lang="en-US" sz="1400" b="1" dirty="0">
                <a:solidFill>
                  <a:srgbClr val="16202B"/>
                </a:solidFill>
                <a:latin typeface="Arial" pitchFamily="34" charset="0"/>
                <a:ea typeface="Arial" pitchFamily="34" charset="-122"/>
                <a:cs typeface="Arial" pitchFamily="34" charset="-120"/>
              </a:rPr>
              <a:t>Pick from the list, or type it in</a:t>
            </a:r>
            <a:endParaRPr lang="en-US" sz="1400" dirty="0"/>
          </a:p>
        </p:txBody>
      </p:sp>
      <p:sp>
        <p:nvSpPr>
          <p:cNvPr id="31" name="Shape 29"/>
          <p:cNvSpPr/>
          <p:nvPr/>
        </p:nvSpPr>
        <p:spPr>
          <a:xfrm>
            <a:off x="3456432" y="2468880"/>
            <a:ext cx="3675888" cy="566928"/>
          </a:xfrm>
          <a:prstGeom prst="roundRect">
            <a:avLst>
              <a:gd name="adj" fmla="val 12903"/>
            </a:avLst>
          </a:prstGeom>
          <a:solidFill>
            <a:srgbClr val="FFFFFF"/>
          </a:solidFill>
          <a:ln w="19050">
            <a:solidFill>
              <a:srgbClr val="E85D04"/>
            </a:solidFill>
            <a:prstDash val="solid"/>
          </a:ln>
        </p:spPr>
      </p:sp>
      <p:sp>
        <p:nvSpPr>
          <p:cNvPr id="32" name="Text 30"/>
          <p:cNvSpPr txBox="1"/>
          <p:nvPr/>
        </p:nvSpPr>
        <p:spPr>
          <a:xfrm>
            <a:off x="3621024" y="2542032"/>
            <a:ext cx="2761488" cy="182880"/>
          </a:xfrm>
          <a:prstGeom prst="rect">
            <a:avLst/>
          </a:prstGeom>
          <a:noFill/>
          <a:ln/>
        </p:spPr>
        <p:txBody>
          <a:bodyPr wrap="square" lIns="0" tIns="0" rIns="0" bIns="0" rtlCol="0" anchor="t"/>
          <a:lstStyle/>
          <a:p>
            <a:pPr marL="0" indent="0">
              <a:buNone/>
            </a:pPr>
            <a:r>
              <a:rPr lang="en-US" sz="850" dirty="0">
                <a:solidFill>
                  <a:srgbClr val="5E6D7D"/>
                </a:solidFill>
                <a:latin typeface="Calibri" pitchFamily="34" charset="0"/>
                <a:ea typeface="Calibri" pitchFamily="34" charset="-122"/>
                <a:cs typeface="Calibri" pitchFamily="34" charset="-120"/>
              </a:rPr>
              <a:t>P. No.</a:t>
            </a:r>
            <a:endParaRPr lang="en-US" sz="850" dirty="0"/>
          </a:p>
        </p:txBody>
      </p:sp>
      <p:sp>
        <p:nvSpPr>
          <p:cNvPr id="33" name="Text 31"/>
          <p:cNvSpPr txBox="1"/>
          <p:nvPr/>
        </p:nvSpPr>
        <p:spPr>
          <a:xfrm>
            <a:off x="3621024" y="2715768"/>
            <a:ext cx="2761488" cy="237744"/>
          </a:xfrm>
          <a:prstGeom prst="rect">
            <a:avLst/>
          </a:prstGeom>
          <a:noFill/>
          <a:ln/>
        </p:spPr>
        <p:txBody>
          <a:bodyPr wrap="square" lIns="0" tIns="0" rIns="0" bIns="0" rtlCol="0" anchor="ctr"/>
          <a:lstStyle/>
          <a:p>
            <a:pPr marL="0" indent="0">
              <a:buNone/>
            </a:pPr>
            <a:r>
              <a:rPr lang="en-US" sz="1100" b="1" dirty="0">
                <a:solidFill>
                  <a:srgbClr val="16202B"/>
                </a:solidFill>
                <a:latin typeface="Calibri" pitchFamily="34" charset="0"/>
                <a:ea typeface="Calibri" pitchFamily="34" charset="-122"/>
                <a:cs typeface="Calibri" pitchFamily="34" charset="-120"/>
              </a:rPr>
              <a:t>LHS-40218</a:t>
            </a:r>
            <a:endParaRPr lang="en-US" sz="1100" dirty="0"/>
          </a:p>
        </p:txBody>
      </p:sp>
      <p:pic>
        <p:nvPicPr>
          <p:cNvPr id="34" name="Image 0" descr="preencoded.png"/>
          <p:cNvPicPr>
            <a:picLocks noChangeAspect="1"/>
          </p:cNvPicPr>
          <p:nvPr/>
        </p:nvPicPr>
        <p:blipFill>
          <a:blip r:embed="rId3"/>
          <a:stretch>
            <a:fillRect/>
          </a:stretch>
        </p:blipFill>
        <p:spPr>
          <a:xfrm>
            <a:off x="6803136" y="2642616"/>
            <a:ext cx="219456" cy="219456"/>
          </a:xfrm>
          <a:prstGeom prst="rect">
            <a:avLst/>
          </a:prstGeom>
        </p:spPr>
      </p:pic>
      <p:sp>
        <p:nvSpPr>
          <p:cNvPr id="35" name="Shape 32"/>
          <p:cNvSpPr/>
          <p:nvPr/>
        </p:nvSpPr>
        <p:spPr>
          <a:xfrm>
            <a:off x="3456432" y="3182112"/>
            <a:ext cx="3675888" cy="566928"/>
          </a:xfrm>
          <a:prstGeom prst="roundRect">
            <a:avLst>
              <a:gd name="adj" fmla="val 12903"/>
            </a:avLst>
          </a:prstGeom>
          <a:solidFill>
            <a:srgbClr val="FFFFFF"/>
          </a:solidFill>
          <a:ln w="12700">
            <a:solidFill>
              <a:srgbClr val="DCE4EC"/>
            </a:solidFill>
            <a:prstDash val="solid"/>
          </a:ln>
        </p:spPr>
      </p:sp>
      <p:sp>
        <p:nvSpPr>
          <p:cNvPr id="36" name="Text 33"/>
          <p:cNvSpPr txBox="1"/>
          <p:nvPr/>
        </p:nvSpPr>
        <p:spPr>
          <a:xfrm>
            <a:off x="3621024" y="3255264"/>
            <a:ext cx="2761488" cy="182880"/>
          </a:xfrm>
          <a:prstGeom prst="rect">
            <a:avLst/>
          </a:prstGeom>
          <a:noFill/>
          <a:ln/>
        </p:spPr>
        <p:txBody>
          <a:bodyPr wrap="square" lIns="0" tIns="0" rIns="0" bIns="0" rtlCol="0" anchor="t"/>
          <a:lstStyle/>
          <a:p>
            <a:pPr marL="0" indent="0">
              <a:buNone/>
            </a:pPr>
            <a:r>
              <a:rPr lang="en-US" sz="850" dirty="0">
                <a:solidFill>
                  <a:srgbClr val="5E6D7D"/>
                </a:solidFill>
                <a:latin typeface="Calibri" pitchFamily="34" charset="0"/>
                <a:ea typeface="Calibri" pitchFamily="34" charset="-122"/>
                <a:cs typeface="Calibri" pitchFamily="34" charset="-120"/>
              </a:rPr>
              <a:t>Employee name</a:t>
            </a:r>
            <a:endParaRPr lang="en-US" sz="850" dirty="0"/>
          </a:p>
        </p:txBody>
      </p:sp>
      <p:sp>
        <p:nvSpPr>
          <p:cNvPr id="37" name="Text 34"/>
          <p:cNvSpPr txBox="1"/>
          <p:nvPr/>
        </p:nvSpPr>
        <p:spPr>
          <a:xfrm>
            <a:off x="3621024" y="3429000"/>
            <a:ext cx="2761488" cy="237744"/>
          </a:xfrm>
          <a:prstGeom prst="rect">
            <a:avLst/>
          </a:prstGeom>
          <a:noFill/>
          <a:ln/>
        </p:spPr>
        <p:txBody>
          <a:bodyPr wrap="square" lIns="0" tIns="0" rIns="0" bIns="0" rtlCol="0" anchor="ctr"/>
          <a:lstStyle/>
          <a:p>
            <a:pPr marL="0" indent="0">
              <a:buNone/>
            </a:pPr>
            <a:r>
              <a:rPr lang="en-US" sz="1100" b="1" dirty="0">
                <a:solidFill>
                  <a:srgbClr val="16202B"/>
                </a:solidFill>
                <a:latin typeface="Calibri" pitchFamily="34" charset="0"/>
                <a:ea typeface="Calibri" pitchFamily="34" charset="-122"/>
                <a:cs typeface="Calibri" pitchFamily="34" charset="-120"/>
              </a:rPr>
              <a:t>A. Raghavan</a:t>
            </a:r>
            <a:endParaRPr lang="en-US" sz="1100" dirty="0"/>
          </a:p>
        </p:txBody>
      </p:sp>
      <p:pic>
        <p:nvPicPr>
          <p:cNvPr id="38" name="Image 1" descr="preencoded.png"/>
          <p:cNvPicPr>
            <a:picLocks noChangeAspect="1"/>
          </p:cNvPicPr>
          <p:nvPr/>
        </p:nvPicPr>
        <p:blipFill>
          <a:blip r:embed="rId4"/>
          <a:stretch>
            <a:fillRect/>
          </a:stretch>
        </p:blipFill>
        <p:spPr>
          <a:xfrm>
            <a:off x="6803136" y="3355848"/>
            <a:ext cx="219456" cy="219456"/>
          </a:xfrm>
          <a:prstGeom prst="rect">
            <a:avLst/>
          </a:prstGeom>
        </p:spPr>
      </p:pic>
      <p:sp>
        <p:nvSpPr>
          <p:cNvPr id="39" name="Shape 35"/>
          <p:cNvSpPr/>
          <p:nvPr/>
        </p:nvSpPr>
        <p:spPr>
          <a:xfrm>
            <a:off x="3456432" y="3895344"/>
            <a:ext cx="3675888" cy="566928"/>
          </a:xfrm>
          <a:prstGeom prst="roundRect">
            <a:avLst>
              <a:gd name="adj" fmla="val 12903"/>
            </a:avLst>
          </a:prstGeom>
          <a:solidFill>
            <a:srgbClr val="FFFFFF"/>
          </a:solidFill>
          <a:ln w="12700">
            <a:solidFill>
              <a:srgbClr val="DCE4EC"/>
            </a:solidFill>
            <a:prstDash val="solid"/>
          </a:ln>
        </p:spPr>
      </p:sp>
      <p:sp>
        <p:nvSpPr>
          <p:cNvPr id="40" name="Text 36"/>
          <p:cNvSpPr txBox="1"/>
          <p:nvPr/>
        </p:nvSpPr>
        <p:spPr>
          <a:xfrm>
            <a:off x="3621024" y="3968496"/>
            <a:ext cx="2761488" cy="182880"/>
          </a:xfrm>
          <a:prstGeom prst="rect">
            <a:avLst/>
          </a:prstGeom>
          <a:noFill/>
          <a:ln/>
        </p:spPr>
        <p:txBody>
          <a:bodyPr wrap="square" lIns="0" tIns="0" rIns="0" bIns="0" rtlCol="0" anchor="t"/>
          <a:lstStyle/>
          <a:p>
            <a:pPr marL="0" indent="0">
              <a:buNone/>
            </a:pPr>
            <a:r>
              <a:rPr lang="en-US" sz="850" dirty="0">
                <a:solidFill>
                  <a:srgbClr val="5E6D7D"/>
                </a:solidFill>
                <a:latin typeface="Calibri" pitchFamily="34" charset="0"/>
                <a:ea typeface="Calibri" pitchFamily="34" charset="-122"/>
                <a:cs typeface="Calibri" pitchFamily="34" charset="-120"/>
              </a:rPr>
              <a:t>Email ID</a:t>
            </a:r>
            <a:endParaRPr lang="en-US" sz="850" dirty="0"/>
          </a:p>
        </p:txBody>
      </p:sp>
      <p:sp>
        <p:nvSpPr>
          <p:cNvPr id="41" name="Text 37"/>
          <p:cNvSpPr txBox="1"/>
          <p:nvPr/>
        </p:nvSpPr>
        <p:spPr>
          <a:xfrm>
            <a:off x="3621024" y="4142232"/>
            <a:ext cx="2761488" cy="237744"/>
          </a:xfrm>
          <a:prstGeom prst="rect">
            <a:avLst/>
          </a:prstGeom>
          <a:noFill/>
          <a:ln/>
        </p:spPr>
        <p:txBody>
          <a:bodyPr wrap="square" lIns="0" tIns="0" rIns="0" bIns="0" rtlCol="0" anchor="ctr"/>
          <a:lstStyle/>
          <a:p>
            <a:pPr marL="0" indent="0">
              <a:buNone/>
            </a:pPr>
            <a:r>
              <a:rPr lang="en-US" sz="1100" b="1" dirty="0">
                <a:solidFill>
                  <a:srgbClr val="16202B"/>
                </a:solidFill>
                <a:latin typeface="Calibri" pitchFamily="34" charset="0"/>
                <a:ea typeface="Calibri" pitchFamily="34" charset="-122"/>
                <a:cs typeface="Calibri" pitchFamily="34" charset="-120"/>
              </a:rPr>
              <a:t>a.raghavan@lhs.co.in</a:t>
            </a:r>
            <a:endParaRPr lang="en-US" sz="1100" dirty="0"/>
          </a:p>
        </p:txBody>
      </p:sp>
      <p:pic>
        <p:nvPicPr>
          <p:cNvPr id="42" name="Image 2" descr="preencoded.png"/>
          <p:cNvPicPr>
            <a:picLocks noChangeAspect="1"/>
          </p:cNvPicPr>
          <p:nvPr/>
        </p:nvPicPr>
        <p:blipFill>
          <a:blip r:embed="rId4"/>
          <a:stretch>
            <a:fillRect/>
          </a:stretch>
        </p:blipFill>
        <p:spPr>
          <a:xfrm>
            <a:off x="6803136" y="4069080"/>
            <a:ext cx="219456" cy="219456"/>
          </a:xfrm>
          <a:prstGeom prst="rect">
            <a:avLst/>
          </a:prstGeom>
        </p:spPr>
      </p:pic>
      <p:sp>
        <p:nvSpPr>
          <p:cNvPr id="43" name="Shape 38"/>
          <p:cNvSpPr/>
          <p:nvPr/>
        </p:nvSpPr>
        <p:spPr>
          <a:xfrm>
            <a:off x="3456432" y="4608576"/>
            <a:ext cx="3675888" cy="566928"/>
          </a:xfrm>
          <a:prstGeom prst="roundRect">
            <a:avLst>
              <a:gd name="adj" fmla="val 12903"/>
            </a:avLst>
          </a:prstGeom>
          <a:solidFill>
            <a:srgbClr val="FFFFFF"/>
          </a:solidFill>
          <a:ln w="12700">
            <a:solidFill>
              <a:srgbClr val="DCE4EC"/>
            </a:solidFill>
            <a:prstDash val="solid"/>
          </a:ln>
        </p:spPr>
      </p:sp>
      <p:sp>
        <p:nvSpPr>
          <p:cNvPr id="44" name="Text 39"/>
          <p:cNvSpPr txBox="1"/>
          <p:nvPr/>
        </p:nvSpPr>
        <p:spPr>
          <a:xfrm>
            <a:off x="3621024" y="4681728"/>
            <a:ext cx="2761488" cy="182880"/>
          </a:xfrm>
          <a:prstGeom prst="rect">
            <a:avLst/>
          </a:prstGeom>
          <a:noFill/>
          <a:ln/>
        </p:spPr>
        <p:txBody>
          <a:bodyPr wrap="square" lIns="0" tIns="0" rIns="0" bIns="0" rtlCol="0" anchor="t"/>
          <a:lstStyle/>
          <a:p>
            <a:pPr marL="0" indent="0">
              <a:buNone/>
            </a:pPr>
            <a:r>
              <a:rPr lang="en-US" sz="850" dirty="0">
                <a:solidFill>
                  <a:srgbClr val="5E6D7D"/>
                </a:solidFill>
                <a:latin typeface="Calibri" pitchFamily="34" charset="0"/>
                <a:ea typeface="Calibri" pitchFamily="34" charset="-122"/>
                <a:cs typeface="Calibri" pitchFamily="34" charset="-120"/>
              </a:rPr>
              <a:t>Contact number</a:t>
            </a:r>
            <a:endParaRPr lang="en-US" sz="850" dirty="0"/>
          </a:p>
        </p:txBody>
      </p:sp>
      <p:sp>
        <p:nvSpPr>
          <p:cNvPr id="45" name="Text 40"/>
          <p:cNvSpPr txBox="1"/>
          <p:nvPr/>
        </p:nvSpPr>
        <p:spPr>
          <a:xfrm>
            <a:off x="3621024" y="4855464"/>
            <a:ext cx="2761488" cy="237744"/>
          </a:xfrm>
          <a:prstGeom prst="rect">
            <a:avLst/>
          </a:prstGeom>
          <a:noFill/>
          <a:ln/>
        </p:spPr>
        <p:txBody>
          <a:bodyPr wrap="square" lIns="0" tIns="0" rIns="0" bIns="0" rtlCol="0" anchor="ctr"/>
          <a:lstStyle/>
          <a:p>
            <a:pPr marL="0" indent="0">
              <a:buNone/>
            </a:pPr>
            <a:r>
              <a:rPr lang="en-US" sz="1100" b="1" dirty="0">
                <a:solidFill>
                  <a:srgbClr val="16202B"/>
                </a:solidFill>
                <a:latin typeface="Calibri" pitchFamily="34" charset="0"/>
                <a:ea typeface="Calibri" pitchFamily="34" charset="-122"/>
                <a:cs typeface="Calibri" pitchFamily="34" charset="-120"/>
              </a:rPr>
              <a:t>+91 98xxx 41227</a:t>
            </a:r>
            <a:endParaRPr lang="en-US" sz="1100" dirty="0"/>
          </a:p>
        </p:txBody>
      </p:sp>
      <p:pic>
        <p:nvPicPr>
          <p:cNvPr id="46" name="Image 3" descr="preencoded.png"/>
          <p:cNvPicPr>
            <a:picLocks noChangeAspect="1"/>
          </p:cNvPicPr>
          <p:nvPr/>
        </p:nvPicPr>
        <p:blipFill>
          <a:blip r:embed="rId4"/>
          <a:stretch>
            <a:fillRect/>
          </a:stretch>
        </p:blipFill>
        <p:spPr>
          <a:xfrm>
            <a:off x="6803136" y="4782312"/>
            <a:ext cx="219456" cy="219456"/>
          </a:xfrm>
          <a:prstGeom prst="rect">
            <a:avLst/>
          </a:prstGeom>
        </p:spPr>
      </p:pic>
      <p:sp>
        <p:nvSpPr>
          <p:cNvPr id="47" name="Shape 41"/>
          <p:cNvSpPr/>
          <p:nvPr/>
        </p:nvSpPr>
        <p:spPr>
          <a:xfrm>
            <a:off x="3456432" y="5394960"/>
            <a:ext cx="3675888" cy="548640"/>
          </a:xfrm>
          <a:prstGeom prst="roundRect">
            <a:avLst>
              <a:gd name="adj" fmla="val 16667"/>
            </a:avLst>
          </a:prstGeom>
          <a:solidFill>
            <a:srgbClr val="E2F6F3"/>
          </a:solidFill>
          <a:ln/>
        </p:spPr>
      </p:sp>
      <p:sp>
        <p:nvSpPr>
          <p:cNvPr id="48" name="Text 42"/>
          <p:cNvSpPr txBox="1"/>
          <p:nvPr/>
        </p:nvSpPr>
        <p:spPr>
          <a:xfrm>
            <a:off x="3602736" y="5394960"/>
            <a:ext cx="3383280" cy="548640"/>
          </a:xfrm>
          <a:prstGeom prst="rect">
            <a:avLst/>
          </a:prstGeom>
          <a:noFill/>
          <a:ln/>
        </p:spPr>
        <p:txBody>
          <a:bodyPr wrap="square" lIns="0" tIns="0" rIns="0" bIns="0"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Auto-filled from HRMS. </a:t>
            </a:r>
            <a:r>
              <a:rPr lang="en-US" sz="1000" dirty="0">
                <a:solidFill>
                  <a:srgbClr val="16202B"/>
                </a:solidFill>
                <a:latin typeface="Calibri" pitchFamily="34" charset="0"/>
                <a:ea typeface="Calibri" pitchFamily="34" charset="-122"/>
                <a:cs typeface="Calibri" pitchFamily="34" charset="-120"/>
              </a:rPr>
              <a:t>Every field stays editable, so a stale record never blocks a booking.</a:t>
            </a:r>
            <a:endParaRPr lang="en-US" sz="1000" dirty="0"/>
          </a:p>
        </p:txBody>
      </p:sp>
      <p:sp>
        <p:nvSpPr>
          <p:cNvPr id="49" name="Shape 43"/>
          <p:cNvSpPr/>
          <p:nvPr/>
        </p:nvSpPr>
        <p:spPr>
          <a:xfrm>
            <a:off x="7717536" y="1645920"/>
            <a:ext cx="3907231" cy="804672"/>
          </a:xfrm>
          <a:prstGeom prst="roundRect">
            <a:avLst>
              <a:gd name="adj" fmla="val 13636"/>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50" name="Shape 44"/>
          <p:cNvSpPr/>
          <p:nvPr/>
        </p:nvSpPr>
        <p:spPr>
          <a:xfrm>
            <a:off x="7936992" y="1810512"/>
            <a:ext cx="475488" cy="475488"/>
          </a:xfrm>
          <a:prstGeom prst="ellipse">
            <a:avLst/>
          </a:prstGeom>
          <a:solidFill>
            <a:srgbClr val="FFEDE0"/>
          </a:solidFill>
          <a:ln/>
        </p:spPr>
      </p:sp>
      <p:pic>
        <p:nvPicPr>
          <p:cNvPr id="51" name="Image 4" descr="preencoded.png"/>
          <p:cNvPicPr>
            <a:picLocks noChangeAspect="1"/>
          </p:cNvPicPr>
          <p:nvPr/>
        </p:nvPicPr>
        <p:blipFill>
          <a:blip r:embed="rId5"/>
          <a:stretch>
            <a:fillRect/>
          </a:stretch>
        </p:blipFill>
        <p:spPr>
          <a:xfrm>
            <a:off x="8060619" y="1934139"/>
            <a:ext cx="228234" cy="228234"/>
          </a:xfrm>
          <a:prstGeom prst="rect">
            <a:avLst/>
          </a:prstGeom>
        </p:spPr>
      </p:pic>
      <p:sp>
        <p:nvSpPr>
          <p:cNvPr id="52" name="Text 45"/>
          <p:cNvSpPr txBox="1"/>
          <p:nvPr/>
        </p:nvSpPr>
        <p:spPr>
          <a:xfrm>
            <a:off x="8522208" y="1755648"/>
            <a:ext cx="2883103" cy="256032"/>
          </a:xfrm>
          <a:prstGeom prst="rect">
            <a:avLst/>
          </a:prstGeom>
          <a:noFill/>
          <a:ln/>
        </p:spPr>
        <p:txBody>
          <a:bodyPr wrap="square" lIns="0" tIns="0" rIns="0" bIns="0" rtlCol="0" anchor="ctr"/>
          <a:lstStyle/>
          <a:p>
            <a:pPr marL="0" indent="0">
              <a:buNone/>
            </a:pPr>
            <a:r>
              <a:rPr lang="en-US" sz="1250" b="1" dirty="0">
                <a:solidFill>
                  <a:srgbClr val="16202B"/>
                </a:solidFill>
                <a:latin typeface="Arial" pitchFamily="34" charset="0"/>
                <a:ea typeface="Arial" pitchFamily="34" charset="-122"/>
                <a:cs typeface="Arial" pitchFamily="34" charset="-120"/>
              </a:rPr>
              <a:t>Familiar in one tap</a:t>
            </a:r>
            <a:endParaRPr lang="en-US" sz="1250" dirty="0"/>
          </a:p>
        </p:txBody>
      </p:sp>
      <p:sp>
        <p:nvSpPr>
          <p:cNvPr id="53" name="Text 46"/>
          <p:cNvSpPr txBox="1"/>
          <p:nvPr/>
        </p:nvSpPr>
        <p:spPr>
          <a:xfrm>
            <a:off x="8522208" y="2029968"/>
            <a:ext cx="2883103" cy="384048"/>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The same book, track and rate flow people already use outside the plant.</a:t>
            </a:r>
            <a:endParaRPr lang="en-US" sz="1000" dirty="0"/>
          </a:p>
        </p:txBody>
      </p:sp>
      <p:sp>
        <p:nvSpPr>
          <p:cNvPr id="54" name="Shape 47"/>
          <p:cNvSpPr/>
          <p:nvPr/>
        </p:nvSpPr>
        <p:spPr>
          <a:xfrm>
            <a:off x="7717536" y="2560320"/>
            <a:ext cx="3907231" cy="804672"/>
          </a:xfrm>
          <a:prstGeom prst="roundRect">
            <a:avLst>
              <a:gd name="adj" fmla="val 13636"/>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55" name="Shape 48"/>
          <p:cNvSpPr/>
          <p:nvPr/>
        </p:nvSpPr>
        <p:spPr>
          <a:xfrm>
            <a:off x="7936992" y="2724912"/>
            <a:ext cx="475488" cy="475488"/>
          </a:xfrm>
          <a:prstGeom prst="ellipse">
            <a:avLst/>
          </a:prstGeom>
          <a:solidFill>
            <a:srgbClr val="FFEDE0"/>
          </a:solidFill>
          <a:ln/>
        </p:spPr>
      </p:sp>
      <p:pic>
        <p:nvPicPr>
          <p:cNvPr id="56" name="Image 5" descr="preencoded.png"/>
          <p:cNvPicPr>
            <a:picLocks noChangeAspect="1"/>
          </p:cNvPicPr>
          <p:nvPr/>
        </p:nvPicPr>
        <p:blipFill>
          <a:blip r:embed="rId6"/>
          <a:stretch>
            <a:fillRect/>
          </a:stretch>
        </p:blipFill>
        <p:spPr>
          <a:xfrm>
            <a:off x="8060619" y="2848539"/>
            <a:ext cx="228234" cy="228234"/>
          </a:xfrm>
          <a:prstGeom prst="rect">
            <a:avLst/>
          </a:prstGeom>
        </p:spPr>
      </p:pic>
      <p:sp>
        <p:nvSpPr>
          <p:cNvPr id="57" name="Text 49"/>
          <p:cNvSpPr txBox="1"/>
          <p:nvPr/>
        </p:nvSpPr>
        <p:spPr>
          <a:xfrm>
            <a:off x="8522208" y="2670048"/>
            <a:ext cx="2883103" cy="256032"/>
          </a:xfrm>
          <a:prstGeom prst="rect">
            <a:avLst/>
          </a:prstGeom>
          <a:noFill/>
          <a:ln/>
        </p:spPr>
        <p:txBody>
          <a:bodyPr wrap="square" lIns="0" tIns="0" rIns="0" bIns="0" rtlCol="0" anchor="ctr"/>
          <a:lstStyle/>
          <a:p>
            <a:pPr marL="0" indent="0">
              <a:buNone/>
            </a:pPr>
            <a:r>
              <a:rPr lang="en-US" sz="1250" b="1" dirty="0">
                <a:solidFill>
                  <a:srgbClr val="16202B"/>
                </a:solidFill>
                <a:latin typeface="Arial" pitchFamily="34" charset="0"/>
                <a:ea typeface="Arial" pitchFamily="34" charset="-122"/>
                <a:cs typeface="Arial" pitchFamily="34" charset="-120"/>
              </a:rPr>
              <a:t>Book for someone else</a:t>
            </a:r>
            <a:endParaRPr lang="en-US" sz="1250" dirty="0"/>
          </a:p>
        </p:txBody>
      </p:sp>
      <p:sp>
        <p:nvSpPr>
          <p:cNvPr id="58" name="Text 50"/>
          <p:cNvSpPr txBox="1"/>
          <p:nvPr/>
        </p:nvSpPr>
        <p:spPr>
          <a:xfrm>
            <a:off x="8522208" y="2944368"/>
            <a:ext cx="2883103" cy="384048"/>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For a colleague, or for a visitor as their host.</a:t>
            </a:r>
            <a:endParaRPr lang="en-US" sz="1000" dirty="0"/>
          </a:p>
        </p:txBody>
      </p:sp>
      <p:sp>
        <p:nvSpPr>
          <p:cNvPr id="59" name="Shape 51"/>
          <p:cNvSpPr/>
          <p:nvPr/>
        </p:nvSpPr>
        <p:spPr>
          <a:xfrm>
            <a:off x="7717536" y="3474720"/>
            <a:ext cx="3907231" cy="804672"/>
          </a:xfrm>
          <a:prstGeom prst="roundRect">
            <a:avLst>
              <a:gd name="adj" fmla="val 13636"/>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60" name="Shape 52"/>
          <p:cNvSpPr/>
          <p:nvPr/>
        </p:nvSpPr>
        <p:spPr>
          <a:xfrm>
            <a:off x="7936992" y="3639312"/>
            <a:ext cx="475488" cy="475488"/>
          </a:xfrm>
          <a:prstGeom prst="ellipse">
            <a:avLst/>
          </a:prstGeom>
          <a:solidFill>
            <a:srgbClr val="FFEDE0"/>
          </a:solidFill>
          <a:ln/>
        </p:spPr>
      </p:sp>
      <p:pic>
        <p:nvPicPr>
          <p:cNvPr id="61" name="Image 6" descr="preencoded.png"/>
          <p:cNvPicPr>
            <a:picLocks noChangeAspect="1"/>
          </p:cNvPicPr>
          <p:nvPr/>
        </p:nvPicPr>
        <p:blipFill>
          <a:blip r:embed="rId7"/>
          <a:stretch>
            <a:fillRect/>
          </a:stretch>
        </p:blipFill>
        <p:spPr>
          <a:xfrm>
            <a:off x="8060619" y="3762939"/>
            <a:ext cx="228234" cy="228234"/>
          </a:xfrm>
          <a:prstGeom prst="rect">
            <a:avLst/>
          </a:prstGeom>
        </p:spPr>
      </p:pic>
      <p:sp>
        <p:nvSpPr>
          <p:cNvPr id="62" name="Text 53"/>
          <p:cNvSpPr txBox="1"/>
          <p:nvPr/>
        </p:nvSpPr>
        <p:spPr>
          <a:xfrm>
            <a:off x="8522208" y="3584448"/>
            <a:ext cx="2883103" cy="256032"/>
          </a:xfrm>
          <a:prstGeom prst="rect">
            <a:avLst/>
          </a:prstGeom>
          <a:noFill/>
          <a:ln/>
        </p:spPr>
        <p:txBody>
          <a:bodyPr wrap="square" lIns="0" tIns="0" rIns="0" bIns="0" rtlCol="0" anchor="ctr"/>
          <a:lstStyle/>
          <a:p>
            <a:pPr marL="0" indent="0">
              <a:buNone/>
            </a:pPr>
            <a:r>
              <a:rPr lang="en-US" sz="1250" b="1" dirty="0">
                <a:solidFill>
                  <a:srgbClr val="16202B"/>
                </a:solidFill>
                <a:latin typeface="Arial" pitchFamily="34" charset="0"/>
                <a:ea typeface="Arial" pitchFamily="34" charset="-122"/>
                <a:cs typeface="Arial" pitchFamily="34" charset="-120"/>
              </a:rPr>
              <a:t>Smart suggestions</a:t>
            </a:r>
            <a:endParaRPr lang="en-US" sz="1250" dirty="0"/>
          </a:p>
        </p:txBody>
      </p:sp>
      <p:sp>
        <p:nvSpPr>
          <p:cNvPr id="63" name="Text 54"/>
          <p:cNvSpPr txBox="1"/>
          <p:nvPr/>
        </p:nvSpPr>
        <p:spPr>
          <a:xfrm>
            <a:off x="8522208" y="3858768"/>
            <a:ext cx="2883103" cy="384048"/>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Next cab with seats, a shared ride, or a nearby stop that saves time.</a:t>
            </a:r>
            <a:endParaRPr lang="en-US" sz="1000" dirty="0"/>
          </a:p>
        </p:txBody>
      </p:sp>
      <p:sp>
        <p:nvSpPr>
          <p:cNvPr id="64" name="Shape 55"/>
          <p:cNvSpPr/>
          <p:nvPr/>
        </p:nvSpPr>
        <p:spPr>
          <a:xfrm>
            <a:off x="7717536" y="4389120"/>
            <a:ext cx="3907231" cy="804672"/>
          </a:xfrm>
          <a:prstGeom prst="roundRect">
            <a:avLst>
              <a:gd name="adj" fmla="val 13636"/>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65" name="Shape 56"/>
          <p:cNvSpPr/>
          <p:nvPr/>
        </p:nvSpPr>
        <p:spPr>
          <a:xfrm>
            <a:off x="7936992" y="4553712"/>
            <a:ext cx="475488" cy="475488"/>
          </a:xfrm>
          <a:prstGeom prst="ellipse">
            <a:avLst/>
          </a:prstGeom>
          <a:solidFill>
            <a:srgbClr val="FFEDE0"/>
          </a:solidFill>
          <a:ln/>
        </p:spPr>
      </p:sp>
      <p:pic>
        <p:nvPicPr>
          <p:cNvPr id="66" name="Image 7" descr="preencoded.png"/>
          <p:cNvPicPr>
            <a:picLocks noChangeAspect="1"/>
          </p:cNvPicPr>
          <p:nvPr/>
        </p:nvPicPr>
        <p:blipFill>
          <a:blip r:embed="rId8"/>
          <a:stretch>
            <a:fillRect/>
          </a:stretch>
        </p:blipFill>
        <p:spPr>
          <a:xfrm>
            <a:off x="8060619" y="4677339"/>
            <a:ext cx="228234" cy="228234"/>
          </a:xfrm>
          <a:prstGeom prst="rect">
            <a:avLst/>
          </a:prstGeom>
        </p:spPr>
      </p:pic>
      <p:sp>
        <p:nvSpPr>
          <p:cNvPr id="67" name="Text 57"/>
          <p:cNvSpPr txBox="1"/>
          <p:nvPr/>
        </p:nvSpPr>
        <p:spPr>
          <a:xfrm>
            <a:off x="8522208" y="4498848"/>
            <a:ext cx="2883103" cy="256032"/>
          </a:xfrm>
          <a:prstGeom prst="rect">
            <a:avLst/>
          </a:prstGeom>
          <a:noFill/>
          <a:ln/>
        </p:spPr>
        <p:txBody>
          <a:bodyPr wrap="square" lIns="0" tIns="0" rIns="0" bIns="0" rtlCol="0" anchor="ctr"/>
          <a:lstStyle/>
          <a:p>
            <a:pPr marL="0" indent="0">
              <a:buNone/>
            </a:pPr>
            <a:r>
              <a:rPr lang="en-US" sz="1250" b="1" dirty="0">
                <a:solidFill>
                  <a:srgbClr val="16202B"/>
                </a:solidFill>
                <a:latin typeface="Arial" pitchFamily="34" charset="0"/>
                <a:ea typeface="Arial" pitchFamily="34" charset="-122"/>
                <a:cs typeface="Arial" pitchFamily="34" charset="-120"/>
              </a:rPr>
              <a:t>English and Hindi</a:t>
            </a:r>
            <a:endParaRPr lang="en-US" sz="1250" dirty="0"/>
          </a:p>
        </p:txBody>
      </p:sp>
      <p:sp>
        <p:nvSpPr>
          <p:cNvPr id="68" name="Text 58"/>
          <p:cNvSpPr txBox="1"/>
          <p:nvPr/>
        </p:nvSpPr>
        <p:spPr>
          <a:xfrm>
            <a:off x="8522208" y="4773168"/>
            <a:ext cx="2883103" cy="384048"/>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Large targets, readable in sunlight, works on low-end phones.</a:t>
            </a:r>
            <a:endParaRPr lang="en-US" sz="1000" dirty="0"/>
          </a:p>
        </p:txBody>
      </p:sp>
      <p:sp>
        <p:nvSpPr>
          <p:cNvPr id="69" name="Shape 59"/>
          <p:cNvSpPr/>
          <p:nvPr/>
        </p:nvSpPr>
        <p:spPr>
          <a:xfrm>
            <a:off x="7717536" y="5303520"/>
            <a:ext cx="3907231" cy="804672"/>
          </a:xfrm>
          <a:prstGeom prst="roundRect">
            <a:avLst>
              <a:gd name="adj" fmla="val 13636"/>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70" name="Shape 60"/>
          <p:cNvSpPr/>
          <p:nvPr/>
        </p:nvSpPr>
        <p:spPr>
          <a:xfrm>
            <a:off x="7936992" y="5468112"/>
            <a:ext cx="475488" cy="475488"/>
          </a:xfrm>
          <a:prstGeom prst="ellipse">
            <a:avLst/>
          </a:prstGeom>
          <a:solidFill>
            <a:srgbClr val="FFEDE0"/>
          </a:solidFill>
          <a:ln/>
        </p:spPr>
      </p:sp>
      <p:pic>
        <p:nvPicPr>
          <p:cNvPr id="71" name="Image 8" descr="preencoded.png"/>
          <p:cNvPicPr>
            <a:picLocks noChangeAspect="1"/>
          </p:cNvPicPr>
          <p:nvPr/>
        </p:nvPicPr>
        <p:blipFill>
          <a:blip r:embed="rId9"/>
          <a:stretch>
            <a:fillRect/>
          </a:stretch>
        </p:blipFill>
        <p:spPr>
          <a:xfrm>
            <a:off x="8060619" y="5591739"/>
            <a:ext cx="228234" cy="228234"/>
          </a:xfrm>
          <a:prstGeom prst="rect">
            <a:avLst/>
          </a:prstGeom>
        </p:spPr>
      </p:pic>
      <p:sp>
        <p:nvSpPr>
          <p:cNvPr id="72" name="Text 61"/>
          <p:cNvSpPr txBox="1"/>
          <p:nvPr/>
        </p:nvSpPr>
        <p:spPr>
          <a:xfrm>
            <a:off x="8522208" y="5413248"/>
            <a:ext cx="2883103" cy="256032"/>
          </a:xfrm>
          <a:prstGeom prst="rect">
            <a:avLst/>
          </a:prstGeom>
          <a:noFill/>
          <a:ln/>
        </p:spPr>
        <p:txBody>
          <a:bodyPr wrap="square" lIns="0" tIns="0" rIns="0" bIns="0" rtlCol="0" anchor="ctr"/>
          <a:lstStyle/>
          <a:p>
            <a:pPr marL="0" indent="0">
              <a:buNone/>
            </a:pPr>
            <a:r>
              <a:rPr lang="en-US" sz="1250" b="1" dirty="0">
                <a:solidFill>
                  <a:srgbClr val="16202B"/>
                </a:solidFill>
                <a:latin typeface="Arial" pitchFamily="34" charset="0"/>
                <a:ea typeface="Arial" pitchFamily="34" charset="-122"/>
                <a:cs typeface="Arial" pitchFamily="34" charset="-120"/>
              </a:rPr>
              <a:t>Web and kiosk too</a:t>
            </a:r>
            <a:endParaRPr lang="en-US" sz="1250" dirty="0"/>
          </a:p>
        </p:txBody>
      </p:sp>
      <p:sp>
        <p:nvSpPr>
          <p:cNvPr id="73" name="Text 62"/>
          <p:cNvSpPr txBox="1"/>
          <p:nvPr/>
        </p:nvSpPr>
        <p:spPr>
          <a:xfrm>
            <a:off x="8522208" y="5687568"/>
            <a:ext cx="2883103" cy="384048"/>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Shop-floor staff without a smartphone book at a kiosk or the desk.</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5E6D7D"/>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5E6D7D"/>
                </a:solidFill>
                <a:latin typeface="Arial" pitchFamily="34" charset="0"/>
                <a:ea typeface="Arial" pitchFamily="34" charset="-122"/>
                <a:cs typeface="Arial" pitchFamily="34" charset="-120"/>
              </a:rPr>
              <a:t>11</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AFTER YOU BOOK</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16202B"/>
                </a:solidFill>
                <a:latin typeface="Arial" pitchFamily="34" charset="0"/>
                <a:ea typeface="Arial" pitchFamily="34" charset="-122"/>
                <a:cs typeface="Arial" pitchFamily="34" charset="-120"/>
              </a:rPr>
              <a:t>Confirmation, vehicle details and a live tracking link</a:t>
            </a:r>
            <a:endParaRPr lang="en-US" sz="3000" dirty="0"/>
          </a:p>
        </p:txBody>
      </p:sp>
      <p:sp>
        <p:nvSpPr>
          <p:cNvPr id="6" name="Text 4"/>
          <p:cNvSpPr txBox="1"/>
          <p:nvPr/>
        </p:nvSpPr>
        <p:spPr>
          <a:xfrm>
            <a:off x="566928" y="1179576"/>
            <a:ext cx="9509742" cy="274320"/>
          </a:xfrm>
          <a:prstGeom prst="rect">
            <a:avLst/>
          </a:prstGeom>
          <a:noFill/>
          <a:ln/>
        </p:spPr>
        <p:txBody>
          <a:bodyPr wrap="square" lIns="0" tIns="0" rIns="0" bIns="0" rtlCol="0" anchor="ctr"/>
          <a:lstStyle/>
          <a:p>
            <a:pPr marL="0" indent="0">
              <a:buNone/>
            </a:pPr>
            <a:r>
              <a:rPr lang="en-US" sz="1300" dirty="0">
                <a:solidFill>
                  <a:srgbClr val="5E6D7D"/>
                </a:solidFill>
                <a:latin typeface="Calibri" pitchFamily="34" charset="0"/>
                <a:ea typeface="Calibri" pitchFamily="34" charset="-122"/>
                <a:cs typeface="Calibri" pitchFamily="34" charset="-120"/>
              </a:rPr>
              <a:t>The moment a booking succeeds, the rider gets everything needed to find the cab and reach the driver.</a:t>
            </a:r>
            <a:endParaRPr lang="en-US" sz="1300" dirty="0"/>
          </a:p>
        </p:txBody>
      </p:sp>
      <p:sp>
        <p:nvSpPr>
          <p:cNvPr id="7" name="Shape 5"/>
          <p:cNvSpPr/>
          <p:nvPr/>
        </p:nvSpPr>
        <p:spPr>
          <a:xfrm>
            <a:off x="566928" y="1645920"/>
            <a:ext cx="3886200" cy="4498848"/>
          </a:xfrm>
          <a:prstGeom prst="roundRect">
            <a:avLst>
              <a:gd name="adj" fmla="val 2824"/>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8" name="Shape 6"/>
          <p:cNvSpPr/>
          <p:nvPr/>
        </p:nvSpPr>
        <p:spPr>
          <a:xfrm>
            <a:off x="566928" y="1645920"/>
            <a:ext cx="3886200" cy="786384"/>
          </a:xfrm>
          <a:prstGeom prst="roundRect">
            <a:avLst>
              <a:gd name="adj" fmla="val 13953"/>
            </a:avLst>
          </a:prstGeom>
          <a:solidFill>
            <a:srgbClr val="00A896"/>
          </a:solidFill>
          <a:ln/>
        </p:spPr>
      </p:sp>
      <p:sp>
        <p:nvSpPr>
          <p:cNvPr id="9" name="Shape 7"/>
          <p:cNvSpPr/>
          <p:nvPr/>
        </p:nvSpPr>
        <p:spPr>
          <a:xfrm>
            <a:off x="566928" y="2103120"/>
            <a:ext cx="3886200" cy="329184"/>
          </a:xfrm>
          <a:prstGeom prst="rect">
            <a:avLst/>
          </a:prstGeom>
          <a:solidFill>
            <a:srgbClr val="00A896"/>
          </a:solidFill>
          <a:ln/>
        </p:spPr>
      </p:sp>
      <p:pic>
        <p:nvPicPr>
          <p:cNvPr id="10" name="Image 0" descr="preencoded.png"/>
          <p:cNvPicPr>
            <a:picLocks noChangeAspect="1"/>
          </p:cNvPicPr>
          <p:nvPr/>
        </p:nvPicPr>
        <p:blipFill>
          <a:blip r:embed="rId3"/>
          <a:stretch>
            <a:fillRect/>
          </a:stretch>
        </p:blipFill>
        <p:spPr>
          <a:xfrm>
            <a:off x="822960" y="1883664"/>
            <a:ext cx="310896" cy="310896"/>
          </a:xfrm>
          <a:prstGeom prst="rect">
            <a:avLst/>
          </a:prstGeom>
        </p:spPr>
      </p:pic>
      <p:sp>
        <p:nvSpPr>
          <p:cNvPr id="11" name="Text 8"/>
          <p:cNvSpPr txBox="1"/>
          <p:nvPr/>
        </p:nvSpPr>
        <p:spPr>
          <a:xfrm>
            <a:off x="1225296" y="1645920"/>
            <a:ext cx="3063240" cy="786384"/>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Booking confirmed</a:t>
            </a:r>
            <a:endParaRPr lang="en-US" sz="1500" dirty="0"/>
          </a:p>
        </p:txBody>
      </p:sp>
      <p:sp>
        <p:nvSpPr>
          <p:cNvPr id="12" name="Shape 9"/>
          <p:cNvSpPr/>
          <p:nvPr/>
        </p:nvSpPr>
        <p:spPr>
          <a:xfrm>
            <a:off x="822960" y="2715768"/>
            <a:ext cx="457200" cy="457200"/>
          </a:xfrm>
          <a:prstGeom prst="ellipse">
            <a:avLst/>
          </a:prstGeom>
          <a:solidFill>
            <a:srgbClr val="F3F6F9"/>
          </a:solidFill>
          <a:ln/>
        </p:spPr>
      </p:sp>
      <p:pic>
        <p:nvPicPr>
          <p:cNvPr id="13" name="Image 1" descr="preencoded.png"/>
          <p:cNvPicPr>
            <a:picLocks noChangeAspect="1"/>
          </p:cNvPicPr>
          <p:nvPr/>
        </p:nvPicPr>
        <p:blipFill>
          <a:blip r:embed="rId4"/>
          <a:stretch>
            <a:fillRect/>
          </a:stretch>
        </p:blipFill>
        <p:spPr>
          <a:xfrm>
            <a:off x="941832" y="2834640"/>
            <a:ext cx="219456" cy="219456"/>
          </a:xfrm>
          <a:prstGeom prst="rect">
            <a:avLst/>
          </a:prstGeom>
        </p:spPr>
      </p:pic>
      <p:sp>
        <p:nvSpPr>
          <p:cNvPr id="14" name="Text 10"/>
          <p:cNvSpPr txBox="1"/>
          <p:nvPr/>
        </p:nvSpPr>
        <p:spPr>
          <a:xfrm>
            <a:off x="1408176" y="2670048"/>
            <a:ext cx="2788920" cy="201168"/>
          </a:xfrm>
          <a:prstGeom prst="rect">
            <a:avLst/>
          </a:prstGeom>
          <a:noFill/>
          <a:ln/>
        </p:spPr>
        <p:txBody>
          <a:bodyPr wrap="square" lIns="0" tIns="0" rIns="0" bIns="0" rtlCol="0" anchor="t"/>
          <a:lstStyle/>
          <a:p>
            <a:pPr marL="0" indent="0">
              <a:buNone/>
            </a:pPr>
            <a:r>
              <a:rPr lang="en-US" sz="900" dirty="0">
                <a:solidFill>
                  <a:srgbClr val="5E6D7D"/>
                </a:solidFill>
                <a:latin typeface="Calibri" pitchFamily="34" charset="0"/>
                <a:ea typeface="Calibri" pitchFamily="34" charset="-122"/>
                <a:cs typeface="Calibri" pitchFamily="34" charset="-120"/>
              </a:rPr>
              <a:t>Booking time</a:t>
            </a:r>
            <a:endParaRPr lang="en-US" sz="900" dirty="0"/>
          </a:p>
        </p:txBody>
      </p:sp>
      <p:sp>
        <p:nvSpPr>
          <p:cNvPr id="15" name="Text 11"/>
          <p:cNvSpPr txBox="1"/>
          <p:nvPr/>
        </p:nvSpPr>
        <p:spPr>
          <a:xfrm>
            <a:off x="1408176" y="2852928"/>
            <a:ext cx="2788920" cy="256032"/>
          </a:xfrm>
          <a:prstGeom prst="rect">
            <a:avLst/>
          </a:prstGeom>
          <a:noFill/>
          <a:ln/>
        </p:spPr>
        <p:txBody>
          <a:bodyPr wrap="square" lIns="0" tIns="0" rIns="0" bIns="0" rtlCol="0" anchor="ctr"/>
          <a:lstStyle/>
          <a:p>
            <a:pPr marL="0" indent="0">
              <a:buNone/>
            </a:pPr>
            <a:r>
              <a:rPr lang="en-US" sz="1250" b="1" dirty="0">
                <a:solidFill>
                  <a:srgbClr val="16202B"/>
                </a:solidFill>
                <a:latin typeface="Calibri" pitchFamily="34" charset="0"/>
                <a:ea typeface="Calibri" pitchFamily="34" charset="-122"/>
                <a:cs typeface="Calibri" pitchFamily="34" charset="-120"/>
              </a:rPr>
              <a:t>22 Sep 2026  ·  14:05</a:t>
            </a:r>
            <a:endParaRPr lang="en-US" sz="1250" dirty="0"/>
          </a:p>
        </p:txBody>
      </p:sp>
      <p:sp>
        <p:nvSpPr>
          <p:cNvPr id="16" name="Shape 12"/>
          <p:cNvSpPr/>
          <p:nvPr/>
        </p:nvSpPr>
        <p:spPr>
          <a:xfrm>
            <a:off x="822960" y="3255264"/>
            <a:ext cx="3374136" cy="9144"/>
          </a:xfrm>
          <a:prstGeom prst="rect">
            <a:avLst/>
          </a:prstGeom>
          <a:solidFill>
            <a:srgbClr val="DCE4EC"/>
          </a:solidFill>
          <a:ln/>
        </p:spPr>
      </p:sp>
      <p:sp>
        <p:nvSpPr>
          <p:cNvPr id="17" name="Shape 13"/>
          <p:cNvSpPr/>
          <p:nvPr/>
        </p:nvSpPr>
        <p:spPr>
          <a:xfrm>
            <a:off x="822960" y="3502152"/>
            <a:ext cx="457200" cy="457200"/>
          </a:xfrm>
          <a:prstGeom prst="ellipse">
            <a:avLst/>
          </a:prstGeom>
          <a:solidFill>
            <a:srgbClr val="F3F6F9"/>
          </a:solidFill>
          <a:ln/>
        </p:spPr>
      </p:sp>
      <p:pic>
        <p:nvPicPr>
          <p:cNvPr id="18" name="Image 2" descr="preencoded.png"/>
          <p:cNvPicPr>
            <a:picLocks noChangeAspect="1"/>
          </p:cNvPicPr>
          <p:nvPr/>
        </p:nvPicPr>
        <p:blipFill>
          <a:blip r:embed="rId5"/>
          <a:stretch>
            <a:fillRect/>
          </a:stretch>
        </p:blipFill>
        <p:spPr>
          <a:xfrm>
            <a:off x="941832" y="3621024"/>
            <a:ext cx="219456" cy="219456"/>
          </a:xfrm>
          <a:prstGeom prst="rect">
            <a:avLst/>
          </a:prstGeom>
        </p:spPr>
      </p:pic>
      <p:sp>
        <p:nvSpPr>
          <p:cNvPr id="19" name="Text 14"/>
          <p:cNvSpPr txBox="1"/>
          <p:nvPr/>
        </p:nvSpPr>
        <p:spPr>
          <a:xfrm>
            <a:off x="1408176" y="3456432"/>
            <a:ext cx="2788920" cy="201168"/>
          </a:xfrm>
          <a:prstGeom prst="rect">
            <a:avLst/>
          </a:prstGeom>
          <a:noFill/>
          <a:ln/>
        </p:spPr>
        <p:txBody>
          <a:bodyPr wrap="square" lIns="0" tIns="0" rIns="0" bIns="0" rtlCol="0" anchor="t"/>
          <a:lstStyle/>
          <a:p>
            <a:pPr marL="0" indent="0">
              <a:buNone/>
            </a:pPr>
            <a:r>
              <a:rPr lang="en-US" sz="900" dirty="0">
                <a:solidFill>
                  <a:srgbClr val="5E6D7D"/>
                </a:solidFill>
                <a:latin typeface="Calibri" pitchFamily="34" charset="0"/>
                <a:ea typeface="Calibri" pitchFamily="34" charset="-122"/>
                <a:cs typeface="Calibri" pitchFamily="34" charset="-120"/>
              </a:rPr>
              <a:t>Vehicle number</a:t>
            </a:r>
            <a:endParaRPr lang="en-US" sz="900" dirty="0"/>
          </a:p>
        </p:txBody>
      </p:sp>
      <p:sp>
        <p:nvSpPr>
          <p:cNvPr id="20" name="Text 15"/>
          <p:cNvSpPr txBox="1"/>
          <p:nvPr/>
        </p:nvSpPr>
        <p:spPr>
          <a:xfrm>
            <a:off x="1408176" y="3639312"/>
            <a:ext cx="2788920" cy="256032"/>
          </a:xfrm>
          <a:prstGeom prst="rect">
            <a:avLst/>
          </a:prstGeom>
          <a:noFill/>
          <a:ln/>
        </p:spPr>
        <p:txBody>
          <a:bodyPr wrap="square" lIns="0" tIns="0" rIns="0" bIns="0" rtlCol="0" anchor="ctr"/>
          <a:lstStyle/>
          <a:p>
            <a:pPr marL="0" indent="0">
              <a:buNone/>
            </a:pPr>
            <a:r>
              <a:rPr lang="en-US" sz="1250" b="1" dirty="0">
                <a:solidFill>
                  <a:srgbClr val="16202B"/>
                </a:solidFill>
                <a:latin typeface="Calibri" pitchFamily="34" charset="0"/>
                <a:ea typeface="Calibri" pitchFamily="34" charset="-122"/>
                <a:cs typeface="Calibri" pitchFamily="34" charset="-120"/>
              </a:rPr>
              <a:t>MH 12 AB 4412  ·  Cab C-12</a:t>
            </a:r>
            <a:endParaRPr lang="en-US" sz="1250" dirty="0"/>
          </a:p>
        </p:txBody>
      </p:sp>
      <p:sp>
        <p:nvSpPr>
          <p:cNvPr id="21" name="Shape 16"/>
          <p:cNvSpPr/>
          <p:nvPr/>
        </p:nvSpPr>
        <p:spPr>
          <a:xfrm>
            <a:off x="822960" y="4041648"/>
            <a:ext cx="3374136" cy="9144"/>
          </a:xfrm>
          <a:prstGeom prst="rect">
            <a:avLst/>
          </a:prstGeom>
          <a:solidFill>
            <a:srgbClr val="DCE4EC"/>
          </a:solidFill>
          <a:ln/>
        </p:spPr>
      </p:sp>
      <p:sp>
        <p:nvSpPr>
          <p:cNvPr id="22" name="Shape 17"/>
          <p:cNvSpPr/>
          <p:nvPr/>
        </p:nvSpPr>
        <p:spPr>
          <a:xfrm>
            <a:off x="822960" y="4288536"/>
            <a:ext cx="457200" cy="457200"/>
          </a:xfrm>
          <a:prstGeom prst="ellipse">
            <a:avLst/>
          </a:prstGeom>
          <a:solidFill>
            <a:srgbClr val="F3F6F9"/>
          </a:solidFill>
          <a:ln/>
        </p:spPr>
      </p:sp>
      <p:pic>
        <p:nvPicPr>
          <p:cNvPr id="23" name="Image 3" descr="preencoded.png"/>
          <p:cNvPicPr>
            <a:picLocks noChangeAspect="1"/>
          </p:cNvPicPr>
          <p:nvPr/>
        </p:nvPicPr>
        <p:blipFill>
          <a:blip r:embed="rId6"/>
          <a:stretch>
            <a:fillRect/>
          </a:stretch>
        </p:blipFill>
        <p:spPr>
          <a:xfrm>
            <a:off x="941832" y="4407408"/>
            <a:ext cx="219456" cy="219456"/>
          </a:xfrm>
          <a:prstGeom prst="rect">
            <a:avLst/>
          </a:prstGeom>
        </p:spPr>
      </p:pic>
      <p:sp>
        <p:nvSpPr>
          <p:cNvPr id="24" name="Text 18"/>
          <p:cNvSpPr txBox="1"/>
          <p:nvPr/>
        </p:nvSpPr>
        <p:spPr>
          <a:xfrm>
            <a:off x="1408176" y="4242816"/>
            <a:ext cx="2788920" cy="201168"/>
          </a:xfrm>
          <a:prstGeom prst="rect">
            <a:avLst/>
          </a:prstGeom>
          <a:noFill/>
          <a:ln/>
        </p:spPr>
        <p:txBody>
          <a:bodyPr wrap="square" lIns="0" tIns="0" rIns="0" bIns="0" rtlCol="0" anchor="t"/>
          <a:lstStyle/>
          <a:p>
            <a:pPr marL="0" indent="0">
              <a:buNone/>
            </a:pPr>
            <a:r>
              <a:rPr lang="en-US" sz="900" dirty="0">
                <a:solidFill>
                  <a:srgbClr val="5E6D7D"/>
                </a:solidFill>
                <a:latin typeface="Calibri" pitchFamily="34" charset="0"/>
                <a:ea typeface="Calibri" pitchFamily="34" charset="-122"/>
                <a:cs typeface="Calibri" pitchFamily="34" charset="-120"/>
              </a:rPr>
              <a:t>Driver contact</a:t>
            </a:r>
            <a:endParaRPr lang="en-US" sz="900" dirty="0"/>
          </a:p>
        </p:txBody>
      </p:sp>
      <p:sp>
        <p:nvSpPr>
          <p:cNvPr id="25" name="Text 19"/>
          <p:cNvSpPr txBox="1"/>
          <p:nvPr/>
        </p:nvSpPr>
        <p:spPr>
          <a:xfrm>
            <a:off x="1408176" y="4425696"/>
            <a:ext cx="2788920" cy="256032"/>
          </a:xfrm>
          <a:prstGeom prst="rect">
            <a:avLst/>
          </a:prstGeom>
          <a:noFill/>
          <a:ln/>
        </p:spPr>
        <p:txBody>
          <a:bodyPr wrap="square" lIns="0" tIns="0" rIns="0" bIns="0" rtlCol="0" anchor="ctr"/>
          <a:lstStyle/>
          <a:p>
            <a:pPr marL="0" indent="0">
              <a:buNone/>
            </a:pPr>
            <a:r>
              <a:rPr lang="en-US" sz="1250" b="1" dirty="0">
                <a:solidFill>
                  <a:srgbClr val="16202B"/>
                </a:solidFill>
                <a:latin typeface="Calibri" pitchFamily="34" charset="0"/>
                <a:ea typeface="Calibri" pitchFamily="34" charset="-122"/>
                <a:cs typeface="Calibri" pitchFamily="34" charset="-120"/>
              </a:rPr>
              <a:t>S. Kumar  ·  +91 98xxx 77201</a:t>
            </a:r>
            <a:endParaRPr lang="en-US" sz="1250" dirty="0"/>
          </a:p>
        </p:txBody>
      </p:sp>
      <p:sp>
        <p:nvSpPr>
          <p:cNvPr id="26" name="Shape 20"/>
          <p:cNvSpPr/>
          <p:nvPr/>
        </p:nvSpPr>
        <p:spPr>
          <a:xfrm>
            <a:off x="822960" y="4828032"/>
            <a:ext cx="3374136" cy="9144"/>
          </a:xfrm>
          <a:prstGeom prst="rect">
            <a:avLst/>
          </a:prstGeom>
          <a:solidFill>
            <a:srgbClr val="DCE4EC"/>
          </a:solidFill>
          <a:ln/>
        </p:spPr>
      </p:sp>
      <p:sp>
        <p:nvSpPr>
          <p:cNvPr id="27" name="Shape 21"/>
          <p:cNvSpPr/>
          <p:nvPr/>
        </p:nvSpPr>
        <p:spPr>
          <a:xfrm>
            <a:off x="822960" y="5074920"/>
            <a:ext cx="457200" cy="457200"/>
          </a:xfrm>
          <a:prstGeom prst="ellipse">
            <a:avLst/>
          </a:prstGeom>
          <a:solidFill>
            <a:srgbClr val="F3F6F9"/>
          </a:solidFill>
          <a:ln/>
        </p:spPr>
      </p:sp>
      <p:pic>
        <p:nvPicPr>
          <p:cNvPr id="28" name="Image 4" descr="preencoded.png"/>
          <p:cNvPicPr>
            <a:picLocks noChangeAspect="1"/>
          </p:cNvPicPr>
          <p:nvPr/>
        </p:nvPicPr>
        <p:blipFill>
          <a:blip r:embed="rId7"/>
          <a:stretch>
            <a:fillRect/>
          </a:stretch>
        </p:blipFill>
        <p:spPr>
          <a:xfrm>
            <a:off x="941832" y="5193792"/>
            <a:ext cx="219456" cy="219456"/>
          </a:xfrm>
          <a:prstGeom prst="rect">
            <a:avLst/>
          </a:prstGeom>
        </p:spPr>
      </p:pic>
      <p:sp>
        <p:nvSpPr>
          <p:cNvPr id="29" name="Text 22"/>
          <p:cNvSpPr txBox="1"/>
          <p:nvPr/>
        </p:nvSpPr>
        <p:spPr>
          <a:xfrm>
            <a:off x="1408176" y="5029200"/>
            <a:ext cx="2788920" cy="201168"/>
          </a:xfrm>
          <a:prstGeom prst="rect">
            <a:avLst/>
          </a:prstGeom>
          <a:noFill/>
          <a:ln/>
        </p:spPr>
        <p:txBody>
          <a:bodyPr wrap="square" lIns="0" tIns="0" rIns="0" bIns="0" rtlCol="0" anchor="t"/>
          <a:lstStyle/>
          <a:p>
            <a:pPr marL="0" indent="0">
              <a:buNone/>
            </a:pPr>
            <a:r>
              <a:rPr lang="en-US" sz="900" dirty="0">
                <a:solidFill>
                  <a:srgbClr val="5E6D7D"/>
                </a:solidFill>
                <a:latin typeface="Calibri" pitchFamily="34" charset="0"/>
                <a:ea typeface="Calibri" pitchFamily="34" charset="-122"/>
                <a:cs typeface="Calibri" pitchFamily="34" charset="-120"/>
              </a:rPr>
              <a:t>Boarding OTP</a:t>
            </a:r>
            <a:endParaRPr lang="en-US" sz="900" dirty="0"/>
          </a:p>
        </p:txBody>
      </p:sp>
      <p:sp>
        <p:nvSpPr>
          <p:cNvPr id="30" name="Text 23"/>
          <p:cNvSpPr txBox="1"/>
          <p:nvPr/>
        </p:nvSpPr>
        <p:spPr>
          <a:xfrm>
            <a:off x="1408176" y="5212080"/>
            <a:ext cx="2788920" cy="256032"/>
          </a:xfrm>
          <a:prstGeom prst="rect">
            <a:avLst/>
          </a:prstGeom>
          <a:noFill/>
          <a:ln/>
        </p:spPr>
        <p:txBody>
          <a:bodyPr wrap="square" lIns="0" tIns="0" rIns="0" bIns="0" rtlCol="0" anchor="ctr"/>
          <a:lstStyle/>
          <a:p>
            <a:pPr marL="0" indent="0">
              <a:buNone/>
            </a:pPr>
            <a:r>
              <a:rPr lang="en-US" sz="1250" b="1" dirty="0">
                <a:solidFill>
                  <a:srgbClr val="16202B"/>
                </a:solidFill>
                <a:latin typeface="Calibri" pitchFamily="34" charset="0"/>
                <a:ea typeface="Calibri" pitchFamily="34" charset="-122"/>
                <a:cs typeface="Calibri" pitchFamily="34" charset="-120"/>
              </a:rPr>
              <a:t>4 8 2 6</a:t>
            </a:r>
            <a:endParaRPr lang="en-US" sz="1250" dirty="0"/>
          </a:p>
        </p:txBody>
      </p:sp>
      <p:sp>
        <p:nvSpPr>
          <p:cNvPr id="31" name="Shape 24"/>
          <p:cNvSpPr/>
          <p:nvPr/>
        </p:nvSpPr>
        <p:spPr>
          <a:xfrm>
            <a:off x="822960" y="5486400"/>
            <a:ext cx="3374136" cy="475488"/>
          </a:xfrm>
          <a:prstGeom prst="roundRect">
            <a:avLst>
              <a:gd name="adj" fmla="val 19231"/>
            </a:avLst>
          </a:prstGeom>
          <a:solidFill>
            <a:srgbClr val="E85D04"/>
          </a:solidFill>
          <a:ln/>
        </p:spPr>
      </p:sp>
      <p:pic>
        <p:nvPicPr>
          <p:cNvPr id="32" name="Image 5" descr="preencoded.png"/>
          <p:cNvPicPr>
            <a:picLocks noChangeAspect="1"/>
          </p:cNvPicPr>
          <p:nvPr/>
        </p:nvPicPr>
        <p:blipFill>
          <a:blip r:embed="rId8"/>
          <a:stretch>
            <a:fillRect/>
          </a:stretch>
        </p:blipFill>
        <p:spPr>
          <a:xfrm>
            <a:off x="1152144" y="5605272"/>
            <a:ext cx="237744" cy="237744"/>
          </a:xfrm>
          <a:prstGeom prst="rect">
            <a:avLst/>
          </a:prstGeom>
        </p:spPr>
      </p:pic>
      <p:sp>
        <p:nvSpPr>
          <p:cNvPr id="33" name="Text 25"/>
          <p:cNvSpPr txBox="1"/>
          <p:nvPr/>
        </p:nvSpPr>
        <p:spPr>
          <a:xfrm>
            <a:off x="1444752" y="5486400"/>
            <a:ext cx="2697480"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Track this vehicle live</a:t>
            </a:r>
            <a:endParaRPr lang="en-US" sz="1150" dirty="0"/>
          </a:p>
        </p:txBody>
      </p:sp>
      <p:sp>
        <p:nvSpPr>
          <p:cNvPr id="34" name="Shape 26"/>
          <p:cNvSpPr/>
          <p:nvPr/>
        </p:nvSpPr>
        <p:spPr>
          <a:xfrm>
            <a:off x="4722876" y="1645920"/>
            <a:ext cx="3886200" cy="4498848"/>
          </a:xfrm>
          <a:prstGeom prst="roundRect">
            <a:avLst>
              <a:gd name="adj" fmla="val 2824"/>
            </a:avLst>
          </a:prstGeom>
          <a:solidFill>
            <a:srgbClr val="0E141B"/>
          </a:solidFill>
          <a:ln/>
        </p:spPr>
      </p:sp>
      <p:sp>
        <p:nvSpPr>
          <p:cNvPr id="35" name="Text 27"/>
          <p:cNvSpPr txBox="1"/>
          <p:nvPr/>
        </p:nvSpPr>
        <p:spPr>
          <a:xfrm>
            <a:off x="4997196" y="1865376"/>
            <a:ext cx="3337560" cy="201168"/>
          </a:xfrm>
          <a:prstGeom prst="rect">
            <a:avLst/>
          </a:prstGeom>
          <a:noFill/>
          <a:ln/>
        </p:spPr>
        <p:txBody>
          <a:bodyPr wrap="square" lIns="0" tIns="0" rIns="0" bIns="0" rtlCol="0" anchor="t"/>
          <a:lstStyle/>
          <a:p>
            <a:pPr marL="0" indent="0">
              <a:buNone/>
            </a:pPr>
            <a:r>
              <a:rPr lang="en-US" sz="900" b="1" kern="0" spc="160" dirty="0">
                <a:solidFill>
                  <a:srgbClr val="A3B4C4"/>
                </a:solidFill>
                <a:latin typeface="Arial" pitchFamily="34" charset="0"/>
                <a:ea typeface="Arial" pitchFamily="34" charset="-122"/>
                <a:cs typeface="Arial" pitchFamily="34" charset="-120"/>
              </a:rPr>
              <a:t>LIVE TRACKING LINK</a:t>
            </a:r>
            <a:endParaRPr lang="en-US" sz="900" dirty="0"/>
          </a:p>
        </p:txBody>
      </p:sp>
      <p:sp>
        <p:nvSpPr>
          <p:cNvPr id="36" name="Text 28"/>
          <p:cNvSpPr txBox="1"/>
          <p:nvPr/>
        </p:nvSpPr>
        <p:spPr>
          <a:xfrm>
            <a:off x="4997196" y="2084832"/>
            <a:ext cx="3337560" cy="274320"/>
          </a:xfrm>
          <a:prstGeom prst="rect">
            <a:avLst/>
          </a:prstGeom>
          <a:noFill/>
          <a:ln/>
        </p:spPr>
        <p:txBody>
          <a:bodyPr wrap="square" lIns="0" tIns="0" rIns="0" bIns="0" rtlCol="0" anchor="ctr"/>
          <a:lstStyle/>
          <a:p>
            <a:pPr marL="0" indent="0">
              <a:buNone/>
            </a:pPr>
            <a:r>
              <a:rPr lang="en-US" sz="1250" b="1" dirty="0">
                <a:solidFill>
                  <a:srgbClr val="4FD1C2"/>
                </a:solidFill>
                <a:latin typeface="Consolas" pitchFamily="34" charset="0"/>
                <a:ea typeface="Consolas" pitchFamily="34" charset="-122"/>
                <a:cs typeface="Consolas" pitchFamily="34" charset="-120"/>
              </a:rPr>
              <a:t>plantride.lhs/t/8K2QF</a:t>
            </a:r>
            <a:endParaRPr lang="en-US" sz="1250" dirty="0"/>
          </a:p>
        </p:txBody>
      </p:sp>
      <p:sp>
        <p:nvSpPr>
          <p:cNvPr id="37" name="Shape 29"/>
          <p:cNvSpPr/>
          <p:nvPr/>
        </p:nvSpPr>
        <p:spPr>
          <a:xfrm>
            <a:off x="4997196" y="2487168"/>
            <a:ext cx="3337560" cy="2103120"/>
          </a:xfrm>
          <a:prstGeom prst="roundRect">
            <a:avLst>
              <a:gd name="adj" fmla="val 4348"/>
            </a:avLst>
          </a:prstGeom>
          <a:solidFill>
            <a:srgbClr val="18222D"/>
          </a:solidFill>
          <a:ln w="12700">
            <a:solidFill>
              <a:srgbClr val="34465A"/>
            </a:solidFill>
            <a:prstDash val="solid"/>
          </a:ln>
        </p:spPr>
      </p:sp>
      <p:sp>
        <p:nvSpPr>
          <p:cNvPr id="38" name="Shape 30"/>
          <p:cNvSpPr/>
          <p:nvPr/>
        </p:nvSpPr>
        <p:spPr>
          <a:xfrm>
            <a:off x="5271516" y="3968496"/>
            <a:ext cx="2148840" cy="45720"/>
          </a:xfrm>
          <a:prstGeom prst="rect">
            <a:avLst/>
          </a:prstGeom>
          <a:solidFill>
            <a:srgbClr val="34465A"/>
          </a:solidFill>
          <a:ln/>
        </p:spPr>
      </p:sp>
      <p:sp>
        <p:nvSpPr>
          <p:cNvPr id="39" name="Shape 31"/>
          <p:cNvSpPr/>
          <p:nvPr/>
        </p:nvSpPr>
        <p:spPr>
          <a:xfrm>
            <a:off x="7392924" y="2999232"/>
            <a:ext cx="45720" cy="1014984"/>
          </a:xfrm>
          <a:prstGeom prst="rect">
            <a:avLst/>
          </a:prstGeom>
          <a:solidFill>
            <a:srgbClr val="34465A"/>
          </a:solidFill>
          <a:ln/>
        </p:spPr>
      </p:sp>
      <p:sp>
        <p:nvSpPr>
          <p:cNvPr id="40" name="Shape 32"/>
          <p:cNvSpPr/>
          <p:nvPr/>
        </p:nvSpPr>
        <p:spPr>
          <a:xfrm>
            <a:off x="7392924" y="2999232"/>
            <a:ext cx="777240" cy="45720"/>
          </a:xfrm>
          <a:prstGeom prst="rect">
            <a:avLst/>
          </a:prstGeom>
          <a:solidFill>
            <a:srgbClr val="34465A"/>
          </a:solidFill>
          <a:ln/>
        </p:spPr>
      </p:sp>
      <p:sp>
        <p:nvSpPr>
          <p:cNvPr id="41" name="Shape 33"/>
          <p:cNvSpPr/>
          <p:nvPr/>
        </p:nvSpPr>
        <p:spPr>
          <a:xfrm>
            <a:off x="5271516" y="3968496"/>
            <a:ext cx="1207008" cy="54864"/>
          </a:xfrm>
          <a:prstGeom prst="rect">
            <a:avLst/>
          </a:prstGeom>
          <a:solidFill>
            <a:srgbClr val="E85D04"/>
          </a:solidFill>
          <a:ln/>
        </p:spPr>
      </p:sp>
      <p:sp>
        <p:nvSpPr>
          <p:cNvPr id="42" name="Shape 34"/>
          <p:cNvSpPr/>
          <p:nvPr/>
        </p:nvSpPr>
        <p:spPr>
          <a:xfrm>
            <a:off x="5198364" y="3886200"/>
            <a:ext cx="219456" cy="219456"/>
          </a:xfrm>
          <a:prstGeom prst="ellipse">
            <a:avLst/>
          </a:prstGeom>
          <a:solidFill>
            <a:srgbClr val="4FD1C2"/>
          </a:solidFill>
          <a:ln/>
        </p:spPr>
      </p:sp>
      <p:sp>
        <p:nvSpPr>
          <p:cNvPr id="43" name="Shape 35"/>
          <p:cNvSpPr/>
          <p:nvPr/>
        </p:nvSpPr>
        <p:spPr>
          <a:xfrm>
            <a:off x="8060436" y="2926080"/>
            <a:ext cx="219456" cy="219456"/>
          </a:xfrm>
          <a:prstGeom prst="ellipse">
            <a:avLst/>
          </a:prstGeom>
          <a:solidFill>
            <a:srgbClr val="FFFFFF"/>
          </a:solidFill>
          <a:ln w="25400">
            <a:solidFill>
              <a:srgbClr val="00A896"/>
            </a:solidFill>
            <a:prstDash val="solid"/>
          </a:ln>
        </p:spPr>
      </p:sp>
      <p:sp>
        <p:nvSpPr>
          <p:cNvPr id="44" name="Shape 36"/>
          <p:cNvSpPr/>
          <p:nvPr/>
        </p:nvSpPr>
        <p:spPr>
          <a:xfrm>
            <a:off x="6185916" y="3730752"/>
            <a:ext cx="566928" cy="402336"/>
          </a:xfrm>
          <a:prstGeom prst="roundRect">
            <a:avLst>
              <a:gd name="adj" fmla="val 20455"/>
            </a:avLst>
          </a:prstGeom>
          <a:solidFill>
            <a:srgbClr val="E85D04"/>
          </a:solidFill>
          <a:ln/>
        </p:spPr>
      </p:sp>
      <p:pic>
        <p:nvPicPr>
          <p:cNvPr id="45" name="Image 6" descr="preencoded.png"/>
          <p:cNvPicPr>
            <a:picLocks noChangeAspect="1"/>
          </p:cNvPicPr>
          <p:nvPr/>
        </p:nvPicPr>
        <p:blipFill>
          <a:blip r:embed="rId9"/>
          <a:stretch>
            <a:fillRect/>
          </a:stretch>
        </p:blipFill>
        <p:spPr>
          <a:xfrm>
            <a:off x="6323076" y="3840480"/>
            <a:ext cx="292608" cy="219456"/>
          </a:xfrm>
          <a:prstGeom prst="rect">
            <a:avLst/>
          </a:prstGeom>
        </p:spPr>
      </p:pic>
      <p:sp>
        <p:nvSpPr>
          <p:cNvPr id="46" name="Text 37"/>
          <p:cNvSpPr txBox="1"/>
          <p:nvPr/>
        </p:nvSpPr>
        <p:spPr>
          <a:xfrm>
            <a:off x="5125212" y="4133088"/>
            <a:ext cx="914400" cy="201168"/>
          </a:xfrm>
          <a:prstGeom prst="rect">
            <a:avLst/>
          </a:prstGeom>
          <a:noFill/>
          <a:ln/>
        </p:spPr>
        <p:txBody>
          <a:bodyPr wrap="square" lIns="0" tIns="0" rIns="0" bIns="0" rtlCol="0" anchor="t"/>
          <a:lstStyle/>
          <a:p>
            <a:pPr marL="0" indent="0">
              <a:buNone/>
            </a:pPr>
            <a:r>
              <a:rPr lang="en-US" sz="850" dirty="0">
                <a:solidFill>
                  <a:srgbClr val="A3B4C4"/>
                </a:solidFill>
                <a:latin typeface="Calibri" pitchFamily="34" charset="0"/>
                <a:ea typeface="Calibri" pitchFamily="34" charset="-122"/>
                <a:cs typeface="Calibri" pitchFamily="34" charset="-120"/>
              </a:rPr>
              <a:t>Gate 2</a:t>
            </a:r>
            <a:endParaRPr lang="en-US" sz="850" dirty="0"/>
          </a:p>
        </p:txBody>
      </p:sp>
      <p:sp>
        <p:nvSpPr>
          <p:cNvPr id="47" name="Text 38"/>
          <p:cNvSpPr txBox="1"/>
          <p:nvPr/>
        </p:nvSpPr>
        <p:spPr>
          <a:xfrm>
            <a:off x="7100316" y="2706624"/>
            <a:ext cx="1143000" cy="201168"/>
          </a:xfrm>
          <a:prstGeom prst="rect">
            <a:avLst/>
          </a:prstGeom>
          <a:noFill/>
          <a:ln/>
        </p:spPr>
        <p:txBody>
          <a:bodyPr wrap="square" lIns="0" tIns="0" rIns="0" bIns="0" rtlCol="0" anchor="t"/>
          <a:lstStyle/>
          <a:p>
            <a:pPr marL="0" indent="0" algn="r">
              <a:buNone/>
            </a:pPr>
            <a:r>
              <a:rPr lang="en-US" sz="850" dirty="0">
                <a:solidFill>
                  <a:srgbClr val="A3B4C4"/>
                </a:solidFill>
                <a:latin typeface="Calibri" pitchFamily="34" charset="0"/>
                <a:ea typeface="Calibri" pitchFamily="34" charset="-122"/>
                <a:cs typeface="Calibri" pitchFamily="34" charset="-120"/>
              </a:rPr>
              <a:t>Blast Furnace</a:t>
            </a:r>
            <a:endParaRPr lang="en-US" sz="850" dirty="0"/>
          </a:p>
        </p:txBody>
      </p:sp>
      <p:sp>
        <p:nvSpPr>
          <p:cNvPr id="48" name="Shape 39"/>
          <p:cNvSpPr/>
          <p:nvPr/>
        </p:nvSpPr>
        <p:spPr>
          <a:xfrm>
            <a:off x="5143500" y="2651760"/>
            <a:ext cx="1481328" cy="365760"/>
          </a:xfrm>
          <a:prstGeom prst="roundRect">
            <a:avLst>
              <a:gd name="adj" fmla="val 50000"/>
            </a:avLst>
          </a:prstGeom>
          <a:solidFill>
            <a:srgbClr val="FFFFFF"/>
          </a:solidFill>
          <a:ln/>
        </p:spPr>
      </p:sp>
      <p:sp>
        <p:nvSpPr>
          <p:cNvPr id="49" name="Text 40"/>
          <p:cNvSpPr txBox="1"/>
          <p:nvPr/>
        </p:nvSpPr>
        <p:spPr>
          <a:xfrm>
            <a:off x="5143500" y="2651760"/>
            <a:ext cx="1481328" cy="365760"/>
          </a:xfrm>
          <a:prstGeom prst="rect">
            <a:avLst/>
          </a:prstGeom>
          <a:noFill/>
          <a:ln/>
        </p:spPr>
        <p:txBody>
          <a:bodyPr wrap="square" lIns="0" tIns="0" rIns="0" bIns="0" rtlCol="0" anchor="ctr"/>
          <a:lstStyle/>
          <a:p>
            <a:pPr marL="0" indent="0" algn="ctr">
              <a:buNone/>
            </a:pPr>
            <a:r>
              <a:rPr lang="en-US" sz="950" b="1" dirty="0">
                <a:solidFill>
                  <a:srgbClr val="16202B"/>
                </a:solidFill>
                <a:latin typeface="Calibri" pitchFamily="34" charset="0"/>
                <a:ea typeface="Calibri" pitchFamily="34" charset="-122"/>
                <a:cs typeface="Calibri" pitchFamily="34" charset="-120"/>
              </a:rPr>
              <a:t>Arriving in 6 min</a:t>
            </a:r>
            <a:endParaRPr lang="en-US" sz="950" dirty="0"/>
          </a:p>
        </p:txBody>
      </p:sp>
      <p:sp>
        <p:nvSpPr>
          <p:cNvPr id="50" name="Shape 41"/>
          <p:cNvSpPr/>
          <p:nvPr/>
        </p:nvSpPr>
        <p:spPr>
          <a:xfrm>
            <a:off x="5015484" y="4892040"/>
            <a:ext cx="100584" cy="100584"/>
          </a:xfrm>
          <a:prstGeom prst="ellipse">
            <a:avLst/>
          </a:prstGeom>
          <a:solidFill>
            <a:srgbClr val="4FD1C2"/>
          </a:solidFill>
          <a:ln/>
        </p:spPr>
      </p:sp>
      <p:sp>
        <p:nvSpPr>
          <p:cNvPr id="51" name="Text 42"/>
          <p:cNvSpPr txBox="1"/>
          <p:nvPr/>
        </p:nvSpPr>
        <p:spPr>
          <a:xfrm>
            <a:off x="5253228" y="4773168"/>
            <a:ext cx="3081528" cy="402336"/>
          </a:xfrm>
          <a:prstGeom prst="rect">
            <a:avLst/>
          </a:prstGeom>
          <a:noFill/>
          <a:ln/>
        </p:spPr>
        <p:txBody>
          <a:bodyPr wrap="square" lIns="0" tIns="0" rIns="0" bIns="0" rtlCol="0" anchor="t"/>
          <a:lstStyle/>
          <a:p>
            <a:pPr marL="0" indent="0">
              <a:lnSpc>
                <a:spcPts val="1200"/>
              </a:lnSpc>
              <a:buNone/>
            </a:pPr>
            <a:r>
              <a:rPr lang="en-US" sz="950" dirty="0">
                <a:solidFill>
                  <a:srgbClr val="A3B4C4"/>
                </a:solidFill>
                <a:latin typeface="Calibri" pitchFamily="34" charset="0"/>
                <a:ea typeface="Calibri" pitchFamily="34" charset="-122"/>
                <a:cs typeface="Calibri" pitchFamily="34" charset="-120"/>
              </a:rPr>
              <a:t>Live position of the vehicle on the plant map, refreshed every few seconds.</a:t>
            </a:r>
            <a:endParaRPr lang="en-US" sz="950" dirty="0"/>
          </a:p>
        </p:txBody>
      </p:sp>
      <p:sp>
        <p:nvSpPr>
          <p:cNvPr id="52" name="Shape 43"/>
          <p:cNvSpPr/>
          <p:nvPr/>
        </p:nvSpPr>
        <p:spPr>
          <a:xfrm>
            <a:off x="5015484" y="5330952"/>
            <a:ext cx="100584" cy="100584"/>
          </a:xfrm>
          <a:prstGeom prst="ellipse">
            <a:avLst/>
          </a:prstGeom>
          <a:solidFill>
            <a:srgbClr val="4FD1C2"/>
          </a:solidFill>
          <a:ln/>
        </p:spPr>
      </p:sp>
      <p:sp>
        <p:nvSpPr>
          <p:cNvPr id="53" name="Text 44"/>
          <p:cNvSpPr txBox="1"/>
          <p:nvPr/>
        </p:nvSpPr>
        <p:spPr>
          <a:xfrm>
            <a:off x="5253228" y="5212080"/>
            <a:ext cx="3081528" cy="402336"/>
          </a:xfrm>
          <a:prstGeom prst="rect">
            <a:avLst/>
          </a:prstGeom>
          <a:noFill/>
          <a:ln/>
        </p:spPr>
        <p:txBody>
          <a:bodyPr wrap="square" lIns="0" tIns="0" rIns="0" bIns="0" rtlCol="0" anchor="t"/>
          <a:lstStyle/>
          <a:p>
            <a:pPr marL="0" indent="0">
              <a:lnSpc>
                <a:spcPts val="1200"/>
              </a:lnSpc>
              <a:buNone/>
            </a:pPr>
            <a:r>
              <a:rPr lang="en-US" sz="950" dirty="0">
                <a:solidFill>
                  <a:srgbClr val="A3B4C4"/>
                </a:solidFill>
                <a:latin typeface="Calibri" pitchFamily="34" charset="0"/>
                <a:ea typeface="Calibri" pitchFamily="34" charset="-122"/>
                <a:cs typeface="Calibri" pitchFamily="34" charset="-120"/>
              </a:rPr>
              <a:t>Shareable - a rider can send the link to a manager or to family for a night trip.</a:t>
            </a:r>
            <a:endParaRPr lang="en-US" sz="950" dirty="0"/>
          </a:p>
        </p:txBody>
      </p:sp>
      <p:sp>
        <p:nvSpPr>
          <p:cNvPr id="54" name="Shape 45"/>
          <p:cNvSpPr/>
          <p:nvPr/>
        </p:nvSpPr>
        <p:spPr>
          <a:xfrm>
            <a:off x="5015484" y="5769864"/>
            <a:ext cx="100584" cy="100584"/>
          </a:xfrm>
          <a:prstGeom prst="ellipse">
            <a:avLst/>
          </a:prstGeom>
          <a:solidFill>
            <a:srgbClr val="4FD1C2"/>
          </a:solidFill>
          <a:ln/>
        </p:spPr>
      </p:sp>
      <p:sp>
        <p:nvSpPr>
          <p:cNvPr id="55" name="Text 46"/>
          <p:cNvSpPr txBox="1"/>
          <p:nvPr/>
        </p:nvSpPr>
        <p:spPr>
          <a:xfrm>
            <a:off x="5253228" y="5650992"/>
            <a:ext cx="3081528" cy="402336"/>
          </a:xfrm>
          <a:prstGeom prst="rect">
            <a:avLst/>
          </a:prstGeom>
          <a:noFill/>
          <a:ln/>
        </p:spPr>
        <p:txBody>
          <a:bodyPr wrap="square" lIns="0" tIns="0" rIns="0" bIns="0" rtlCol="0" anchor="t"/>
          <a:lstStyle/>
          <a:p>
            <a:pPr marL="0" indent="0">
              <a:lnSpc>
                <a:spcPts val="1200"/>
              </a:lnSpc>
              <a:buNone/>
            </a:pPr>
            <a:r>
              <a:rPr lang="en-US" sz="950" dirty="0">
                <a:solidFill>
                  <a:srgbClr val="A3B4C4"/>
                </a:solidFill>
                <a:latin typeface="Calibri" pitchFamily="34" charset="0"/>
                <a:ea typeface="Calibri" pitchFamily="34" charset="-122"/>
                <a:cs typeface="Calibri" pitchFamily="34" charset="-120"/>
              </a:rPr>
              <a:t>Link expires when the trip closes; it shows the vehicle, never the people.</a:t>
            </a:r>
            <a:endParaRPr lang="en-US" sz="950" dirty="0"/>
          </a:p>
        </p:txBody>
      </p:sp>
      <p:sp>
        <p:nvSpPr>
          <p:cNvPr id="56" name="Text 47"/>
          <p:cNvSpPr txBox="1"/>
          <p:nvPr/>
        </p:nvSpPr>
        <p:spPr>
          <a:xfrm>
            <a:off x="8878824" y="1645920"/>
            <a:ext cx="2745943" cy="219456"/>
          </a:xfrm>
          <a:prstGeom prst="rect">
            <a:avLst/>
          </a:prstGeom>
          <a:noFill/>
          <a:ln/>
        </p:spPr>
        <p:txBody>
          <a:bodyPr wrap="square" lIns="0" tIns="0" rIns="0" bIns="0" rtlCol="0" anchor="t"/>
          <a:lstStyle/>
          <a:p>
            <a:pPr marL="0" indent="0">
              <a:buNone/>
            </a:pPr>
            <a:r>
              <a:rPr lang="en-US" sz="900" b="1" kern="0" spc="140" dirty="0">
                <a:solidFill>
                  <a:srgbClr val="5E6D7D"/>
                </a:solidFill>
                <a:latin typeface="Arial" pitchFamily="34" charset="0"/>
                <a:ea typeface="Arial" pitchFamily="34" charset="-122"/>
                <a:cs typeface="Arial" pitchFamily="34" charset="-120"/>
              </a:rPr>
              <a:t>AND THEY ARE TOLD, EVERY TIME</a:t>
            </a:r>
            <a:endParaRPr lang="en-US" sz="900" dirty="0"/>
          </a:p>
        </p:txBody>
      </p:sp>
      <p:sp>
        <p:nvSpPr>
          <p:cNvPr id="57" name="Shape 48"/>
          <p:cNvSpPr/>
          <p:nvPr/>
        </p:nvSpPr>
        <p:spPr>
          <a:xfrm>
            <a:off x="8878824" y="1956816"/>
            <a:ext cx="2745943" cy="548640"/>
          </a:xfrm>
          <a:prstGeom prst="roundRect">
            <a:avLst>
              <a:gd name="adj" fmla="val 20000"/>
            </a:avLst>
          </a:prstGeom>
          <a:solidFill>
            <a:srgbClr val="F3F6F9"/>
          </a:solidFill>
          <a:ln w="12700">
            <a:solidFill>
              <a:srgbClr val="DCE4EC"/>
            </a:solidFill>
            <a:prstDash val="solid"/>
          </a:ln>
        </p:spPr>
      </p:sp>
      <p:sp>
        <p:nvSpPr>
          <p:cNvPr id="58" name="Text 49"/>
          <p:cNvSpPr txBox="1"/>
          <p:nvPr/>
        </p:nvSpPr>
        <p:spPr>
          <a:xfrm>
            <a:off x="9079992" y="1993392"/>
            <a:ext cx="2343607" cy="237744"/>
          </a:xfrm>
          <a:prstGeom prst="rect">
            <a:avLst/>
          </a:prstGeom>
          <a:noFill/>
          <a:ln/>
        </p:spPr>
        <p:txBody>
          <a:bodyPr wrap="square" lIns="0" tIns="0" rIns="0" bIns="0" rtlCol="0" anchor="ctr"/>
          <a:lstStyle/>
          <a:p>
            <a:pPr marL="0" indent="0">
              <a:buNone/>
            </a:pPr>
            <a:r>
              <a:rPr lang="en-US" sz="1050" b="1" dirty="0">
                <a:solidFill>
                  <a:srgbClr val="16202B"/>
                </a:solidFill>
                <a:latin typeface="Calibri" pitchFamily="34" charset="0"/>
                <a:ea typeface="Calibri" pitchFamily="34" charset="-122"/>
                <a:cs typeface="Calibri" pitchFamily="34" charset="-120"/>
              </a:rPr>
              <a:t>Booking confirmed or changed</a:t>
            </a:r>
            <a:endParaRPr lang="en-US" sz="1050" dirty="0"/>
          </a:p>
        </p:txBody>
      </p:sp>
      <p:sp>
        <p:nvSpPr>
          <p:cNvPr id="59" name="Text 50"/>
          <p:cNvSpPr txBox="1"/>
          <p:nvPr/>
        </p:nvSpPr>
        <p:spPr>
          <a:xfrm>
            <a:off x="9079992" y="2231136"/>
            <a:ext cx="2343607" cy="219456"/>
          </a:xfrm>
          <a:prstGeom prst="rect">
            <a:avLst/>
          </a:prstGeom>
          <a:noFill/>
          <a:ln/>
        </p:spPr>
        <p:txBody>
          <a:bodyPr wrap="square" lIns="0" tIns="0" rIns="0" bIns="0" rtlCol="0" anchor="t"/>
          <a:lstStyle/>
          <a:p>
            <a:pPr marL="0" indent="0">
              <a:buNone/>
            </a:pPr>
            <a:r>
              <a:rPr lang="en-US" sz="900" dirty="0">
                <a:solidFill>
                  <a:srgbClr val="00A896"/>
                </a:solidFill>
                <a:latin typeface="Calibri" pitchFamily="34" charset="0"/>
                <a:ea typeface="Calibri" pitchFamily="34" charset="-122"/>
                <a:cs typeface="Calibri" pitchFamily="34" charset="-120"/>
              </a:rPr>
              <a:t>Push · in-app</a:t>
            </a:r>
            <a:endParaRPr lang="en-US" sz="900" dirty="0"/>
          </a:p>
        </p:txBody>
      </p:sp>
      <p:sp>
        <p:nvSpPr>
          <p:cNvPr id="60" name="Shape 51"/>
          <p:cNvSpPr/>
          <p:nvPr/>
        </p:nvSpPr>
        <p:spPr>
          <a:xfrm>
            <a:off x="8878824" y="2596896"/>
            <a:ext cx="2745943" cy="548640"/>
          </a:xfrm>
          <a:prstGeom prst="roundRect">
            <a:avLst>
              <a:gd name="adj" fmla="val 20000"/>
            </a:avLst>
          </a:prstGeom>
          <a:solidFill>
            <a:srgbClr val="F3F6F9"/>
          </a:solidFill>
          <a:ln w="12700">
            <a:solidFill>
              <a:srgbClr val="DCE4EC"/>
            </a:solidFill>
            <a:prstDash val="solid"/>
          </a:ln>
        </p:spPr>
      </p:sp>
      <p:sp>
        <p:nvSpPr>
          <p:cNvPr id="61" name="Text 52"/>
          <p:cNvSpPr txBox="1"/>
          <p:nvPr/>
        </p:nvSpPr>
        <p:spPr>
          <a:xfrm>
            <a:off x="9079992" y="2633472"/>
            <a:ext cx="2343607" cy="237744"/>
          </a:xfrm>
          <a:prstGeom prst="rect">
            <a:avLst/>
          </a:prstGeom>
          <a:noFill/>
          <a:ln/>
        </p:spPr>
        <p:txBody>
          <a:bodyPr wrap="square" lIns="0" tIns="0" rIns="0" bIns="0" rtlCol="0" anchor="ctr"/>
          <a:lstStyle/>
          <a:p>
            <a:pPr marL="0" indent="0">
              <a:buNone/>
            </a:pPr>
            <a:r>
              <a:rPr lang="en-US" sz="1050" b="1" dirty="0">
                <a:solidFill>
                  <a:srgbClr val="16202B"/>
                </a:solidFill>
                <a:latin typeface="Calibri" pitchFamily="34" charset="0"/>
                <a:ea typeface="Calibri" pitchFamily="34" charset="-122"/>
                <a:cs typeface="Calibri" pitchFamily="34" charset="-120"/>
              </a:rPr>
              <a:t>Cab arriving at your stop</a:t>
            </a:r>
            <a:endParaRPr lang="en-US" sz="1050" dirty="0"/>
          </a:p>
        </p:txBody>
      </p:sp>
      <p:sp>
        <p:nvSpPr>
          <p:cNvPr id="62" name="Text 53"/>
          <p:cNvSpPr txBox="1"/>
          <p:nvPr/>
        </p:nvSpPr>
        <p:spPr>
          <a:xfrm>
            <a:off x="9079992" y="2871216"/>
            <a:ext cx="2343607" cy="219456"/>
          </a:xfrm>
          <a:prstGeom prst="rect">
            <a:avLst/>
          </a:prstGeom>
          <a:noFill/>
          <a:ln/>
        </p:spPr>
        <p:txBody>
          <a:bodyPr wrap="square" lIns="0" tIns="0" rIns="0" bIns="0" rtlCol="0" anchor="t"/>
          <a:lstStyle/>
          <a:p>
            <a:pPr marL="0" indent="0">
              <a:buNone/>
            </a:pPr>
            <a:r>
              <a:rPr lang="en-US" sz="900" dirty="0">
                <a:solidFill>
                  <a:srgbClr val="00A896"/>
                </a:solidFill>
                <a:latin typeface="Calibri" pitchFamily="34" charset="0"/>
                <a:ea typeface="Calibri" pitchFamily="34" charset="-122"/>
                <a:cs typeface="Calibri" pitchFamily="34" charset="-120"/>
              </a:rPr>
              <a:t>Push · SMS fallback</a:t>
            </a:r>
            <a:endParaRPr lang="en-US" sz="900" dirty="0"/>
          </a:p>
        </p:txBody>
      </p:sp>
      <p:sp>
        <p:nvSpPr>
          <p:cNvPr id="63" name="Shape 54"/>
          <p:cNvSpPr/>
          <p:nvPr/>
        </p:nvSpPr>
        <p:spPr>
          <a:xfrm>
            <a:off x="8878824" y="3236976"/>
            <a:ext cx="2745943" cy="548640"/>
          </a:xfrm>
          <a:prstGeom prst="roundRect">
            <a:avLst>
              <a:gd name="adj" fmla="val 20000"/>
            </a:avLst>
          </a:prstGeom>
          <a:solidFill>
            <a:srgbClr val="F3F6F9"/>
          </a:solidFill>
          <a:ln w="12700">
            <a:solidFill>
              <a:srgbClr val="DCE4EC"/>
            </a:solidFill>
            <a:prstDash val="solid"/>
          </a:ln>
        </p:spPr>
      </p:sp>
      <p:sp>
        <p:nvSpPr>
          <p:cNvPr id="64" name="Text 55"/>
          <p:cNvSpPr txBox="1"/>
          <p:nvPr/>
        </p:nvSpPr>
        <p:spPr>
          <a:xfrm>
            <a:off x="9079992" y="3273552"/>
            <a:ext cx="2343607" cy="237744"/>
          </a:xfrm>
          <a:prstGeom prst="rect">
            <a:avLst/>
          </a:prstGeom>
          <a:noFill/>
          <a:ln/>
        </p:spPr>
        <p:txBody>
          <a:bodyPr wrap="square" lIns="0" tIns="0" rIns="0" bIns="0" rtlCol="0" anchor="ctr"/>
          <a:lstStyle/>
          <a:p>
            <a:pPr marL="0" indent="0">
              <a:buNone/>
            </a:pPr>
            <a:r>
              <a:rPr lang="en-US" sz="1050" b="1" dirty="0">
                <a:solidFill>
                  <a:srgbClr val="16202B"/>
                </a:solidFill>
                <a:latin typeface="Calibri" pitchFamily="34" charset="0"/>
                <a:ea typeface="Calibri" pitchFamily="34" charset="-122"/>
                <a:cs typeface="Calibri" pitchFamily="34" charset="-120"/>
              </a:rPr>
              <a:t>Delay or driver changed</a:t>
            </a:r>
            <a:endParaRPr lang="en-US" sz="1050" dirty="0"/>
          </a:p>
        </p:txBody>
      </p:sp>
      <p:sp>
        <p:nvSpPr>
          <p:cNvPr id="65" name="Text 56"/>
          <p:cNvSpPr txBox="1"/>
          <p:nvPr/>
        </p:nvSpPr>
        <p:spPr>
          <a:xfrm>
            <a:off x="9079992" y="3511296"/>
            <a:ext cx="2343607" cy="219456"/>
          </a:xfrm>
          <a:prstGeom prst="rect">
            <a:avLst/>
          </a:prstGeom>
          <a:noFill/>
          <a:ln/>
        </p:spPr>
        <p:txBody>
          <a:bodyPr wrap="square" lIns="0" tIns="0" rIns="0" bIns="0" rtlCol="0" anchor="t"/>
          <a:lstStyle/>
          <a:p>
            <a:pPr marL="0" indent="0">
              <a:buNone/>
            </a:pPr>
            <a:r>
              <a:rPr lang="en-US" sz="900" dirty="0">
                <a:solidFill>
                  <a:srgbClr val="00A896"/>
                </a:solidFill>
                <a:latin typeface="Calibri" pitchFamily="34" charset="0"/>
                <a:ea typeface="Calibri" pitchFamily="34" charset="-122"/>
                <a:cs typeface="Calibri" pitchFamily="34" charset="-120"/>
              </a:rPr>
              <a:t>Push · SMS</a:t>
            </a:r>
            <a:endParaRPr lang="en-US" sz="900" dirty="0"/>
          </a:p>
        </p:txBody>
      </p:sp>
      <p:sp>
        <p:nvSpPr>
          <p:cNvPr id="66" name="Shape 57"/>
          <p:cNvSpPr/>
          <p:nvPr/>
        </p:nvSpPr>
        <p:spPr>
          <a:xfrm>
            <a:off x="8878824" y="3877056"/>
            <a:ext cx="2745943" cy="548640"/>
          </a:xfrm>
          <a:prstGeom prst="roundRect">
            <a:avLst>
              <a:gd name="adj" fmla="val 20000"/>
            </a:avLst>
          </a:prstGeom>
          <a:solidFill>
            <a:srgbClr val="F3F6F9"/>
          </a:solidFill>
          <a:ln w="12700">
            <a:solidFill>
              <a:srgbClr val="DCE4EC"/>
            </a:solidFill>
            <a:prstDash val="solid"/>
          </a:ln>
        </p:spPr>
      </p:sp>
      <p:sp>
        <p:nvSpPr>
          <p:cNvPr id="67" name="Text 58"/>
          <p:cNvSpPr txBox="1"/>
          <p:nvPr/>
        </p:nvSpPr>
        <p:spPr>
          <a:xfrm>
            <a:off x="9079992" y="3913632"/>
            <a:ext cx="2343607" cy="237744"/>
          </a:xfrm>
          <a:prstGeom prst="rect">
            <a:avLst/>
          </a:prstGeom>
          <a:noFill/>
          <a:ln/>
        </p:spPr>
        <p:txBody>
          <a:bodyPr wrap="square" lIns="0" tIns="0" rIns="0" bIns="0" rtlCol="0" anchor="ctr"/>
          <a:lstStyle/>
          <a:p>
            <a:pPr marL="0" indent="0">
              <a:buNone/>
            </a:pPr>
            <a:r>
              <a:rPr lang="en-US" sz="1050" b="1" dirty="0">
                <a:solidFill>
                  <a:srgbClr val="16202B"/>
                </a:solidFill>
                <a:latin typeface="Calibri" pitchFamily="34" charset="0"/>
                <a:ea typeface="Calibri" pitchFamily="34" charset="-122"/>
                <a:cs typeface="Calibri" pitchFamily="34" charset="-120"/>
              </a:rPr>
              <a:t>Trip started and ended</a:t>
            </a:r>
            <a:endParaRPr lang="en-US" sz="1050" dirty="0"/>
          </a:p>
        </p:txBody>
      </p:sp>
      <p:sp>
        <p:nvSpPr>
          <p:cNvPr id="68" name="Text 59"/>
          <p:cNvSpPr txBox="1"/>
          <p:nvPr/>
        </p:nvSpPr>
        <p:spPr>
          <a:xfrm>
            <a:off x="9079992" y="4151376"/>
            <a:ext cx="2343607" cy="219456"/>
          </a:xfrm>
          <a:prstGeom prst="rect">
            <a:avLst/>
          </a:prstGeom>
          <a:noFill/>
          <a:ln/>
        </p:spPr>
        <p:txBody>
          <a:bodyPr wrap="square" lIns="0" tIns="0" rIns="0" bIns="0" rtlCol="0" anchor="t"/>
          <a:lstStyle/>
          <a:p>
            <a:pPr marL="0" indent="0">
              <a:buNone/>
            </a:pPr>
            <a:r>
              <a:rPr lang="en-US" sz="900" dirty="0">
                <a:solidFill>
                  <a:srgbClr val="00A896"/>
                </a:solidFill>
                <a:latin typeface="Calibri" pitchFamily="34" charset="0"/>
                <a:ea typeface="Calibri" pitchFamily="34" charset="-122"/>
                <a:cs typeface="Calibri" pitchFamily="34" charset="-120"/>
              </a:rPr>
              <a:t>In-app · email</a:t>
            </a:r>
            <a:endParaRPr lang="en-US" sz="900" dirty="0"/>
          </a:p>
        </p:txBody>
      </p:sp>
      <p:sp>
        <p:nvSpPr>
          <p:cNvPr id="69" name="Shape 60"/>
          <p:cNvSpPr/>
          <p:nvPr/>
        </p:nvSpPr>
        <p:spPr>
          <a:xfrm>
            <a:off x="8878824" y="4517136"/>
            <a:ext cx="2745943" cy="548640"/>
          </a:xfrm>
          <a:prstGeom prst="roundRect">
            <a:avLst>
              <a:gd name="adj" fmla="val 20000"/>
            </a:avLst>
          </a:prstGeom>
          <a:solidFill>
            <a:srgbClr val="F3F6F9"/>
          </a:solidFill>
          <a:ln w="12700">
            <a:solidFill>
              <a:srgbClr val="DCE4EC"/>
            </a:solidFill>
            <a:prstDash val="solid"/>
          </a:ln>
        </p:spPr>
      </p:sp>
      <p:sp>
        <p:nvSpPr>
          <p:cNvPr id="70" name="Text 61"/>
          <p:cNvSpPr txBox="1"/>
          <p:nvPr/>
        </p:nvSpPr>
        <p:spPr>
          <a:xfrm>
            <a:off x="9079992" y="4553712"/>
            <a:ext cx="2343607" cy="237744"/>
          </a:xfrm>
          <a:prstGeom prst="rect">
            <a:avLst/>
          </a:prstGeom>
          <a:noFill/>
          <a:ln/>
        </p:spPr>
        <p:txBody>
          <a:bodyPr wrap="square" lIns="0" tIns="0" rIns="0" bIns="0" rtlCol="0" anchor="ctr"/>
          <a:lstStyle/>
          <a:p>
            <a:pPr marL="0" indent="0">
              <a:buNone/>
            </a:pPr>
            <a:r>
              <a:rPr lang="en-US" sz="1050" b="1" dirty="0">
                <a:solidFill>
                  <a:srgbClr val="16202B"/>
                </a:solidFill>
                <a:latin typeface="Calibri" pitchFamily="34" charset="0"/>
                <a:ea typeface="Calibri" pitchFamily="34" charset="-122"/>
                <a:cs typeface="Calibri" pitchFamily="34" charset="-120"/>
              </a:rPr>
              <a:t>SOS raised</a:t>
            </a:r>
            <a:endParaRPr lang="en-US" sz="1050" dirty="0"/>
          </a:p>
        </p:txBody>
      </p:sp>
      <p:sp>
        <p:nvSpPr>
          <p:cNvPr id="71" name="Text 62"/>
          <p:cNvSpPr txBox="1"/>
          <p:nvPr/>
        </p:nvSpPr>
        <p:spPr>
          <a:xfrm>
            <a:off x="9079992" y="4791456"/>
            <a:ext cx="2343607" cy="219456"/>
          </a:xfrm>
          <a:prstGeom prst="rect">
            <a:avLst/>
          </a:prstGeom>
          <a:noFill/>
          <a:ln/>
        </p:spPr>
        <p:txBody>
          <a:bodyPr wrap="square" lIns="0" tIns="0" rIns="0" bIns="0" rtlCol="0" anchor="t"/>
          <a:lstStyle/>
          <a:p>
            <a:pPr marL="0" indent="0">
              <a:buNone/>
            </a:pPr>
            <a:r>
              <a:rPr lang="en-US" sz="900" dirty="0">
                <a:solidFill>
                  <a:srgbClr val="00A896"/>
                </a:solidFill>
                <a:latin typeface="Calibri" pitchFamily="34" charset="0"/>
                <a:ea typeface="Calibri" pitchFamily="34" charset="-122"/>
                <a:cs typeface="Calibri" pitchFamily="34" charset="-120"/>
              </a:rPr>
              <a:t>Desk · security · alarm</a:t>
            </a:r>
            <a:endParaRPr lang="en-US" sz="900" dirty="0"/>
          </a:p>
        </p:txBody>
      </p:sp>
      <p:sp>
        <p:nvSpPr>
          <p:cNvPr id="72" name="Shape 63"/>
          <p:cNvSpPr/>
          <p:nvPr/>
        </p:nvSpPr>
        <p:spPr>
          <a:xfrm>
            <a:off x="8878824" y="5157216"/>
            <a:ext cx="2745943" cy="548640"/>
          </a:xfrm>
          <a:prstGeom prst="roundRect">
            <a:avLst>
              <a:gd name="adj" fmla="val 20000"/>
            </a:avLst>
          </a:prstGeom>
          <a:solidFill>
            <a:srgbClr val="F3F6F9"/>
          </a:solidFill>
          <a:ln w="12700">
            <a:solidFill>
              <a:srgbClr val="DCE4EC"/>
            </a:solidFill>
            <a:prstDash val="solid"/>
          </a:ln>
        </p:spPr>
      </p:sp>
      <p:sp>
        <p:nvSpPr>
          <p:cNvPr id="73" name="Text 64"/>
          <p:cNvSpPr txBox="1"/>
          <p:nvPr/>
        </p:nvSpPr>
        <p:spPr>
          <a:xfrm>
            <a:off x="9079992" y="5193792"/>
            <a:ext cx="2343607" cy="237744"/>
          </a:xfrm>
          <a:prstGeom prst="rect">
            <a:avLst/>
          </a:prstGeom>
          <a:noFill/>
          <a:ln/>
        </p:spPr>
        <p:txBody>
          <a:bodyPr wrap="square" lIns="0" tIns="0" rIns="0" bIns="0" rtlCol="0" anchor="ctr"/>
          <a:lstStyle/>
          <a:p>
            <a:pPr marL="0" indent="0">
              <a:buNone/>
            </a:pPr>
            <a:r>
              <a:rPr lang="en-US" sz="1050" b="1" dirty="0">
                <a:solidFill>
                  <a:srgbClr val="16202B"/>
                </a:solidFill>
                <a:latin typeface="Calibri" pitchFamily="34" charset="0"/>
                <a:ea typeface="Calibri" pitchFamily="34" charset="-122"/>
                <a:cs typeface="Calibri" pitchFamily="34" charset="-120"/>
              </a:rPr>
              <a:t>Monthly bill ready</a:t>
            </a:r>
            <a:endParaRPr lang="en-US" sz="1050" dirty="0"/>
          </a:p>
        </p:txBody>
      </p:sp>
      <p:sp>
        <p:nvSpPr>
          <p:cNvPr id="74" name="Text 65"/>
          <p:cNvSpPr txBox="1"/>
          <p:nvPr/>
        </p:nvSpPr>
        <p:spPr>
          <a:xfrm>
            <a:off x="9079992" y="5431536"/>
            <a:ext cx="2343607" cy="219456"/>
          </a:xfrm>
          <a:prstGeom prst="rect">
            <a:avLst/>
          </a:prstGeom>
          <a:noFill/>
          <a:ln/>
        </p:spPr>
        <p:txBody>
          <a:bodyPr wrap="square" lIns="0" tIns="0" rIns="0" bIns="0" rtlCol="0" anchor="t"/>
          <a:lstStyle/>
          <a:p>
            <a:pPr marL="0" indent="0">
              <a:buNone/>
            </a:pPr>
            <a:r>
              <a:rPr lang="en-US" sz="900" dirty="0">
                <a:solidFill>
                  <a:srgbClr val="00A896"/>
                </a:solidFill>
                <a:latin typeface="Calibri" pitchFamily="34" charset="0"/>
                <a:ea typeface="Calibri" pitchFamily="34" charset="-122"/>
                <a:cs typeface="Calibri" pitchFamily="34" charset="-120"/>
              </a:rPr>
              <a:t>Email to finance</a:t>
            </a:r>
            <a:endParaRPr lang="en-US" sz="900" dirty="0"/>
          </a:p>
        </p:txBody>
      </p:sp>
      <p:sp>
        <p:nvSpPr>
          <p:cNvPr id="75" name="Text 66"/>
          <p:cNvSpPr txBox="1"/>
          <p:nvPr/>
        </p:nvSpPr>
        <p:spPr>
          <a:xfrm>
            <a:off x="8878824" y="5797296"/>
            <a:ext cx="2745943" cy="475488"/>
          </a:xfrm>
          <a:prstGeom prst="rect">
            <a:avLst/>
          </a:prstGeom>
          <a:noFill/>
          <a:ln/>
        </p:spPr>
        <p:txBody>
          <a:bodyPr wrap="square" lIns="0" tIns="0" rIns="0" bIns="0" rtlCol="0" anchor="t"/>
          <a:lstStyle/>
          <a:p>
            <a:pPr marL="0" indent="0">
              <a:lnSpc>
                <a:spcPts val="1200"/>
              </a:lnSpc>
              <a:buNone/>
            </a:pPr>
            <a:r>
              <a:rPr lang="en-US" sz="900" i="1" dirty="0">
                <a:solidFill>
                  <a:srgbClr val="5E6D7D"/>
                </a:solidFill>
                <a:latin typeface="Calibri" pitchFamily="34" charset="0"/>
                <a:ea typeface="Calibri" pitchFamily="34" charset="-122"/>
                <a:cs typeface="Calibri" pitchFamily="34" charset="-120"/>
              </a:rPr>
              <a:t>Quiet hours, English and Hindi templates, channel fallback, no duplicates - every message logged with its delivery status.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5E6D7D"/>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5E6D7D"/>
                </a:solidFill>
                <a:latin typeface="Arial" pitchFamily="34" charset="0"/>
                <a:ea typeface="Arial" pitchFamily="34" charset="-122"/>
                <a:cs typeface="Arial" pitchFamily="34" charset="-120"/>
              </a:rPr>
              <a:t>12</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DRIVER APP</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16202B"/>
                </a:solidFill>
                <a:latin typeface="Arial" pitchFamily="34" charset="0"/>
                <a:ea typeface="Arial" pitchFamily="34" charset="-122"/>
                <a:cs typeface="Arial" pitchFamily="34" charset="-120"/>
              </a:rPr>
              <a:t>Simple enough to use with gloves on</a:t>
            </a:r>
            <a:endParaRPr lang="en-US" sz="3000" dirty="0"/>
          </a:p>
        </p:txBody>
      </p:sp>
      <p:sp>
        <p:nvSpPr>
          <p:cNvPr id="6" name="Text 4"/>
          <p:cNvSpPr txBox="1"/>
          <p:nvPr/>
        </p:nvSpPr>
        <p:spPr>
          <a:xfrm>
            <a:off x="566928" y="1179576"/>
            <a:ext cx="9509742" cy="274320"/>
          </a:xfrm>
          <a:prstGeom prst="rect">
            <a:avLst/>
          </a:prstGeom>
          <a:noFill/>
          <a:ln/>
        </p:spPr>
        <p:txBody>
          <a:bodyPr wrap="square" lIns="0" tIns="0" rIns="0" bIns="0" rtlCol="0" anchor="ctr"/>
          <a:lstStyle/>
          <a:p>
            <a:pPr marL="0" indent="0">
              <a:buNone/>
            </a:pPr>
            <a:r>
              <a:rPr lang="en-US" sz="1300" dirty="0">
                <a:solidFill>
                  <a:srgbClr val="5E6D7D"/>
                </a:solidFill>
                <a:latin typeface="Calibri" pitchFamily="34" charset="0"/>
                <a:ea typeface="Calibri" pitchFamily="34" charset="-122"/>
                <a:cs typeface="Calibri" pitchFamily="34" charset="-120"/>
              </a:rPr>
              <a:t>Android, big targets, Hindi and English, voice prompts - and it keeps working when the network does not.</a:t>
            </a:r>
            <a:endParaRPr lang="en-US" sz="1300" dirty="0"/>
          </a:p>
        </p:txBody>
      </p:sp>
      <p:sp>
        <p:nvSpPr>
          <p:cNvPr id="7" name="Shape 5"/>
          <p:cNvSpPr/>
          <p:nvPr/>
        </p:nvSpPr>
        <p:spPr>
          <a:xfrm>
            <a:off x="566928" y="1645920"/>
            <a:ext cx="2468880" cy="4517136"/>
          </a:xfrm>
          <a:prstGeom prst="roundRect">
            <a:avLst>
              <a:gd name="adj" fmla="val 8148"/>
            </a:avLst>
          </a:prstGeom>
          <a:solidFill>
            <a:srgbClr val="0E141B"/>
          </a:solidFill>
          <a:ln/>
          <a:effectLst>
            <a:outerShdw blurRad="203200" dist="50800" dir="5400000" algn="bl" rotWithShape="0">
              <a:srgbClr val="0E141B">
                <a:alpha val="22000"/>
              </a:srgbClr>
            </a:outerShdw>
          </a:effectLst>
        </p:spPr>
      </p:sp>
      <p:sp>
        <p:nvSpPr>
          <p:cNvPr id="8" name="Shape 6"/>
          <p:cNvSpPr/>
          <p:nvPr/>
        </p:nvSpPr>
        <p:spPr>
          <a:xfrm>
            <a:off x="644652" y="1723644"/>
            <a:ext cx="2313432" cy="4361688"/>
          </a:xfrm>
          <a:prstGeom prst="roundRect">
            <a:avLst>
              <a:gd name="adj" fmla="val 6324"/>
            </a:avLst>
          </a:prstGeom>
          <a:solidFill>
            <a:srgbClr val="FFFFFF"/>
          </a:solidFill>
          <a:ln/>
        </p:spPr>
      </p:sp>
      <p:sp>
        <p:nvSpPr>
          <p:cNvPr id="9" name="Shape 7"/>
          <p:cNvSpPr/>
          <p:nvPr/>
        </p:nvSpPr>
        <p:spPr>
          <a:xfrm>
            <a:off x="1545336" y="1769364"/>
            <a:ext cx="512064" cy="82296"/>
          </a:xfrm>
          <a:prstGeom prst="roundRect">
            <a:avLst>
              <a:gd name="adj" fmla="val 50000"/>
            </a:avLst>
          </a:prstGeom>
          <a:solidFill>
            <a:srgbClr val="0E141B"/>
          </a:solidFill>
          <a:ln/>
        </p:spPr>
      </p:sp>
      <p:sp>
        <p:nvSpPr>
          <p:cNvPr id="10" name="Text 8"/>
          <p:cNvSpPr txBox="1"/>
          <p:nvPr/>
        </p:nvSpPr>
        <p:spPr>
          <a:xfrm>
            <a:off x="745236" y="1961388"/>
            <a:ext cx="2112264" cy="274320"/>
          </a:xfrm>
          <a:prstGeom prst="rect">
            <a:avLst/>
          </a:prstGeom>
          <a:noFill/>
          <a:ln/>
        </p:spPr>
        <p:txBody>
          <a:bodyPr wrap="square" lIns="0" tIns="0" rIns="0" bIns="0" rtlCol="0" anchor="ctr"/>
          <a:lstStyle/>
          <a:p>
            <a:pPr marL="0" indent="0">
              <a:buNone/>
            </a:pPr>
            <a:r>
              <a:rPr lang="en-US" sz="1250" b="1" dirty="0">
                <a:solidFill>
                  <a:srgbClr val="16202B"/>
                </a:solidFill>
                <a:latin typeface="Arial" pitchFamily="34" charset="0"/>
                <a:ea typeface="Arial" pitchFamily="34" charset="-122"/>
                <a:cs typeface="Arial" pitchFamily="34" charset="-120"/>
              </a:rPr>
              <a:t>Next pickups</a:t>
            </a:r>
            <a:endParaRPr lang="en-US" sz="1250" dirty="0"/>
          </a:p>
        </p:txBody>
      </p:sp>
      <p:sp>
        <p:nvSpPr>
          <p:cNvPr id="11" name="Shape 9"/>
          <p:cNvSpPr/>
          <p:nvPr/>
        </p:nvSpPr>
        <p:spPr>
          <a:xfrm>
            <a:off x="745236" y="2327148"/>
            <a:ext cx="2112264" cy="566928"/>
          </a:xfrm>
          <a:prstGeom prst="roundRect">
            <a:avLst>
              <a:gd name="adj" fmla="val 14516"/>
            </a:avLst>
          </a:prstGeom>
          <a:solidFill>
            <a:srgbClr val="FFEDE0"/>
          </a:solidFill>
          <a:ln w="19050">
            <a:solidFill>
              <a:srgbClr val="E85D04"/>
            </a:solidFill>
            <a:prstDash val="solid"/>
          </a:ln>
        </p:spPr>
      </p:sp>
      <p:sp>
        <p:nvSpPr>
          <p:cNvPr id="12" name="Shape 10"/>
          <p:cNvSpPr/>
          <p:nvPr/>
        </p:nvSpPr>
        <p:spPr>
          <a:xfrm>
            <a:off x="873252" y="2491740"/>
            <a:ext cx="237744" cy="237744"/>
          </a:xfrm>
          <a:prstGeom prst="ellipse">
            <a:avLst/>
          </a:prstGeom>
          <a:solidFill>
            <a:srgbClr val="E85D04"/>
          </a:solidFill>
          <a:ln/>
        </p:spPr>
      </p:sp>
      <p:sp>
        <p:nvSpPr>
          <p:cNvPr id="13" name="Text 11"/>
          <p:cNvSpPr txBox="1"/>
          <p:nvPr/>
        </p:nvSpPr>
        <p:spPr>
          <a:xfrm>
            <a:off x="873252" y="2491740"/>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a:t>
            </a:r>
            <a:endParaRPr lang="en-US" sz="800" dirty="0"/>
          </a:p>
        </p:txBody>
      </p:sp>
      <p:sp>
        <p:nvSpPr>
          <p:cNvPr id="14" name="Text 12"/>
          <p:cNvSpPr txBox="1"/>
          <p:nvPr/>
        </p:nvSpPr>
        <p:spPr>
          <a:xfrm>
            <a:off x="1184148" y="2391156"/>
            <a:ext cx="1563624" cy="219456"/>
          </a:xfrm>
          <a:prstGeom prst="rect">
            <a:avLst/>
          </a:prstGeom>
          <a:noFill/>
          <a:ln/>
        </p:spPr>
        <p:txBody>
          <a:bodyPr wrap="square" lIns="0" tIns="0" rIns="0" bIns="0" rtlCol="0" anchor="ctr"/>
          <a:lstStyle/>
          <a:p>
            <a:pPr marL="0" indent="0">
              <a:buNone/>
            </a:pPr>
            <a:r>
              <a:rPr lang="en-US" sz="1000" b="1" dirty="0">
                <a:solidFill>
                  <a:srgbClr val="16202B"/>
                </a:solidFill>
                <a:latin typeface="Calibri" pitchFamily="34" charset="0"/>
                <a:ea typeface="Calibri" pitchFamily="34" charset="-122"/>
                <a:cs typeface="Calibri" pitchFamily="34" charset="-120"/>
              </a:rPr>
              <a:t>Gate 2</a:t>
            </a:r>
            <a:endParaRPr lang="en-US" sz="1000" dirty="0"/>
          </a:p>
        </p:txBody>
      </p:sp>
      <p:sp>
        <p:nvSpPr>
          <p:cNvPr id="15" name="Text 13"/>
          <p:cNvSpPr txBox="1"/>
          <p:nvPr/>
        </p:nvSpPr>
        <p:spPr>
          <a:xfrm>
            <a:off x="1184148" y="2601468"/>
            <a:ext cx="1563624" cy="201168"/>
          </a:xfrm>
          <a:prstGeom prst="rect">
            <a:avLst/>
          </a:prstGeom>
          <a:noFill/>
          <a:ln/>
        </p:spPr>
        <p:txBody>
          <a:bodyPr wrap="square" lIns="0" tIns="0" rIns="0" bIns="0" rtlCol="0" anchor="ctr"/>
          <a:lstStyle/>
          <a:p>
            <a:pPr marL="0" indent="0">
              <a:buNone/>
            </a:pPr>
            <a:r>
              <a:rPr lang="en-US" sz="800" dirty="0">
                <a:solidFill>
                  <a:srgbClr val="5E6D7D"/>
                </a:solidFill>
                <a:latin typeface="Calibri" pitchFamily="34" charset="0"/>
                <a:ea typeface="Calibri" pitchFamily="34" charset="-122"/>
                <a:cs typeface="Calibri" pitchFamily="34" charset="-120"/>
              </a:rPr>
              <a:t>3 riders · pickup in 2 min</a:t>
            </a:r>
            <a:endParaRPr lang="en-US" sz="800" dirty="0"/>
          </a:p>
        </p:txBody>
      </p:sp>
      <p:sp>
        <p:nvSpPr>
          <p:cNvPr id="16" name="Shape 14"/>
          <p:cNvSpPr/>
          <p:nvPr/>
        </p:nvSpPr>
        <p:spPr>
          <a:xfrm>
            <a:off x="745236" y="2985516"/>
            <a:ext cx="2112264" cy="566928"/>
          </a:xfrm>
          <a:prstGeom prst="roundRect">
            <a:avLst>
              <a:gd name="adj" fmla="val 14516"/>
            </a:avLst>
          </a:prstGeom>
          <a:solidFill>
            <a:srgbClr val="FFFFFF"/>
          </a:solidFill>
          <a:ln w="12700">
            <a:solidFill>
              <a:srgbClr val="DCE4EC"/>
            </a:solidFill>
            <a:prstDash val="solid"/>
          </a:ln>
        </p:spPr>
      </p:sp>
      <p:sp>
        <p:nvSpPr>
          <p:cNvPr id="17" name="Shape 15"/>
          <p:cNvSpPr/>
          <p:nvPr/>
        </p:nvSpPr>
        <p:spPr>
          <a:xfrm>
            <a:off x="873252" y="3150108"/>
            <a:ext cx="237744" cy="237744"/>
          </a:xfrm>
          <a:prstGeom prst="ellipse">
            <a:avLst/>
          </a:prstGeom>
          <a:solidFill>
            <a:srgbClr val="DCE4EC"/>
          </a:solidFill>
          <a:ln/>
        </p:spPr>
      </p:sp>
      <p:sp>
        <p:nvSpPr>
          <p:cNvPr id="18" name="Text 16"/>
          <p:cNvSpPr txBox="1"/>
          <p:nvPr/>
        </p:nvSpPr>
        <p:spPr>
          <a:xfrm>
            <a:off x="873252" y="3150108"/>
            <a:ext cx="237744" cy="237744"/>
          </a:xfrm>
          <a:prstGeom prst="rect">
            <a:avLst/>
          </a:prstGeom>
          <a:noFill/>
          <a:ln/>
        </p:spPr>
        <p:txBody>
          <a:bodyPr wrap="square" lIns="0" tIns="0" rIns="0" bIns="0" rtlCol="0" anchor="ctr"/>
          <a:lstStyle/>
          <a:p>
            <a:pPr marL="0" indent="0" algn="ctr">
              <a:buNone/>
            </a:pPr>
            <a:r>
              <a:rPr lang="en-US" sz="800" b="1" dirty="0">
                <a:solidFill>
                  <a:srgbClr val="5E6D7D"/>
                </a:solidFill>
                <a:latin typeface="Arial" pitchFamily="34" charset="0"/>
                <a:ea typeface="Arial" pitchFamily="34" charset="-122"/>
                <a:cs typeface="Arial" pitchFamily="34" charset="-120"/>
              </a:rPr>
              <a:t>2</a:t>
            </a:r>
            <a:endParaRPr lang="en-US" sz="800" dirty="0"/>
          </a:p>
        </p:txBody>
      </p:sp>
      <p:sp>
        <p:nvSpPr>
          <p:cNvPr id="19" name="Text 17"/>
          <p:cNvSpPr txBox="1"/>
          <p:nvPr/>
        </p:nvSpPr>
        <p:spPr>
          <a:xfrm>
            <a:off x="1184148" y="3049524"/>
            <a:ext cx="1563624" cy="219456"/>
          </a:xfrm>
          <a:prstGeom prst="rect">
            <a:avLst/>
          </a:prstGeom>
          <a:noFill/>
          <a:ln/>
        </p:spPr>
        <p:txBody>
          <a:bodyPr wrap="square" lIns="0" tIns="0" rIns="0" bIns="0" rtlCol="0" anchor="ctr"/>
          <a:lstStyle/>
          <a:p>
            <a:pPr marL="0" indent="0">
              <a:buNone/>
            </a:pPr>
            <a:r>
              <a:rPr lang="en-US" sz="1000" b="1" dirty="0">
                <a:solidFill>
                  <a:srgbClr val="16202B"/>
                </a:solidFill>
                <a:latin typeface="Calibri" pitchFamily="34" charset="0"/>
                <a:ea typeface="Calibri" pitchFamily="34" charset="-122"/>
                <a:cs typeface="Calibri" pitchFamily="34" charset="-120"/>
              </a:rPr>
              <a:t>Coke Plant</a:t>
            </a:r>
            <a:endParaRPr lang="en-US" sz="1000" dirty="0"/>
          </a:p>
        </p:txBody>
      </p:sp>
      <p:sp>
        <p:nvSpPr>
          <p:cNvPr id="20" name="Text 18"/>
          <p:cNvSpPr txBox="1"/>
          <p:nvPr/>
        </p:nvSpPr>
        <p:spPr>
          <a:xfrm>
            <a:off x="1184148" y="3259836"/>
            <a:ext cx="1563624" cy="201168"/>
          </a:xfrm>
          <a:prstGeom prst="rect">
            <a:avLst/>
          </a:prstGeom>
          <a:noFill/>
          <a:ln/>
        </p:spPr>
        <p:txBody>
          <a:bodyPr wrap="square" lIns="0" tIns="0" rIns="0" bIns="0" rtlCol="0" anchor="ctr"/>
          <a:lstStyle/>
          <a:p>
            <a:pPr marL="0" indent="0">
              <a:buNone/>
            </a:pPr>
            <a:r>
              <a:rPr lang="en-US" sz="800" dirty="0">
                <a:solidFill>
                  <a:srgbClr val="5E6D7D"/>
                </a:solidFill>
                <a:latin typeface="Calibri" pitchFamily="34" charset="0"/>
                <a:ea typeface="Calibri" pitchFamily="34" charset="-122"/>
                <a:cs typeface="Calibri" pitchFamily="34" charset="-120"/>
              </a:rPr>
              <a:t>1 rider · then drop at Admin</a:t>
            </a:r>
            <a:endParaRPr lang="en-US" sz="800" dirty="0"/>
          </a:p>
        </p:txBody>
      </p:sp>
      <p:sp>
        <p:nvSpPr>
          <p:cNvPr id="21" name="Text 19"/>
          <p:cNvSpPr txBox="1"/>
          <p:nvPr/>
        </p:nvSpPr>
        <p:spPr>
          <a:xfrm>
            <a:off x="745236" y="3771900"/>
            <a:ext cx="2112264" cy="237744"/>
          </a:xfrm>
          <a:prstGeom prst="rect">
            <a:avLst/>
          </a:prstGeom>
          <a:noFill/>
          <a:ln/>
        </p:spPr>
        <p:txBody>
          <a:bodyPr wrap="square" lIns="0" tIns="0" rIns="0" bIns="0" rtlCol="0" anchor="ctr"/>
          <a:lstStyle/>
          <a:p>
            <a:pPr marL="0" indent="0">
              <a:buNone/>
            </a:pPr>
            <a:r>
              <a:rPr lang="en-US" sz="950" dirty="0">
                <a:solidFill>
                  <a:srgbClr val="5E6D7D"/>
                </a:solidFill>
                <a:latin typeface="Calibri" pitchFamily="34" charset="0"/>
                <a:ea typeface="Calibri" pitchFamily="34" charset="-122"/>
                <a:cs typeface="Calibri" pitchFamily="34" charset="-120"/>
              </a:rPr>
              <a:t>Enter rider OTP</a:t>
            </a:r>
            <a:endParaRPr lang="en-US" sz="950" dirty="0"/>
          </a:p>
        </p:txBody>
      </p:sp>
      <p:sp>
        <p:nvSpPr>
          <p:cNvPr id="22" name="Shape 20"/>
          <p:cNvSpPr/>
          <p:nvPr/>
        </p:nvSpPr>
        <p:spPr>
          <a:xfrm>
            <a:off x="745236" y="4046220"/>
            <a:ext cx="445770" cy="530352"/>
          </a:xfrm>
          <a:prstGeom prst="roundRect">
            <a:avLst>
              <a:gd name="adj" fmla="val 18462"/>
            </a:avLst>
          </a:prstGeom>
          <a:solidFill>
            <a:srgbClr val="0E141B"/>
          </a:solidFill>
          <a:ln/>
        </p:spPr>
      </p:sp>
      <p:sp>
        <p:nvSpPr>
          <p:cNvPr id="23" name="Text 21"/>
          <p:cNvSpPr txBox="1"/>
          <p:nvPr/>
        </p:nvSpPr>
        <p:spPr>
          <a:xfrm>
            <a:off x="745236" y="4046220"/>
            <a:ext cx="445770" cy="530352"/>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4" name="Shape 22"/>
          <p:cNvSpPr/>
          <p:nvPr/>
        </p:nvSpPr>
        <p:spPr>
          <a:xfrm>
            <a:off x="1300734" y="4046220"/>
            <a:ext cx="445770" cy="530352"/>
          </a:xfrm>
          <a:prstGeom prst="roundRect">
            <a:avLst>
              <a:gd name="adj" fmla="val 18462"/>
            </a:avLst>
          </a:prstGeom>
          <a:solidFill>
            <a:srgbClr val="0E141B"/>
          </a:solidFill>
          <a:ln/>
        </p:spPr>
      </p:sp>
      <p:sp>
        <p:nvSpPr>
          <p:cNvPr id="25" name="Text 23"/>
          <p:cNvSpPr txBox="1"/>
          <p:nvPr/>
        </p:nvSpPr>
        <p:spPr>
          <a:xfrm>
            <a:off x="1300734" y="4046220"/>
            <a:ext cx="445770" cy="530352"/>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8</a:t>
            </a:r>
            <a:endParaRPr lang="en-US" sz="1700" dirty="0"/>
          </a:p>
        </p:txBody>
      </p:sp>
      <p:sp>
        <p:nvSpPr>
          <p:cNvPr id="26" name="Shape 24"/>
          <p:cNvSpPr/>
          <p:nvPr/>
        </p:nvSpPr>
        <p:spPr>
          <a:xfrm>
            <a:off x="1856232" y="4046220"/>
            <a:ext cx="445770" cy="530352"/>
          </a:xfrm>
          <a:prstGeom prst="roundRect">
            <a:avLst>
              <a:gd name="adj" fmla="val 18462"/>
            </a:avLst>
          </a:prstGeom>
          <a:solidFill>
            <a:srgbClr val="F3F6F9"/>
          </a:solidFill>
          <a:ln/>
        </p:spPr>
      </p:sp>
      <p:sp>
        <p:nvSpPr>
          <p:cNvPr id="27" name="Shape 25"/>
          <p:cNvSpPr/>
          <p:nvPr/>
        </p:nvSpPr>
        <p:spPr>
          <a:xfrm>
            <a:off x="2411730" y="4046220"/>
            <a:ext cx="445770" cy="530352"/>
          </a:xfrm>
          <a:prstGeom prst="roundRect">
            <a:avLst>
              <a:gd name="adj" fmla="val 18462"/>
            </a:avLst>
          </a:prstGeom>
          <a:solidFill>
            <a:srgbClr val="F3F6F9"/>
          </a:solidFill>
          <a:ln/>
        </p:spPr>
      </p:sp>
      <p:sp>
        <p:nvSpPr>
          <p:cNvPr id="28" name="Shape 26"/>
          <p:cNvSpPr/>
          <p:nvPr/>
        </p:nvSpPr>
        <p:spPr>
          <a:xfrm>
            <a:off x="745236" y="4759452"/>
            <a:ext cx="1225113" cy="457200"/>
          </a:xfrm>
          <a:prstGeom prst="roundRect">
            <a:avLst>
              <a:gd name="adj" fmla="val 20000"/>
            </a:avLst>
          </a:prstGeom>
          <a:solidFill>
            <a:srgbClr val="00A896"/>
          </a:solidFill>
          <a:ln/>
        </p:spPr>
      </p:sp>
      <p:sp>
        <p:nvSpPr>
          <p:cNvPr id="29" name="Text 27"/>
          <p:cNvSpPr txBox="1"/>
          <p:nvPr/>
        </p:nvSpPr>
        <p:spPr>
          <a:xfrm>
            <a:off x="745236" y="4759452"/>
            <a:ext cx="1225113"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Arrived</a:t>
            </a:r>
            <a:endParaRPr lang="en-US" sz="1050" dirty="0"/>
          </a:p>
        </p:txBody>
      </p:sp>
      <p:sp>
        <p:nvSpPr>
          <p:cNvPr id="30" name="Shape 28"/>
          <p:cNvSpPr/>
          <p:nvPr/>
        </p:nvSpPr>
        <p:spPr>
          <a:xfrm>
            <a:off x="2054840" y="4759452"/>
            <a:ext cx="802660" cy="457200"/>
          </a:xfrm>
          <a:prstGeom prst="roundRect">
            <a:avLst>
              <a:gd name="adj" fmla="val 20000"/>
            </a:avLst>
          </a:prstGeom>
          <a:solidFill>
            <a:srgbClr val="C02617"/>
          </a:solidFill>
          <a:ln/>
        </p:spPr>
      </p:sp>
      <p:sp>
        <p:nvSpPr>
          <p:cNvPr id="31" name="Text 29"/>
          <p:cNvSpPr txBox="1"/>
          <p:nvPr/>
        </p:nvSpPr>
        <p:spPr>
          <a:xfrm>
            <a:off x="2054840" y="4759452"/>
            <a:ext cx="8026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SOS</a:t>
            </a:r>
            <a:endParaRPr lang="en-US" sz="1100" dirty="0"/>
          </a:p>
        </p:txBody>
      </p:sp>
      <p:sp>
        <p:nvSpPr>
          <p:cNvPr id="32" name="Text 30"/>
          <p:cNvSpPr txBox="1"/>
          <p:nvPr/>
        </p:nvSpPr>
        <p:spPr>
          <a:xfrm>
            <a:off x="745236" y="5344668"/>
            <a:ext cx="2112264" cy="237744"/>
          </a:xfrm>
          <a:prstGeom prst="rect">
            <a:avLst/>
          </a:prstGeom>
          <a:noFill/>
          <a:ln/>
        </p:spPr>
        <p:txBody>
          <a:bodyPr wrap="square" lIns="0" tIns="0" rIns="0" bIns="0" rtlCol="0" anchor="ctr"/>
          <a:lstStyle/>
          <a:p>
            <a:pPr marL="0" indent="0">
              <a:buNone/>
            </a:pPr>
            <a:r>
              <a:rPr lang="en-US" sz="850" dirty="0">
                <a:solidFill>
                  <a:srgbClr val="5E6D7D"/>
                </a:solidFill>
                <a:latin typeface="Calibri" pitchFamily="34" charset="0"/>
                <a:ea typeface="Calibri" pitchFamily="34" charset="-122"/>
                <a:cs typeface="Calibri" pitchFamily="34" charset="-120"/>
              </a:rPr>
              <a:t>On board:  3 of 3  (cap)          Vehicle seats:  4</a:t>
            </a:r>
            <a:endParaRPr lang="en-US" sz="850" dirty="0"/>
          </a:p>
        </p:txBody>
      </p:sp>
      <p:sp>
        <p:nvSpPr>
          <p:cNvPr id="33" name="Shape 31"/>
          <p:cNvSpPr/>
          <p:nvPr/>
        </p:nvSpPr>
        <p:spPr>
          <a:xfrm>
            <a:off x="3346704" y="1645920"/>
            <a:ext cx="4011016" cy="1371600"/>
          </a:xfrm>
          <a:prstGeom prst="roundRect">
            <a:avLst>
              <a:gd name="adj" fmla="val 8000"/>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34" name="Shape 32"/>
          <p:cNvSpPr/>
          <p:nvPr/>
        </p:nvSpPr>
        <p:spPr>
          <a:xfrm>
            <a:off x="3584448" y="1883664"/>
            <a:ext cx="493776" cy="493776"/>
          </a:xfrm>
          <a:prstGeom prst="ellipse">
            <a:avLst/>
          </a:prstGeom>
          <a:solidFill>
            <a:srgbClr val="FFEDE0"/>
          </a:solidFill>
          <a:ln/>
        </p:spPr>
      </p:sp>
      <p:pic>
        <p:nvPicPr>
          <p:cNvPr id="35" name="Image 0" descr="preencoded.png"/>
          <p:cNvPicPr>
            <a:picLocks noChangeAspect="1"/>
          </p:cNvPicPr>
          <p:nvPr/>
        </p:nvPicPr>
        <p:blipFill>
          <a:blip r:embed="rId3"/>
          <a:stretch>
            <a:fillRect/>
          </a:stretch>
        </p:blipFill>
        <p:spPr>
          <a:xfrm>
            <a:off x="3712830" y="2012046"/>
            <a:ext cx="237012" cy="237012"/>
          </a:xfrm>
          <a:prstGeom prst="rect">
            <a:avLst/>
          </a:prstGeom>
        </p:spPr>
      </p:pic>
      <p:sp>
        <p:nvSpPr>
          <p:cNvPr id="36" name="Text 33"/>
          <p:cNvSpPr txBox="1"/>
          <p:nvPr/>
        </p:nvSpPr>
        <p:spPr>
          <a:xfrm>
            <a:off x="4187952" y="1883664"/>
            <a:ext cx="2932024" cy="493776"/>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Start-of-duty check</a:t>
            </a:r>
            <a:endParaRPr lang="en-US" sz="1300" dirty="0"/>
          </a:p>
        </p:txBody>
      </p:sp>
      <p:sp>
        <p:nvSpPr>
          <p:cNvPr id="37" name="Text 34"/>
          <p:cNvSpPr txBox="1"/>
          <p:nvPr/>
        </p:nvSpPr>
        <p:spPr>
          <a:xfrm>
            <a:off x="3584448" y="2432304"/>
            <a:ext cx="3535528" cy="475488"/>
          </a:xfrm>
          <a:prstGeom prst="rect">
            <a:avLst/>
          </a:prstGeom>
          <a:noFill/>
          <a:ln/>
        </p:spPr>
        <p:txBody>
          <a:bodyPr wrap="square" lIns="0" tIns="0" rIns="0" bIns="0" rtlCol="0" anchor="t"/>
          <a:lstStyle/>
          <a:p>
            <a:pPr marL="0" indent="0">
              <a:lnSpc>
                <a:spcPts val="1400"/>
              </a:lnSpc>
              <a:buNone/>
            </a:pPr>
            <a:r>
              <a:rPr lang="en-US" sz="1050" dirty="0">
                <a:solidFill>
                  <a:srgbClr val="5E6D7D"/>
                </a:solidFill>
                <a:latin typeface="Calibri" pitchFamily="34" charset="0"/>
                <a:ea typeface="Calibri" pitchFamily="34" charset="-122"/>
                <a:cs typeface="Calibri" pitchFamily="34" charset="-120"/>
              </a:rPr>
              <a:t>Login with ID and OTP, then a quick vehicle check: tyres, lights, belts, fuel.</a:t>
            </a:r>
            <a:endParaRPr lang="en-US" sz="1050" dirty="0"/>
          </a:p>
        </p:txBody>
      </p:sp>
      <p:sp>
        <p:nvSpPr>
          <p:cNvPr id="38" name="Shape 35"/>
          <p:cNvSpPr/>
          <p:nvPr/>
        </p:nvSpPr>
        <p:spPr>
          <a:xfrm>
            <a:off x="7613752" y="1645920"/>
            <a:ext cx="4011016" cy="1371600"/>
          </a:xfrm>
          <a:prstGeom prst="roundRect">
            <a:avLst>
              <a:gd name="adj" fmla="val 8000"/>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39" name="Shape 36"/>
          <p:cNvSpPr/>
          <p:nvPr/>
        </p:nvSpPr>
        <p:spPr>
          <a:xfrm>
            <a:off x="7851496" y="1883664"/>
            <a:ext cx="493776" cy="493776"/>
          </a:xfrm>
          <a:prstGeom prst="ellipse">
            <a:avLst/>
          </a:prstGeom>
          <a:solidFill>
            <a:srgbClr val="FFEDE0"/>
          </a:solidFill>
          <a:ln/>
        </p:spPr>
      </p:sp>
      <p:pic>
        <p:nvPicPr>
          <p:cNvPr id="40" name="Image 1" descr="preencoded.png"/>
          <p:cNvPicPr>
            <a:picLocks noChangeAspect="1"/>
          </p:cNvPicPr>
          <p:nvPr/>
        </p:nvPicPr>
        <p:blipFill>
          <a:blip r:embed="rId4"/>
          <a:stretch>
            <a:fillRect/>
          </a:stretch>
        </p:blipFill>
        <p:spPr>
          <a:xfrm>
            <a:off x="7979877" y="2012046"/>
            <a:ext cx="237012" cy="237012"/>
          </a:xfrm>
          <a:prstGeom prst="rect">
            <a:avLst/>
          </a:prstGeom>
        </p:spPr>
      </p:pic>
      <p:sp>
        <p:nvSpPr>
          <p:cNvPr id="41" name="Text 37"/>
          <p:cNvSpPr txBox="1"/>
          <p:nvPr/>
        </p:nvSpPr>
        <p:spPr>
          <a:xfrm>
            <a:off x="8455000" y="1883664"/>
            <a:ext cx="2932024" cy="493776"/>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Sequenced trip queue</a:t>
            </a:r>
            <a:endParaRPr lang="en-US" sz="1300" dirty="0"/>
          </a:p>
        </p:txBody>
      </p:sp>
      <p:sp>
        <p:nvSpPr>
          <p:cNvPr id="42" name="Text 38"/>
          <p:cNvSpPr txBox="1"/>
          <p:nvPr/>
        </p:nvSpPr>
        <p:spPr>
          <a:xfrm>
            <a:off x="7851496" y="2432304"/>
            <a:ext cx="3535528" cy="475488"/>
          </a:xfrm>
          <a:prstGeom prst="rect">
            <a:avLst/>
          </a:prstGeom>
          <a:noFill/>
          <a:ln/>
        </p:spPr>
        <p:txBody>
          <a:bodyPr wrap="square" lIns="0" tIns="0" rIns="0" bIns="0" rtlCol="0" anchor="t"/>
          <a:lstStyle/>
          <a:p>
            <a:pPr marL="0" indent="0">
              <a:lnSpc>
                <a:spcPts val="1400"/>
              </a:lnSpc>
              <a:buNone/>
            </a:pPr>
            <a:r>
              <a:rPr lang="en-US" sz="1050" dirty="0">
                <a:solidFill>
                  <a:srgbClr val="5E6D7D"/>
                </a:solidFill>
                <a:latin typeface="Calibri" pitchFamily="34" charset="0"/>
                <a:ea typeface="Calibri" pitchFamily="34" charset="-122"/>
                <a:cs typeface="Calibri" pitchFamily="34" charset="-120"/>
              </a:rPr>
              <a:t>Pickups in route order with seats left and one-tap navigation.</a:t>
            </a:r>
            <a:endParaRPr lang="en-US" sz="1050" dirty="0"/>
          </a:p>
        </p:txBody>
      </p:sp>
      <p:sp>
        <p:nvSpPr>
          <p:cNvPr id="43" name="Shape 39"/>
          <p:cNvSpPr/>
          <p:nvPr/>
        </p:nvSpPr>
        <p:spPr>
          <a:xfrm>
            <a:off x="3346704" y="3182112"/>
            <a:ext cx="4011016" cy="1371600"/>
          </a:xfrm>
          <a:prstGeom prst="roundRect">
            <a:avLst>
              <a:gd name="adj" fmla="val 8000"/>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44" name="Shape 40"/>
          <p:cNvSpPr/>
          <p:nvPr/>
        </p:nvSpPr>
        <p:spPr>
          <a:xfrm>
            <a:off x="3584448" y="3419856"/>
            <a:ext cx="493776" cy="493776"/>
          </a:xfrm>
          <a:prstGeom prst="ellipse">
            <a:avLst/>
          </a:prstGeom>
          <a:solidFill>
            <a:srgbClr val="FFEDE0"/>
          </a:solidFill>
          <a:ln/>
        </p:spPr>
      </p:sp>
      <p:pic>
        <p:nvPicPr>
          <p:cNvPr id="45" name="Image 2" descr="preencoded.png"/>
          <p:cNvPicPr>
            <a:picLocks noChangeAspect="1"/>
          </p:cNvPicPr>
          <p:nvPr/>
        </p:nvPicPr>
        <p:blipFill>
          <a:blip r:embed="rId5"/>
          <a:stretch>
            <a:fillRect/>
          </a:stretch>
        </p:blipFill>
        <p:spPr>
          <a:xfrm>
            <a:off x="3712830" y="3548238"/>
            <a:ext cx="237012" cy="237012"/>
          </a:xfrm>
          <a:prstGeom prst="rect">
            <a:avLst/>
          </a:prstGeom>
        </p:spPr>
      </p:pic>
      <p:sp>
        <p:nvSpPr>
          <p:cNvPr id="46" name="Text 41"/>
          <p:cNvSpPr txBox="1"/>
          <p:nvPr/>
        </p:nvSpPr>
        <p:spPr>
          <a:xfrm>
            <a:off x="4187952" y="3419856"/>
            <a:ext cx="2932024" cy="493776"/>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OTP start, auto arrival</a:t>
            </a:r>
            <a:endParaRPr lang="en-US" sz="1300" dirty="0"/>
          </a:p>
        </p:txBody>
      </p:sp>
      <p:sp>
        <p:nvSpPr>
          <p:cNvPr id="47" name="Text 42"/>
          <p:cNvSpPr txBox="1"/>
          <p:nvPr/>
        </p:nvSpPr>
        <p:spPr>
          <a:xfrm>
            <a:off x="3584448" y="3968496"/>
            <a:ext cx="3535528" cy="475488"/>
          </a:xfrm>
          <a:prstGeom prst="rect">
            <a:avLst/>
          </a:prstGeom>
          <a:noFill/>
          <a:ln/>
        </p:spPr>
        <p:txBody>
          <a:bodyPr wrap="square" lIns="0" tIns="0" rIns="0" bIns="0" rtlCol="0" anchor="t"/>
          <a:lstStyle/>
          <a:p>
            <a:pPr marL="0" indent="0">
              <a:lnSpc>
                <a:spcPts val="1400"/>
              </a:lnSpc>
              <a:buNone/>
            </a:pPr>
            <a:r>
              <a:rPr lang="en-US" sz="1050" dirty="0">
                <a:solidFill>
                  <a:srgbClr val="5E6D7D"/>
                </a:solidFill>
                <a:latin typeface="Calibri" pitchFamily="34" charset="0"/>
                <a:ea typeface="Calibri" pitchFamily="34" charset="-122"/>
                <a:cs typeface="Calibri" pitchFamily="34" charset="-120"/>
              </a:rPr>
              <a:t>The rider's code starts the trip; a geofence detects arrival and closes it.</a:t>
            </a:r>
            <a:endParaRPr lang="en-US" sz="1050" dirty="0"/>
          </a:p>
        </p:txBody>
      </p:sp>
      <p:sp>
        <p:nvSpPr>
          <p:cNvPr id="48" name="Shape 43"/>
          <p:cNvSpPr/>
          <p:nvPr/>
        </p:nvSpPr>
        <p:spPr>
          <a:xfrm>
            <a:off x="7613752" y="3182112"/>
            <a:ext cx="4011016" cy="1371600"/>
          </a:xfrm>
          <a:prstGeom prst="roundRect">
            <a:avLst>
              <a:gd name="adj" fmla="val 8000"/>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49" name="Shape 44"/>
          <p:cNvSpPr/>
          <p:nvPr/>
        </p:nvSpPr>
        <p:spPr>
          <a:xfrm>
            <a:off x="7851496" y="3419856"/>
            <a:ext cx="493776" cy="493776"/>
          </a:xfrm>
          <a:prstGeom prst="ellipse">
            <a:avLst/>
          </a:prstGeom>
          <a:solidFill>
            <a:srgbClr val="FFEDE0"/>
          </a:solidFill>
          <a:ln/>
        </p:spPr>
      </p:sp>
      <p:pic>
        <p:nvPicPr>
          <p:cNvPr id="50" name="Image 3" descr="preencoded.png"/>
          <p:cNvPicPr>
            <a:picLocks noChangeAspect="1"/>
          </p:cNvPicPr>
          <p:nvPr/>
        </p:nvPicPr>
        <p:blipFill>
          <a:blip r:embed="rId6"/>
          <a:stretch>
            <a:fillRect/>
          </a:stretch>
        </p:blipFill>
        <p:spPr>
          <a:xfrm>
            <a:off x="7979877" y="3548238"/>
            <a:ext cx="237012" cy="237012"/>
          </a:xfrm>
          <a:prstGeom prst="rect">
            <a:avLst/>
          </a:prstGeom>
        </p:spPr>
      </p:pic>
      <p:sp>
        <p:nvSpPr>
          <p:cNvPr id="51" name="Text 45"/>
          <p:cNvSpPr txBox="1"/>
          <p:nvPr/>
        </p:nvSpPr>
        <p:spPr>
          <a:xfrm>
            <a:off x="8455000" y="3419856"/>
            <a:ext cx="2932024" cy="493776"/>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Works offline</a:t>
            </a:r>
            <a:endParaRPr lang="en-US" sz="1300" dirty="0"/>
          </a:p>
        </p:txBody>
      </p:sp>
      <p:sp>
        <p:nvSpPr>
          <p:cNvPr id="52" name="Text 46"/>
          <p:cNvSpPr txBox="1"/>
          <p:nvPr/>
        </p:nvSpPr>
        <p:spPr>
          <a:xfrm>
            <a:off x="7851496" y="3968496"/>
            <a:ext cx="3535528" cy="475488"/>
          </a:xfrm>
          <a:prstGeom prst="rect">
            <a:avLst/>
          </a:prstGeom>
          <a:noFill/>
          <a:ln/>
        </p:spPr>
        <p:txBody>
          <a:bodyPr wrap="square" lIns="0" tIns="0" rIns="0" bIns="0" rtlCol="0" anchor="t"/>
          <a:lstStyle/>
          <a:p>
            <a:pPr marL="0" indent="0">
              <a:lnSpc>
                <a:spcPts val="1400"/>
              </a:lnSpc>
              <a:buNone/>
            </a:pPr>
            <a:r>
              <a:rPr lang="en-US" sz="1050" dirty="0">
                <a:solidFill>
                  <a:srgbClr val="5E6D7D"/>
                </a:solidFill>
                <a:latin typeface="Calibri" pitchFamily="34" charset="0"/>
                <a:ea typeface="Calibri" pitchFamily="34" charset="-122"/>
                <a:cs typeface="Calibri" pitchFamily="34" charset="-120"/>
              </a:rPr>
              <a:t>Holds GPS points and trip events through network gaps and sends them later.</a:t>
            </a:r>
            <a:endParaRPr lang="en-US" sz="1050" dirty="0"/>
          </a:p>
        </p:txBody>
      </p:sp>
      <p:sp>
        <p:nvSpPr>
          <p:cNvPr id="53" name="Shape 47"/>
          <p:cNvSpPr/>
          <p:nvPr/>
        </p:nvSpPr>
        <p:spPr>
          <a:xfrm>
            <a:off x="3346704" y="4718304"/>
            <a:ext cx="4011016" cy="1371600"/>
          </a:xfrm>
          <a:prstGeom prst="roundRect">
            <a:avLst>
              <a:gd name="adj" fmla="val 8000"/>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54" name="Shape 48"/>
          <p:cNvSpPr/>
          <p:nvPr/>
        </p:nvSpPr>
        <p:spPr>
          <a:xfrm>
            <a:off x="3584448" y="4956048"/>
            <a:ext cx="493776" cy="493776"/>
          </a:xfrm>
          <a:prstGeom prst="ellipse">
            <a:avLst/>
          </a:prstGeom>
          <a:solidFill>
            <a:srgbClr val="FFEDE0"/>
          </a:solidFill>
          <a:ln/>
        </p:spPr>
      </p:sp>
      <p:pic>
        <p:nvPicPr>
          <p:cNvPr id="55" name="Image 4" descr="preencoded.png"/>
          <p:cNvPicPr>
            <a:picLocks noChangeAspect="1"/>
          </p:cNvPicPr>
          <p:nvPr/>
        </p:nvPicPr>
        <p:blipFill>
          <a:blip r:embed="rId7"/>
          <a:stretch>
            <a:fillRect/>
          </a:stretch>
        </p:blipFill>
        <p:spPr>
          <a:xfrm>
            <a:off x="3712830" y="5084430"/>
            <a:ext cx="237012" cy="237012"/>
          </a:xfrm>
          <a:prstGeom prst="rect">
            <a:avLst/>
          </a:prstGeom>
        </p:spPr>
      </p:pic>
      <p:sp>
        <p:nvSpPr>
          <p:cNvPr id="56" name="Text 49"/>
          <p:cNvSpPr txBox="1"/>
          <p:nvPr/>
        </p:nvSpPr>
        <p:spPr>
          <a:xfrm>
            <a:off x="4187952" y="4956048"/>
            <a:ext cx="2932024" cy="493776"/>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Report issues</a:t>
            </a:r>
            <a:endParaRPr lang="en-US" sz="1300" dirty="0"/>
          </a:p>
        </p:txBody>
      </p:sp>
      <p:sp>
        <p:nvSpPr>
          <p:cNvPr id="57" name="Text 50"/>
          <p:cNvSpPr txBox="1"/>
          <p:nvPr/>
        </p:nvSpPr>
        <p:spPr>
          <a:xfrm>
            <a:off x="3584448" y="5504688"/>
            <a:ext cx="3535528" cy="475488"/>
          </a:xfrm>
          <a:prstGeom prst="rect">
            <a:avLst/>
          </a:prstGeom>
          <a:noFill/>
          <a:ln/>
        </p:spPr>
        <p:txBody>
          <a:bodyPr wrap="square" lIns="0" tIns="0" rIns="0" bIns="0" rtlCol="0" anchor="t"/>
          <a:lstStyle/>
          <a:p>
            <a:pPr marL="0" indent="0">
              <a:lnSpc>
                <a:spcPts val="1400"/>
              </a:lnSpc>
              <a:buNone/>
            </a:pPr>
            <a:r>
              <a:rPr lang="en-US" sz="1050" dirty="0">
                <a:solidFill>
                  <a:srgbClr val="5E6D7D"/>
                </a:solidFill>
                <a:latin typeface="Calibri" pitchFamily="34" charset="0"/>
                <a:ea typeface="Calibri" pitchFamily="34" charset="-122"/>
                <a:cs typeface="Calibri" pitchFamily="34" charset="-120"/>
              </a:rPr>
              <a:t>Breakdown, accident, delay reason or a fuel entry with a photo.</a:t>
            </a:r>
            <a:endParaRPr lang="en-US" sz="1050" dirty="0"/>
          </a:p>
        </p:txBody>
      </p:sp>
      <p:sp>
        <p:nvSpPr>
          <p:cNvPr id="58" name="Shape 51"/>
          <p:cNvSpPr/>
          <p:nvPr/>
        </p:nvSpPr>
        <p:spPr>
          <a:xfrm>
            <a:off x="7613752" y="4718304"/>
            <a:ext cx="4011016" cy="1371600"/>
          </a:xfrm>
          <a:prstGeom prst="roundRect">
            <a:avLst>
              <a:gd name="adj" fmla="val 8000"/>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59" name="Shape 52"/>
          <p:cNvSpPr/>
          <p:nvPr/>
        </p:nvSpPr>
        <p:spPr>
          <a:xfrm>
            <a:off x="7851496" y="4956048"/>
            <a:ext cx="493776" cy="493776"/>
          </a:xfrm>
          <a:prstGeom prst="ellipse">
            <a:avLst/>
          </a:prstGeom>
          <a:solidFill>
            <a:srgbClr val="FFEDE0"/>
          </a:solidFill>
          <a:ln/>
        </p:spPr>
      </p:sp>
      <p:pic>
        <p:nvPicPr>
          <p:cNvPr id="60" name="Image 5" descr="preencoded.png"/>
          <p:cNvPicPr>
            <a:picLocks noChangeAspect="1"/>
          </p:cNvPicPr>
          <p:nvPr/>
        </p:nvPicPr>
        <p:blipFill>
          <a:blip r:embed="rId8"/>
          <a:stretch>
            <a:fillRect/>
          </a:stretch>
        </p:blipFill>
        <p:spPr>
          <a:xfrm>
            <a:off x="7979877" y="5084430"/>
            <a:ext cx="237012" cy="237012"/>
          </a:xfrm>
          <a:prstGeom prst="rect">
            <a:avLst/>
          </a:prstGeom>
        </p:spPr>
      </p:pic>
      <p:sp>
        <p:nvSpPr>
          <p:cNvPr id="61" name="Text 53"/>
          <p:cNvSpPr txBox="1"/>
          <p:nvPr/>
        </p:nvSpPr>
        <p:spPr>
          <a:xfrm>
            <a:off x="8455000" y="4956048"/>
            <a:ext cx="2932024" cy="493776"/>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Safety built in</a:t>
            </a:r>
            <a:endParaRPr lang="en-US" sz="1300" dirty="0"/>
          </a:p>
        </p:txBody>
      </p:sp>
      <p:sp>
        <p:nvSpPr>
          <p:cNvPr id="62" name="Text 54"/>
          <p:cNvSpPr txBox="1"/>
          <p:nvPr/>
        </p:nvSpPr>
        <p:spPr>
          <a:xfrm>
            <a:off x="7851496" y="5504688"/>
            <a:ext cx="3535528" cy="475488"/>
          </a:xfrm>
          <a:prstGeom prst="rect">
            <a:avLst/>
          </a:prstGeom>
          <a:noFill/>
          <a:ln/>
        </p:spPr>
        <p:txBody>
          <a:bodyPr wrap="square" lIns="0" tIns="0" rIns="0" bIns="0" rtlCol="0" anchor="t"/>
          <a:lstStyle/>
          <a:p>
            <a:pPr marL="0" indent="0">
              <a:lnSpc>
                <a:spcPts val="1400"/>
              </a:lnSpc>
              <a:buNone/>
            </a:pPr>
            <a:r>
              <a:rPr lang="en-US" sz="1050" dirty="0">
                <a:solidFill>
                  <a:srgbClr val="5E6D7D"/>
                </a:solidFill>
                <a:latin typeface="Calibri" pitchFamily="34" charset="0"/>
                <a:ea typeface="Calibri" pitchFamily="34" charset="-122"/>
                <a:cs typeface="Calibri" pitchFamily="34" charset="-120"/>
              </a:rPr>
              <a:t>SOS button, spoken overspeed warnings, duty-hour limits.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5E6D7D"/>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5E6D7D"/>
                </a:solidFill>
                <a:latin typeface="Arial" pitchFamily="34" charset="0"/>
                <a:ea typeface="Arial" pitchFamily="34" charset="-122"/>
                <a:cs typeface="Arial" pitchFamily="34" charset="-120"/>
              </a:rPr>
              <a:t>13</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FLEET RECORDS</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16202B"/>
                </a:solidFill>
                <a:latin typeface="Arial" pitchFamily="34" charset="0"/>
                <a:ea typeface="Arial" pitchFamily="34" charset="-122"/>
                <a:cs typeface="Arial" pitchFamily="34" charset="-120"/>
              </a:rPr>
              <a:t>GPS tracking and vehicle data, in one place</a:t>
            </a:r>
            <a:endParaRPr lang="en-US" sz="3000" dirty="0"/>
          </a:p>
        </p:txBody>
      </p:sp>
      <p:sp>
        <p:nvSpPr>
          <p:cNvPr id="6" name="Text 4"/>
          <p:cNvSpPr txBox="1"/>
          <p:nvPr/>
        </p:nvSpPr>
        <p:spPr>
          <a:xfrm>
            <a:off x="566928" y="1179576"/>
            <a:ext cx="9509742" cy="274320"/>
          </a:xfrm>
          <a:prstGeom prst="rect">
            <a:avLst/>
          </a:prstGeom>
          <a:noFill/>
          <a:ln/>
        </p:spPr>
        <p:txBody>
          <a:bodyPr wrap="square" lIns="0" tIns="0" rIns="0" bIns="0" rtlCol="0" anchor="ctr"/>
          <a:lstStyle/>
          <a:p>
            <a:pPr marL="0" indent="0">
              <a:buNone/>
            </a:pPr>
            <a:r>
              <a:rPr lang="en-US" sz="1300" dirty="0">
                <a:solidFill>
                  <a:srgbClr val="5E6D7D"/>
                </a:solidFill>
                <a:latin typeface="Calibri" pitchFamily="34" charset="0"/>
                <a:ea typeface="Calibri" pitchFamily="34" charset="-122"/>
                <a:cs typeface="Calibri" pitchFamily="34" charset="-120"/>
              </a:rPr>
              <a:t>Every record the plant keeps on paper today becomes a searchable, alerting, exportable record.</a:t>
            </a:r>
            <a:endParaRPr lang="en-US" sz="1300" dirty="0"/>
          </a:p>
        </p:txBody>
      </p:sp>
      <p:sp>
        <p:nvSpPr>
          <p:cNvPr id="7" name="Shape 5"/>
          <p:cNvSpPr/>
          <p:nvPr/>
        </p:nvSpPr>
        <p:spPr>
          <a:xfrm>
            <a:off x="566928" y="1700784"/>
            <a:ext cx="2021373" cy="1883664"/>
          </a:xfrm>
          <a:prstGeom prst="roundRect">
            <a:avLst>
              <a:gd name="adj" fmla="val 582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8" name="Shape 6"/>
          <p:cNvSpPr/>
          <p:nvPr/>
        </p:nvSpPr>
        <p:spPr>
          <a:xfrm>
            <a:off x="804672" y="1920240"/>
            <a:ext cx="512064" cy="512064"/>
          </a:xfrm>
          <a:prstGeom prst="ellipse">
            <a:avLst/>
          </a:prstGeom>
          <a:solidFill>
            <a:srgbClr val="FFEDE0"/>
          </a:solidFill>
          <a:ln/>
        </p:spPr>
      </p:sp>
      <p:pic>
        <p:nvPicPr>
          <p:cNvPr id="9" name="Image 0" descr="preencoded.png"/>
          <p:cNvPicPr>
            <a:picLocks noChangeAspect="1"/>
          </p:cNvPicPr>
          <p:nvPr/>
        </p:nvPicPr>
        <p:blipFill>
          <a:blip r:embed="rId3"/>
          <a:stretch>
            <a:fillRect/>
          </a:stretch>
        </p:blipFill>
        <p:spPr>
          <a:xfrm>
            <a:off x="937809" y="2053377"/>
            <a:ext cx="245791" cy="245791"/>
          </a:xfrm>
          <a:prstGeom prst="rect">
            <a:avLst/>
          </a:prstGeom>
        </p:spPr>
      </p:pic>
      <p:sp>
        <p:nvSpPr>
          <p:cNvPr id="10" name="Text 7"/>
          <p:cNvSpPr txBox="1"/>
          <p:nvPr/>
        </p:nvSpPr>
        <p:spPr>
          <a:xfrm>
            <a:off x="804672" y="2523744"/>
            <a:ext cx="1545885" cy="438912"/>
          </a:xfrm>
          <a:prstGeom prst="rect">
            <a:avLst/>
          </a:prstGeom>
          <a:noFill/>
          <a:ln/>
        </p:spPr>
        <p:txBody>
          <a:bodyPr wrap="square" lIns="0" tIns="0" rIns="0" bIns="0" rtlCol="0" anchor="t"/>
          <a:lstStyle/>
          <a:p>
            <a:pPr marL="0" indent="0">
              <a:buNone/>
            </a:pPr>
            <a:r>
              <a:rPr lang="en-US" sz="1250" b="1" dirty="0">
                <a:solidFill>
                  <a:srgbClr val="16202B"/>
                </a:solidFill>
                <a:latin typeface="Arial" pitchFamily="34" charset="0"/>
                <a:ea typeface="Arial" pitchFamily="34" charset="-122"/>
                <a:cs typeface="Arial" pitchFamily="34" charset="-120"/>
              </a:rPr>
              <a:t>Driver gate pass</a:t>
            </a:r>
            <a:endParaRPr lang="en-US" sz="1250" dirty="0"/>
          </a:p>
        </p:txBody>
      </p:sp>
      <p:sp>
        <p:nvSpPr>
          <p:cNvPr id="11" name="Text 8"/>
          <p:cNvSpPr txBox="1"/>
          <p:nvPr/>
        </p:nvSpPr>
        <p:spPr>
          <a:xfrm>
            <a:off x="804672" y="2962656"/>
            <a:ext cx="1545885" cy="512064"/>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Pass number, gates allowed, validity, photo and issuing officer.</a:t>
            </a:r>
            <a:endParaRPr lang="en-US" sz="1000" dirty="0"/>
          </a:p>
        </p:txBody>
      </p:sp>
      <p:sp>
        <p:nvSpPr>
          <p:cNvPr id="12" name="Shape 9"/>
          <p:cNvSpPr/>
          <p:nvPr/>
        </p:nvSpPr>
        <p:spPr>
          <a:xfrm>
            <a:off x="2826045" y="1700784"/>
            <a:ext cx="2021373" cy="1883664"/>
          </a:xfrm>
          <a:prstGeom prst="roundRect">
            <a:avLst>
              <a:gd name="adj" fmla="val 582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13" name="Shape 10"/>
          <p:cNvSpPr/>
          <p:nvPr/>
        </p:nvSpPr>
        <p:spPr>
          <a:xfrm>
            <a:off x="3063789" y="1920240"/>
            <a:ext cx="512064" cy="512064"/>
          </a:xfrm>
          <a:prstGeom prst="ellipse">
            <a:avLst/>
          </a:prstGeom>
          <a:solidFill>
            <a:srgbClr val="FFEDE0"/>
          </a:solidFill>
          <a:ln/>
        </p:spPr>
      </p:sp>
      <p:pic>
        <p:nvPicPr>
          <p:cNvPr id="14" name="Image 1" descr="preencoded.png"/>
          <p:cNvPicPr>
            <a:picLocks noChangeAspect="1"/>
          </p:cNvPicPr>
          <p:nvPr/>
        </p:nvPicPr>
        <p:blipFill>
          <a:blip r:embed="rId4"/>
          <a:stretch>
            <a:fillRect/>
          </a:stretch>
        </p:blipFill>
        <p:spPr>
          <a:xfrm>
            <a:off x="3196925" y="2053377"/>
            <a:ext cx="245791" cy="245791"/>
          </a:xfrm>
          <a:prstGeom prst="rect">
            <a:avLst/>
          </a:prstGeom>
        </p:spPr>
      </p:pic>
      <p:sp>
        <p:nvSpPr>
          <p:cNvPr id="15" name="Text 11"/>
          <p:cNvSpPr txBox="1"/>
          <p:nvPr/>
        </p:nvSpPr>
        <p:spPr>
          <a:xfrm>
            <a:off x="3063789" y="2523744"/>
            <a:ext cx="1545885" cy="438912"/>
          </a:xfrm>
          <a:prstGeom prst="rect">
            <a:avLst/>
          </a:prstGeom>
          <a:noFill/>
          <a:ln/>
        </p:spPr>
        <p:txBody>
          <a:bodyPr wrap="square" lIns="0" tIns="0" rIns="0" bIns="0" rtlCol="0" anchor="t"/>
          <a:lstStyle/>
          <a:p>
            <a:pPr marL="0" indent="0">
              <a:buNone/>
            </a:pPr>
            <a:r>
              <a:rPr lang="en-US" sz="1250" b="1" dirty="0">
                <a:solidFill>
                  <a:srgbClr val="16202B"/>
                </a:solidFill>
                <a:latin typeface="Arial" pitchFamily="34" charset="0"/>
                <a:ea typeface="Arial" pitchFamily="34" charset="-122"/>
                <a:cs typeface="Arial" pitchFamily="34" charset="-120"/>
              </a:rPr>
              <a:t>Insurance &amp; validity</a:t>
            </a:r>
            <a:endParaRPr lang="en-US" sz="1250" dirty="0"/>
          </a:p>
        </p:txBody>
      </p:sp>
      <p:sp>
        <p:nvSpPr>
          <p:cNvPr id="16" name="Text 12"/>
          <p:cNvSpPr txBox="1"/>
          <p:nvPr/>
        </p:nvSpPr>
        <p:spPr>
          <a:xfrm>
            <a:off x="3063789" y="2962656"/>
            <a:ext cx="1545885" cy="512064"/>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Policy number, insurer, expiry - with fitness, permit and PUC alongside.</a:t>
            </a:r>
            <a:endParaRPr lang="en-US" sz="1000" dirty="0"/>
          </a:p>
        </p:txBody>
      </p:sp>
      <p:sp>
        <p:nvSpPr>
          <p:cNvPr id="17" name="Shape 13"/>
          <p:cNvSpPr/>
          <p:nvPr/>
        </p:nvSpPr>
        <p:spPr>
          <a:xfrm>
            <a:off x="5085161" y="1700784"/>
            <a:ext cx="2021373" cy="1883664"/>
          </a:xfrm>
          <a:prstGeom prst="roundRect">
            <a:avLst>
              <a:gd name="adj" fmla="val 582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18" name="Shape 14"/>
          <p:cNvSpPr/>
          <p:nvPr/>
        </p:nvSpPr>
        <p:spPr>
          <a:xfrm>
            <a:off x="5322905" y="1920240"/>
            <a:ext cx="512064" cy="512064"/>
          </a:xfrm>
          <a:prstGeom prst="ellipse">
            <a:avLst/>
          </a:prstGeom>
          <a:solidFill>
            <a:srgbClr val="FFEDE0"/>
          </a:solidFill>
          <a:ln/>
        </p:spPr>
      </p:sp>
      <p:pic>
        <p:nvPicPr>
          <p:cNvPr id="19" name="Image 2" descr="preencoded.png"/>
          <p:cNvPicPr>
            <a:picLocks noChangeAspect="1"/>
          </p:cNvPicPr>
          <p:nvPr/>
        </p:nvPicPr>
        <p:blipFill>
          <a:blip r:embed="rId5"/>
          <a:stretch>
            <a:fillRect/>
          </a:stretch>
        </p:blipFill>
        <p:spPr>
          <a:xfrm>
            <a:off x="5456042" y="2053377"/>
            <a:ext cx="245791" cy="245791"/>
          </a:xfrm>
          <a:prstGeom prst="rect">
            <a:avLst/>
          </a:prstGeom>
        </p:spPr>
      </p:pic>
      <p:sp>
        <p:nvSpPr>
          <p:cNvPr id="20" name="Text 15"/>
          <p:cNvSpPr txBox="1"/>
          <p:nvPr/>
        </p:nvSpPr>
        <p:spPr>
          <a:xfrm>
            <a:off x="5322905" y="2523744"/>
            <a:ext cx="1545885" cy="438912"/>
          </a:xfrm>
          <a:prstGeom prst="rect">
            <a:avLst/>
          </a:prstGeom>
          <a:noFill/>
          <a:ln/>
        </p:spPr>
        <p:txBody>
          <a:bodyPr wrap="square" lIns="0" tIns="0" rIns="0" bIns="0" rtlCol="0" anchor="t"/>
          <a:lstStyle/>
          <a:p>
            <a:pPr marL="0" indent="0">
              <a:buNone/>
            </a:pPr>
            <a:r>
              <a:rPr lang="en-US" sz="1250" b="1" dirty="0">
                <a:solidFill>
                  <a:srgbClr val="16202B"/>
                </a:solidFill>
                <a:latin typeface="Arial" pitchFamily="34" charset="0"/>
                <a:ea typeface="Arial" pitchFamily="34" charset="-122"/>
                <a:cs typeface="Arial" pitchFamily="34" charset="-120"/>
              </a:rPr>
              <a:t>Fuel consumption</a:t>
            </a:r>
            <a:endParaRPr lang="en-US" sz="1250" dirty="0"/>
          </a:p>
        </p:txBody>
      </p:sp>
      <p:sp>
        <p:nvSpPr>
          <p:cNvPr id="21" name="Text 16"/>
          <p:cNvSpPr txBox="1"/>
          <p:nvPr/>
        </p:nvSpPr>
        <p:spPr>
          <a:xfrm>
            <a:off x="5322905" y="2962656"/>
            <a:ext cx="1545885" cy="512064"/>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Fuel entries with photo, litres per 100 km by vehicle and by month.</a:t>
            </a:r>
            <a:endParaRPr lang="en-US" sz="1000" dirty="0"/>
          </a:p>
        </p:txBody>
      </p:sp>
      <p:sp>
        <p:nvSpPr>
          <p:cNvPr id="22" name="Shape 17"/>
          <p:cNvSpPr/>
          <p:nvPr/>
        </p:nvSpPr>
        <p:spPr>
          <a:xfrm>
            <a:off x="7344278" y="1700784"/>
            <a:ext cx="2021373" cy="1883664"/>
          </a:xfrm>
          <a:prstGeom prst="roundRect">
            <a:avLst>
              <a:gd name="adj" fmla="val 582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23" name="Shape 18"/>
          <p:cNvSpPr/>
          <p:nvPr/>
        </p:nvSpPr>
        <p:spPr>
          <a:xfrm>
            <a:off x="7582022" y="1920240"/>
            <a:ext cx="512064" cy="512064"/>
          </a:xfrm>
          <a:prstGeom prst="ellipse">
            <a:avLst/>
          </a:prstGeom>
          <a:solidFill>
            <a:srgbClr val="FFEDE0"/>
          </a:solidFill>
          <a:ln/>
        </p:spPr>
      </p:sp>
      <p:pic>
        <p:nvPicPr>
          <p:cNvPr id="24" name="Image 3" descr="preencoded.png"/>
          <p:cNvPicPr>
            <a:picLocks noChangeAspect="1"/>
          </p:cNvPicPr>
          <p:nvPr/>
        </p:nvPicPr>
        <p:blipFill>
          <a:blip r:embed="rId6"/>
          <a:stretch>
            <a:fillRect/>
          </a:stretch>
        </p:blipFill>
        <p:spPr>
          <a:xfrm>
            <a:off x="7715159" y="2053377"/>
            <a:ext cx="245791" cy="245791"/>
          </a:xfrm>
          <a:prstGeom prst="rect">
            <a:avLst/>
          </a:prstGeom>
        </p:spPr>
      </p:pic>
      <p:sp>
        <p:nvSpPr>
          <p:cNvPr id="25" name="Text 19"/>
          <p:cNvSpPr txBox="1"/>
          <p:nvPr/>
        </p:nvSpPr>
        <p:spPr>
          <a:xfrm>
            <a:off x="7582022" y="2523744"/>
            <a:ext cx="1545885" cy="438912"/>
          </a:xfrm>
          <a:prstGeom prst="rect">
            <a:avLst/>
          </a:prstGeom>
          <a:noFill/>
          <a:ln/>
        </p:spPr>
        <p:txBody>
          <a:bodyPr wrap="square" lIns="0" tIns="0" rIns="0" bIns="0" rtlCol="0" anchor="t"/>
          <a:lstStyle/>
          <a:p>
            <a:pPr marL="0" indent="0">
              <a:buNone/>
            </a:pPr>
            <a:r>
              <a:rPr lang="en-US" sz="1250" b="1" dirty="0">
                <a:solidFill>
                  <a:srgbClr val="16202B"/>
                </a:solidFill>
                <a:latin typeface="Arial" pitchFamily="34" charset="0"/>
                <a:ea typeface="Arial" pitchFamily="34" charset="-122"/>
                <a:cs typeface="Arial" pitchFamily="34" charset="-120"/>
              </a:rPr>
              <a:t>KM reading logs</a:t>
            </a:r>
            <a:endParaRPr lang="en-US" sz="1250" dirty="0"/>
          </a:p>
        </p:txBody>
      </p:sp>
      <p:sp>
        <p:nvSpPr>
          <p:cNvPr id="26" name="Text 20"/>
          <p:cNvSpPr txBox="1"/>
          <p:nvPr/>
        </p:nvSpPr>
        <p:spPr>
          <a:xfrm>
            <a:off x="7582022" y="2962656"/>
            <a:ext cx="1545885" cy="512064"/>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Odometer at start and end of duty, checked against GPS distance.</a:t>
            </a:r>
            <a:endParaRPr lang="en-US" sz="1000" dirty="0"/>
          </a:p>
        </p:txBody>
      </p:sp>
      <p:sp>
        <p:nvSpPr>
          <p:cNvPr id="27" name="Shape 21"/>
          <p:cNvSpPr/>
          <p:nvPr/>
        </p:nvSpPr>
        <p:spPr>
          <a:xfrm>
            <a:off x="9603395" y="1700784"/>
            <a:ext cx="2021373" cy="1883664"/>
          </a:xfrm>
          <a:prstGeom prst="roundRect">
            <a:avLst>
              <a:gd name="adj" fmla="val 5825"/>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28" name="Shape 22"/>
          <p:cNvSpPr/>
          <p:nvPr/>
        </p:nvSpPr>
        <p:spPr>
          <a:xfrm>
            <a:off x="9841139" y="1920240"/>
            <a:ext cx="512064" cy="512064"/>
          </a:xfrm>
          <a:prstGeom prst="ellipse">
            <a:avLst/>
          </a:prstGeom>
          <a:solidFill>
            <a:srgbClr val="FFEDE0"/>
          </a:solidFill>
          <a:ln/>
        </p:spPr>
      </p:sp>
      <p:pic>
        <p:nvPicPr>
          <p:cNvPr id="29" name="Image 4" descr="preencoded.png"/>
          <p:cNvPicPr>
            <a:picLocks noChangeAspect="1"/>
          </p:cNvPicPr>
          <p:nvPr/>
        </p:nvPicPr>
        <p:blipFill>
          <a:blip r:embed="rId7"/>
          <a:stretch>
            <a:fillRect/>
          </a:stretch>
        </p:blipFill>
        <p:spPr>
          <a:xfrm>
            <a:off x="9974275" y="2053377"/>
            <a:ext cx="245791" cy="245791"/>
          </a:xfrm>
          <a:prstGeom prst="rect">
            <a:avLst/>
          </a:prstGeom>
        </p:spPr>
      </p:pic>
      <p:sp>
        <p:nvSpPr>
          <p:cNvPr id="30" name="Text 23"/>
          <p:cNvSpPr txBox="1"/>
          <p:nvPr/>
        </p:nvSpPr>
        <p:spPr>
          <a:xfrm>
            <a:off x="9841139" y="2523744"/>
            <a:ext cx="1545885" cy="438912"/>
          </a:xfrm>
          <a:prstGeom prst="rect">
            <a:avLst/>
          </a:prstGeom>
          <a:noFill/>
          <a:ln/>
        </p:spPr>
        <p:txBody>
          <a:bodyPr wrap="square" lIns="0" tIns="0" rIns="0" bIns="0" rtlCol="0" anchor="t"/>
          <a:lstStyle/>
          <a:p>
            <a:pPr marL="0" indent="0">
              <a:buNone/>
            </a:pPr>
            <a:r>
              <a:rPr lang="en-US" sz="1250" b="1" dirty="0">
                <a:solidFill>
                  <a:srgbClr val="16202B"/>
                </a:solidFill>
                <a:latin typeface="Arial" pitchFamily="34" charset="0"/>
                <a:ea typeface="Arial" pitchFamily="34" charset="-122"/>
                <a:cs typeface="Arial" pitchFamily="34" charset="-120"/>
              </a:rPr>
              <a:t>GPS movement history</a:t>
            </a:r>
            <a:endParaRPr lang="en-US" sz="1250" dirty="0"/>
          </a:p>
        </p:txBody>
      </p:sp>
      <p:sp>
        <p:nvSpPr>
          <p:cNvPr id="31" name="Text 24"/>
          <p:cNvSpPr txBox="1"/>
          <p:nvPr/>
        </p:nvSpPr>
        <p:spPr>
          <a:xfrm>
            <a:off x="9841139" y="2962656"/>
            <a:ext cx="1545885" cy="512064"/>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Every trip replayable: route taken, stops, speed and idle time.</a:t>
            </a:r>
            <a:endParaRPr lang="en-US" sz="1000" dirty="0"/>
          </a:p>
        </p:txBody>
      </p:sp>
      <p:sp>
        <p:nvSpPr>
          <p:cNvPr id="32" name="Shape 25"/>
          <p:cNvSpPr/>
          <p:nvPr/>
        </p:nvSpPr>
        <p:spPr>
          <a:xfrm>
            <a:off x="566928" y="3749040"/>
            <a:ext cx="5391760" cy="2103120"/>
          </a:xfrm>
          <a:prstGeom prst="roundRect">
            <a:avLst>
              <a:gd name="adj" fmla="val 5217"/>
            </a:avLst>
          </a:prstGeom>
          <a:solidFill>
            <a:srgbClr val="F7F9FB"/>
          </a:solidFill>
          <a:ln w="12700">
            <a:solidFill>
              <a:srgbClr val="DCE4EC"/>
            </a:solidFill>
            <a:prstDash val="solid"/>
          </a:ln>
        </p:spPr>
      </p:sp>
      <p:sp>
        <p:nvSpPr>
          <p:cNvPr id="33" name="Text 26"/>
          <p:cNvSpPr txBox="1"/>
          <p:nvPr/>
        </p:nvSpPr>
        <p:spPr>
          <a:xfrm>
            <a:off x="841248" y="3931920"/>
            <a:ext cx="4843120" cy="201168"/>
          </a:xfrm>
          <a:prstGeom prst="rect">
            <a:avLst/>
          </a:prstGeom>
          <a:noFill/>
          <a:ln/>
        </p:spPr>
        <p:txBody>
          <a:bodyPr wrap="square" lIns="0" tIns="0" rIns="0" bIns="0" rtlCol="0" anchor="t"/>
          <a:lstStyle/>
          <a:p>
            <a:pPr marL="0" indent="0">
              <a:buNone/>
            </a:pPr>
            <a:r>
              <a:rPr lang="en-US" sz="900" b="1" kern="0" spc="160" dirty="0">
                <a:solidFill>
                  <a:srgbClr val="5E6D7D"/>
                </a:solidFill>
                <a:latin typeface="Arial" pitchFamily="34" charset="0"/>
                <a:ea typeface="Arial" pitchFamily="34" charset="-122"/>
                <a:cs typeface="Arial" pitchFamily="34" charset="-120"/>
              </a:rPr>
              <a:t>DOCUMENT EXPIRY</a:t>
            </a:r>
            <a:endParaRPr lang="en-US" sz="900" dirty="0"/>
          </a:p>
        </p:txBody>
      </p:sp>
      <p:sp>
        <p:nvSpPr>
          <p:cNvPr id="34" name="Text 27"/>
          <p:cNvSpPr txBox="1"/>
          <p:nvPr/>
        </p:nvSpPr>
        <p:spPr>
          <a:xfrm>
            <a:off x="841248" y="4151376"/>
            <a:ext cx="4843120" cy="274320"/>
          </a:xfrm>
          <a:prstGeom prst="rect">
            <a:avLst/>
          </a:prstGeom>
          <a:noFill/>
          <a:ln/>
        </p:spPr>
        <p:txBody>
          <a:bodyPr wrap="square" lIns="0" tIns="0" rIns="0" bIns="0" rtlCol="0" anchor="ctr"/>
          <a:lstStyle/>
          <a:p>
            <a:pPr marL="0" indent="0">
              <a:buNone/>
            </a:pPr>
            <a:r>
              <a:rPr lang="en-US" sz="1300" b="1" dirty="0">
                <a:solidFill>
                  <a:srgbClr val="16202B"/>
                </a:solidFill>
                <a:latin typeface="Arial" pitchFamily="34" charset="0"/>
                <a:ea typeface="Arial" pitchFamily="34" charset="-122"/>
                <a:cs typeface="Arial" pitchFamily="34" charset="-120"/>
              </a:rPr>
              <a:t>Alerts before it lapses, a block after</a:t>
            </a:r>
            <a:endParaRPr lang="en-US" sz="1300" dirty="0"/>
          </a:p>
        </p:txBody>
      </p:sp>
      <p:sp>
        <p:nvSpPr>
          <p:cNvPr id="35" name="Shape 28"/>
          <p:cNvSpPr/>
          <p:nvPr/>
        </p:nvSpPr>
        <p:spPr>
          <a:xfrm>
            <a:off x="841248" y="4553712"/>
            <a:ext cx="1101052" cy="457200"/>
          </a:xfrm>
          <a:prstGeom prst="roundRect">
            <a:avLst>
              <a:gd name="adj" fmla="val 18000"/>
            </a:avLst>
          </a:prstGeom>
          <a:solidFill>
            <a:srgbClr val="00A896"/>
          </a:solidFill>
          <a:ln/>
        </p:spPr>
      </p:sp>
      <p:sp>
        <p:nvSpPr>
          <p:cNvPr id="36" name="Text 29"/>
          <p:cNvSpPr txBox="1"/>
          <p:nvPr/>
        </p:nvSpPr>
        <p:spPr>
          <a:xfrm>
            <a:off x="841248" y="4553712"/>
            <a:ext cx="1101052"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30 days</a:t>
            </a:r>
            <a:endParaRPr lang="en-US" sz="1050" dirty="0"/>
          </a:p>
        </p:txBody>
      </p:sp>
      <p:sp>
        <p:nvSpPr>
          <p:cNvPr id="37" name="Shape 30"/>
          <p:cNvSpPr/>
          <p:nvPr/>
        </p:nvSpPr>
        <p:spPr>
          <a:xfrm>
            <a:off x="2088604" y="4553712"/>
            <a:ext cx="1101052" cy="457200"/>
          </a:xfrm>
          <a:prstGeom prst="roundRect">
            <a:avLst>
              <a:gd name="adj" fmla="val 18000"/>
            </a:avLst>
          </a:prstGeom>
          <a:solidFill>
            <a:srgbClr val="FF9E5E"/>
          </a:solidFill>
          <a:ln/>
        </p:spPr>
      </p:sp>
      <p:sp>
        <p:nvSpPr>
          <p:cNvPr id="38" name="Text 31"/>
          <p:cNvSpPr txBox="1"/>
          <p:nvPr/>
        </p:nvSpPr>
        <p:spPr>
          <a:xfrm>
            <a:off x="2088604" y="4553712"/>
            <a:ext cx="1101052"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7 days</a:t>
            </a:r>
            <a:endParaRPr lang="en-US" sz="1050" dirty="0"/>
          </a:p>
        </p:txBody>
      </p:sp>
      <p:sp>
        <p:nvSpPr>
          <p:cNvPr id="39" name="Shape 32"/>
          <p:cNvSpPr/>
          <p:nvPr/>
        </p:nvSpPr>
        <p:spPr>
          <a:xfrm>
            <a:off x="3335960" y="4553712"/>
            <a:ext cx="1101052" cy="457200"/>
          </a:xfrm>
          <a:prstGeom prst="roundRect">
            <a:avLst>
              <a:gd name="adj" fmla="val 18000"/>
            </a:avLst>
          </a:prstGeom>
          <a:solidFill>
            <a:srgbClr val="E85D04"/>
          </a:solidFill>
          <a:ln/>
        </p:spPr>
      </p:sp>
      <p:sp>
        <p:nvSpPr>
          <p:cNvPr id="40" name="Text 33"/>
          <p:cNvSpPr txBox="1"/>
          <p:nvPr/>
        </p:nvSpPr>
        <p:spPr>
          <a:xfrm>
            <a:off x="3335960" y="4553712"/>
            <a:ext cx="1101052"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 day</a:t>
            </a:r>
            <a:endParaRPr lang="en-US" sz="1050" dirty="0"/>
          </a:p>
        </p:txBody>
      </p:sp>
      <p:sp>
        <p:nvSpPr>
          <p:cNvPr id="41" name="Shape 34"/>
          <p:cNvSpPr/>
          <p:nvPr/>
        </p:nvSpPr>
        <p:spPr>
          <a:xfrm>
            <a:off x="4583316" y="4553712"/>
            <a:ext cx="1101052" cy="457200"/>
          </a:xfrm>
          <a:prstGeom prst="roundRect">
            <a:avLst>
              <a:gd name="adj" fmla="val 18000"/>
            </a:avLst>
          </a:prstGeom>
          <a:solidFill>
            <a:srgbClr val="C02617"/>
          </a:solidFill>
          <a:ln/>
        </p:spPr>
      </p:sp>
      <p:sp>
        <p:nvSpPr>
          <p:cNvPr id="42" name="Text 35"/>
          <p:cNvSpPr txBox="1"/>
          <p:nvPr/>
        </p:nvSpPr>
        <p:spPr>
          <a:xfrm>
            <a:off x="4583316" y="4553712"/>
            <a:ext cx="1101052"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Expired</a:t>
            </a:r>
            <a:endParaRPr lang="en-US" sz="1050" dirty="0"/>
          </a:p>
        </p:txBody>
      </p:sp>
      <p:sp>
        <p:nvSpPr>
          <p:cNvPr id="43" name="Text 36"/>
          <p:cNvSpPr txBox="1"/>
          <p:nvPr/>
        </p:nvSpPr>
        <p:spPr>
          <a:xfrm>
            <a:off x="841248" y="5138928"/>
            <a:ext cx="4843120" cy="585216"/>
          </a:xfrm>
          <a:prstGeom prst="rect">
            <a:avLst/>
          </a:prstGeom>
          <a:noFill/>
          <a:ln/>
        </p:spPr>
        <p:txBody>
          <a:bodyPr wrap="square" lIns="0" tIns="0" rIns="0" bIns="0" rtlCol="0" anchor="t"/>
          <a:lstStyle/>
          <a:p>
            <a:pPr marL="0" indent="0">
              <a:lnSpc>
                <a:spcPts val="1400"/>
              </a:lnSpc>
              <a:buNone/>
            </a:pPr>
            <a:r>
              <a:rPr lang="en-US" sz="1050" dirty="0">
                <a:solidFill>
                  <a:srgbClr val="5E6D7D"/>
                </a:solidFill>
                <a:latin typeface="Calibri" pitchFamily="34" charset="0"/>
                <a:ea typeface="Calibri" pitchFamily="34" charset="-122"/>
                <a:cs typeface="Calibri" pitchFamily="34" charset="-120"/>
              </a:rPr>
              <a:t>Alerts go to the fleet admin and the vendor at 30, 7 and 1 day. Once a licence, fitness or insurance has expired, the vehicle or driver cannot be dispatched at all.</a:t>
            </a:r>
            <a:endParaRPr lang="en-US" sz="1050" dirty="0"/>
          </a:p>
        </p:txBody>
      </p:sp>
      <p:sp>
        <p:nvSpPr>
          <p:cNvPr id="44" name="Shape 37"/>
          <p:cNvSpPr/>
          <p:nvPr/>
        </p:nvSpPr>
        <p:spPr>
          <a:xfrm>
            <a:off x="6233008" y="3749040"/>
            <a:ext cx="5391760" cy="2103120"/>
          </a:xfrm>
          <a:prstGeom prst="roundRect">
            <a:avLst>
              <a:gd name="adj" fmla="val 5217"/>
            </a:avLst>
          </a:prstGeom>
          <a:solidFill>
            <a:srgbClr val="0E141B"/>
          </a:solidFill>
          <a:ln/>
        </p:spPr>
      </p:sp>
      <p:sp>
        <p:nvSpPr>
          <p:cNvPr id="45" name="Text 38"/>
          <p:cNvSpPr txBox="1"/>
          <p:nvPr/>
        </p:nvSpPr>
        <p:spPr>
          <a:xfrm>
            <a:off x="6507328" y="3931920"/>
            <a:ext cx="4843120" cy="201168"/>
          </a:xfrm>
          <a:prstGeom prst="rect">
            <a:avLst/>
          </a:prstGeom>
          <a:noFill/>
          <a:ln/>
        </p:spPr>
        <p:txBody>
          <a:bodyPr wrap="square" lIns="0" tIns="0" rIns="0" bIns="0" rtlCol="0" anchor="t"/>
          <a:lstStyle/>
          <a:p>
            <a:pPr marL="0" indent="0">
              <a:buNone/>
            </a:pPr>
            <a:r>
              <a:rPr lang="en-US" sz="900" b="1" kern="0" spc="160" dirty="0">
                <a:solidFill>
                  <a:srgbClr val="A3B4C4"/>
                </a:solidFill>
                <a:latin typeface="Arial" pitchFamily="34" charset="0"/>
                <a:ea typeface="Arial" pitchFamily="34" charset="-122"/>
                <a:cs typeface="Arial" pitchFamily="34" charset="-120"/>
              </a:rPr>
              <a:t>CROSS-CHECKS THE SYSTEM RUNS</a:t>
            </a:r>
            <a:endParaRPr lang="en-US" sz="900" dirty="0"/>
          </a:p>
        </p:txBody>
      </p:sp>
      <p:sp>
        <p:nvSpPr>
          <p:cNvPr id="46" name="Shape 39"/>
          <p:cNvSpPr/>
          <p:nvPr/>
        </p:nvSpPr>
        <p:spPr>
          <a:xfrm>
            <a:off x="6525616" y="4279392"/>
            <a:ext cx="100584" cy="100584"/>
          </a:xfrm>
          <a:prstGeom prst="ellipse">
            <a:avLst/>
          </a:prstGeom>
          <a:solidFill>
            <a:srgbClr val="E85D04"/>
          </a:solidFill>
          <a:ln/>
        </p:spPr>
      </p:sp>
      <p:sp>
        <p:nvSpPr>
          <p:cNvPr id="47" name="Text 40"/>
          <p:cNvSpPr txBox="1"/>
          <p:nvPr/>
        </p:nvSpPr>
        <p:spPr>
          <a:xfrm>
            <a:off x="6763360" y="4187952"/>
            <a:ext cx="4568800" cy="29260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GPS kilometres  vs  odometer reading  vs  vendor claim</a:t>
            </a:r>
            <a:endParaRPr lang="en-US" sz="1050" dirty="0"/>
          </a:p>
        </p:txBody>
      </p:sp>
      <p:sp>
        <p:nvSpPr>
          <p:cNvPr id="48" name="Shape 41"/>
          <p:cNvSpPr/>
          <p:nvPr/>
        </p:nvSpPr>
        <p:spPr>
          <a:xfrm>
            <a:off x="6525616" y="4599432"/>
            <a:ext cx="100584" cy="100584"/>
          </a:xfrm>
          <a:prstGeom prst="ellipse">
            <a:avLst/>
          </a:prstGeom>
          <a:solidFill>
            <a:srgbClr val="E85D04"/>
          </a:solidFill>
          <a:ln/>
        </p:spPr>
      </p:sp>
      <p:sp>
        <p:nvSpPr>
          <p:cNvPr id="49" name="Text 42"/>
          <p:cNvSpPr txBox="1"/>
          <p:nvPr/>
        </p:nvSpPr>
        <p:spPr>
          <a:xfrm>
            <a:off x="6763360" y="4507992"/>
            <a:ext cx="4568800" cy="29260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Fuel drawn  vs  distance run, per vehicle and per month</a:t>
            </a:r>
            <a:endParaRPr lang="en-US" sz="1050" dirty="0"/>
          </a:p>
        </p:txBody>
      </p:sp>
      <p:sp>
        <p:nvSpPr>
          <p:cNvPr id="50" name="Shape 43"/>
          <p:cNvSpPr/>
          <p:nvPr/>
        </p:nvSpPr>
        <p:spPr>
          <a:xfrm>
            <a:off x="6525616" y="4919472"/>
            <a:ext cx="100584" cy="100584"/>
          </a:xfrm>
          <a:prstGeom prst="ellipse">
            <a:avLst/>
          </a:prstGeom>
          <a:solidFill>
            <a:srgbClr val="E85D04"/>
          </a:solidFill>
          <a:ln/>
        </p:spPr>
      </p:sp>
      <p:sp>
        <p:nvSpPr>
          <p:cNvPr id="51" name="Text 44"/>
          <p:cNvSpPr txBox="1"/>
          <p:nvPr/>
        </p:nvSpPr>
        <p:spPr>
          <a:xfrm>
            <a:off x="6763360" y="4828032"/>
            <a:ext cx="4568800" cy="29260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Route taken  vs  the configured stop sequence</a:t>
            </a:r>
            <a:endParaRPr lang="en-US" sz="1050" dirty="0"/>
          </a:p>
        </p:txBody>
      </p:sp>
      <p:sp>
        <p:nvSpPr>
          <p:cNvPr id="52" name="Shape 45"/>
          <p:cNvSpPr/>
          <p:nvPr/>
        </p:nvSpPr>
        <p:spPr>
          <a:xfrm>
            <a:off x="6525616" y="5239512"/>
            <a:ext cx="100584" cy="100584"/>
          </a:xfrm>
          <a:prstGeom prst="ellipse">
            <a:avLst/>
          </a:prstGeom>
          <a:solidFill>
            <a:srgbClr val="E85D04"/>
          </a:solidFill>
          <a:ln/>
        </p:spPr>
      </p:sp>
      <p:sp>
        <p:nvSpPr>
          <p:cNvPr id="53" name="Text 46"/>
          <p:cNvSpPr txBox="1"/>
          <p:nvPr/>
        </p:nvSpPr>
        <p:spPr>
          <a:xfrm>
            <a:off x="6763360" y="5148072"/>
            <a:ext cx="4568800" cy="29260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Idle and engine-on time where the device reports it</a:t>
            </a:r>
            <a:endParaRPr lang="en-US" sz="1050" dirty="0"/>
          </a:p>
        </p:txBody>
      </p:sp>
      <p:sp>
        <p:nvSpPr>
          <p:cNvPr id="54" name="Text 47"/>
          <p:cNvSpPr txBox="1"/>
          <p:nvPr/>
        </p:nvSpPr>
        <p:spPr>
          <a:xfrm>
            <a:off x="6507328" y="5468112"/>
            <a:ext cx="4843120" cy="365760"/>
          </a:xfrm>
          <a:prstGeom prst="rect">
            <a:avLst/>
          </a:prstGeom>
          <a:noFill/>
          <a:ln/>
        </p:spPr>
        <p:txBody>
          <a:bodyPr wrap="square" lIns="0" tIns="0" rIns="0" bIns="0" rtlCol="0" anchor="t"/>
          <a:lstStyle/>
          <a:p>
            <a:pPr marL="0" indent="0">
              <a:lnSpc>
                <a:spcPts val="1200"/>
              </a:lnSpc>
              <a:buNone/>
            </a:pPr>
            <a:r>
              <a:rPr lang="en-US" sz="950" i="1" dirty="0">
                <a:solidFill>
                  <a:srgbClr val="A3B4C4"/>
                </a:solidFill>
                <a:latin typeface="Calibri" pitchFamily="34" charset="0"/>
                <a:ea typeface="Calibri" pitchFamily="34" charset="-122"/>
                <a:cs typeface="Calibri" pitchFamily="34" charset="-120"/>
              </a:rPr>
              <a:t>And not limited to these - permits, zone passes, training records and service history sit in the same master data.</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5E6D7D"/>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5E6D7D"/>
                </a:solidFill>
                <a:latin typeface="Arial" pitchFamily="34" charset="0"/>
                <a:ea typeface="Arial" pitchFamily="34" charset="-122"/>
                <a:cs typeface="Arial" pitchFamily="34" charset="-120"/>
              </a:rPr>
              <a:t>14</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OPTIMIZATION ENGINE</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16202B"/>
                </a:solidFill>
                <a:latin typeface="Arial" pitchFamily="34" charset="0"/>
                <a:ea typeface="Arial" pitchFamily="34" charset="-122"/>
                <a:cs typeface="Arial" pitchFamily="34" charset="-120"/>
              </a:rPr>
              <a:t>The brain that matches riders, cabs and routes</a:t>
            </a:r>
            <a:endParaRPr lang="en-US" sz="3000" dirty="0"/>
          </a:p>
        </p:txBody>
      </p:sp>
      <p:sp>
        <p:nvSpPr>
          <p:cNvPr id="6" name="Text 4"/>
          <p:cNvSpPr txBox="1"/>
          <p:nvPr/>
        </p:nvSpPr>
        <p:spPr>
          <a:xfrm>
            <a:off x="566928" y="1609344"/>
            <a:ext cx="3127248" cy="219456"/>
          </a:xfrm>
          <a:prstGeom prst="rect">
            <a:avLst/>
          </a:prstGeom>
          <a:noFill/>
          <a:ln/>
        </p:spPr>
        <p:txBody>
          <a:bodyPr wrap="square" lIns="0" tIns="0" rIns="0" bIns="0" rtlCol="0" anchor="t"/>
          <a:lstStyle/>
          <a:p>
            <a:pPr marL="0" indent="0">
              <a:buNone/>
            </a:pPr>
            <a:r>
              <a:rPr lang="en-US" sz="950" b="1" kern="0" spc="180" dirty="0">
                <a:solidFill>
                  <a:srgbClr val="5E6D7D"/>
                </a:solidFill>
                <a:latin typeface="Arial" pitchFamily="34" charset="0"/>
                <a:ea typeface="Arial" pitchFamily="34" charset="-122"/>
                <a:cs typeface="Arial" pitchFamily="34" charset="-120"/>
              </a:rPr>
              <a:t>INPUTS</a:t>
            </a:r>
            <a:endParaRPr lang="en-US" sz="950" dirty="0"/>
          </a:p>
        </p:txBody>
      </p:sp>
      <p:sp>
        <p:nvSpPr>
          <p:cNvPr id="7" name="Shape 5"/>
          <p:cNvSpPr/>
          <p:nvPr/>
        </p:nvSpPr>
        <p:spPr>
          <a:xfrm>
            <a:off x="566928" y="1883664"/>
            <a:ext cx="3127248" cy="585216"/>
          </a:xfrm>
          <a:prstGeom prst="roundRect">
            <a:avLst>
              <a:gd name="adj" fmla="val 18750"/>
            </a:avLst>
          </a:prstGeom>
          <a:solidFill>
            <a:srgbClr val="F3F6F9"/>
          </a:solidFill>
          <a:ln w="12700">
            <a:solidFill>
              <a:srgbClr val="DCE4EC"/>
            </a:solidFill>
            <a:prstDash val="solid"/>
          </a:ln>
        </p:spPr>
      </p:sp>
      <p:sp>
        <p:nvSpPr>
          <p:cNvPr id="8" name="Shape 6"/>
          <p:cNvSpPr/>
          <p:nvPr/>
        </p:nvSpPr>
        <p:spPr>
          <a:xfrm>
            <a:off x="713232" y="1965960"/>
            <a:ext cx="420624" cy="420624"/>
          </a:xfrm>
          <a:prstGeom prst="ellipse">
            <a:avLst/>
          </a:prstGeom>
          <a:solidFill>
            <a:srgbClr val="FFFFFF"/>
          </a:solidFill>
          <a:ln/>
        </p:spPr>
      </p:sp>
      <p:pic>
        <p:nvPicPr>
          <p:cNvPr id="9" name="Image 0" descr="preencoded.png"/>
          <p:cNvPicPr>
            <a:picLocks noChangeAspect="1"/>
          </p:cNvPicPr>
          <p:nvPr/>
        </p:nvPicPr>
        <p:blipFill>
          <a:blip r:embed="rId3"/>
          <a:stretch>
            <a:fillRect/>
          </a:stretch>
        </p:blipFill>
        <p:spPr>
          <a:xfrm>
            <a:off x="822594" y="2075322"/>
            <a:ext cx="201900" cy="201900"/>
          </a:xfrm>
          <a:prstGeom prst="rect">
            <a:avLst/>
          </a:prstGeom>
        </p:spPr>
      </p:pic>
      <p:sp>
        <p:nvSpPr>
          <p:cNvPr id="10" name="Text 7"/>
          <p:cNvSpPr txBox="1"/>
          <p:nvPr/>
        </p:nvSpPr>
        <p:spPr>
          <a:xfrm>
            <a:off x="1243584" y="1883664"/>
            <a:ext cx="2286000" cy="585216"/>
          </a:xfrm>
          <a:prstGeom prst="rect">
            <a:avLst/>
          </a:prstGeom>
          <a:noFill/>
          <a:ln/>
        </p:spPr>
        <p:txBody>
          <a:bodyPr wrap="square" lIns="0" tIns="0" rIns="0" bIns="0" rtlCol="0" anchor="ctr"/>
          <a:lstStyle/>
          <a:p>
            <a:pPr marL="0" indent="0">
              <a:buNone/>
            </a:pPr>
            <a:r>
              <a:rPr lang="en-US" sz="1100" dirty="0">
                <a:solidFill>
                  <a:srgbClr val="16202B"/>
                </a:solidFill>
                <a:latin typeface="Calibri" pitchFamily="34" charset="0"/>
                <a:ea typeface="Calibri" pitchFamily="34" charset="-122"/>
                <a:cs typeface="Calibri" pitchFamily="34" charset="-120"/>
              </a:rPr>
              <a:t>Bookings and seats needed</a:t>
            </a:r>
            <a:endParaRPr lang="en-US" sz="1100" dirty="0"/>
          </a:p>
        </p:txBody>
      </p:sp>
      <p:sp>
        <p:nvSpPr>
          <p:cNvPr id="11" name="Shape 8"/>
          <p:cNvSpPr/>
          <p:nvPr/>
        </p:nvSpPr>
        <p:spPr>
          <a:xfrm>
            <a:off x="566928" y="2569464"/>
            <a:ext cx="3127248" cy="585216"/>
          </a:xfrm>
          <a:prstGeom prst="roundRect">
            <a:avLst>
              <a:gd name="adj" fmla="val 18750"/>
            </a:avLst>
          </a:prstGeom>
          <a:solidFill>
            <a:srgbClr val="F3F6F9"/>
          </a:solidFill>
          <a:ln w="12700">
            <a:solidFill>
              <a:srgbClr val="DCE4EC"/>
            </a:solidFill>
            <a:prstDash val="solid"/>
          </a:ln>
        </p:spPr>
      </p:sp>
      <p:sp>
        <p:nvSpPr>
          <p:cNvPr id="12" name="Shape 9"/>
          <p:cNvSpPr/>
          <p:nvPr/>
        </p:nvSpPr>
        <p:spPr>
          <a:xfrm>
            <a:off x="713232" y="2651760"/>
            <a:ext cx="420624" cy="420624"/>
          </a:xfrm>
          <a:prstGeom prst="ellipse">
            <a:avLst/>
          </a:prstGeom>
          <a:solidFill>
            <a:srgbClr val="FFFFFF"/>
          </a:solidFill>
          <a:ln/>
        </p:spPr>
      </p:sp>
      <p:pic>
        <p:nvPicPr>
          <p:cNvPr id="13" name="Image 1" descr="preencoded.png"/>
          <p:cNvPicPr>
            <a:picLocks noChangeAspect="1"/>
          </p:cNvPicPr>
          <p:nvPr/>
        </p:nvPicPr>
        <p:blipFill>
          <a:blip r:embed="rId4"/>
          <a:stretch>
            <a:fillRect/>
          </a:stretch>
        </p:blipFill>
        <p:spPr>
          <a:xfrm>
            <a:off x="822594" y="2761122"/>
            <a:ext cx="201900" cy="201900"/>
          </a:xfrm>
          <a:prstGeom prst="rect">
            <a:avLst/>
          </a:prstGeom>
        </p:spPr>
      </p:pic>
      <p:sp>
        <p:nvSpPr>
          <p:cNvPr id="14" name="Text 10"/>
          <p:cNvSpPr txBox="1"/>
          <p:nvPr/>
        </p:nvSpPr>
        <p:spPr>
          <a:xfrm>
            <a:off x="1243584" y="2569464"/>
            <a:ext cx="2286000" cy="585216"/>
          </a:xfrm>
          <a:prstGeom prst="rect">
            <a:avLst/>
          </a:prstGeom>
          <a:noFill/>
          <a:ln/>
        </p:spPr>
        <p:txBody>
          <a:bodyPr wrap="square" lIns="0" tIns="0" rIns="0" bIns="0" rtlCol="0" anchor="ctr"/>
          <a:lstStyle/>
          <a:p>
            <a:pPr marL="0" indent="0">
              <a:buNone/>
            </a:pPr>
            <a:r>
              <a:rPr lang="en-US" sz="1100" dirty="0">
                <a:solidFill>
                  <a:srgbClr val="16202B"/>
                </a:solidFill>
                <a:latin typeface="Calibri" pitchFamily="34" charset="0"/>
                <a:ea typeface="Calibri" pitchFamily="34" charset="-122"/>
                <a:cs typeface="Calibri" pitchFamily="34" charset="-120"/>
              </a:rPr>
              <a:t>Live GPS positions</a:t>
            </a:r>
            <a:endParaRPr lang="en-US" sz="1100" dirty="0"/>
          </a:p>
        </p:txBody>
      </p:sp>
      <p:sp>
        <p:nvSpPr>
          <p:cNvPr id="15" name="Shape 11"/>
          <p:cNvSpPr/>
          <p:nvPr/>
        </p:nvSpPr>
        <p:spPr>
          <a:xfrm>
            <a:off x="566928" y="3255264"/>
            <a:ext cx="3127248" cy="585216"/>
          </a:xfrm>
          <a:prstGeom prst="roundRect">
            <a:avLst>
              <a:gd name="adj" fmla="val 18750"/>
            </a:avLst>
          </a:prstGeom>
          <a:solidFill>
            <a:srgbClr val="F3F6F9"/>
          </a:solidFill>
          <a:ln w="12700">
            <a:solidFill>
              <a:srgbClr val="DCE4EC"/>
            </a:solidFill>
            <a:prstDash val="solid"/>
          </a:ln>
        </p:spPr>
      </p:sp>
      <p:sp>
        <p:nvSpPr>
          <p:cNvPr id="16" name="Shape 12"/>
          <p:cNvSpPr/>
          <p:nvPr/>
        </p:nvSpPr>
        <p:spPr>
          <a:xfrm>
            <a:off x="713232" y="3337560"/>
            <a:ext cx="420624" cy="420624"/>
          </a:xfrm>
          <a:prstGeom prst="ellipse">
            <a:avLst/>
          </a:prstGeom>
          <a:solidFill>
            <a:srgbClr val="FFFFFF"/>
          </a:solidFill>
          <a:ln/>
        </p:spPr>
      </p:sp>
      <p:pic>
        <p:nvPicPr>
          <p:cNvPr id="17" name="Image 2" descr="preencoded.png"/>
          <p:cNvPicPr>
            <a:picLocks noChangeAspect="1"/>
          </p:cNvPicPr>
          <p:nvPr/>
        </p:nvPicPr>
        <p:blipFill>
          <a:blip r:embed="rId5"/>
          <a:stretch>
            <a:fillRect/>
          </a:stretch>
        </p:blipFill>
        <p:spPr>
          <a:xfrm>
            <a:off x="822594" y="3446922"/>
            <a:ext cx="201900" cy="201900"/>
          </a:xfrm>
          <a:prstGeom prst="rect">
            <a:avLst/>
          </a:prstGeom>
        </p:spPr>
      </p:pic>
      <p:sp>
        <p:nvSpPr>
          <p:cNvPr id="18" name="Text 13"/>
          <p:cNvSpPr txBox="1"/>
          <p:nvPr/>
        </p:nvSpPr>
        <p:spPr>
          <a:xfrm>
            <a:off x="1243584" y="3255264"/>
            <a:ext cx="2286000" cy="585216"/>
          </a:xfrm>
          <a:prstGeom prst="rect">
            <a:avLst/>
          </a:prstGeom>
          <a:noFill/>
          <a:ln/>
        </p:spPr>
        <p:txBody>
          <a:bodyPr wrap="square" lIns="0" tIns="0" rIns="0" bIns="0" rtlCol="0" anchor="ctr"/>
          <a:lstStyle/>
          <a:p>
            <a:pPr marL="0" indent="0">
              <a:buNone/>
            </a:pPr>
            <a:r>
              <a:rPr lang="en-US" sz="1100" dirty="0">
                <a:solidFill>
                  <a:srgbClr val="16202B"/>
                </a:solidFill>
                <a:latin typeface="Calibri" pitchFamily="34" charset="0"/>
                <a:ea typeface="Calibri" pitchFamily="34" charset="-122"/>
                <a:cs typeface="Calibri" pitchFamily="34" charset="-120"/>
              </a:rPr>
              <a:t>Vehicle type and capacity</a:t>
            </a:r>
            <a:endParaRPr lang="en-US" sz="1100" dirty="0"/>
          </a:p>
        </p:txBody>
      </p:sp>
      <p:sp>
        <p:nvSpPr>
          <p:cNvPr id="19" name="Shape 14"/>
          <p:cNvSpPr/>
          <p:nvPr/>
        </p:nvSpPr>
        <p:spPr>
          <a:xfrm>
            <a:off x="566928" y="3941064"/>
            <a:ext cx="3127248" cy="585216"/>
          </a:xfrm>
          <a:prstGeom prst="roundRect">
            <a:avLst>
              <a:gd name="adj" fmla="val 18750"/>
            </a:avLst>
          </a:prstGeom>
          <a:solidFill>
            <a:srgbClr val="F3F6F9"/>
          </a:solidFill>
          <a:ln w="12700">
            <a:solidFill>
              <a:srgbClr val="DCE4EC"/>
            </a:solidFill>
            <a:prstDash val="solid"/>
          </a:ln>
        </p:spPr>
      </p:sp>
      <p:sp>
        <p:nvSpPr>
          <p:cNvPr id="20" name="Shape 15"/>
          <p:cNvSpPr/>
          <p:nvPr/>
        </p:nvSpPr>
        <p:spPr>
          <a:xfrm>
            <a:off x="713232" y="4023360"/>
            <a:ext cx="420624" cy="420624"/>
          </a:xfrm>
          <a:prstGeom prst="ellipse">
            <a:avLst/>
          </a:prstGeom>
          <a:solidFill>
            <a:srgbClr val="FFFFFF"/>
          </a:solidFill>
          <a:ln/>
        </p:spPr>
      </p:sp>
      <p:pic>
        <p:nvPicPr>
          <p:cNvPr id="21" name="Image 3" descr="preencoded.png"/>
          <p:cNvPicPr>
            <a:picLocks noChangeAspect="1"/>
          </p:cNvPicPr>
          <p:nvPr/>
        </p:nvPicPr>
        <p:blipFill>
          <a:blip r:embed="rId6"/>
          <a:stretch>
            <a:fillRect/>
          </a:stretch>
        </p:blipFill>
        <p:spPr>
          <a:xfrm>
            <a:off x="822594" y="4132722"/>
            <a:ext cx="201900" cy="201900"/>
          </a:xfrm>
          <a:prstGeom prst="rect">
            <a:avLst/>
          </a:prstGeom>
        </p:spPr>
      </p:pic>
      <p:sp>
        <p:nvSpPr>
          <p:cNvPr id="22" name="Text 16"/>
          <p:cNvSpPr txBox="1"/>
          <p:nvPr/>
        </p:nvSpPr>
        <p:spPr>
          <a:xfrm>
            <a:off x="1243584" y="3941064"/>
            <a:ext cx="2286000" cy="585216"/>
          </a:xfrm>
          <a:prstGeom prst="rect">
            <a:avLst/>
          </a:prstGeom>
          <a:noFill/>
          <a:ln/>
        </p:spPr>
        <p:txBody>
          <a:bodyPr wrap="square" lIns="0" tIns="0" rIns="0" bIns="0" rtlCol="0" anchor="ctr"/>
          <a:lstStyle/>
          <a:p>
            <a:pPr marL="0" indent="0">
              <a:buNone/>
            </a:pPr>
            <a:r>
              <a:rPr lang="en-US" sz="1100" dirty="0">
                <a:solidFill>
                  <a:srgbClr val="16202B"/>
                </a:solidFill>
                <a:latin typeface="Calibri" pitchFamily="34" charset="0"/>
                <a:ea typeface="Calibri" pitchFamily="34" charset="-122"/>
                <a:cs typeface="Calibri" pitchFamily="34" charset="-120"/>
              </a:rPr>
              <a:t>Shift timings and peaks</a:t>
            </a:r>
            <a:endParaRPr lang="en-US" sz="1100" dirty="0"/>
          </a:p>
        </p:txBody>
      </p:sp>
      <p:sp>
        <p:nvSpPr>
          <p:cNvPr id="23" name="Shape 17"/>
          <p:cNvSpPr/>
          <p:nvPr/>
        </p:nvSpPr>
        <p:spPr>
          <a:xfrm>
            <a:off x="566928" y="4626864"/>
            <a:ext cx="3127248" cy="585216"/>
          </a:xfrm>
          <a:prstGeom prst="roundRect">
            <a:avLst>
              <a:gd name="adj" fmla="val 18750"/>
            </a:avLst>
          </a:prstGeom>
          <a:solidFill>
            <a:srgbClr val="F3F6F9"/>
          </a:solidFill>
          <a:ln w="12700">
            <a:solidFill>
              <a:srgbClr val="DCE4EC"/>
            </a:solidFill>
            <a:prstDash val="solid"/>
          </a:ln>
        </p:spPr>
      </p:sp>
      <p:sp>
        <p:nvSpPr>
          <p:cNvPr id="24" name="Shape 18"/>
          <p:cNvSpPr/>
          <p:nvPr/>
        </p:nvSpPr>
        <p:spPr>
          <a:xfrm>
            <a:off x="713232" y="4709160"/>
            <a:ext cx="420624" cy="420624"/>
          </a:xfrm>
          <a:prstGeom prst="ellipse">
            <a:avLst/>
          </a:prstGeom>
          <a:solidFill>
            <a:srgbClr val="FFFFFF"/>
          </a:solidFill>
          <a:ln/>
        </p:spPr>
      </p:sp>
      <p:pic>
        <p:nvPicPr>
          <p:cNvPr id="25" name="Image 4" descr="preencoded.png"/>
          <p:cNvPicPr>
            <a:picLocks noChangeAspect="1"/>
          </p:cNvPicPr>
          <p:nvPr/>
        </p:nvPicPr>
        <p:blipFill>
          <a:blip r:embed="rId7"/>
          <a:stretch>
            <a:fillRect/>
          </a:stretch>
        </p:blipFill>
        <p:spPr>
          <a:xfrm>
            <a:off x="822594" y="4818522"/>
            <a:ext cx="201900" cy="201900"/>
          </a:xfrm>
          <a:prstGeom prst="rect">
            <a:avLst/>
          </a:prstGeom>
        </p:spPr>
      </p:pic>
      <p:sp>
        <p:nvSpPr>
          <p:cNvPr id="26" name="Text 19"/>
          <p:cNvSpPr txBox="1"/>
          <p:nvPr/>
        </p:nvSpPr>
        <p:spPr>
          <a:xfrm>
            <a:off x="1243584" y="4626864"/>
            <a:ext cx="2286000" cy="585216"/>
          </a:xfrm>
          <a:prstGeom prst="rect">
            <a:avLst/>
          </a:prstGeom>
          <a:noFill/>
          <a:ln/>
        </p:spPr>
        <p:txBody>
          <a:bodyPr wrap="square" lIns="0" tIns="0" rIns="0" bIns="0" rtlCol="0" anchor="ctr"/>
          <a:lstStyle/>
          <a:p>
            <a:pPr marL="0" indent="0">
              <a:buNone/>
            </a:pPr>
            <a:r>
              <a:rPr lang="en-US" sz="1100" dirty="0">
                <a:solidFill>
                  <a:srgbClr val="16202B"/>
                </a:solidFill>
                <a:latin typeface="Calibri" pitchFamily="34" charset="0"/>
                <a:ea typeface="Calibri" pitchFamily="34" charset="-122"/>
                <a:cs typeface="Calibri" pitchFamily="34" charset="-120"/>
              </a:rPr>
              <a:t>Route sequence and leg times</a:t>
            </a:r>
            <a:endParaRPr lang="en-US" sz="1100" dirty="0"/>
          </a:p>
        </p:txBody>
      </p:sp>
      <p:sp>
        <p:nvSpPr>
          <p:cNvPr id="27" name="Shape 20"/>
          <p:cNvSpPr/>
          <p:nvPr/>
        </p:nvSpPr>
        <p:spPr>
          <a:xfrm>
            <a:off x="566928" y="5312664"/>
            <a:ext cx="3127248" cy="585216"/>
          </a:xfrm>
          <a:prstGeom prst="roundRect">
            <a:avLst>
              <a:gd name="adj" fmla="val 18750"/>
            </a:avLst>
          </a:prstGeom>
          <a:solidFill>
            <a:srgbClr val="F3F6F9"/>
          </a:solidFill>
          <a:ln w="12700">
            <a:solidFill>
              <a:srgbClr val="DCE4EC"/>
            </a:solidFill>
            <a:prstDash val="solid"/>
          </a:ln>
        </p:spPr>
      </p:sp>
      <p:sp>
        <p:nvSpPr>
          <p:cNvPr id="28" name="Shape 21"/>
          <p:cNvSpPr/>
          <p:nvPr/>
        </p:nvSpPr>
        <p:spPr>
          <a:xfrm>
            <a:off x="713232" y="5394960"/>
            <a:ext cx="420624" cy="420624"/>
          </a:xfrm>
          <a:prstGeom prst="ellipse">
            <a:avLst/>
          </a:prstGeom>
          <a:solidFill>
            <a:srgbClr val="FFFFFF"/>
          </a:solidFill>
          <a:ln/>
        </p:spPr>
      </p:sp>
      <p:pic>
        <p:nvPicPr>
          <p:cNvPr id="29" name="Image 5" descr="preencoded.png"/>
          <p:cNvPicPr>
            <a:picLocks noChangeAspect="1"/>
          </p:cNvPicPr>
          <p:nvPr/>
        </p:nvPicPr>
        <p:blipFill>
          <a:blip r:embed="rId8"/>
          <a:stretch>
            <a:fillRect/>
          </a:stretch>
        </p:blipFill>
        <p:spPr>
          <a:xfrm>
            <a:off x="822594" y="5504322"/>
            <a:ext cx="201900" cy="201900"/>
          </a:xfrm>
          <a:prstGeom prst="rect">
            <a:avLst/>
          </a:prstGeom>
        </p:spPr>
      </p:pic>
      <p:sp>
        <p:nvSpPr>
          <p:cNvPr id="30" name="Text 22"/>
          <p:cNvSpPr txBox="1"/>
          <p:nvPr/>
        </p:nvSpPr>
        <p:spPr>
          <a:xfrm>
            <a:off x="1243584" y="5312664"/>
            <a:ext cx="2286000" cy="585216"/>
          </a:xfrm>
          <a:prstGeom prst="rect">
            <a:avLst/>
          </a:prstGeom>
          <a:noFill/>
          <a:ln/>
        </p:spPr>
        <p:txBody>
          <a:bodyPr wrap="square" lIns="0" tIns="0" rIns="0" bIns="0" rtlCol="0" anchor="ctr"/>
          <a:lstStyle/>
          <a:p>
            <a:pPr marL="0" indent="0">
              <a:buNone/>
            </a:pPr>
            <a:r>
              <a:rPr lang="en-US" sz="1100" dirty="0">
                <a:solidFill>
                  <a:srgbClr val="16202B"/>
                </a:solidFill>
                <a:latin typeface="Calibri" pitchFamily="34" charset="0"/>
                <a:ea typeface="Calibri" pitchFamily="34" charset="-122"/>
                <a:cs typeface="Calibri" pitchFamily="34" charset="-120"/>
              </a:rPr>
              <a:t>Zone rules and driver hours</a:t>
            </a:r>
            <a:endParaRPr lang="en-US" sz="1100" dirty="0"/>
          </a:p>
        </p:txBody>
      </p:sp>
      <p:sp>
        <p:nvSpPr>
          <p:cNvPr id="31" name="Shape 23"/>
          <p:cNvSpPr/>
          <p:nvPr/>
        </p:nvSpPr>
        <p:spPr>
          <a:xfrm>
            <a:off x="3730752" y="3566160"/>
            <a:ext cx="201168" cy="182880"/>
          </a:xfrm>
          <a:prstGeom prst="rightArrow">
            <a:avLst/>
          </a:prstGeom>
          <a:solidFill>
            <a:srgbClr val="E85D04"/>
          </a:solidFill>
          <a:ln/>
        </p:spPr>
      </p:sp>
      <p:sp>
        <p:nvSpPr>
          <p:cNvPr id="32" name="Shape 24"/>
          <p:cNvSpPr/>
          <p:nvPr/>
        </p:nvSpPr>
        <p:spPr>
          <a:xfrm>
            <a:off x="3968496" y="1609344"/>
            <a:ext cx="4206240" cy="4261104"/>
          </a:xfrm>
          <a:prstGeom prst="roundRect">
            <a:avLst>
              <a:gd name="adj" fmla="val 2609"/>
            </a:avLst>
          </a:prstGeom>
          <a:solidFill>
            <a:srgbClr val="0E141B"/>
          </a:solidFill>
          <a:ln/>
        </p:spPr>
      </p:sp>
      <p:sp>
        <p:nvSpPr>
          <p:cNvPr id="33" name="Text 25"/>
          <p:cNvSpPr txBox="1"/>
          <p:nvPr/>
        </p:nvSpPr>
        <p:spPr>
          <a:xfrm>
            <a:off x="4242816" y="1810512"/>
            <a:ext cx="3657600" cy="219456"/>
          </a:xfrm>
          <a:prstGeom prst="rect">
            <a:avLst/>
          </a:prstGeom>
          <a:noFill/>
          <a:ln/>
        </p:spPr>
        <p:txBody>
          <a:bodyPr wrap="square" lIns="0" tIns="0" rIns="0" bIns="0" rtlCol="0" anchor="t"/>
          <a:lstStyle/>
          <a:p>
            <a:pPr marL="0" indent="0">
              <a:buNone/>
            </a:pPr>
            <a:r>
              <a:rPr lang="en-US" sz="950" b="1" kern="0" spc="180" dirty="0">
                <a:solidFill>
                  <a:srgbClr val="FF9E5E"/>
                </a:solidFill>
                <a:latin typeface="Arial" pitchFamily="34" charset="0"/>
                <a:ea typeface="Arial" pitchFamily="34" charset="-122"/>
                <a:cs typeface="Arial" pitchFamily="34" charset="-120"/>
              </a:rPr>
              <a:t>ENGINE</a:t>
            </a:r>
            <a:endParaRPr lang="en-US" sz="950" dirty="0"/>
          </a:p>
        </p:txBody>
      </p:sp>
      <p:sp>
        <p:nvSpPr>
          <p:cNvPr id="34" name="Shape 26"/>
          <p:cNvSpPr/>
          <p:nvPr/>
        </p:nvSpPr>
        <p:spPr>
          <a:xfrm>
            <a:off x="4242816" y="2139696"/>
            <a:ext cx="3657600" cy="1115568"/>
          </a:xfrm>
          <a:prstGeom prst="roundRect">
            <a:avLst>
              <a:gd name="adj" fmla="val 8197"/>
            </a:avLst>
          </a:prstGeom>
          <a:solidFill>
            <a:srgbClr val="18222D"/>
          </a:solidFill>
          <a:ln w="12700">
            <a:solidFill>
              <a:srgbClr val="34465A"/>
            </a:solidFill>
            <a:prstDash val="solid"/>
          </a:ln>
        </p:spPr>
      </p:sp>
      <p:sp>
        <p:nvSpPr>
          <p:cNvPr id="35" name="Shape 27"/>
          <p:cNvSpPr/>
          <p:nvPr/>
        </p:nvSpPr>
        <p:spPr>
          <a:xfrm>
            <a:off x="4407408" y="2322576"/>
            <a:ext cx="384048" cy="384048"/>
          </a:xfrm>
          <a:prstGeom prst="ellipse">
            <a:avLst/>
          </a:prstGeom>
          <a:solidFill>
            <a:srgbClr val="E85D04"/>
          </a:solidFill>
          <a:ln/>
        </p:spPr>
      </p:sp>
      <p:sp>
        <p:nvSpPr>
          <p:cNvPr id="36" name="Text 28"/>
          <p:cNvSpPr txBox="1"/>
          <p:nvPr/>
        </p:nvSpPr>
        <p:spPr>
          <a:xfrm>
            <a:off x="4407408" y="232257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7" name="Text 29"/>
          <p:cNvSpPr txBox="1"/>
          <p:nvPr/>
        </p:nvSpPr>
        <p:spPr>
          <a:xfrm>
            <a:off x="4919472" y="2304288"/>
            <a:ext cx="2926080" cy="27432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Filter</a:t>
            </a:r>
            <a:endParaRPr lang="en-US" sz="1350" dirty="0"/>
          </a:p>
        </p:txBody>
      </p:sp>
      <p:sp>
        <p:nvSpPr>
          <p:cNvPr id="38" name="Text 30"/>
          <p:cNvSpPr txBox="1"/>
          <p:nvPr/>
        </p:nvSpPr>
        <p:spPr>
          <a:xfrm>
            <a:off x="4407408" y="2670048"/>
            <a:ext cx="3328416" cy="512064"/>
          </a:xfrm>
          <a:prstGeom prst="rect">
            <a:avLst/>
          </a:prstGeom>
          <a:noFill/>
          <a:ln/>
        </p:spPr>
        <p:txBody>
          <a:bodyPr wrap="square" lIns="0" tIns="0" rIns="0" bIns="0" rtlCol="0" anchor="t"/>
          <a:lstStyle/>
          <a:p>
            <a:pPr marL="0" indent="0">
              <a:lnSpc>
                <a:spcPts val="1200"/>
              </a:lnSpc>
              <a:buNone/>
            </a:pPr>
            <a:r>
              <a:rPr lang="en-US" sz="950" dirty="0">
                <a:solidFill>
                  <a:srgbClr val="A3B4C4"/>
                </a:solidFill>
                <a:latin typeface="Calibri" pitchFamily="34" charset="0"/>
                <a:ea typeface="Calibri" pitchFamily="34" charset="-122"/>
                <a:cs typeface="Calibri" pitchFamily="34" charset="-120"/>
              </a:rPr>
              <a:t>Drop every cab that fails a hard rule: not enough free seats, the wrong vehicle type, no pass for a zone on the route, a driver out of duty hours, or already at the 3-passenger cap.</a:t>
            </a:r>
            <a:endParaRPr lang="en-US" sz="950" dirty="0"/>
          </a:p>
        </p:txBody>
      </p:sp>
      <p:sp>
        <p:nvSpPr>
          <p:cNvPr id="39" name="Shape 31"/>
          <p:cNvSpPr/>
          <p:nvPr/>
        </p:nvSpPr>
        <p:spPr>
          <a:xfrm>
            <a:off x="4242816" y="3419856"/>
            <a:ext cx="3657600" cy="1115568"/>
          </a:xfrm>
          <a:prstGeom prst="roundRect">
            <a:avLst>
              <a:gd name="adj" fmla="val 8197"/>
            </a:avLst>
          </a:prstGeom>
          <a:solidFill>
            <a:srgbClr val="18222D"/>
          </a:solidFill>
          <a:ln w="12700">
            <a:solidFill>
              <a:srgbClr val="34465A"/>
            </a:solidFill>
            <a:prstDash val="solid"/>
          </a:ln>
        </p:spPr>
      </p:sp>
      <p:sp>
        <p:nvSpPr>
          <p:cNvPr id="40" name="Shape 32"/>
          <p:cNvSpPr/>
          <p:nvPr/>
        </p:nvSpPr>
        <p:spPr>
          <a:xfrm>
            <a:off x="4407408" y="3602736"/>
            <a:ext cx="384048" cy="384048"/>
          </a:xfrm>
          <a:prstGeom prst="ellipse">
            <a:avLst/>
          </a:prstGeom>
          <a:solidFill>
            <a:srgbClr val="E85D04"/>
          </a:solidFill>
          <a:ln/>
        </p:spPr>
      </p:sp>
      <p:sp>
        <p:nvSpPr>
          <p:cNvPr id="41" name="Text 33"/>
          <p:cNvSpPr txBox="1"/>
          <p:nvPr/>
        </p:nvSpPr>
        <p:spPr>
          <a:xfrm>
            <a:off x="4407408" y="360273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42" name="Text 34"/>
          <p:cNvSpPr txBox="1"/>
          <p:nvPr/>
        </p:nvSpPr>
        <p:spPr>
          <a:xfrm>
            <a:off x="4919472" y="3584448"/>
            <a:ext cx="2926080" cy="27432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Score</a:t>
            </a:r>
            <a:endParaRPr lang="en-US" sz="1350" dirty="0"/>
          </a:p>
        </p:txBody>
      </p:sp>
      <p:sp>
        <p:nvSpPr>
          <p:cNvPr id="43" name="Text 35"/>
          <p:cNvSpPr txBox="1"/>
          <p:nvPr/>
        </p:nvSpPr>
        <p:spPr>
          <a:xfrm>
            <a:off x="4407408" y="3950208"/>
            <a:ext cx="3328416" cy="512064"/>
          </a:xfrm>
          <a:prstGeom prst="rect">
            <a:avLst/>
          </a:prstGeom>
          <a:noFill/>
          <a:ln/>
        </p:spPr>
        <p:txBody>
          <a:bodyPr wrap="square" lIns="0" tIns="0" rIns="0" bIns="0" rtlCol="0" anchor="t"/>
          <a:lstStyle/>
          <a:p>
            <a:pPr marL="0" indent="0">
              <a:lnSpc>
                <a:spcPts val="1200"/>
              </a:lnSpc>
              <a:buNone/>
            </a:pPr>
            <a:r>
              <a:rPr lang="en-US" sz="950" dirty="0">
                <a:solidFill>
                  <a:srgbClr val="A3B4C4"/>
                </a:solidFill>
                <a:latin typeface="Calibri" pitchFamily="34" charset="0"/>
                <a:ea typeface="Calibri" pitchFamily="34" charset="-122"/>
                <a:cs typeface="Calibri" pitchFamily="34" charset="-120"/>
              </a:rPr>
              <a:t>Rank what is left on pickup ETA, the extra detour for riders already on board, empty kilometres to reach the pickup, seats filled after joining, and own cab versus vendor cost.</a:t>
            </a:r>
            <a:endParaRPr lang="en-US" sz="950" dirty="0"/>
          </a:p>
        </p:txBody>
      </p:sp>
      <p:sp>
        <p:nvSpPr>
          <p:cNvPr id="44" name="Shape 36"/>
          <p:cNvSpPr/>
          <p:nvPr/>
        </p:nvSpPr>
        <p:spPr>
          <a:xfrm>
            <a:off x="4242816" y="4700016"/>
            <a:ext cx="3657600" cy="1115568"/>
          </a:xfrm>
          <a:prstGeom prst="roundRect">
            <a:avLst>
              <a:gd name="adj" fmla="val 8197"/>
            </a:avLst>
          </a:prstGeom>
          <a:solidFill>
            <a:srgbClr val="18222D"/>
          </a:solidFill>
          <a:ln w="12700">
            <a:solidFill>
              <a:srgbClr val="34465A"/>
            </a:solidFill>
            <a:prstDash val="solid"/>
          </a:ln>
        </p:spPr>
      </p:sp>
      <p:sp>
        <p:nvSpPr>
          <p:cNvPr id="45" name="Shape 37"/>
          <p:cNvSpPr/>
          <p:nvPr/>
        </p:nvSpPr>
        <p:spPr>
          <a:xfrm>
            <a:off x="4407408" y="4882896"/>
            <a:ext cx="384048" cy="384048"/>
          </a:xfrm>
          <a:prstGeom prst="ellipse">
            <a:avLst/>
          </a:prstGeom>
          <a:solidFill>
            <a:srgbClr val="E85D04"/>
          </a:solidFill>
          <a:ln/>
        </p:spPr>
      </p:sp>
      <p:sp>
        <p:nvSpPr>
          <p:cNvPr id="46" name="Text 38"/>
          <p:cNvSpPr txBox="1"/>
          <p:nvPr/>
        </p:nvSpPr>
        <p:spPr>
          <a:xfrm>
            <a:off x="4407408" y="4882896"/>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47" name="Text 39"/>
          <p:cNvSpPr txBox="1"/>
          <p:nvPr/>
        </p:nvSpPr>
        <p:spPr>
          <a:xfrm>
            <a:off x="4919472" y="4864608"/>
            <a:ext cx="2926080" cy="27432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Suggest</a:t>
            </a:r>
            <a:endParaRPr lang="en-US" sz="1350" dirty="0"/>
          </a:p>
        </p:txBody>
      </p:sp>
      <p:sp>
        <p:nvSpPr>
          <p:cNvPr id="48" name="Text 40"/>
          <p:cNvSpPr txBox="1"/>
          <p:nvPr/>
        </p:nvSpPr>
        <p:spPr>
          <a:xfrm>
            <a:off x="4407408" y="5230368"/>
            <a:ext cx="3328416" cy="512064"/>
          </a:xfrm>
          <a:prstGeom prst="rect">
            <a:avLst/>
          </a:prstGeom>
          <a:noFill/>
          <a:ln/>
        </p:spPr>
        <p:txBody>
          <a:bodyPr wrap="square" lIns="0" tIns="0" rIns="0" bIns="0" rtlCol="0" anchor="t"/>
          <a:lstStyle/>
          <a:p>
            <a:pPr marL="0" indent="0">
              <a:lnSpc>
                <a:spcPts val="1200"/>
              </a:lnSpc>
              <a:buNone/>
            </a:pPr>
            <a:r>
              <a:rPr lang="en-US" sz="950" dirty="0">
                <a:solidFill>
                  <a:srgbClr val="A3B4C4"/>
                </a:solidFill>
                <a:latin typeface="Calibri" pitchFamily="34" charset="0"/>
                <a:ea typeface="Calibri" pitchFamily="34" charset="-122"/>
                <a:cs typeface="Calibri" pitchFamily="34" charset="-120"/>
              </a:rPr>
              <a:t>Show the best options to the rider and dispatch in real time. Every suggestion records why it was picked, so the desk can audit a decision after the fact.</a:t>
            </a:r>
            <a:endParaRPr lang="en-US" sz="950" dirty="0"/>
          </a:p>
        </p:txBody>
      </p:sp>
      <p:sp>
        <p:nvSpPr>
          <p:cNvPr id="49" name="Shape 41"/>
          <p:cNvSpPr/>
          <p:nvPr/>
        </p:nvSpPr>
        <p:spPr>
          <a:xfrm>
            <a:off x="8211312" y="3566160"/>
            <a:ext cx="201168" cy="182880"/>
          </a:xfrm>
          <a:prstGeom prst="rightArrow">
            <a:avLst/>
          </a:prstGeom>
          <a:solidFill>
            <a:srgbClr val="E85D04"/>
          </a:solidFill>
          <a:ln/>
        </p:spPr>
      </p:sp>
      <p:sp>
        <p:nvSpPr>
          <p:cNvPr id="50" name="Text 42"/>
          <p:cNvSpPr txBox="1"/>
          <p:nvPr/>
        </p:nvSpPr>
        <p:spPr>
          <a:xfrm>
            <a:off x="8449056" y="1609344"/>
            <a:ext cx="3191256" cy="219456"/>
          </a:xfrm>
          <a:prstGeom prst="rect">
            <a:avLst/>
          </a:prstGeom>
          <a:noFill/>
          <a:ln/>
        </p:spPr>
        <p:txBody>
          <a:bodyPr wrap="square" lIns="0" tIns="0" rIns="0" bIns="0" rtlCol="0" anchor="t"/>
          <a:lstStyle/>
          <a:p>
            <a:pPr marL="0" indent="0">
              <a:buNone/>
            </a:pPr>
            <a:r>
              <a:rPr lang="en-US" sz="950" b="1" kern="0" spc="180" dirty="0">
                <a:solidFill>
                  <a:srgbClr val="00A896"/>
                </a:solidFill>
                <a:latin typeface="Arial" pitchFamily="34" charset="0"/>
                <a:ea typeface="Arial" pitchFamily="34" charset="-122"/>
                <a:cs typeface="Arial" pitchFamily="34" charset="-120"/>
              </a:rPr>
              <a:t>SUGGESTIONS</a:t>
            </a:r>
            <a:endParaRPr lang="en-US" sz="950" dirty="0"/>
          </a:p>
        </p:txBody>
      </p:sp>
      <p:sp>
        <p:nvSpPr>
          <p:cNvPr id="51" name="Shape 43"/>
          <p:cNvSpPr/>
          <p:nvPr/>
        </p:nvSpPr>
        <p:spPr>
          <a:xfrm>
            <a:off x="8449056" y="1883664"/>
            <a:ext cx="3191256" cy="585216"/>
          </a:xfrm>
          <a:prstGeom prst="roundRect">
            <a:avLst>
              <a:gd name="adj" fmla="val 18750"/>
            </a:avLst>
          </a:prstGeom>
          <a:solidFill>
            <a:srgbClr val="FFFFFF"/>
          </a:solidFill>
          <a:ln w="12700">
            <a:solidFill>
              <a:srgbClr val="E2F6F3"/>
            </a:solidFill>
            <a:prstDash val="solid"/>
          </a:ln>
          <a:effectLst>
            <a:outerShdw blurRad="127000" dist="25400" dir="5400000" algn="bl" rotWithShape="0">
              <a:srgbClr val="0E141B">
                <a:alpha val="10000"/>
              </a:srgbClr>
            </a:outerShdw>
          </a:effectLst>
        </p:spPr>
      </p:sp>
      <p:sp>
        <p:nvSpPr>
          <p:cNvPr id="52" name="Text 44"/>
          <p:cNvSpPr txBox="1"/>
          <p:nvPr/>
        </p:nvSpPr>
        <p:spPr>
          <a:xfrm>
            <a:off x="8631936" y="1938528"/>
            <a:ext cx="2825496" cy="164592"/>
          </a:xfrm>
          <a:prstGeom prst="rect">
            <a:avLst/>
          </a:prstGeom>
          <a:noFill/>
          <a:ln/>
        </p:spPr>
        <p:txBody>
          <a:bodyPr wrap="square" lIns="0" tIns="0" rIns="0" bIns="0" rtlCol="0" anchor="t"/>
          <a:lstStyle/>
          <a:p>
            <a:pPr marL="0" indent="0">
              <a:buNone/>
            </a:pPr>
            <a:r>
              <a:rPr lang="en-US" sz="700" b="1" kern="0" spc="120" dirty="0">
                <a:solidFill>
                  <a:srgbClr val="00A896"/>
                </a:solidFill>
                <a:latin typeface="Arial" pitchFamily="34" charset="0"/>
                <a:ea typeface="Arial" pitchFamily="34" charset="-122"/>
                <a:cs typeface="Arial" pitchFamily="34" charset="-120"/>
              </a:rPr>
              <a:t>TO THE RIDER</a:t>
            </a:r>
            <a:endParaRPr lang="en-US" sz="700" dirty="0"/>
          </a:p>
        </p:txBody>
      </p:sp>
      <p:sp>
        <p:nvSpPr>
          <p:cNvPr id="53" name="Text 45"/>
          <p:cNvSpPr txBox="1"/>
          <p:nvPr/>
        </p:nvSpPr>
        <p:spPr>
          <a:xfrm>
            <a:off x="8631936" y="2103120"/>
            <a:ext cx="2825496" cy="329184"/>
          </a:xfrm>
          <a:prstGeom prst="rect">
            <a:avLst/>
          </a:prstGeom>
          <a:noFill/>
          <a:ln/>
        </p:spPr>
        <p:txBody>
          <a:bodyPr wrap="square" lIns="0" tIns="0" rIns="0" bIns="0" rtlCol="0" anchor="t"/>
          <a:lstStyle/>
          <a:p>
            <a:pPr marL="0" indent="0">
              <a:lnSpc>
                <a:spcPts val="1200"/>
              </a:lnSpc>
              <a:buNone/>
            </a:pPr>
            <a:r>
              <a:rPr lang="en-US" sz="1000" dirty="0">
                <a:solidFill>
                  <a:srgbClr val="16202B"/>
                </a:solidFill>
                <a:latin typeface="Calibri" pitchFamily="34" charset="0"/>
                <a:ea typeface="Calibri" pitchFamily="34" charset="-122"/>
                <a:cs typeface="Calibri" pitchFamily="34" charset="-120"/>
              </a:rPr>
              <a:t>Shuttle S3 in 4 min, 5 seats free</a:t>
            </a:r>
            <a:endParaRPr lang="en-US" sz="1000" dirty="0"/>
          </a:p>
        </p:txBody>
      </p:sp>
      <p:sp>
        <p:nvSpPr>
          <p:cNvPr id="54" name="Shape 46"/>
          <p:cNvSpPr/>
          <p:nvPr/>
        </p:nvSpPr>
        <p:spPr>
          <a:xfrm>
            <a:off x="8449056" y="2569464"/>
            <a:ext cx="3191256" cy="585216"/>
          </a:xfrm>
          <a:prstGeom prst="roundRect">
            <a:avLst>
              <a:gd name="adj" fmla="val 18750"/>
            </a:avLst>
          </a:prstGeom>
          <a:solidFill>
            <a:srgbClr val="FFFFFF"/>
          </a:solidFill>
          <a:ln w="12700">
            <a:solidFill>
              <a:srgbClr val="E2F6F3"/>
            </a:solidFill>
            <a:prstDash val="solid"/>
          </a:ln>
          <a:effectLst>
            <a:outerShdw blurRad="127000" dist="25400" dir="5400000" algn="bl" rotWithShape="0">
              <a:srgbClr val="0E141B">
                <a:alpha val="10000"/>
              </a:srgbClr>
            </a:outerShdw>
          </a:effectLst>
        </p:spPr>
      </p:sp>
      <p:sp>
        <p:nvSpPr>
          <p:cNvPr id="55" name="Text 47"/>
          <p:cNvSpPr txBox="1"/>
          <p:nvPr/>
        </p:nvSpPr>
        <p:spPr>
          <a:xfrm>
            <a:off x="8631936" y="2624328"/>
            <a:ext cx="2825496" cy="164592"/>
          </a:xfrm>
          <a:prstGeom prst="rect">
            <a:avLst/>
          </a:prstGeom>
          <a:noFill/>
          <a:ln/>
        </p:spPr>
        <p:txBody>
          <a:bodyPr wrap="square" lIns="0" tIns="0" rIns="0" bIns="0" rtlCol="0" anchor="t"/>
          <a:lstStyle/>
          <a:p>
            <a:pPr marL="0" indent="0">
              <a:buNone/>
            </a:pPr>
            <a:r>
              <a:rPr lang="en-US" sz="700" b="1" kern="0" spc="120" dirty="0">
                <a:solidFill>
                  <a:srgbClr val="00A896"/>
                </a:solidFill>
                <a:latin typeface="Arial" pitchFamily="34" charset="0"/>
                <a:ea typeface="Arial" pitchFamily="34" charset="-122"/>
                <a:cs typeface="Arial" pitchFamily="34" charset="-120"/>
              </a:rPr>
              <a:t>TO THE RIDER</a:t>
            </a:r>
            <a:endParaRPr lang="en-US" sz="700" dirty="0"/>
          </a:p>
        </p:txBody>
      </p:sp>
      <p:sp>
        <p:nvSpPr>
          <p:cNvPr id="56" name="Text 48"/>
          <p:cNvSpPr txBox="1"/>
          <p:nvPr/>
        </p:nvSpPr>
        <p:spPr>
          <a:xfrm>
            <a:off x="8631936" y="2788920"/>
            <a:ext cx="2825496" cy="329184"/>
          </a:xfrm>
          <a:prstGeom prst="rect">
            <a:avLst/>
          </a:prstGeom>
          <a:noFill/>
          <a:ln/>
        </p:spPr>
        <p:txBody>
          <a:bodyPr wrap="square" lIns="0" tIns="0" rIns="0" bIns="0" rtlCol="0" anchor="t"/>
          <a:lstStyle/>
          <a:p>
            <a:pPr marL="0" indent="0">
              <a:lnSpc>
                <a:spcPts val="1200"/>
              </a:lnSpc>
              <a:buNone/>
            </a:pPr>
            <a:r>
              <a:rPr lang="en-US" sz="1000" dirty="0">
                <a:solidFill>
                  <a:srgbClr val="16202B"/>
                </a:solidFill>
                <a:latin typeface="Calibri" pitchFamily="34" charset="0"/>
                <a:ea typeface="Calibri" pitchFamily="34" charset="-122"/>
                <a:cs typeface="Calibri" pitchFamily="34" charset="-120"/>
              </a:rPr>
              <a:t>A cab to Blast Furnace leaves Gate 2 in 6 min</a:t>
            </a:r>
            <a:endParaRPr lang="en-US" sz="1000" dirty="0"/>
          </a:p>
        </p:txBody>
      </p:sp>
      <p:sp>
        <p:nvSpPr>
          <p:cNvPr id="57" name="Shape 49"/>
          <p:cNvSpPr/>
          <p:nvPr/>
        </p:nvSpPr>
        <p:spPr>
          <a:xfrm>
            <a:off x="8449056" y="3255264"/>
            <a:ext cx="3191256" cy="585216"/>
          </a:xfrm>
          <a:prstGeom prst="roundRect">
            <a:avLst>
              <a:gd name="adj" fmla="val 18750"/>
            </a:avLst>
          </a:prstGeom>
          <a:solidFill>
            <a:srgbClr val="FFFFFF"/>
          </a:solidFill>
          <a:ln w="12700">
            <a:solidFill>
              <a:srgbClr val="E2F6F3"/>
            </a:solidFill>
            <a:prstDash val="solid"/>
          </a:ln>
          <a:effectLst>
            <a:outerShdw blurRad="127000" dist="25400" dir="5400000" algn="bl" rotWithShape="0">
              <a:srgbClr val="0E141B">
                <a:alpha val="10000"/>
              </a:srgbClr>
            </a:outerShdw>
          </a:effectLst>
        </p:spPr>
      </p:sp>
      <p:sp>
        <p:nvSpPr>
          <p:cNvPr id="58" name="Text 50"/>
          <p:cNvSpPr txBox="1"/>
          <p:nvPr/>
        </p:nvSpPr>
        <p:spPr>
          <a:xfrm>
            <a:off x="8631936" y="3310128"/>
            <a:ext cx="2825496" cy="164592"/>
          </a:xfrm>
          <a:prstGeom prst="rect">
            <a:avLst/>
          </a:prstGeom>
          <a:noFill/>
          <a:ln/>
        </p:spPr>
        <p:txBody>
          <a:bodyPr wrap="square" lIns="0" tIns="0" rIns="0" bIns="0" rtlCol="0" anchor="t"/>
          <a:lstStyle/>
          <a:p>
            <a:pPr marL="0" indent="0">
              <a:buNone/>
            </a:pPr>
            <a:r>
              <a:rPr lang="en-US" sz="700" b="1" kern="0" spc="120" dirty="0">
                <a:solidFill>
                  <a:srgbClr val="00A896"/>
                </a:solidFill>
                <a:latin typeface="Arial" pitchFamily="34" charset="0"/>
                <a:ea typeface="Arial" pitchFamily="34" charset="-122"/>
                <a:cs typeface="Arial" pitchFamily="34" charset="-120"/>
              </a:rPr>
              <a:t>TO THE RIDER</a:t>
            </a:r>
            <a:endParaRPr lang="en-US" sz="700" dirty="0"/>
          </a:p>
        </p:txBody>
      </p:sp>
      <p:sp>
        <p:nvSpPr>
          <p:cNvPr id="59" name="Text 51"/>
          <p:cNvSpPr txBox="1"/>
          <p:nvPr/>
        </p:nvSpPr>
        <p:spPr>
          <a:xfrm>
            <a:off x="8631936" y="3474720"/>
            <a:ext cx="2825496" cy="329184"/>
          </a:xfrm>
          <a:prstGeom prst="rect">
            <a:avLst/>
          </a:prstGeom>
          <a:noFill/>
          <a:ln/>
        </p:spPr>
        <p:txBody>
          <a:bodyPr wrap="square" lIns="0" tIns="0" rIns="0" bIns="0" rtlCol="0" anchor="t"/>
          <a:lstStyle/>
          <a:p>
            <a:pPr marL="0" indent="0">
              <a:lnSpc>
                <a:spcPts val="1200"/>
              </a:lnSpc>
              <a:buNone/>
            </a:pPr>
            <a:r>
              <a:rPr lang="en-US" sz="1000" dirty="0">
                <a:solidFill>
                  <a:srgbClr val="16202B"/>
                </a:solidFill>
                <a:latin typeface="Calibri" pitchFamily="34" charset="0"/>
                <a:ea typeface="Calibri" pitchFamily="34" charset="-122"/>
                <a:cs typeface="Calibri" pitchFamily="34" charset="-120"/>
              </a:rPr>
              <a:t>Walk 150 m to Stop 12 and save 9 min</a:t>
            </a:r>
            <a:endParaRPr lang="en-US" sz="1000" dirty="0"/>
          </a:p>
        </p:txBody>
      </p:sp>
      <p:sp>
        <p:nvSpPr>
          <p:cNvPr id="60" name="Shape 52"/>
          <p:cNvSpPr/>
          <p:nvPr/>
        </p:nvSpPr>
        <p:spPr>
          <a:xfrm>
            <a:off x="8449056" y="3941064"/>
            <a:ext cx="3191256" cy="585216"/>
          </a:xfrm>
          <a:prstGeom prst="roundRect">
            <a:avLst>
              <a:gd name="adj" fmla="val 18750"/>
            </a:avLst>
          </a:prstGeom>
          <a:solidFill>
            <a:srgbClr val="FFFFFF"/>
          </a:solidFill>
          <a:ln w="12700">
            <a:solidFill>
              <a:srgbClr val="DCE4EC"/>
            </a:solidFill>
            <a:prstDash val="solid"/>
          </a:ln>
          <a:effectLst>
            <a:outerShdw blurRad="127000" dist="25400" dir="5400000" algn="bl" rotWithShape="0">
              <a:srgbClr val="0E141B">
                <a:alpha val="10000"/>
              </a:srgbClr>
            </a:outerShdw>
          </a:effectLst>
        </p:spPr>
      </p:sp>
      <p:sp>
        <p:nvSpPr>
          <p:cNvPr id="61" name="Text 53"/>
          <p:cNvSpPr txBox="1"/>
          <p:nvPr/>
        </p:nvSpPr>
        <p:spPr>
          <a:xfrm>
            <a:off x="8631936" y="3995928"/>
            <a:ext cx="2825496" cy="164592"/>
          </a:xfrm>
          <a:prstGeom prst="rect">
            <a:avLst/>
          </a:prstGeom>
          <a:noFill/>
          <a:ln/>
        </p:spPr>
        <p:txBody>
          <a:bodyPr wrap="square" lIns="0" tIns="0" rIns="0" bIns="0" rtlCol="0" anchor="t"/>
          <a:lstStyle/>
          <a:p>
            <a:pPr marL="0" indent="0">
              <a:buNone/>
            </a:pPr>
            <a:r>
              <a:rPr lang="en-US" sz="700" b="1" kern="0" spc="120" dirty="0">
                <a:solidFill>
                  <a:srgbClr val="5E6D7D"/>
                </a:solidFill>
                <a:latin typeface="Arial" pitchFamily="34" charset="0"/>
                <a:ea typeface="Arial" pitchFamily="34" charset="-122"/>
                <a:cs typeface="Arial" pitchFamily="34" charset="-120"/>
              </a:rPr>
              <a:t>TO THE DESK</a:t>
            </a:r>
            <a:endParaRPr lang="en-US" sz="700" dirty="0"/>
          </a:p>
        </p:txBody>
      </p:sp>
      <p:sp>
        <p:nvSpPr>
          <p:cNvPr id="62" name="Text 54"/>
          <p:cNvSpPr txBox="1"/>
          <p:nvPr/>
        </p:nvSpPr>
        <p:spPr>
          <a:xfrm>
            <a:off x="8631936" y="4160520"/>
            <a:ext cx="2825496" cy="329184"/>
          </a:xfrm>
          <a:prstGeom prst="rect">
            <a:avLst/>
          </a:prstGeom>
          <a:noFill/>
          <a:ln/>
        </p:spPr>
        <p:txBody>
          <a:bodyPr wrap="square" lIns="0" tIns="0" rIns="0" bIns="0" rtlCol="0" anchor="t"/>
          <a:lstStyle/>
          <a:p>
            <a:pPr marL="0" indent="0">
              <a:lnSpc>
                <a:spcPts val="1200"/>
              </a:lnSpc>
              <a:buNone/>
            </a:pPr>
            <a:r>
              <a:rPr lang="en-US" sz="1000" dirty="0">
                <a:solidFill>
                  <a:srgbClr val="16202B"/>
                </a:solidFill>
                <a:latin typeface="Calibri" pitchFamily="34" charset="0"/>
                <a:ea typeface="Calibri" pitchFamily="34" charset="-122"/>
                <a:cs typeface="Calibri" pitchFamily="34" charset="-120"/>
              </a:rPr>
              <a:t>Send 4 cabs to Coke Plant before the 14:00 shift change</a:t>
            </a:r>
            <a:endParaRPr lang="en-US" sz="1000" dirty="0"/>
          </a:p>
        </p:txBody>
      </p:sp>
      <p:sp>
        <p:nvSpPr>
          <p:cNvPr id="63" name="Shape 55"/>
          <p:cNvSpPr/>
          <p:nvPr/>
        </p:nvSpPr>
        <p:spPr>
          <a:xfrm>
            <a:off x="8449056" y="4626864"/>
            <a:ext cx="3191256" cy="585216"/>
          </a:xfrm>
          <a:prstGeom prst="roundRect">
            <a:avLst>
              <a:gd name="adj" fmla="val 18750"/>
            </a:avLst>
          </a:prstGeom>
          <a:solidFill>
            <a:srgbClr val="FFFFFF"/>
          </a:solidFill>
          <a:ln w="12700">
            <a:solidFill>
              <a:srgbClr val="DCE4EC"/>
            </a:solidFill>
            <a:prstDash val="solid"/>
          </a:ln>
          <a:effectLst>
            <a:outerShdw blurRad="127000" dist="25400" dir="5400000" algn="bl" rotWithShape="0">
              <a:srgbClr val="0E141B">
                <a:alpha val="10000"/>
              </a:srgbClr>
            </a:outerShdw>
          </a:effectLst>
        </p:spPr>
      </p:sp>
      <p:sp>
        <p:nvSpPr>
          <p:cNvPr id="64" name="Text 56"/>
          <p:cNvSpPr txBox="1"/>
          <p:nvPr/>
        </p:nvSpPr>
        <p:spPr>
          <a:xfrm>
            <a:off x="8631936" y="4681728"/>
            <a:ext cx="2825496" cy="164592"/>
          </a:xfrm>
          <a:prstGeom prst="rect">
            <a:avLst/>
          </a:prstGeom>
          <a:noFill/>
          <a:ln/>
        </p:spPr>
        <p:txBody>
          <a:bodyPr wrap="square" lIns="0" tIns="0" rIns="0" bIns="0" rtlCol="0" anchor="t"/>
          <a:lstStyle/>
          <a:p>
            <a:pPr marL="0" indent="0">
              <a:buNone/>
            </a:pPr>
            <a:r>
              <a:rPr lang="en-US" sz="700" b="1" kern="0" spc="120" dirty="0">
                <a:solidFill>
                  <a:srgbClr val="5E6D7D"/>
                </a:solidFill>
                <a:latin typeface="Arial" pitchFamily="34" charset="0"/>
                <a:ea typeface="Arial" pitchFamily="34" charset="-122"/>
                <a:cs typeface="Arial" pitchFamily="34" charset="-120"/>
              </a:rPr>
              <a:t>TO THE DESK</a:t>
            </a:r>
            <a:endParaRPr lang="en-US" sz="700" dirty="0"/>
          </a:p>
        </p:txBody>
      </p:sp>
      <p:sp>
        <p:nvSpPr>
          <p:cNvPr id="65" name="Text 57"/>
          <p:cNvSpPr txBox="1"/>
          <p:nvPr/>
        </p:nvSpPr>
        <p:spPr>
          <a:xfrm>
            <a:off x="8631936" y="4846320"/>
            <a:ext cx="2825496" cy="329184"/>
          </a:xfrm>
          <a:prstGeom prst="rect">
            <a:avLst/>
          </a:prstGeom>
          <a:noFill/>
          <a:ln/>
        </p:spPr>
        <p:txBody>
          <a:bodyPr wrap="square" lIns="0" tIns="0" rIns="0" bIns="0" rtlCol="0" anchor="t"/>
          <a:lstStyle/>
          <a:p>
            <a:pPr marL="0" indent="0">
              <a:lnSpc>
                <a:spcPts val="1200"/>
              </a:lnSpc>
              <a:buNone/>
            </a:pPr>
            <a:r>
              <a:rPr lang="en-US" sz="1000" dirty="0">
                <a:solidFill>
                  <a:srgbClr val="16202B"/>
                </a:solidFill>
                <a:latin typeface="Calibri" pitchFamily="34" charset="0"/>
                <a:ea typeface="Calibri" pitchFamily="34" charset="-122"/>
                <a:cs typeface="Calibri" pitchFamily="34" charset="-120"/>
              </a:rPr>
              <a:t>3 cabs idle at Admin, demand rising at Gate 5</a:t>
            </a:r>
            <a:endParaRPr lang="en-US" sz="1000" dirty="0"/>
          </a:p>
        </p:txBody>
      </p:sp>
      <p:sp>
        <p:nvSpPr>
          <p:cNvPr id="66" name="Shape 58"/>
          <p:cNvSpPr/>
          <p:nvPr/>
        </p:nvSpPr>
        <p:spPr>
          <a:xfrm>
            <a:off x="8449056" y="5312664"/>
            <a:ext cx="3191256" cy="585216"/>
          </a:xfrm>
          <a:prstGeom prst="roundRect">
            <a:avLst>
              <a:gd name="adj" fmla="val 18750"/>
            </a:avLst>
          </a:prstGeom>
          <a:solidFill>
            <a:srgbClr val="FFFFFF"/>
          </a:solidFill>
          <a:ln w="12700">
            <a:solidFill>
              <a:srgbClr val="DCE4EC"/>
            </a:solidFill>
            <a:prstDash val="solid"/>
          </a:ln>
          <a:effectLst>
            <a:outerShdw blurRad="127000" dist="25400" dir="5400000" algn="bl" rotWithShape="0">
              <a:srgbClr val="0E141B">
                <a:alpha val="10000"/>
              </a:srgbClr>
            </a:outerShdw>
          </a:effectLst>
        </p:spPr>
      </p:sp>
      <p:sp>
        <p:nvSpPr>
          <p:cNvPr id="67" name="Text 59"/>
          <p:cNvSpPr txBox="1"/>
          <p:nvPr/>
        </p:nvSpPr>
        <p:spPr>
          <a:xfrm>
            <a:off x="8631936" y="5367528"/>
            <a:ext cx="2825496" cy="164592"/>
          </a:xfrm>
          <a:prstGeom prst="rect">
            <a:avLst/>
          </a:prstGeom>
          <a:noFill/>
          <a:ln/>
        </p:spPr>
        <p:txBody>
          <a:bodyPr wrap="square" lIns="0" tIns="0" rIns="0" bIns="0" rtlCol="0" anchor="t"/>
          <a:lstStyle/>
          <a:p>
            <a:pPr marL="0" indent="0">
              <a:buNone/>
            </a:pPr>
            <a:r>
              <a:rPr lang="en-US" sz="700" b="1" kern="0" spc="120" dirty="0">
                <a:solidFill>
                  <a:srgbClr val="5E6D7D"/>
                </a:solidFill>
                <a:latin typeface="Arial" pitchFamily="34" charset="0"/>
                <a:ea typeface="Arial" pitchFamily="34" charset="-122"/>
                <a:cs typeface="Arial" pitchFamily="34" charset="-120"/>
              </a:rPr>
              <a:t>TO THE DESK</a:t>
            </a:r>
            <a:endParaRPr lang="en-US" sz="700" dirty="0"/>
          </a:p>
        </p:txBody>
      </p:sp>
      <p:sp>
        <p:nvSpPr>
          <p:cNvPr id="68" name="Text 60"/>
          <p:cNvSpPr txBox="1"/>
          <p:nvPr/>
        </p:nvSpPr>
        <p:spPr>
          <a:xfrm>
            <a:off x="8631936" y="5532120"/>
            <a:ext cx="2825496" cy="329184"/>
          </a:xfrm>
          <a:prstGeom prst="rect">
            <a:avLst/>
          </a:prstGeom>
          <a:noFill/>
          <a:ln/>
        </p:spPr>
        <p:txBody>
          <a:bodyPr wrap="square" lIns="0" tIns="0" rIns="0" bIns="0" rtlCol="0" anchor="t"/>
          <a:lstStyle/>
          <a:p>
            <a:pPr marL="0" indent="0">
              <a:lnSpc>
                <a:spcPts val="1200"/>
              </a:lnSpc>
              <a:buNone/>
            </a:pPr>
            <a:r>
              <a:rPr lang="en-US" sz="1000" dirty="0">
                <a:solidFill>
                  <a:srgbClr val="16202B"/>
                </a:solidFill>
                <a:latin typeface="Calibri" pitchFamily="34" charset="0"/>
                <a:ea typeface="Calibri" pitchFamily="34" charset="-122"/>
                <a:cs typeface="Calibri" pitchFamily="34" charset="-120"/>
              </a:rPr>
              <a:t>Run S2 every 10 min, not 20, from 07:30 to 09:00</a:t>
            </a:r>
            <a:endParaRPr lang="en-US" sz="1000" dirty="0"/>
          </a:p>
        </p:txBody>
      </p:sp>
      <p:sp>
        <p:nvSpPr>
          <p:cNvPr id="69" name="Text 61"/>
          <p:cNvSpPr txBox="1"/>
          <p:nvPr/>
        </p:nvSpPr>
        <p:spPr>
          <a:xfrm>
            <a:off x="566928" y="5980176"/>
            <a:ext cx="11057839" cy="274320"/>
          </a:xfrm>
          <a:prstGeom prst="rect">
            <a:avLst/>
          </a:prstGeom>
          <a:noFill/>
          <a:ln/>
        </p:spPr>
        <p:txBody>
          <a:bodyPr wrap="square" lIns="0" tIns="0" rIns="0" bIns="0" rtlCol="0" anchor="t"/>
          <a:lstStyle/>
          <a:p>
            <a:pPr marL="0" indent="0">
              <a:buNone/>
            </a:pPr>
            <a:r>
              <a:rPr lang="en-US" sz="1050" i="1" dirty="0">
                <a:solidFill>
                  <a:srgbClr val="5E6D7D"/>
                </a:solidFill>
                <a:latin typeface="Calibri" pitchFamily="34" charset="0"/>
                <a:ea typeface="Calibri" pitchFamily="34" charset="-122"/>
                <a:cs typeface="Calibri" pitchFamily="34" charset="-120"/>
              </a:rPr>
              <a:t>Phase 1 is rules plus a score, refreshed every 15 seconds. A route solver comes later, only for scheduled batches where it measurably pays.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41B"/>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A3B4C4"/>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A3B4C4"/>
                </a:solidFill>
                <a:latin typeface="Arial" pitchFamily="34" charset="0"/>
                <a:ea typeface="Arial" pitchFamily="34" charset="-122"/>
                <a:cs typeface="Arial" pitchFamily="34" charset="-120"/>
              </a:rPr>
              <a:t>15</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TRANSPORT COMMAND CENTRE</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FFFFFF"/>
                </a:solidFill>
                <a:latin typeface="Arial" pitchFamily="34" charset="0"/>
                <a:ea typeface="Arial" pitchFamily="34" charset="-122"/>
                <a:cs typeface="Arial" pitchFamily="34" charset="-120"/>
              </a:rPr>
              <a:t>The whole fleet on one live screen</a:t>
            </a:r>
            <a:endParaRPr lang="en-US" sz="3000" dirty="0"/>
          </a:p>
        </p:txBody>
      </p:sp>
      <p:sp>
        <p:nvSpPr>
          <p:cNvPr id="6" name="Text 4"/>
          <p:cNvSpPr txBox="1"/>
          <p:nvPr/>
        </p:nvSpPr>
        <p:spPr>
          <a:xfrm>
            <a:off x="8698687" y="804672"/>
            <a:ext cx="2926080" cy="219456"/>
          </a:xfrm>
          <a:prstGeom prst="rect">
            <a:avLst/>
          </a:prstGeom>
          <a:noFill/>
          <a:ln/>
        </p:spPr>
        <p:txBody>
          <a:bodyPr wrap="square" lIns="0" tIns="0" rIns="0" bIns="0" rtlCol="0" anchor="t"/>
          <a:lstStyle/>
          <a:p>
            <a:pPr marL="0" indent="0" algn="r">
              <a:buNone/>
            </a:pPr>
            <a:r>
              <a:rPr lang="en-US" sz="850" b="1" kern="0" spc="140" dirty="0">
                <a:solidFill>
                  <a:srgbClr val="A3B4C4"/>
                </a:solidFill>
                <a:latin typeface="Arial" pitchFamily="34" charset="0"/>
                <a:ea typeface="Arial" pitchFamily="34" charset="-122"/>
                <a:cs typeface="Arial" pitchFamily="34" charset="-120"/>
              </a:rPr>
              <a:t>ILLUSTRATIVE SCREEN  ·  SAMPLE DATA</a:t>
            </a:r>
            <a:endParaRPr lang="en-US" sz="850" dirty="0"/>
          </a:p>
        </p:txBody>
      </p:sp>
      <p:sp>
        <p:nvSpPr>
          <p:cNvPr id="7" name="Shape 5"/>
          <p:cNvSpPr/>
          <p:nvPr/>
        </p:nvSpPr>
        <p:spPr>
          <a:xfrm>
            <a:off x="566928" y="1517904"/>
            <a:ext cx="2558720" cy="1133856"/>
          </a:xfrm>
          <a:prstGeom prst="roundRect">
            <a:avLst>
              <a:gd name="adj" fmla="val 9677"/>
            </a:avLst>
          </a:prstGeom>
          <a:solidFill>
            <a:srgbClr val="18222D"/>
          </a:solidFill>
          <a:ln w="12700">
            <a:solidFill>
              <a:srgbClr val="34465A"/>
            </a:solidFill>
            <a:prstDash val="solid"/>
          </a:ln>
        </p:spPr>
      </p:sp>
      <p:sp>
        <p:nvSpPr>
          <p:cNvPr id="8" name="Text 6"/>
          <p:cNvSpPr txBox="1"/>
          <p:nvPr/>
        </p:nvSpPr>
        <p:spPr>
          <a:xfrm>
            <a:off x="822960" y="1645920"/>
            <a:ext cx="2046656" cy="548640"/>
          </a:xfrm>
          <a:prstGeom prst="rect">
            <a:avLst/>
          </a:prstGeom>
          <a:noFill/>
          <a:ln/>
        </p:spPr>
        <p:txBody>
          <a:bodyPr wrap="square" lIns="0" tIns="0" rIns="0" bIns="0" rtlCol="0" anchor="ctr"/>
          <a:lstStyle/>
          <a:p>
            <a:pPr marL="0" indent="0">
              <a:buNone/>
            </a:pPr>
            <a:r>
              <a:rPr lang="en-US" sz="2800" b="1" kern="0" spc="-80" dirty="0">
                <a:solidFill>
                  <a:srgbClr val="FF9E5E"/>
                </a:solidFill>
                <a:latin typeface="Arial" pitchFamily="34" charset="0"/>
                <a:ea typeface="Arial" pitchFamily="34" charset="-122"/>
                <a:cs typeface="Arial" pitchFamily="34" charset="-120"/>
              </a:rPr>
              <a:t>42 / 60</a:t>
            </a:r>
            <a:endParaRPr lang="en-US" sz="2800" dirty="0"/>
          </a:p>
        </p:txBody>
      </p:sp>
      <p:sp>
        <p:nvSpPr>
          <p:cNvPr id="9" name="Text 7"/>
          <p:cNvSpPr txBox="1"/>
          <p:nvPr/>
        </p:nvSpPr>
        <p:spPr>
          <a:xfrm>
            <a:off x="822960" y="2231136"/>
            <a:ext cx="2046656" cy="237744"/>
          </a:xfrm>
          <a:prstGeom prst="rect">
            <a:avLst/>
          </a:prstGeom>
          <a:noFill/>
          <a:ln/>
        </p:spPr>
        <p:txBody>
          <a:bodyPr wrap="square" lIns="0" tIns="0" rIns="0" bIns="0" rtlCol="0" anchor="t"/>
          <a:lstStyle/>
          <a:p>
            <a:pPr marL="0" indent="0">
              <a:buNone/>
            </a:pPr>
            <a:r>
              <a:rPr lang="en-US" sz="1050" dirty="0">
                <a:solidFill>
                  <a:srgbClr val="A3B4C4"/>
                </a:solidFill>
                <a:latin typeface="Calibri" pitchFamily="34" charset="0"/>
                <a:ea typeface="Calibri" pitchFamily="34" charset="-122"/>
                <a:cs typeface="Calibri" pitchFamily="34" charset="-120"/>
              </a:rPr>
              <a:t>Vehicles on trip</a:t>
            </a:r>
            <a:endParaRPr lang="en-US" sz="1050" dirty="0"/>
          </a:p>
        </p:txBody>
      </p:sp>
      <p:sp>
        <p:nvSpPr>
          <p:cNvPr id="10" name="Shape 8"/>
          <p:cNvSpPr/>
          <p:nvPr/>
        </p:nvSpPr>
        <p:spPr>
          <a:xfrm>
            <a:off x="3399968" y="1517904"/>
            <a:ext cx="2558720" cy="1133856"/>
          </a:xfrm>
          <a:prstGeom prst="roundRect">
            <a:avLst>
              <a:gd name="adj" fmla="val 9677"/>
            </a:avLst>
          </a:prstGeom>
          <a:solidFill>
            <a:srgbClr val="18222D"/>
          </a:solidFill>
          <a:ln w="12700">
            <a:solidFill>
              <a:srgbClr val="34465A"/>
            </a:solidFill>
            <a:prstDash val="solid"/>
          </a:ln>
        </p:spPr>
      </p:sp>
      <p:sp>
        <p:nvSpPr>
          <p:cNvPr id="11" name="Text 9"/>
          <p:cNvSpPr txBox="1"/>
          <p:nvPr/>
        </p:nvSpPr>
        <p:spPr>
          <a:xfrm>
            <a:off x="3656000" y="1645920"/>
            <a:ext cx="2046656" cy="548640"/>
          </a:xfrm>
          <a:prstGeom prst="rect">
            <a:avLst/>
          </a:prstGeom>
          <a:noFill/>
          <a:ln/>
        </p:spPr>
        <p:txBody>
          <a:bodyPr wrap="square" lIns="0" tIns="0" rIns="0" bIns="0" rtlCol="0" anchor="ctr"/>
          <a:lstStyle/>
          <a:p>
            <a:pPr marL="0" indent="0">
              <a:buNone/>
            </a:pPr>
            <a:r>
              <a:rPr lang="en-US" sz="2800" b="1" kern="0" spc="-80" dirty="0">
                <a:solidFill>
                  <a:srgbClr val="4FD1C2"/>
                </a:solidFill>
                <a:latin typeface="Arial" pitchFamily="34" charset="0"/>
                <a:ea typeface="Arial" pitchFamily="34" charset="-122"/>
                <a:cs typeface="Arial" pitchFamily="34" charset="-120"/>
              </a:rPr>
              <a:t>68%</a:t>
            </a:r>
            <a:endParaRPr lang="en-US" sz="2800" dirty="0"/>
          </a:p>
        </p:txBody>
      </p:sp>
      <p:sp>
        <p:nvSpPr>
          <p:cNvPr id="12" name="Text 10"/>
          <p:cNvSpPr txBox="1"/>
          <p:nvPr/>
        </p:nvSpPr>
        <p:spPr>
          <a:xfrm>
            <a:off x="3656000" y="2231136"/>
            <a:ext cx="2046656" cy="237744"/>
          </a:xfrm>
          <a:prstGeom prst="rect">
            <a:avLst/>
          </a:prstGeom>
          <a:noFill/>
          <a:ln/>
        </p:spPr>
        <p:txBody>
          <a:bodyPr wrap="square" lIns="0" tIns="0" rIns="0" bIns="0" rtlCol="0" anchor="t"/>
          <a:lstStyle/>
          <a:p>
            <a:pPr marL="0" indent="0">
              <a:buNone/>
            </a:pPr>
            <a:r>
              <a:rPr lang="en-US" sz="1050" dirty="0">
                <a:solidFill>
                  <a:srgbClr val="A3B4C4"/>
                </a:solidFill>
                <a:latin typeface="Calibri" pitchFamily="34" charset="0"/>
                <a:ea typeface="Calibri" pitchFamily="34" charset="-122"/>
                <a:cs typeface="Calibri" pitchFamily="34" charset="-120"/>
              </a:rPr>
              <a:t>Seat occupancy</a:t>
            </a:r>
            <a:endParaRPr lang="en-US" sz="1050" dirty="0"/>
          </a:p>
        </p:txBody>
      </p:sp>
      <p:sp>
        <p:nvSpPr>
          <p:cNvPr id="13" name="Shape 11"/>
          <p:cNvSpPr/>
          <p:nvPr/>
        </p:nvSpPr>
        <p:spPr>
          <a:xfrm>
            <a:off x="6233008" y="1517904"/>
            <a:ext cx="2558720" cy="1133856"/>
          </a:xfrm>
          <a:prstGeom prst="roundRect">
            <a:avLst>
              <a:gd name="adj" fmla="val 9677"/>
            </a:avLst>
          </a:prstGeom>
          <a:solidFill>
            <a:srgbClr val="18222D"/>
          </a:solidFill>
          <a:ln w="12700">
            <a:solidFill>
              <a:srgbClr val="34465A"/>
            </a:solidFill>
            <a:prstDash val="solid"/>
          </a:ln>
        </p:spPr>
      </p:sp>
      <p:sp>
        <p:nvSpPr>
          <p:cNvPr id="14" name="Text 12"/>
          <p:cNvSpPr txBox="1"/>
          <p:nvPr/>
        </p:nvSpPr>
        <p:spPr>
          <a:xfrm>
            <a:off x="6489040" y="1645920"/>
            <a:ext cx="2046656" cy="548640"/>
          </a:xfrm>
          <a:prstGeom prst="rect">
            <a:avLst/>
          </a:prstGeom>
          <a:noFill/>
          <a:ln/>
        </p:spPr>
        <p:txBody>
          <a:bodyPr wrap="square" lIns="0" tIns="0" rIns="0" bIns="0" rtlCol="0" anchor="ctr"/>
          <a:lstStyle/>
          <a:p>
            <a:pPr marL="0" indent="0">
              <a:buNone/>
            </a:pPr>
            <a:r>
              <a:rPr lang="en-US" sz="2800" b="1" kern="0" spc="-80" dirty="0">
                <a:solidFill>
                  <a:srgbClr val="FFFFFF"/>
                </a:solidFill>
                <a:latin typeface="Arial" pitchFamily="34" charset="0"/>
                <a:ea typeface="Arial" pitchFamily="34" charset="-122"/>
                <a:cs typeface="Arial" pitchFamily="34" charset="-120"/>
              </a:rPr>
              <a:t>5 min</a:t>
            </a:r>
            <a:endParaRPr lang="en-US" sz="2800" dirty="0"/>
          </a:p>
        </p:txBody>
      </p:sp>
      <p:sp>
        <p:nvSpPr>
          <p:cNvPr id="15" name="Text 13"/>
          <p:cNvSpPr txBox="1"/>
          <p:nvPr/>
        </p:nvSpPr>
        <p:spPr>
          <a:xfrm>
            <a:off x="6489040" y="2231136"/>
            <a:ext cx="2046656" cy="237744"/>
          </a:xfrm>
          <a:prstGeom prst="rect">
            <a:avLst/>
          </a:prstGeom>
          <a:noFill/>
          <a:ln/>
        </p:spPr>
        <p:txBody>
          <a:bodyPr wrap="square" lIns="0" tIns="0" rIns="0" bIns="0" rtlCol="0" anchor="t"/>
          <a:lstStyle/>
          <a:p>
            <a:pPr marL="0" indent="0">
              <a:buNone/>
            </a:pPr>
            <a:r>
              <a:rPr lang="en-US" sz="1050" dirty="0">
                <a:solidFill>
                  <a:srgbClr val="A3B4C4"/>
                </a:solidFill>
                <a:latin typeface="Calibri" pitchFamily="34" charset="0"/>
                <a:ea typeface="Calibri" pitchFamily="34" charset="-122"/>
                <a:cs typeface="Calibri" pitchFamily="34" charset="-120"/>
              </a:rPr>
              <a:t>Average wait</a:t>
            </a:r>
            <a:endParaRPr lang="en-US" sz="1050" dirty="0"/>
          </a:p>
        </p:txBody>
      </p:sp>
      <p:sp>
        <p:nvSpPr>
          <p:cNvPr id="16" name="Shape 14"/>
          <p:cNvSpPr/>
          <p:nvPr/>
        </p:nvSpPr>
        <p:spPr>
          <a:xfrm>
            <a:off x="9066047" y="1517904"/>
            <a:ext cx="2558720" cy="1133856"/>
          </a:xfrm>
          <a:prstGeom prst="roundRect">
            <a:avLst>
              <a:gd name="adj" fmla="val 9677"/>
            </a:avLst>
          </a:prstGeom>
          <a:solidFill>
            <a:srgbClr val="18222D"/>
          </a:solidFill>
          <a:ln w="12700">
            <a:solidFill>
              <a:srgbClr val="34465A"/>
            </a:solidFill>
            <a:prstDash val="solid"/>
          </a:ln>
        </p:spPr>
      </p:sp>
      <p:sp>
        <p:nvSpPr>
          <p:cNvPr id="17" name="Text 15"/>
          <p:cNvSpPr txBox="1"/>
          <p:nvPr/>
        </p:nvSpPr>
        <p:spPr>
          <a:xfrm>
            <a:off x="9322079" y="1645920"/>
            <a:ext cx="2046656" cy="548640"/>
          </a:xfrm>
          <a:prstGeom prst="rect">
            <a:avLst/>
          </a:prstGeom>
          <a:noFill/>
          <a:ln/>
        </p:spPr>
        <p:txBody>
          <a:bodyPr wrap="square" lIns="0" tIns="0" rIns="0" bIns="0" rtlCol="0" anchor="ctr"/>
          <a:lstStyle/>
          <a:p>
            <a:pPr marL="0" indent="0">
              <a:buNone/>
            </a:pPr>
            <a:r>
              <a:rPr lang="en-US" sz="2800" b="1" kern="0" spc="-80" dirty="0">
                <a:solidFill>
                  <a:srgbClr val="4FD1C2"/>
                </a:solidFill>
                <a:latin typeface="Arial" pitchFamily="34" charset="0"/>
                <a:ea typeface="Arial" pitchFamily="34" charset="-122"/>
                <a:cs typeface="Arial" pitchFamily="34" charset="-120"/>
              </a:rPr>
              <a:t>93%</a:t>
            </a:r>
            <a:endParaRPr lang="en-US" sz="2800" dirty="0"/>
          </a:p>
        </p:txBody>
      </p:sp>
      <p:sp>
        <p:nvSpPr>
          <p:cNvPr id="18" name="Text 16"/>
          <p:cNvSpPr txBox="1"/>
          <p:nvPr/>
        </p:nvSpPr>
        <p:spPr>
          <a:xfrm>
            <a:off x="9322079" y="2231136"/>
            <a:ext cx="2046656" cy="237744"/>
          </a:xfrm>
          <a:prstGeom prst="rect">
            <a:avLst/>
          </a:prstGeom>
          <a:noFill/>
          <a:ln/>
        </p:spPr>
        <p:txBody>
          <a:bodyPr wrap="square" lIns="0" tIns="0" rIns="0" bIns="0" rtlCol="0" anchor="t"/>
          <a:lstStyle/>
          <a:p>
            <a:pPr marL="0" indent="0">
              <a:buNone/>
            </a:pPr>
            <a:r>
              <a:rPr lang="en-US" sz="1050" dirty="0">
                <a:solidFill>
                  <a:srgbClr val="A3B4C4"/>
                </a:solidFill>
                <a:latin typeface="Calibri" pitchFamily="34" charset="0"/>
                <a:ea typeface="Calibri" pitchFamily="34" charset="-122"/>
                <a:cs typeface="Calibri" pitchFamily="34" charset="-120"/>
              </a:rPr>
              <a:t>On-time pickups</a:t>
            </a:r>
            <a:endParaRPr lang="en-US" sz="1050" dirty="0"/>
          </a:p>
        </p:txBody>
      </p:sp>
      <p:sp>
        <p:nvSpPr>
          <p:cNvPr id="19" name="Shape 17"/>
          <p:cNvSpPr/>
          <p:nvPr/>
        </p:nvSpPr>
        <p:spPr>
          <a:xfrm>
            <a:off x="566928" y="2871216"/>
            <a:ext cx="6355080" cy="3017520"/>
          </a:xfrm>
          <a:prstGeom prst="roundRect">
            <a:avLst>
              <a:gd name="adj" fmla="val 3636"/>
            </a:avLst>
          </a:prstGeom>
          <a:solidFill>
            <a:srgbClr val="18222D"/>
          </a:solidFill>
          <a:ln w="12700">
            <a:solidFill>
              <a:srgbClr val="34465A"/>
            </a:solidFill>
            <a:prstDash val="solid"/>
          </a:ln>
        </p:spPr>
      </p:sp>
      <p:sp>
        <p:nvSpPr>
          <p:cNvPr id="20" name="Text 18"/>
          <p:cNvSpPr txBox="1"/>
          <p:nvPr/>
        </p:nvSpPr>
        <p:spPr>
          <a:xfrm>
            <a:off x="841248" y="3054096"/>
            <a:ext cx="2743200" cy="219456"/>
          </a:xfrm>
          <a:prstGeom prst="rect">
            <a:avLst/>
          </a:prstGeom>
          <a:noFill/>
          <a:ln/>
        </p:spPr>
        <p:txBody>
          <a:bodyPr wrap="square" lIns="0" tIns="0" rIns="0" bIns="0" rtlCol="0" anchor="t"/>
          <a:lstStyle/>
          <a:p>
            <a:pPr marL="0" indent="0">
              <a:buNone/>
            </a:pPr>
            <a:r>
              <a:rPr lang="en-US" sz="900" b="1" kern="0" spc="160" dirty="0">
                <a:solidFill>
                  <a:srgbClr val="A3B4C4"/>
                </a:solidFill>
                <a:latin typeface="Arial" pitchFamily="34" charset="0"/>
                <a:ea typeface="Arial" pitchFamily="34" charset="-122"/>
                <a:cs typeface="Arial" pitchFamily="34" charset="-120"/>
              </a:rPr>
              <a:t>LIVE BOARD</a:t>
            </a:r>
            <a:endParaRPr lang="en-US" sz="900" dirty="0"/>
          </a:p>
        </p:txBody>
      </p:sp>
      <p:sp>
        <p:nvSpPr>
          <p:cNvPr id="21" name="Shape 19"/>
          <p:cNvSpPr/>
          <p:nvPr/>
        </p:nvSpPr>
        <p:spPr>
          <a:xfrm>
            <a:off x="841248" y="3346704"/>
            <a:ext cx="5806440" cy="402336"/>
          </a:xfrm>
          <a:prstGeom prst="roundRect">
            <a:avLst>
              <a:gd name="adj" fmla="val 18182"/>
            </a:avLst>
          </a:prstGeom>
          <a:solidFill>
            <a:srgbClr val="0E141B"/>
          </a:solidFill>
          <a:ln/>
        </p:spPr>
      </p:sp>
      <p:sp>
        <p:nvSpPr>
          <p:cNvPr id="22" name="Text 20"/>
          <p:cNvSpPr txBox="1"/>
          <p:nvPr/>
        </p:nvSpPr>
        <p:spPr>
          <a:xfrm>
            <a:off x="987552" y="3346704"/>
            <a:ext cx="640080" cy="402336"/>
          </a:xfrm>
          <a:prstGeom prst="rect">
            <a:avLst/>
          </a:prstGeom>
          <a:noFill/>
          <a:ln/>
        </p:spPr>
        <p:txBody>
          <a:bodyPr wrap="square" lIns="0" tIns="0" rIns="0" bIns="0"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C-12</a:t>
            </a:r>
            <a:endParaRPr lang="en-US" sz="1050" dirty="0"/>
          </a:p>
        </p:txBody>
      </p:sp>
      <p:sp>
        <p:nvSpPr>
          <p:cNvPr id="23" name="Shape 21"/>
          <p:cNvSpPr/>
          <p:nvPr/>
        </p:nvSpPr>
        <p:spPr>
          <a:xfrm>
            <a:off x="1682496" y="3429000"/>
            <a:ext cx="960120" cy="237744"/>
          </a:xfrm>
          <a:prstGeom prst="roundRect">
            <a:avLst>
              <a:gd name="adj" fmla="val 50000"/>
            </a:avLst>
          </a:prstGeom>
          <a:solidFill>
            <a:srgbClr val="22303F"/>
          </a:solidFill>
          <a:ln/>
        </p:spPr>
      </p:sp>
      <p:sp>
        <p:nvSpPr>
          <p:cNvPr id="24" name="Text 22"/>
          <p:cNvSpPr txBox="1"/>
          <p:nvPr/>
        </p:nvSpPr>
        <p:spPr>
          <a:xfrm>
            <a:off x="1682496" y="3429000"/>
            <a:ext cx="960120" cy="237744"/>
          </a:xfrm>
          <a:prstGeom prst="rect">
            <a:avLst/>
          </a:prstGeom>
          <a:noFill/>
          <a:ln/>
        </p:spPr>
        <p:txBody>
          <a:bodyPr wrap="square" lIns="0" tIns="0" rIns="0" bIns="0" rtlCol="0" anchor="ctr"/>
          <a:lstStyle/>
          <a:p>
            <a:pPr marL="0" indent="0" algn="ctr">
              <a:buNone/>
            </a:pPr>
            <a:r>
              <a:rPr lang="en-US" sz="850" b="1" dirty="0">
                <a:solidFill>
                  <a:srgbClr val="4FD1C2"/>
                </a:solidFill>
                <a:latin typeface="Calibri" pitchFamily="34" charset="0"/>
                <a:ea typeface="Calibri" pitchFamily="34" charset="-122"/>
                <a:cs typeface="Calibri" pitchFamily="34" charset="-120"/>
              </a:rPr>
              <a:t>On trip</a:t>
            </a:r>
            <a:endParaRPr lang="en-US" sz="850" dirty="0"/>
          </a:p>
        </p:txBody>
      </p:sp>
      <p:sp>
        <p:nvSpPr>
          <p:cNvPr id="25" name="Text 23"/>
          <p:cNvSpPr txBox="1"/>
          <p:nvPr/>
        </p:nvSpPr>
        <p:spPr>
          <a:xfrm>
            <a:off x="2779776" y="3346704"/>
            <a:ext cx="3867912" cy="402336"/>
          </a:xfrm>
          <a:prstGeom prst="rect">
            <a:avLst/>
          </a:prstGeom>
          <a:noFill/>
          <a:ln/>
        </p:spPr>
        <p:txBody>
          <a:bodyPr wrap="square" lIns="0" tIns="0" rIns="0" bIns="0" rtlCol="0" anchor="ctr"/>
          <a:lstStyle/>
          <a:p>
            <a:pPr marL="0" indent="0">
              <a:buNone/>
            </a:pPr>
            <a:r>
              <a:rPr lang="en-US" sz="1000" dirty="0">
                <a:solidFill>
                  <a:srgbClr val="A3B4C4"/>
                </a:solidFill>
                <a:latin typeface="Calibri" pitchFamily="34" charset="0"/>
                <a:ea typeface="Calibri" pitchFamily="34" charset="-122"/>
                <a:cs typeface="Calibri" pitchFamily="34" charset="-120"/>
              </a:rPr>
              <a:t>3 of 3 seats  ·  Gate 2 to Coke Plant</a:t>
            </a:r>
            <a:endParaRPr lang="en-US" sz="1000" dirty="0"/>
          </a:p>
        </p:txBody>
      </p:sp>
      <p:sp>
        <p:nvSpPr>
          <p:cNvPr id="26" name="Shape 24"/>
          <p:cNvSpPr/>
          <p:nvPr/>
        </p:nvSpPr>
        <p:spPr>
          <a:xfrm>
            <a:off x="841248" y="3803904"/>
            <a:ext cx="5806440" cy="402336"/>
          </a:xfrm>
          <a:prstGeom prst="roundRect">
            <a:avLst>
              <a:gd name="adj" fmla="val 18182"/>
            </a:avLst>
          </a:prstGeom>
          <a:solidFill>
            <a:srgbClr val="0E141B"/>
          </a:solidFill>
          <a:ln/>
        </p:spPr>
      </p:sp>
      <p:sp>
        <p:nvSpPr>
          <p:cNvPr id="27" name="Text 25"/>
          <p:cNvSpPr txBox="1"/>
          <p:nvPr/>
        </p:nvSpPr>
        <p:spPr>
          <a:xfrm>
            <a:off x="987552" y="3803904"/>
            <a:ext cx="640080" cy="402336"/>
          </a:xfrm>
          <a:prstGeom prst="rect">
            <a:avLst/>
          </a:prstGeom>
          <a:noFill/>
          <a:ln/>
        </p:spPr>
        <p:txBody>
          <a:bodyPr wrap="square" lIns="0" tIns="0" rIns="0" bIns="0"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S-03</a:t>
            </a:r>
            <a:endParaRPr lang="en-US" sz="1050" dirty="0"/>
          </a:p>
        </p:txBody>
      </p:sp>
      <p:sp>
        <p:nvSpPr>
          <p:cNvPr id="28" name="Shape 26"/>
          <p:cNvSpPr/>
          <p:nvPr/>
        </p:nvSpPr>
        <p:spPr>
          <a:xfrm>
            <a:off x="1682496" y="3886200"/>
            <a:ext cx="960120" cy="237744"/>
          </a:xfrm>
          <a:prstGeom prst="roundRect">
            <a:avLst>
              <a:gd name="adj" fmla="val 50000"/>
            </a:avLst>
          </a:prstGeom>
          <a:solidFill>
            <a:srgbClr val="22303F"/>
          </a:solidFill>
          <a:ln/>
        </p:spPr>
      </p:sp>
      <p:sp>
        <p:nvSpPr>
          <p:cNvPr id="29" name="Text 27"/>
          <p:cNvSpPr txBox="1"/>
          <p:nvPr/>
        </p:nvSpPr>
        <p:spPr>
          <a:xfrm>
            <a:off x="1682496" y="3886200"/>
            <a:ext cx="960120" cy="237744"/>
          </a:xfrm>
          <a:prstGeom prst="rect">
            <a:avLst/>
          </a:prstGeom>
          <a:noFill/>
          <a:ln/>
        </p:spPr>
        <p:txBody>
          <a:bodyPr wrap="square" lIns="0" tIns="0" rIns="0" bIns="0" rtlCol="0" anchor="ctr"/>
          <a:lstStyle/>
          <a:p>
            <a:pPr marL="0" indent="0" algn="ctr">
              <a:buNone/>
            </a:pPr>
            <a:r>
              <a:rPr lang="en-US" sz="850" b="1" dirty="0">
                <a:solidFill>
                  <a:srgbClr val="4FD1C2"/>
                </a:solidFill>
                <a:latin typeface="Calibri" pitchFamily="34" charset="0"/>
                <a:ea typeface="Calibri" pitchFamily="34" charset="-122"/>
                <a:cs typeface="Calibri" pitchFamily="34" charset="-120"/>
              </a:rPr>
              <a:t>Shuttle</a:t>
            </a:r>
            <a:endParaRPr lang="en-US" sz="850" dirty="0"/>
          </a:p>
        </p:txBody>
      </p:sp>
      <p:sp>
        <p:nvSpPr>
          <p:cNvPr id="30" name="Text 28"/>
          <p:cNvSpPr txBox="1"/>
          <p:nvPr/>
        </p:nvSpPr>
        <p:spPr>
          <a:xfrm>
            <a:off x="2779776" y="3803904"/>
            <a:ext cx="3867912" cy="402336"/>
          </a:xfrm>
          <a:prstGeom prst="rect">
            <a:avLst/>
          </a:prstGeom>
          <a:noFill/>
          <a:ln/>
        </p:spPr>
        <p:txBody>
          <a:bodyPr wrap="square" lIns="0" tIns="0" rIns="0" bIns="0" rtlCol="0" anchor="ctr"/>
          <a:lstStyle/>
          <a:p>
            <a:pPr marL="0" indent="0">
              <a:buNone/>
            </a:pPr>
            <a:r>
              <a:rPr lang="en-US" sz="1000" dirty="0">
                <a:solidFill>
                  <a:srgbClr val="A3B4C4"/>
                </a:solidFill>
                <a:latin typeface="Calibri" pitchFamily="34" charset="0"/>
                <a:ea typeface="Calibri" pitchFamily="34" charset="-122"/>
                <a:cs typeface="Calibri" pitchFamily="34" charset="-120"/>
              </a:rPr>
              <a:t>5 of 12 seats  ·  Route 1 loop</a:t>
            </a:r>
            <a:endParaRPr lang="en-US" sz="1000" dirty="0"/>
          </a:p>
        </p:txBody>
      </p:sp>
      <p:sp>
        <p:nvSpPr>
          <p:cNvPr id="31" name="Shape 29"/>
          <p:cNvSpPr/>
          <p:nvPr/>
        </p:nvSpPr>
        <p:spPr>
          <a:xfrm>
            <a:off x="841248" y="4261104"/>
            <a:ext cx="5806440" cy="402336"/>
          </a:xfrm>
          <a:prstGeom prst="roundRect">
            <a:avLst>
              <a:gd name="adj" fmla="val 18182"/>
            </a:avLst>
          </a:prstGeom>
          <a:solidFill>
            <a:srgbClr val="0E141B"/>
          </a:solidFill>
          <a:ln/>
        </p:spPr>
      </p:sp>
      <p:sp>
        <p:nvSpPr>
          <p:cNvPr id="32" name="Text 30"/>
          <p:cNvSpPr txBox="1"/>
          <p:nvPr/>
        </p:nvSpPr>
        <p:spPr>
          <a:xfrm>
            <a:off x="987552" y="4261104"/>
            <a:ext cx="640080" cy="402336"/>
          </a:xfrm>
          <a:prstGeom prst="rect">
            <a:avLst/>
          </a:prstGeom>
          <a:noFill/>
          <a:ln/>
        </p:spPr>
        <p:txBody>
          <a:bodyPr wrap="square" lIns="0" tIns="0" rIns="0" bIns="0"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C-07</a:t>
            </a:r>
            <a:endParaRPr lang="en-US" sz="1050" dirty="0"/>
          </a:p>
        </p:txBody>
      </p:sp>
      <p:sp>
        <p:nvSpPr>
          <p:cNvPr id="33" name="Shape 31"/>
          <p:cNvSpPr/>
          <p:nvPr/>
        </p:nvSpPr>
        <p:spPr>
          <a:xfrm>
            <a:off x="1682496" y="4343400"/>
            <a:ext cx="960120" cy="237744"/>
          </a:xfrm>
          <a:prstGeom prst="roundRect">
            <a:avLst>
              <a:gd name="adj" fmla="val 50000"/>
            </a:avLst>
          </a:prstGeom>
          <a:solidFill>
            <a:srgbClr val="22303F"/>
          </a:solidFill>
          <a:ln/>
        </p:spPr>
      </p:sp>
      <p:sp>
        <p:nvSpPr>
          <p:cNvPr id="34" name="Text 32"/>
          <p:cNvSpPr txBox="1"/>
          <p:nvPr/>
        </p:nvSpPr>
        <p:spPr>
          <a:xfrm>
            <a:off x="1682496" y="4343400"/>
            <a:ext cx="960120" cy="237744"/>
          </a:xfrm>
          <a:prstGeom prst="rect">
            <a:avLst/>
          </a:prstGeom>
          <a:noFill/>
          <a:ln/>
        </p:spPr>
        <p:txBody>
          <a:bodyPr wrap="square" lIns="0" tIns="0" rIns="0" bIns="0" rtlCol="0" anchor="ctr"/>
          <a:lstStyle/>
          <a:p>
            <a:pPr marL="0" indent="0" algn="ctr">
              <a:buNone/>
            </a:pPr>
            <a:r>
              <a:rPr lang="en-US" sz="850" b="1" dirty="0">
                <a:solidFill>
                  <a:srgbClr val="FF9E5E"/>
                </a:solidFill>
                <a:latin typeface="Calibri" pitchFamily="34" charset="0"/>
                <a:ea typeface="Calibri" pitchFamily="34" charset="-122"/>
                <a:cs typeface="Calibri" pitchFamily="34" charset="-120"/>
              </a:rPr>
              <a:t>Overspeed</a:t>
            </a:r>
            <a:endParaRPr lang="en-US" sz="850" dirty="0"/>
          </a:p>
        </p:txBody>
      </p:sp>
      <p:sp>
        <p:nvSpPr>
          <p:cNvPr id="35" name="Text 33"/>
          <p:cNvSpPr txBox="1"/>
          <p:nvPr/>
        </p:nvSpPr>
        <p:spPr>
          <a:xfrm>
            <a:off x="2779776" y="4261104"/>
            <a:ext cx="3867912" cy="402336"/>
          </a:xfrm>
          <a:prstGeom prst="rect">
            <a:avLst/>
          </a:prstGeom>
          <a:noFill/>
          <a:ln/>
        </p:spPr>
        <p:txBody>
          <a:bodyPr wrap="square" lIns="0" tIns="0" rIns="0" bIns="0" rtlCol="0" anchor="ctr"/>
          <a:lstStyle/>
          <a:p>
            <a:pPr marL="0" indent="0">
              <a:buNone/>
            </a:pPr>
            <a:r>
              <a:rPr lang="en-US" sz="1000" dirty="0">
                <a:solidFill>
                  <a:srgbClr val="A3B4C4"/>
                </a:solidFill>
                <a:latin typeface="Calibri" pitchFamily="34" charset="0"/>
                <a:ea typeface="Calibri" pitchFamily="34" charset="-122"/>
                <a:cs typeface="Calibri" pitchFamily="34" charset="-120"/>
              </a:rPr>
              <a:t>Zone 3  ·  desk alerted</a:t>
            </a:r>
            <a:endParaRPr lang="en-US" sz="1000" dirty="0"/>
          </a:p>
        </p:txBody>
      </p:sp>
      <p:sp>
        <p:nvSpPr>
          <p:cNvPr id="36" name="Shape 34"/>
          <p:cNvSpPr/>
          <p:nvPr/>
        </p:nvSpPr>
        <p:spPr>
          <a:xfrm>
            <a:off x="841248" y="4718304"/>
            <a:ext cx="5806440" cy="402336"/>
          </a:xfrm>
          <a:prstGeom prst="roundRect">
            <a:avLst>
              <a:gd name="adj" fmla="val 18182"/>
            </a:avLst>
          </a:prstGeom>
          <a:solidFill>
            <a:srgbClr val="0E141B"/>
          </a:solidFill>
          <a:ln/>
        </p:spPr>
      </p:sp>
      <p:sp>
        <p:nvSpPr>
          <p:cNvPr id="37" name="Text 35"/>
          <p:cNvSpPr txBox="1"/>
          <p:nvPr/>
        </p:nvSpPr>
        <p:spPr>
          <a:xfrm>
            <a:off x="987552" y="4718304"/>
            <a:ext cx="640080" cy="402336"/>
          </a:xfrm>
          <a:prstGeom prst="rect">
            <a:avLst/>
          </a:prstGeom>
          <a:noFill/>
          <a:ln/>
        </p:spPr>
        <p:txBody>
          <a:bodyPr wrap="square" lIns="0" tIns="0" rIns="0" bIns="0"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C-21</a:t>
            </a:r>
            <a:endParaRPr lang="en-US" sz="1050" dirty="0"/>
          </a:p>
        </p:txBody>
      </p:sp>
      <p:sp>
        <p:nvSpPr>
          <p:cNvPr id="38" name="Shape 36"/>
          <p:cNvSpPr/>
          <p:nvPr/>
        </p:nvSpPr>
        <p:spPr>
          <a:xfrm>
            <a:off x="1682496" y="4800600"/>
            <a:ext cx="960120" cy="237744"/>
          </a:xfrm>
          <a:prstGeom prst="roundRect">
            <a:avLst>
              <a:gd name="adj" fmla="val 50000"/>
            </a:avLst>
          </a:prstGeom>
          <a:solidFill>
            <a:srgbClr val="22303F"/>
          </a:solidFill>
          <a:ln/>
        </p:spPr>
      </p:sp>
      <p:sp>
        <p:nvSpPr>
          <p:cNvPr id="39" name="Text 37"/>
          <p:cNvSpPr txBox="1"/>
          <p:nvPr/>
        </p:nvSpPr>
        <p:spPr>
          <a:xfrm>
            <a:off x="1682496" y="4800600"/>
            <a:ext cx="960120" cy="237744"/>
          </a:xfrm>
          <a:prstGeom prst="rect">
            <a:avLst/>
          </a:prstGeom>
          <a:noFill/>
          <a:ln/>
        </p:spPr>
        <p:txBody>
          <a:bodyPr wrap="square" lIns="0" tIns="0" rIns="0" bIns="0" rtlCol="0" anchor="ctr"/>
          <a:lstStyle/>
          <a:p>
            <a:pPr marL="0" indent="0" algn="ctr">
              <a:buNone/>
            </a:pPr>
            <a:r>
              <a:rPr lang="en-US" sz="850" b="1" dirty="0">
                <a:solidFill>
                  <a:srgbClr val="A3B4C4"/>
                </a:solidFill>
                <a:latin typeface="Calibri" pitchFamily="34" charset="0"/>
                <a:ea typeface="Calibri" pitchFamily="34" charset="-122"/>
                <a:cs typeface="Calibri" pitchFamily="34" charset="-120"/>
              </a:rPr>
              <a:t>Idle</a:t>
            </a:r>
            <a:endParaRPr lang="en-US" sz="850" dirty="0"/>
          </a:p>
        </p:txBody>
      </p:sp>
      <p:sp>
        <p:nvSpPr>
          <p:cNvPr id="40" name="Text 38"/>
          <p:cNvSpPr txBox="1"/>
          <p:nvPr/>
        </p:nvSpPr>
        <p:spPr>
          <a:xfrm>
            <a:off x="2779776" y="4718304"/>
            <a:ext cx="3867912" cy="402336"/>
          </a:xfrm>
          <a:prstGeom prst="rect">
            <a:avLst/>
          </a:prstGeom>
          <a:noFill/>
          <a:ln/>
        </p:spPr>
        <p:txBody>
          <a:bodyPr wrap="square" lIns="0" tIns="0" rIns="0" bIns="0" rtlCol="0" anchor="ctr"/>
          <a:lstStyle/>
          <a:p>
            <a:pPr marL="0" indent="0">
              <a:buNone/>
            </a:pPr>
            <a:r>
              <a:rPr lang="en-US" sz="1000" dirty="0">
                <a:solidFill>
                  <a:srgbClr val="A3B4C4"/>
                </a:solidFill>
                <a:latin typeface="Calibri" pitchFamily="34" charset="0"/>
                <a:ea typeface="Calibri" pitchFamily="34" charset="-122"/>
                <a:cs typeface="Calibri" pitchFamily="34" charset="-120"/>
              </a:rPr>
              <a:t>Admin parking  ·  14 min</a:t>
            </a:r>
            <a:endParaRPr lang="en-US" sz="1000" dirty="0"/>
          </a:p>
        </p:txBody>
      </p:sp>
      <p:sp>
        <p:nvSpPr>
          <p:cNvPr id="41" name="Shape 39"/>
          <p:cNvSpPr/>
          <p:nvPr/>
        </p:nvSpPr>
        <p:spPr>
          <a:xfrm>
            <a:off x="841248" y="5175504"/>
            <a:ext cx="5806440" cy="402336"/>
          </a:xfrm>
          <a:prstGeom prst="roundRect">
            <a:avLst>
              <a:gd name="adj" fmla="val 18182"/>
            </a:avLst>
          </a:prstGeom>
          <a:solidFill>
            <a:srgbClr val="0E141B"/>
          </a:solidFill>
          <a:ln/>
        </p:spPr>
      </p:sp>
      <p:sp>
        <p:nvSpPr>
          <p:cNvPr id="42" name="Text 40"/>
          <p:cNvSpPr txBox="1"/>
          <p:nvPr/>
        </p:nvSpPr>
        <p:spPr>
          <a:xfrm>
            <a:off x="987552" y="5175504"/>
            <a:ext cx="640080" cy="402336"/>
          </a:xfrm>
          <a:prstGeom prst="rect">
            <a:avLst/>
          </a:prstGeom>
          <a:noFill/>
          <a:ln/>
        </p:spPr>
        <p:txBody>
          <a:bodyPr wrap="square" lIns="0" tIns="0" rIns="0" bIns="0" rtlCol="0" anchor="ctr"/>
          <a:lstStyle/>
          <a:p>
            <a:pPr marL="0" indent="0">
              <a:buNone/>
            </a:pPr>
            <a:r>
              <a:rPr lang="en-US" sz="1050" b="1" dirty="0">
                <a:solidFill>
                  <a:srgbClr val="FFFFFF"/>
                </a:solidFill>
                <a:latin typeface="Consolas" pitchFamily="34" charset="0"/>
                <a:ea typeface="Consolas" pitchFamily="34" charset="-122"/>
                <a:cs typeface="Consolas" pitchFamily="34" charset="-120"/>
              </a:rPr>
              <a:t>C-33</a:t>
            </a:r>
            <a:endParaRPr lang="en-US" sz="1050" dirty="0"/>
          </a:p>
        </p:txBody>
      </p:sp>
      <p:sp>
        <p:nvSpPr>
          <p:cNvPr id="43" name="Shape 41"/>
          <p:cNvSpPr/>
          <p:nvPr/>
        </p:nvSpPr>
        <p:spPr>
          <a:xfrm>
            <a:off x="1682496" y="5257800"/>
            <a:ext cx="960120" cy="237744"/>
          </a:xfrm>
          <a:prstGeom prst="roundRect">
            <a:avLst>
              <a:gd name="adj" fmla="val 50000"/>
            </a:avLst>
          </a:prstGeom>
          <a:solidFill>
            <a:srgbClr val="22303F"/>
          </a:solidFill>
          <a:ln/>
        </p:spPr>
      </p:sp>
      <p:sp>
        <p:nvSpPr>
          <p:cNvPr id="44" name="Text 42"/>
          <p:cNvSpPr txBox="1"/>
          <p:nvPr/>
        </p:nvSpPr>
        <p:spPr>
          <a:xfrm>
            <a:off x="1682496" y="5257800"/>
            <a:ext cx="960120" cy="237744"/>
          </a:xfrm>
          <a:prstGeom prst="rect">
            <a:avLst/>
          </a:prstGeom>
          <a:noFill/>
          <a:ln/>
        </p:spPr>
        <p:txBody>
          <a:bodyPr wrap="square" lIns="0" tIns="0" rIns="0" bIns="0" rtlCol="0" anchor="ctr"/>
          <a:lstStyle/>
          <a:p>
            <a:pPr marL="0" indent="0" algn="ctr">
              <a:buNone/>
            </a:pPr>
            <a:r>
              <a:rPr lang="en-US" sz="850" b="1" dirty="0">
                <a:solidFill>
                  <a:srgbClr val="FF9E5E"/>
                </a:solidFill>
                <a:latin typeface="Calibri" pitchFamily="34" charset="0"/>
                <a:ea typeface="Calibri" pitchFamily="34" charset="-122"/>
                <a:cs typeface="Calibri" pitchFamily="34" charset="-120"/>
              </a:rPr>
              <a:t>Doc expiry</a:t>
            </a:r>
            <a:endParaRPr lang="en-US" sz="850" dirty="0"/>
          </a:p>
        </p:txBody>
      </p:sp>
      <p:sp>
        <p:nvSpPr>
          <p:cNvPr id="45" name="Text 43"/>
          <p:cNvSpPr txBox="1"/>
          <p:nvPr/>
        </p:nvSpPr>
        <p:spPr>
          <a:xfrm>
            <a:off x="2779776" y="5175504"/>
            <a:ext cx="3867912" cy="402336"/>
          </a:xfrm>
          <a:prstGeom prst="rect">
            <a:avLst/>
          </a:prstGeom>
          <a:noFill/>
          <a:ln/>
        </p:spPr>
        <p:txBody>
          <a:bodyPr wrap="square" lIns="0" tIns="0" rIns="0" bIns="0" rtlCol="0" anchor="ctr"/>
          <a:lstStyle/>
          <a:p>
            <a:pPr marL="0" indent="0">
              <a:buNone/>
            </a:pPr>
            <a:r>
              <a:rPr lang="en-US" sz="1000" dirty="0">
                <a:solidFill>
                  <a:srgbClr val="A3B4C4"/>
                </a:solidFill>
                <a:latin typeface="Calibri" pitchFamily="34" charset="0"/>
                <a:ea typeface="Calibri" pitchFamily="34" charset="-122"/>
                <a:cs typeface="Calibri" pitchFamily="34" charset="-120"/>
              </a:rPr>
              <a:t>Insurance lapses in 6 days</a:t>
            </a:r>
            <a:endParaRPr lang="en-US" sz="1000" dirty="0"/>
          </a:p>
        </p:txBody>
      </p:sp>
      <p:sp>
        <p:nvSpPr>
          <p:cNvPr id="46" name="Text 44"/>
          <p:cNvSpPr txBox="1"/>
          <p:nvPr/>
        </p:nvSpPr>
        <p:spPr>
          <a:xfrm>
            <a:off x="841248" y="5614416"/>
            <a:ext cx="5806440" cy="237744"/>
          </a:xfrm>
          <a:prstGeom prst="rect">
            <a:avLst/>
          </a:prstGeom>
          <a:noFill/>
          <a:ln/>
        </p:spPr>
        <p:txBody>
          <a:bodyPr wrap="square" lIns="0" tIns="0" rIns="0" bIns="0" rtlCol="0" anchor="t"/>
          <a:lstStyle/>
          <a:p>
            <a:pPr marL="0" indent="0">
              <a:buNone/>
            </a:pPr>
            <a:r>
              <a:rPr lang="en-US" sz="950" i="1" dirty="0">
                <a:solidFill>
                  <a:srgbClr val="A3B4C4"/>
                </a:solidFill>
                <a:latin typeface="Calibri" pitchFamily="34" charset="0"/>
                <a:ea typeface="Calibri" pitchFamily="34" charset="-122"/>
                <a:cs typeface="Calibri" pitchFamily="34" charset="-120"/>
              </a:rPr>
              <a:t>The desk can override a match, reassign a driver or book by hand at any time.</a:t>
            </a:r>
            <a:endParaRPr lang="en-US" sz="950" dirty="0"/>
          </a:p>
        </p:txBody>
      </p:sp>
      <p:sp>
        <p:nvSpPr>
          <p:cNvPr id="47" name="Shape 45"/>
          <p:cNvSpPr/>
          <p:nvPr/>
        </p:nvSpPr>
        <p:spPr>
          <a:xfrm>
            <a:off x="7196328" y="2871216"/>
            <a:ext cx="4428439" cy="3017520"/>
          </a:xfrm>
          <a:prstGeom prst="roundRect">
            <a:avLst>
              <a:gd name="adj" fmla="val 3636"/>
            </a:avLst>
          </a:prstGeom>
          <a:solidFill>
            <a:srgbClr val="18222D"/>
          </a:solidFill>
          <a:ln w="12700">
            <a:solidFill>
              <a:srgbClr val="34465A"/>
            </a:solidFill>
            <a:prstDash val="solid"/>
          </a:ln>
        </p:spPr>
      </p:sp>
      <p:graphicFrame>
        <p:nvGraphicFramePr>
          <p:cNvPr id="48" name="Chart 0"/>
          <p:cNvGraphicFramePr/>
          <p:nvPr/>
        </p:nvGraphicFramePr>
        <p:xfrm>
          <a:off x="7360920" y="2999232"/>
          <a:ext cx="4099255" cy="276148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5E6D7D"/>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5E6D7D"/>
                </a:solidFill>
                <a:latin typeface="Arial" pitchFamily="34" charset="0"/>
                <a:ea typeface="Arial" pitchFamily="34" charset="-122"/>
                <a:cs typeface="Arial" pitchFamily="34" charset="-120"/>
              </a:rPr>
              <a:t>16</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COST ALLOCATION</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16202B"/>
                </a:solidFill>
                <a:latin typeface="Arial" pitchFamily="34" charset="0"/>
                <a:ea typeface="Arial" pitchFamily="34" charset="-122"/>
                <a:cs typeface="Arial" pitchFamily="34" charset="-120"/>
              </a:rPr>
              <a:t>Every kilometre lands on the right cost centre</a:t>
            </a:r>
            <a:endParaRPr lang="en-US" sz="3000" dirty="0"/>
          </a:p>
        </p:txBody>
      </p:sp>
      <p:sp>
        <p:nvSpPr>
          <p:cNvPr id="6" name="Shape 4"/>
          <p:cNvSpPr/>
          <p:nvPr/>
        </p:nvSpPr>
        <p:spPr>
          <a:xfrm>
            <a:off x="566928" y="1609344"/>
            <a:ext cx="2476424" cy="1389888"/>
          </a:xfrm>
          <a:prstGeom prst="roundRect">
            <a:avLst>
              <a:gd name="adj" fmla="val 7895"/>
            </a:avLst>
          </a:prstGeom>
          <a:solidFill>
            <a:srgbClr val="F3F6F9"/>
          </a:solidFill>
          <a:ln w="12700">
            <a:solidFill>
              <a:srgbClr val="DCE4EC"/>
            </a:solidFill>
            <a:prstDash val="solid"/>
          </a:ln>
        </p:spPr>
      </p:sp>
      <p:sp>
        <p:nvSpPr>
          <p:cNvPr id="7" name="Shape 5"/>
          <p:cNvSpPr/>
          <p:nvPr/>
        </p:nvSpPr>
        <p:spPr>
          <a:xfrm>
            <a:off x="804672" y="1810512"/>
            <a:ext cx="475488" cy="475488"/>
          </a:xfrm>
          <a:prstGeom prst="ellipse">
            <a:avLst/>
          </a:prstGeom>
          <a:solidFill>
            <a:srgbClr val="FFFFFF"/>
          </a:solidFill>
          <a:ln/>
        </p:spPr>
      </p:sp>
      <p:pic>
        <p:nvPicPr>
          <p:cNvPr id="8" name="Image 0" descr="preencoded.png"/>
          <p:cNvPicPr>
            <a:picLocks noChangeAspect="1"/>
          </p:cNvPicPr>
          <p:nvPr/>
        </p:nvPicPr>
        <p:blipFill>
          <a:blip r:embed="rId3"/>
          <a:stretch>
            <a:fillRect/>
          </a:stretch>
        </p:blipFill>
        <p:spPr>
          <a:xfrm>
            <a:off x="928299" y="1934139"/>
            <a:ext cx="228234" cy="228234"/>
          </a:xfrm>
          <a:prstGeom prst="rect">
            <a:avLst/>
          </a:prstGeom>
        </p:spPr>
      </p:pic>
      <p:sp>
        <p:nvSpPr>
          <p:cNvPr id="9" name="Text 6"/>
          <p:cNvSpPr txBox="1"/>
          <p:nvPr/>
        </p:nvSpPr>
        <p:spPr>
          <a:xfrm>
            <a:off x="804672" y="2359152"/>
            <a:ext cx="2000936" cy="256032"/>
          </a:xfrm>
          <a:prstGeom prst="rect">
            <a:avLst/>
          </a:prstGeom>
          <a:noFill/>
          <a:ln/>
        </p:spPr>
        <p:txBody>
          <a:bodyPr wrap="square" lIns="0" tIns="0" rIns="0" bIns="0" rtlCol="0" anchor="ctr"/>
          <a:lstStyle/>
          <a:p>
            <a:pPr marL="0" indent="0">
              <a:buNone/>
            </a:pPr>
            <a:r>
              <a:rPr lang="en-US" sz="1250" b="1" dirty="0">
                <a:solidFill>
                  <a:srgbClr val="16202B"/>
                </a:solidFill>
                <a:latin typeface="Arial" pitchFamily="34" charset="0"/>
                <a:ea typeface="Arial" pitchFamily="34" charset="-122"/>
                <a:cs typeface="Arial" pitchFamily="34" charset="-120"/>
              </a:rPr>
              <a:t>Trip completed</a:t>
            </a:r>
            <a:endParaRPr lang="en-US" sz="1250" dirty="0"/>
          </a:p>
        </p:txBody>
      </p:sp>
      <p:sp>
        <p:nvSpPr>
          <p:cNvPr id="10" name="Text 7"/>
          <p:cNvSpPr txBox="1"/>
          <p:nvPr/>
        </p:nvSpPr>
        <p:spPr>
          <a:xfrm>
            <a:off x="804672" y="2615184"/>
            <a:ext cx="2000936" cy="347472"/>
          </a:xfrm>
          <a:prstGeom prst="rect">
            <a:avLst/>
          </a:prstGeom>
          <a:noFill/>
          <a:ln/>
        </p:spPr>
        <p:txBody>
          <a:bodyPr wrap="square" lIns="0" tIns="0" rIns="0" bIns="0" rtlCol="0" anchor="t"/>
          <a:lstStyle/>
          <a:p>
            <a:pPr marL="0" indent="0">
              <a:lnSpc>
                <a:spcPts val="1200"/>
              </a:lnSpc>
              <a:buNone/>
            </a:pPr>
            <a:r>
              <a:rPr lang="en-US" sz="950" dirty="0">
                <a:solidFill>
                  <a:srgbClr val="5E6D7D"/>
                </a:solidFill>
                <a:latin typeface="Calibri" pitchFamily="34" charset="0"/>
                <a:ea typeface="Calibri" pitchFamily="34" charset="-122"/>
                <a:cs typeface="Calibri" pitchFamily="34" charset="-120"/>
              </a:rPr>
              <a:t>Closed by geofence at the drop point</a:t>
            </a:r>
            <a:endParaRPr lang="en-US" sz="950" dirty="0"/>
          </a:p>
        </p:txBody>
      </p:sp>
      <p:sp>
        <p:nvSpPr>
          <p:cNvPr id="11" name="Shape 8"/>
          <p:cNvSpPr/>
          <p:nvPr/>
        </p:nvSpPr>
        <p:spPr>
          <a:xfrm>
            <a:off x="3134792" y="2221992"/>
            <a:ext cx="201168" cy="155448"/>
          </a:xfrm>
          <a:prstGeom prst="rightArrow">
            <a:avLst/>
          </a:prstGeom>
          <a:solidFill>
            <a:srgbClr val="E85D04"/>
          </a:solidFill>
          <a:ln/>
        </p:spPr>
      </p:sp>
      <p:sp>
        <p:nvSpPr>
          <p:cNvPr id="12" name="Shape 9"/>
          <p:cNvSpPr/>
          <p:nvPr/>
        </p:nvSpPr>
        <p:spPr>
          <a:xfrm>
            <a:off x="3427400" y="1609344"/>
            <a:ext cx="2476424" cy="1389888"/>
          </a:xfrm>
          <a:prstGeom prst="roundRect">
            <a:avLst>
              <a:gd name="adj" fmla="val 7895"/>
            </a:avLst>
          </a:prstGeom>
          <a:solidFill>
            <a:srgbClr val="F3F6F9"/>
          </a:solidFill>
          <a:ln w="12700">
            <a:solidFill>
              <a:srgbClr val="DCE4EC"/>
            </a:solidFill>
            <a:prstDash val="solid"/>
          </a:ln>
        </p:spPr>
      </p:sp>
      <p:sp>
        <p:nvSpPr>
          <p:cNvPr id="13" name="Shape 10"/>
          <p:cNvSpPr/>
          <p:nvPr/>
        </p:nvSpPr>
        <p:spPr>
          <a:xfrm>
            <a:off x="3665144" y="1810512"/>
            <a:ext cx="475488" cy="475488"/>
          </a:xfrm>
          <a:prstGeom prst="ellipse">
            <a:avLst/>
          </a:prstGeom>
          <a:solidFill>
            <a:srgbClr val="FFFFFF"/>
          </a:solidFill>
          <a:ln/>
        </p:spPr>
      </p:sp>
      <p:pic>
        <p:nvPicPr>
          <p:cNvPr id="14" name="Image 1" descr="preencoded.png"/>
          <p:cNvPicPr>
            <a:picLocks noChangeAspect="1"/>
          </p:cNvPicPr>
          <p:nvPr/>
        </p:nvPicPr>
        <p:blipFill>
          <a:blip r:embed="rId4"/>
          <a:stretch>
            <a:fillRect/>
          </a:stretch>
        </p:blipFill>
        <p:spPr>
          <a:xfrm>
            <a:off x="3788771" y="1934139"/>
            <a:ext cx="228234" cy="228234"/>
          </a:xfrm>
          <a:prstGeom prst="rect">
            <a:avLst/>
          </a:prstGeom>
        </p:spPr>
      </p:pic>
      <p:sp>
        <p:nvSpPr>
          <p:cNvPr id="15" name="Text 11"/>
          <p:cNvSpPr txBox="1"/>
          <p:nvPr/>
        </p:nvSpPr>
        <p:spPr>
          <a:xfrm>
            <a:off x="3665144" y="2359152"/>
            <a:ext cx="2000936" cy="256032"/>
          </a:xfrm>
          <a:prstGeom prst="rect">
            <a:avLst/>
          </a:prstGeom>
          <a:noFill/>
          <a:ln/>
        </p:spPr>
        <p:txBody>
          <a:bodyPr wrap="square" lIns="0" tIns="0" rIns="0" bIns="0" rtlCol="0" anchor="ctr"/>
          <a:lstStyle/>
          <a:p>
            <a:pPr marL="0" indent="0">
              <a:buNone/>
            </a:pPr>
            <a:r>
              <a:rPr lang="en-US" sz="1250" b="1" dirty="0">
                <a:solidFill>
                  <a:srgbClr val="16202B"/>
                </a:solidFill>
                <a:latin typeface="Arial" pitchFamily="34" charset="0"/>
                <a:ea typeface="Arial" pitchFamily="34" charset="-122"/>
                <a:cs typeface="Arial" pitchFamily="34" charset="-120"/>
              </a:rPr>
              <a:t>GPS distance &amp; riders</a:t>
            </a:r>
            <a:endParaRPr lang="en-US" sz="1250" dirty="0"/>
          </a:p>
        </p:txBody>
      </p:sp>
      <p:sp>
        <p:nvSpPr>
          <p:cNvPr id="16" name="Text 12"/>
          <p:cNvSpPr txBox="1"/>
          <p:nvPr/>
        </p:nvSpPr>
        <p:spPr>
          <a:xfrm>
            <a:off x="3665144" y="2615184"/>
            <a:ext cx="2000936" cy="347472"/>
          </a:xfrm>
          <a:prstGeom prst="rect">
            <a:avLst/>
          </a:prstGeom>
          <a:noFill/>
          <a:ln/>
        </p:spPr>
        <p:txBody>
          <a:bodyPr wrap="square" lIns="0" tIns="0" rIns="0" bIns="0" rtlCol="0" anchor="t"/>
          <a:lstStyle/>
          <a:p>
            <a:pPr marL="0" indent="0">
              <a:lnSpc>
                <a:spcPts val="1200"/>
              </a:lnSpc>
              <a:buNone/>
            </a:pPr>
            <a:r>
              <a:rPr lang="en-US" sz="950" dirty="0">
                <a:solidFill>
                  <a:srgbClr val="5E6D7D"/>
                </a:solidFill>
                <a:latin typeface="Calibri" pitchFamily="34" charset="0"/>
                <a:ea typeface="Calibri" pitchFamily="34" charset="-122"/>
                <a:cs typeface="Calibri" pitchFamily="34" charset="-120"/>
              </a:rPr>
              <a:t>Cleaned GPS km, with a data-quality score</a:t>
            </a:r>
            <a:endParaRPr lang="en-US" sz="950" dirty="0"/>
          </a:p>
        </p:txBody>
      </p:sp>
      <p:sp>
        <p:nvSpPr>
          <p:cNvPr id="17" name="Shape 13"/>
          <p:cNvSpPr/>
          <p:nvPr/>
        </p:nvSpPr>
        <p:spPr>
          <a:xfrm>
            <a:off x="5995264" y="2221992"/>
            <a:ext cx="201168" cy="155448"/>
          </a:xfrm>
          <a:prstGeom prst="rightArrow">
            <a:avLst/>
          </a:prstGeom>
          <a:solidFill>
            <a:srgbClr val="E85D04"/>
          </a:solidFill>
          <a:ln/>
        </p:spPr>
      </p:sp>
      <p:sp>
        <p:nvSpPr>
          <p:cNvPr id="18" name="Shape 14"/>
          <p:cNvSpPr/>
          <p:nvPr/>
        </p:nvSpPr>
        <p:spPr>
          <a:xfrm>
            <a:off x="6287872" y="1609344"/>
            <a:ext cx="2476424" cy="1389888"/>
          </a:xfrm>
          <a:prstGeom prst="roundRect">
            <a:avLst>
              <a:gd name="adj" fmla="val 7895"/>
            </a:avLst>
          </a:prstGeom>
          <a:solidFill>
            <a:srgbClr val="F3F6F9"/>
          </a:solidFill>
          <a:ln w="12700">
            <a:solidFill>
              <a:srgbClr val="DCE4EC"/>
            </a:solidFill>
            <a:prstDash val="solid"/>
          </a:ln>
        </p:spPr>
      </p:sp>
      <p:sp>
        <p:nvSpPr>
          <p:cNvPr id="19" name="Shape 15"/>
          <p:cNvSpPr/>
          <p:nvPr/>
        </p:nvSpPr>
        <p:spPr>
          <a:xfrm>
            <a:off x="6525616" y="1810512"/>
            <a:ext cx="475488" cy="475488"/>
          </a:xfrm>
          <a:prstGeom prst="ellipse">
            <a:avLst/>
          </a:prstGeom>
          <a:solidFill>
            <a:srgbClr val="FFFFFF"/>
          </a:solidFill>
          <a:ln/>
        </p:spPr>
      </p:sp>
      <p:pic>
        <p:nvPicPr>
          <p:cNvPr id="20" name="Image 2" descr="preencoded.png"/>
          <p:cNvPicPr>
            <a:picLocks noChangeAspect="1"/>
          </p:cNvPicPr>
          <p:nvPr/>
        </p:nvPicPr>
        <p:blipFill>
          <a:blip r:embed="rId5"/>
          <a:stretch>
            <a:fillRect/>
          </a:stretch>
        </p:blipFill>
        <p:spPr>
          <a:xfrm>
            <a:off x="6649242" y="1934139"/>
            <a:ext cx="228234" cy="228234"/>
          </a:xfrm>
          <a:prstGeom prst="rect">
            <a:avLst/>
          </a:prstGeom>
        </p:spPr>
      </p:pic>
      <p:sp>
        <p:nvSpPr>
          <p:cNvPr id="21" name="Text 16"/>
          <p:cNvSpPr txBox="1"/>
          <p:nvPr/>
        </p:nvSpPr>
        <p:spPr>
          <a:xfrm>
            <a:off x="6525616" y="2359152"/>
            <a:ext cx="2000936" cy="256032"/>
          </a:xfrm>
          <a:prstGeom prst="rect">
            <a:avLst/>
          </a:prstGeom>
          <a:noFill/>
          <a:ln/>
        </p:spPr>
        <p:txBody>
          <a:bodyPr wrap="square" lIns="0" tIns="0" rIns="0" bIns="0" rtlCol="0" anchor="ctr"/>
          <a:lstStyle/>
          <a:p>
            <a:pPr marL="0" indent="0">
              <a:buNone/>
            </a:pPr>
            <a:r>
              <a:rPr lang="en-US" sz="1250" b="1" dirty="0">
                <a:solidFill>
                  <a:srgbClr val="16202B"/>
                </a:solidFill>
                <a:latin typeface="Arial" pitchFamily="34" charset="0"/>
                <a:ea typeface="Arial" pitchFamily="34" charset="-122"/>
                <a:cs typeface="Arial" pitchFamily="34" charset="-120"/>
              </a:rPr>
              <a:t>Sharing rule applied</a:t>
            </a:r>
            <a:endParaRPr lang="en-US" sz="1250" dirty="0"/>
          </a:p>
        </p:txBody>
      </p:sp>
      <p:sp>
        <p:nvSpPr>
          <p:cNvPr id="22" name="Text 17"/>
          <p:cNvSpPr txBox="1"/>
          <p:nvPr/>
        </p:nvSpPr>
        <p:spPr>
          <a:xfrm>
            <a:off x="6525616" y="2615184"/>
            <a:ext cx="2000936" cy="347472"/>
          </a:xfrm>
          <a:prstGeom prst="rect">
            <a:avLst/>
          </a:prstGeom>
          <a:noFill/>
          <a:ln/>
        </p:spPr>
        <p:txBody>
          <a:bodyPr wrap="square" lIns="0" tIns="0" rIns="0" bIns="0" rtlCol="0" anchor="t"/>
          <a:lstStyle/>
          <a:p>
            <a:pPr marL="0" indent="0">
              <a:lnSpc>
                <a:spcPts val="1200"/>
              </a:lnSpc>
              <a:buNone/>
            </a:pPr>
            <a:r>
              <a:rPr lang="en-US" sz="950" dirty="0">
                <a:solidFill>
                  <a:srgbClr val="5E6D7D"/>
                </a:solidFill>
                <a:latin typeface="Calibri" pitchFamily="34" charset="0"/>
                <a:ea typeface="Calibri" pitchFamily="34" charset="-122"/>
                <a:cs typeface="Calibri" pitchFamily="34" charset="-120"/>
              </a:rPr>
              <a:t>Equal, by distance, or flat by zone pair</a:t>
            </a:r>
            <a:endParaRPr lang="en-US" sz="950" dirty="0"/>
          </a:p>
        </p:txBody>
      </p:sp>
      <p:sp>
        <p:nvSpPr>
          <p:cNvPr id="23" name="Shape 18"/>
          <p:cNvSpPr/>
          <p:nvPr/>
        </p:nvSpPr>
        <p:spPr>
          <a:xfrm>
            <a:off x="8855735" y="2221992"/>
            <a:ext cx="201168" cy="155448"/>
          </a:xfrm>
          <a:prstGeom prst="rightArrow">
            <a:avLst/>
          </a:prstGeom>
          <a:solidFill>
            <a:srgbClr val="E85D04"/>
          </a:solidFill>
          <a:ln/>
        </p:spPr>
      </p:sp>
      <p:sp>
        <p:nvSpPr>
          <p:cNvPr id="24" name="Shape 19"/>
          <p:cNvSpPr/>
          <p:nvPr/>
        </p:nvSpPr>
        <p:spPr>
          <a:xfrm>
            <a:off x="9148343" y="1609344"/>
            <a:ext cx="2476424" cy="1389888"/>
          </a:xfrm>
          <a:prstGeom prst="roundRect">
            <a:avLst>
              <a:gd name="adj" fmla="val 7895"/>
            </a:avLst>
          </a:prstGeom>
          <a:solidFill>
            <a:srgbClr val="0E141B"/>
          </a:solidFill>
          <a:ln/>
        </p:spPr>
      </p:sp>
      <p:sp>
        <p:nvSpPr>
          <p:cNvPr id="25" name="Shape 20"/>
          <p:cNvSpPr/>
          <p:nvPr/>
        </p:nvSpPr>
        <p:spPr>
          <a:xfrm>
            <a:off x="9386087" y="1810512"/>
            <a:ext cx="475488" cy="475488"/>
          </a:xfrm>
          <a:prstGeom prst="ellipse">
            <a:avLst/>
          </a:prstGeom>
          <a:solidFill>
            <a:srgbClr val="22303F"/>
          </a:solidFill>
          <a:ln/>
        </p:spPr>
      </p:sp>
      <p:pic>
        <p:nvPicPr>
          <p:cNvPr id="26" name="Image 3" descr="preencoded.png"/>
          <p:cNvPicPr>
            <a:picLocks noChangeAspect="1"/>
          </p:cNvPicPr>
          <p:nvPr/>
        </p:nvPicPr>
        <p:blipFill>
          <a:blip r:embed="rId6"/>
          <a:stretch>
            <a:fillRect/>
          </a:stretch>
        </p:blipFill>
        <p:spPr>
          <a:xfrm>
            <a:off x="9509714" y="1934139"/>
            <a:ext cx="228234" cy="228234"/>
          </a:xfrm>
          <a:prstGeom prst="rect">
            <a:avLst/>
          </a:prstGeom>
        </p:spPr>
      </p:pic>
      <p:sp>
        <p:nvSpPr>
          <p:cNvPr id="27" name="Text 21"/>
          <p:cNvSpPr txBox="1"/>
          <p:nvPr/>
        </p:nvSpPr>
        <p:spPr>
          <a:xfrm>
            <a:off x="9386087" y="2359152"/>
            <a:ext cx="2000936" cy="256032"/>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Cost centre charged</a:t>
            </a:r>
            <a:endParaRPr lang="en-US" sz="1250" dirty="0"/>
          </a:p>
        </p:txBody>
      </p:sp>
      <p:sp>
        <p:nvSpPr>
          <p:cNvPr id="28" name="Text 22"/>
          <p:cNvSpPr txBox="1"/>
          <p:nvPr/>
        </p:nvSpPr>
        <p:spPr>
          <a:xfrm>
            <a:off x="9386087" y="2615184"/>
            <a:ext cx="2000936" cy="347472"/>
          </a:xfrm>
          <a:prstGeom prst="rect">
            <a:avLst/>
          </a:prstGeom>
          <a:noFill/>
          <a:ln/>
        </p:spPr>
        <p:txBody>
          <a:bodyPr wrap="square" lIns="0" tIns="0" rIns="0" bIns="0" rtlCol="0" anchor="t"/>
          <a:lstStyle/>
          <a:p>
            <a:pPr marL="0" indent="0">
              <a:lnSpc>
                <a:spcPts val="1200"/>
              </a:lnSpc>
              <a:buNone/>
            </a:pPr>
            <a:r>
              <a:rPr lang="en-US" sz="950" dirty="0">
                <a:solidFill>
                  <a:srgbClr val="A3B4C4"/>
                </a:solidFill>
                <a:latin typeface="Calibri" pitchFamily="34" charset="0"/>
                <a:ea typeface="Calibri" pitchFamily="34" charset="-122"/>
                <a:cs typeface="Calibri" pitchFamily="34" charset="-120"/>
              </a:rPr>
              <a:t>Posted, then exported to ERP at month end</a:t>
            </a:r>
            <a:endParaRPr lang="en-US" sz="950" dirty="0"/>
          </a:p>
        </p:txBody>
      </p:sp>
      <p:sp>
        <p:nvSpPr>
          <p:cNvPr id="29" name="Shape 23"/>
          <p:cNvSpPr/>
          <p:nvPr/>
        </p:nvSpPr>
        <p:spPr>
          <a:xfrm>
            <a:off x="566928" y="3163824"/>
            <a:ext cx="5391760" cy="1408176"/>
          </a:xfrm>
          <a:prstGeom prst="roundRect">
            <a:avLst>
              <a:gd name="adj" fmla="val 7792"/>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30" name="Shape 24"/>
          <p:cNvSpPr/>
          <p:nvPr/>
        </p:nvSpPr>
        <p:spPr>
          <a:xfrm>
            <a:off x="822960" y="3419856"/>
            <a:ext cx="512064" cy="512064"/>
          </a:xfrm>
          <a:prstGeom prst="ellipse">
            <a:avLst/>
          </a:prstGeom>
          <a:solidFill>
            <a:srgbClr val="E2F6F3"/>
          </a:solidFill>
          <a:ln/>
        </p:spPr>
      </p:sp>
      <p:pic>
        <p:nvPicPr>
          <p:cNvPr id="31" name="Image 4" descr="preencoded.png"/>
          <p:cNvPicPr>
            <a:picLocks noChangeAspect="1"/>
          </p:cNvPicPr>
          <p:nvPr/>
        </p:nvPicPr>
        <p:blipFill>
          <a:blip r:embed="rId7"/>
          <a:stretch>
            <a:fillRect/>
          </a:stretch>
        </p:blipFill>
        <p:spPr>
          <a:xfrm>
            <a:off x="956097" y="3552993"/>
            <a:ext cx="245791" cy="245791"/>
          </a:xfrm>
          <a:prstGeom prst="rect">
            <a:avLst/>
          </a:prstGeom>
        </p:spPr>
      </p:pic>
      <p:sp>
        <p:nvSpPr>
          <p:cNvPr id="32" name="Text 25"/>
          <p:cNvSpPr txBox="1"/>
          <p:nvPr/>
        </p:nvSpPr>
        <p:spPr>
          <a:xfrm>
            <a:off x="1444752" y="3438144"/>
            <a:ext cx="4257904" cy="292608"/>
          </a:xfrm>
          <a:prstGeom prst="rect">
            <a:avLst/>
          </a:prstGeom>
          <a:noFill/>
          <a:ln/>
        </p:spPr>
        <p:txBody>
          <a:bodyPr wrap="square" lIns="0" tIns="0" rIns="0" bIns="0" rtlCol="0" anchor="ctr"/>
          <a:lstStyle/>
          <a:p>
            <a:pPr marL="0" indent="0">
              <a:buNone/>
            </a:pPr>
            <a:r>
              <a:rPr lang="en-US" sz="1350" b="1" dirty="0">
                <a:solidFill>
                  <a:srgbClr val="16202B"/>
                </a:solidFill>
                <a:latin typeface="Arial" pitchFamily="34" charset="0"/>
                <a:ea typeface="Arial" pitchFamily="34" charset="-122"/>
                <a:cs typeface="Arial" pitchFamily="34" charset="-120"/>
              </a:rPr>
              <a:t>Flexible allocation</a:t>
            </a:r>
            <a:endParaRPr lang="en-US" sz="1350" dirty="0"/>
          </a:p>
        </p:txBody>
      </p:sp>
      <p:sp>
        <p:nvSpPr>
          <p:cNvPr id="33" name="Text 26"/>
          <p:cNvSpPr txBox="1"/>
          <p:nvPr/>
        </p:nvSpPr>
        <p:spPr>
          <a:xfrm>
            <a:off x="822960" y="3986784"/>
            <a:ext cx="4879696" cy="512064"/>
          </a:xfrm>
          <a:prstGeom prst="rect">
            <a:avLst/>
          </a:prstGeom>
          <a:noFill/>
          <a:ln/>
        </p:spPr>
        <p:txBody>
          <a:bodyPr wrap="square" lIns="0" tIns="0" rIns="0" bIns="0" rtlCol="0" anchor="t"/>
          <a:lstStyle/>
          <a:p>
            <a:pPr marL="0" indent="0">
              <a:lnSpc>
                <a:spcPts val="1400"/>
              </a:lnSpc>
              <a:buNone/>
            </a:pPr>
            <a:r>
              <a:rPr lang="en-US" sz="1050" dirty="0">
                <a:solidFill>
                  <a:srgbClr val="5E6D7D"/>
                </a:solidFill>
                <a:latin typeface="Calibri" pitchFamily="34" charset="0"/>
                <a:ea typeface="Calibri" pitchFamily="34" charset="-122"/>
                <a:cs typeface="Calibri" pitchFamily="34" charset="-120"/>
              </a:rPr>
              <a:t>Default is the employee's department cost centre. A per-trip project code is allowed where policy permits, and a visitor ride is charged to the host.</a:t>
            </a:r>
            <a:endParaRPr lang="en-US" sz="1050" dirty="0"/>
          </a:p>
        </p:txBody>
      </p:sp>
      <p:sp>
        <p:nvSpPr>
          <p:cNvPr id="34" name="Shape 27"/>
          <p:cNvSpPr/>
          <p:nvPr/>
        </p:nvSpPr>
        <p:spPr>
          <a:xfrm>
            <a:off x="6233008" y="3163824"/>
            <a:ext cx="5391760" cy="1408176"/>
          </a:xfrm>
          <a:prstGeom prst="roundRect">
            <a:avLst>
              <a:gd name="adj" fmla="val 7792"/>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35" name="Shape 28"/>
          <p:cNvSpPr/>
          <p:nvPr/>
        </p:nvSpPr>
        <p:spPr>
          <a:xfrm>
            <a:off x="6489040" y="3419856"/>
            <a:ext cx="512064" cy="512064"/>
          </a:xfrm>
          <a:prstGeom prst="ellipse">
            <a:avLst/>
          </a:prstGeom>
          <a:solidFill>
            <a:srgbClr val="E2F6F3"/>
          </a:solidFill>
          <a:ln/>
        </p:spPr>
      </p:sp>
      <p:pic>
        <p:nvPicPr>
          <p:cNvPr id="36" name="Image 5" descr="preencoded.png"/>
          <p:cNvPicPr>
            <a:picLocks noChangeAspect="1"/>
          </p:cNvPicPr>
          <p:nvPr/>
        </p:nvPicPr>
        <p:blipFill>
          <a:blip r:embed="rId8"/>
          <a:stretch>
            <a:fillRect/>
          </a:stretch>
        </p:blipFill>
        <p:spPr>
          <a:xfrm>
            <a:off x="6622176" y="3552993"/>
            <a:ext cx="245791" cy="245791"/>
          </a:xfrm>
          <a:prstGeom prst="rect">
            <a:avLst/>
          </a:prstGeom>
        </p:spPr>
      </p:pic>
      <p:sp>
        <p:nvSpPr>
          <p:cNvPr id="37" name="Text 29"/>
          <p:cNvSpPr txBox="1"/>
          <p:nvPr/>
        </p:nvSpPr>
        <p:spPr>
          <a:xfrm>
            <a:off x="7110832" y="3438144"/>
            <a:ext cx="4257904" cy="292608"/>
          </a:xfrm>
          <a:prstGeom prst="rect">
            <a:avLst/>
          </a:prstGeom>
          <a:noFill/>
          <a:ln/>
        </p:spPr>
        <p:txBody>
          <a:bodyPr wrap="square" lIns="0" tIns="0" rIns="0" bIns="0" rtlCol="0" anchor="ctr"/>
          <a:lstStyle/>
          <a:p>
            <a:pPr marL="0" indent="0">
              <a:buNone/>
            </a:pPr>
            <a:r>
              <a:rPr lang="en-US" sz="1350" b="1" dirty="0">
                <a:solidFill>
                  <a:srgbClr val="16202B"/>
                </a:solidFill>
                <a:latin typeface="Arial" pitchFamily="34" charset="0"/>
                <a:ea typeface="Arial" pitchFamily="34" charset="-122"/>
                <a:cs typeface="Arial" pitchFamily="34" charset="-120"/>
              </a:rPr>
              <a:t>Fair sharing rules</a:t>
            </a:r>
            <a:endParaRPr lang="en-US" sz="1350" dirty="0"/>
          </a:p>
        </p:txBody>
      </p:sp>
      <p:sp>
        <p:nvSpPr>
          <p:cNvPr id="38" name="Text 30"/>
          <p:cNvSpPr txBox="1"/>
          <p:nvPr/>
        </p:nvSpPr>
        <p:spPr>
          <a:xfrm>
            <a:off x="6489040" y="3986784"/>
            <a:ext cx="4879696" cy="512064"/>
          </a:xfrm>
          <a:prstGeom prst="rect">
            <a:avLst/>
          </a:prstGeom>
          <a:noFill/>
          <a:ln/>
        </p:spPr>
        <p:txBody>
          <a:bodyPr wrap="square" lIns="0" tIns="0" rIns="0" bIns="0" rtlCol="0" anchor="t"/>
          <a:lstStyle/>
          <a:p>
            <a:pPr marL="0" indent="0">
              <a:lnSpc>
                <a:spcPts val="1400"/>
              </a:lnSpc>
              <a:buNone/>
            </a:pPr>
            <a:r>
              <a:rPr lang="en-US" sz="1050" dirty="0">
                <a:solidFill>
                  <a:srgbClr val="5E6D7D"/>
                </a:solidFill>
                <a:latin typeface="Calibri" pitchFamily="34" charset="0"/>
                <a:ea typeface="Calibri" pitchFamily="34" charset="-122"/>
                <a:cs typeface="Calibri" pitchFamily="34" charset="-120"/>
              </a:rPr>
              <a:t>Split a shared ride equally, by each rider's distance, or as a flat fare by zone pair. LHS picks one default per plant.</a:t>
            </a:r>
            <a:endParaRPr lang="en-US" sz="1050" dirty="0"/>
          </a:p>
        </p:txBody>
      </p:sp>
      <p:sp>
        <p:nvSpPr>
          <p:cNvPr id="39" name="Shape 31"/>
          <p:cNvSpPr/>
          <p:nvPr/>
        </p:nvSpPr>
        <p:spPr>
          <a:xfrm>
            <a:off x="566928" y="4736592"/>
            <a:ext cx="5391760" cy="1408176"/>
          </a:xfrm>
          <a:prstGeom prst="roundRect">
            <a:avLst>
              <a:gd name="adj" fmla="val 7792"/>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40" name="Shape 32"/>
          <p:cNvSpPr/>
          <p:nvPr/>
        </p:nvSpPr>
        <p:spPr>
          <a:xfrm>
            <a:off x="822960" y="4992624"/>
            <a:ext cx="512064" cy="512064"/>
          </a:xfrm>
          <a:prstGeom prst="ellipse">
            <a:avLst/>
          </a:prstGeom>
          <a:solidFill>
            <a:srgbClr val="E2F6F3"/>
          </a:solidFill>
          <a:ln/>
        </p:spPr>
      </p:sp>
      <p:pic>
        <p:nvPicPr>
          <p:cNvPr id="41" name="Image 6" descr="preencoded.png"/>
          <p:cNvPicPr>
            <a:picLocks noChangeAspect="1"/>
          </p:cNvPicPr>
          <p:nvPr/>
        </p:nvPicPr>
        <p:blipFill>
          <a:blip r:embed="rId9"/>
          <a:stretch>
            <a:fillRect/>
          </a:stretch>
        </p:blipFill>
        <p:spPr>
          <a:xfrm>
            <a:off x="956097" y="5125761"/>
            <a:ext cx="245791" cy="245791"/>
          </a:xfrm>
          <a:prstGeom prst="rect">
            <a:avLst/>
          </a:prstGeom>
        </p:spPr>
      </p:pic>
      <p:sp>
        <p:nvSpPr>
          <p:cNvPr id="42" name="Text 33"/>
          <p:cNvSpPr txBox="1"/>
          <p:nvPr/>
        </p:nvSpPr>
        <p:spPr>
          <a:xfrm>
            <a:off x="1444752" y="5010912"/>
            <a:ext cx="4257904" cy="292608"/>
          </a:xfrm>
          <a:prstGeom prst="rect">
            <a:avLst/>
          </a:prstGeom>
          <a:noFill/>
          <a:ln/>
        </p:spPr>
        <p:txBody>
          <a:bodyPr wrap="square" lIns="0" tIns="0" rIns="0" bIns="0" rtlCol="0" anchor="ctr"/>
          <a:lstStyle/>
          <a:p>
            <a:pPr marL="0" indent="0">
              <a:buNone/>
            </a:pPr>
            <a:r>
              <a:rPr lang="en-US" sz="1350" b="1" dirty="0">
                <a:solidFill>
                  <a:srgbClr val="16202B"/>
                </a:solidFill>
                <a:latin typeface="Arial" pitchFamily="34" charset="0"/>
                <a:ea typeface="Arial" pitchFamily="34" charset="-122"/>
                <a:cs typeface="Arial" pitchFamily="34" charset="-120"/>
              </a:rPr>
              <a:t>Vendor and own fleet</a:t>
            </a:r>
            <a:endParaRPr lang="en-US" sz="1350" dirty="0"/>
          </a:p>
        </p:txBody>
      </p:sp>
      <p:sp>
        <p:nvSpPr>
          <p:cNvPr id="43" name="Text 34"/>
          <p:cNvSpPr txBox="1"/>
          <p:nvPr/>
        </p:nvSpPr>
        <p:spPr>
          <a:xfrm>
            <a:off x="822960" y="5559552"/>
            <a:ext cx="4879696" cy="512064"/>
          </a:xfrm>
          <a:prstGeom prst="rect">
            <a:avLst/>
          </a:prstGeom>
          <a:noFill/>
          <a:ln/>
        </p:spPr>
        <p:txBody>
          <a:bodyPr wrap="square" lIns="0" tIns="0" rIns="0" bIns="0" rtlCol="0" anchor="t"/>
          <a:lstStyle/>
          <a:p>
            <a:pPr marL="0" indent="0">
              <a:lnSpc>
                <a:spcPts val="1400"/>
              </a:lnSpc>
              <a:buNone/>
            </a:pPr>
            <a:r>
              <a:rPr lang="en-US" sz="1050" dirty="0">
                <a:solidFill>
                  <a:srgbClr val="5E6D7D"/>
                </a:solidFill>
                <a:latin typeface="Calibri" pitchFamily="34" charset="0"/>
                <a:ea typeface="Calibri" pitchFamily="34" charset="-122"/>
                <a:cs typeface="Calibri" pitchFamily="34" charset="-120"/>
              </a:rPr>
              <a:t>Vendor rate cards per km, per trip, per hour or monthly plus extra km. Own-fleet cost per km. Vendor bills checked against GPS distance.</a:t>
            </a:r>
            <a:endParaRPr lang="en-US" sz="1050" dirty="0"/>
          </a:p>
        </p:txBody>
      </p:sp>
      <p:sp>
        <p:nvSpPr>
          <p:cNvPr id="44" name="Shape 35"/>
          <p:cNvSpPr/>
          <p:nvPr/>
        </p:nvSpPr>
        <p:spPr>
          <a:xfrm>
            <a:off x="6233008" y="4736592"/>
            <a:ext cx="5391760" cy="1408176"/>
          </a:xfrm>
          <a:prstGeom prst="roundRect">
            <a:avLst>
              <a:gd name="adj" fmla="val 7792"/>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45" name="Shape 36"/>
          <p:cNvSpPr/>
          <p:nvPr/>
        </p:nvSpPr>
        <p:spPr>
          <a:xfrm>
            <a:off x="6489040" y="4992624"/>
            <a:ext cx="512064" cy="512064"/>
          </a:xfrm>
          <a:prstGeom prst="ellipse">
            <a:avLst/>
          </a:prstGeom>
          <a:solidFill>
            <a:srgbClr val="E2F6F3"/>
          </a:solidFill>
          <a:ln/>
        </p:spPr>
      </p:sp>
      <p:pic>
        <p:nvPicPr>
          <p:cNvPr id="46" name="Image 7" descr="preencoded.png"/>
          <p:cNvPicPr>
            <a:picLocks noChangeAspect="1"/>
          </p:cNvPicPr>
          <p:nvPr/>
        </p:nvPicPr>
        <p:blipFill>
          <a:blip r:embed="rId10"/>
          <a:stretch>
            <a:fillRect/>
          </a:stretch>
        </p:blipFill>
        <p:spPr>
          <a:xfrm>
            <a:off x="6622176" y="5125761"/>
            <a:ext cx="245791" cy="245791"/>
          </a:xfrm>
          <a:prstGeom prst="rect">
            <a:avLst/>
          </a:prstGeom>
        </p:spPr>
      </p:pic>
      <p:sp>
        <p:nvSpPr>
          <p:cNvPr id="47" name="Text 37"/>
          <p:cNvSpPr txBox="1"/>
          <p:nvPr/>
        </p:nvSpPr>
        <p:spPr>
          <a:xfrm>
            <a:off x="7110832" y="5010912"/>
            <a:ext cx="4257904" cy="292608"/>
          </a:xfrm>
          <a:prstGeom prst="rect">
            <a:avLst/>
          </a:prstGeom>
          <a:noFill/>
          <a:ln/>
        </p:spPr>
        <p:txBody>
          <a:bodyPr wrap="square" lIns="0" tIns="0" rIns="0" bIns="0" rtlCol="0" anchor="ctr"/>
          <a:lstStyle/>
          <a:p>
            <a:pPr marL="0" indent="0">
              <a:buNone/>
            </a:pPr>
            <a:r>
              <a:rPr lang="en-US" sz="1350" b="1" dirty="0">
                <a:solidFill>
                  <a:srgbClr val="16202B"/>
                </a:solidFill>
                <a:latin typeface="Arial" pitchFamily="34" charset="0"/>
                <a:ea typeface="Arial" pitchFamily="34" charset="-122"/>
                <a:cs typeface="Arial" pitchFamily="34" charset="-120"/>
              </a:rPr>
              <a:t>Budgets and approvals</a:t>
            </a:r>
            <a:endParaRPr lang="en-US" sz="1350" dirty="0"/>
          </a:p>
        </p:txBody>
      </p:sp>
      <p:sp>
        <p:nvSpPr>
          <p:cNvPr id="48" name="Text 38"/>
          <p:cNvSpPr txBox="1"/>
          <p:nvPr/>
        </p:nvSpPr>
        <p:spPr>
          <a:xfrm>
            <a:off x="6489040" y="5559552"/>
            <a:ext cx="4879696" cy="512064"/>
          </a:xfrm>
          <a:prstGeom prst="rect">
            <a:avLst/>
          </a:prstGeom>
          <a:noFill/>
          <a:ln/>
        </p:spPr>
        <p:txBody>
          <a:bodyPr wrap="square" lIns="0" tIns="0" rIns="0" bIns="0" rtlCol="0" anchor="t"/>
          <a:lstStyle/>
          <a:p>
            <a:pPr marL="0" indent="0">
              <a:lnSpc>
                <a:spcPts val="1400"/>
              </a:lnSpc>
              <a:buNone/>
            </a:pPr>
            <a:r>
              <a:rPr lang="en-US" sz="1050" dirty="0">
                <a:solidFill>
                  <a:srgbClr val="5E6D7D"/>
                </a:solidFill>
                <a:latin typeface="Calibri" pitchFamily="34" charset="0"/>
                <a:ea typeface="Calibri" pitchFamily="34" charset="-122"/>
                <a:cs typeface="Calibri" pitchFamily="34" charset="-120"/>
              </a:rPr>
              <a:t>Budget alerts to department heads at 80% and 100%, approval rules for out-of-policy rides, and a workflow for disputes.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5E6D7D"/>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5E6D7D"/>
                </a:solidFill>
                <a:latin typeface="Arial" pitchFamily="34" charset="0"/>
                <a:ea typeface="Arial" pitchFamily="34" charset="-122"/>
                <a:cs typeface="Arial" pitchFamily="34" charset="-120"/>
              </a:rPr>
              <a:t>17</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SAFETY AND TRUST</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16202B"/>
                </a:solidFill>
                <a:latin typeface="Arial" pitchFamily="34" charset="0"/>
                <a:ea typeface="Arial" pitchFamily="34" charset="-122"/>
                <a:cs typeface="Arial" pitchFamily="34" charset="-120"/>
              </a:rPr>
              <a:t>Safe movement inside the plant, by design</a:t>
            </a:r>
            <a:endParaRPr lang="en-US" sz="3000" dirty="0"/>
          </a:p>
        </p:txBody>
      </p:sp>
      <p:sp>
        <p:nvSpPr>
          <p:cNvPr id="6" name="Shape 4"/>
          <p:cNvSpPr/>
          <p:nvPr/>
        </p:nvSpPr>
        <p:spPr>
          <a:xfrm>
            <a:off x="566928" y="1627632"/>
            <a:ext cx="3490874" cy="1956816"/>
          </a:xfrm>
          <a:prstGeom prst="roundRect">
            <a:avLst>
              <a:gd name="adj" fmla="val 5607"/>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7" name="Shape 5"/>
          <p:cNvSpPr/>
          <p:nvPr/>
        </p:nvSpPr>
        <p:spPr>
          <a:xfrm>
            <a:off x="841248" y="1901952"/>
            <a:ext cx="548640" cy="548640"/>
          </a:xfrm>
          <a:prstGeom prst="ellipse">
            <a:avLst/>
          </a:prstGeom>
          <a:solidFill>
            <a:srgbClr val="FFEDE0"/>
          </a:solidFill>
          <a:ln/>
        </p:spPr>
      </p:sp>
      <p:pic>
        <p:nvPicPr>
          <p:cNvPr id="8" name="Image 0" descr="preencoded.png"/>
          <p:cNvPicPr>
            <a:picLocks noChangeAspect="1"/>
          </p:cNvPicPr>
          <p:nvPr/>
        </p:nvPicPr>
        <p:blipFill>
          <a:blip r:embed="rId3"/>
          <a:stretch>
            <a:fillRect/>
          </a:stretch>
        </p:blipFill>
        <p:spPr>
          <a:xfrm>
            <a:off x="983894" y="2044598"/>
            <a:ext cx="263347" cy="263347"/>
          </a:xfrm>
          <a:prstGeom prst="rect">
            <a:avLst/>
          </a:prstGeom>
        </p:spPr>
      </p:pic>
      <p:sp>
        <p:nvSpPr>
          <p:cNvPr id="9" name="Text 6"/>
          <p:cNvSpPr txBox="1"/>
          <p:nvPr/>
        </p:nvSpPr>
        <p:spPr>
          <a:xfrm>
            <a:off x="841248" y="2578608"/>
            <a:ext cx="2942234" cy="292608"/>
          </a:xfrm>
          <a:prstGeom prst="rect">
            <a:avLst/>
          </a:prstGeom>
          <a:noFill/>
          <a:ln/>
        </p:spPr>
        <p:txBody>
          <a:bodyPr wrap="square" lIns="0" tIns="0" rIns="0" bIns="0" rtlCol="0" anchor="ctr"/>
          <a:lstStyle/>
          <a:p>
            <a:pPr marL="0" indent="0">
              <a:buNone/>
            </a:pPr>
            <a:r>
              <a:rPr lang="en-US" sz="1450" b="1" dirty="0">
                <a:solidFill>
                  <a:srgbClr val="16202B"/>
                </a:solidFill>
                <a:latin typeface="Arial" pitchFamily="34" charset="0"/>
                <a:ea typeface="Arial" pitchFamily="34" charset="-122"/>
                <a:cs typeface="Arial" pitchFamily="34" charset="-120"/>
              </a:rPr>
              <a:t>In-plant safety</a:t>
            </a:r>
            <a:endParaRPr lang="en-US" sz="1450" dirty="0"/>
          </a:p>
        </p:txBody>
      </p:sp>
      <p:sp>
        <p:nvSpPr>
          <p:cNvPr id="10" name="Text 7"/>
          <p:cNvSpPr txBox="1"/>
          <p:nvPr/>
        </p:nvSpPr>
        <p:spPr>
          <a:xfrm>
            <a:off x="841248" y="2926080"/>
            <a:ext cx="2942234" cy="640080"/>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Speed limits set per zone, restricted-zone alerts and route-deviation alerts, all raised to the desk as they happen.</a:t>
            </a:r>
            <a:endParaRPr lang="en-US" sz="1100" dirty="0"/>
          </a:p>
        </p:txBody>
      </p:sp>
      <p:sp>
        <p:nvSpPr>
          <p:cNvPr id="11" name="Shape 8"/>
          <p:cNvSpPr/>
          <p:nvPr/>
        </p:nvSpPr>
        <p:spPr>
          <a:xfrm>
            <a:off x="4350410" y="1627632"/>
            <a:ext cx="3490874" cy="1956816"/>
          </a:xfrm>
          <a:prstGeom prst="roundRect">
            <a:avLst>
              <a:gd name="adj" fmla="val 5607"/>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12" name="Shape 9"/>
          <p:cNvSpPr/>
          <p:nvPr/>
        </p:nvSpPr>
        <p:spPr>
          <a:xfrm>
            <a:off x="4624730" y="1901952"/>
            <a:ext cx="548640" cy="548640"/>
          </a:xfrm>
          <a:prstGeom prst="ellipse">
            <a:avLst/>
          </a:prstGeom>
          <a:solidFill>
            <a:srgbClr val="FFEDE0"/>
          </a:solidFill>
          <a:ln/>
        </p:spPr>
      </p:sp>
      <p:pic>
        <p:nvPicPr>
          <p:cNvPr id="13" name="Image 1" descr="preencoded.png"/>
          <p:cNvPicPr>
            <a:picLocks noChangeAspect="1"/>
          </p:cNvPicPr>
          <p:nvPr/>
        </p:nvPicPr>
        <p:blipFill>
          <a:blip r:embed="rId4"/>
          <a:stretch>
            <a:fillRect/>
          </a:stretch>
        </p:blipFill>
        <p:spPr>
          <a:xfrm>
            <a:off x="4767377" y="2044598"/>
            <a:ext cx="263347" cy="263347"/>
          </a:xfrm>
          <a:prstGeom prst="rect">
            <a:avLst/>
          </a:prstGeom>
        </p:spPr>
      </p:pic>
      <p:sp>
        <p:nvSpPr>
          <p:cNvPr id="14" name="Text 10"/>
          <p:cNvSpPr txBox="1"/>
          <p:nvPr/>
        </p:nvSpPr>
        <p:spPr>
          <a:xfrm>
            <a:off x="4624730" y="2578608"/>
            <a:ext cx="2942234" cy="292608"/>
          </a:xfrm>
          <a:prstGeom prst="rect">
            <a:avLst/>
          </a:prstGeom>
          <a:noFill/>
          <a:ln/>
        </p:spPr>
        <p:txBody>
          <a:bodyPr wrap="square" lIns="0" tIns="0" rIns="0" bIns="0" rtlCol="0" anchor="ctr"/>
          <a:lstStyle/>
          <a:p>
            <a:pPr marL="0" indent="0">
              <a:buNone/>
            </a:pPr>
            <a:r>
              <a:rPr lang="en-US" sz="1450" b="1" dirty="0">
                <a:solidFill>
                  <a:srgbClr val="16202B"/>
                </a:solidFill>
                <a:latin typeface="Arial" pitchFamily="34" charset="0"/>
                <a:ea typeface="Arial" pitchFamily="34" charset="-122"/>
                <a:cs typeface="Arial" pitchFamily="34" charset="-120"/>
              </a:rPr>
              <a:t>SOS and emergency</a:t>
            </a:r>
            <a:endParaRPr lang="en-US" sz="1450" dirty="0"/>
          </a:p>
        </p:txBody>
      </p:sp>
      <p:sp>
        <p:nvSpPr>
          <p:cNvPr id="15" name="Text 11"/>
          <p:cNvSpPr txBox="1"/>
          <p:nvPr/>
        </p:nvSpPr>
        <p:spPr>
          <a:xfrm>
            <a:off x="4624730" y="2926080"/>
            <a:ext cx="2942234" cy="640080"/>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One tap in either app alerts the transport desk and plant security with the live location of the vehicle.</a:t>
            </a:r>
            <a:endParaRPr lang="en-US" sz="1100" dirty="0"/>
          </a:p>
        </p:txBody>
      </p:sp>
      <p:sp>
        <p:nvSpPr>
          <p:cNvPr id="16" name="Shape 12"/>
          <p:cNvSpPr/>
          <p:nvPr/>
        </p:nvSpPr>
        <p:spPr>
          <a:xfrm>
            <a:off x="8133893" y="1627632"/>
            <a:ext cx="3490874" cy="1956816"/>
          </a:xfrm>
          <a:prstGeom prst="roundRect">
            <a:avLst>
              <a:gd name="adj" fmla="val 5607"/>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17" name="Shape 13"/>
          <p:cNvSpPr/>
          <p:nvPr/>
        </p:nvSpPr>
        <p:spPr>
          <a:xfrm>
            <a:off x="8408213" y="1901952"/>
            <a:ext cx="548640" cy="548640"/>
          </a:xfrm>
          <a:prstGeom prst="ellipse">
            <a:avLst/>
          </a:prstGeom>
          <a:solidFill>
            <a:srgbClr val="FFEDE0"/>
          </a:solidFill>
          <a:ln/>
        </p:spPr>
      </p:sp>
      <p:pic>
        <p:nvPicPr>
          <p:cNvPr id="18" name="Image 2" descr="preencoded.png"/>
          <p:cNvPicPr>
            <a:picLocks noChangeAspect="1"/>
          </p:cNvPicPr>
          <p:nvPr/>
        </p:nvPicPr>
        <p:blipFill>
          <a:blip r:embed="rId5"/>
          <a:stretch>
            <a:fillRect/>
          </a:stretch>
        </p:blipFill>
        <p:spPr>
          <a:xfrm>
            <a:off x="8550859" y="2044598"/>
            <a:ext cx="263347" cy="263347"/>
          </a:xfrm>
          <a:prstGeom prst="rect">
            <a:avLst/>
          </a:prstGeom>
        </p:spPr>
      </p:pic>
      <p:sp>
        <p:nvSpPr>
          <p:cNvPr id="19" name="Text 14"/>
          <p:cNvSpPr txBox="1"/>
          <p:nvPr/>
        </p:nvSpPr>
        <p:spPr>
          <a:xfrm>
            <a:off x="8408213" y="2578608"/>
            <a:ext cx="2942234" cy="292608"/>
          </a:xfrm>
          <a:prstGeom prst="rect">
            <a:avLst/>
          </a:prstGeom>
          <a:noFill/>
          <a:ln/>
        </p:spPr>
        <p:txBody>
          <a:bodyPr wrap="square" lIns="0" tIns="0" rIns="0" bIns="0" rtlCol="0" anchor="ctr"/>
          <a:lstStyle/>
          <a:p>
            <a:pPr marL="0" indent="0">
              <a:buNone/>
            </a:pPr>
            <a:r>
              <a:rPr lang="en-US" sz="1450" b="1" dirty="0">
                <a:solidFill>
                  <a:srgbClr val="16202B"/>
                </a:solidFill>
                <a:latin typeface="Arial" pitchFamily="34" charset="0"/>
                <a:ea typeface="Arial" pitchFamily="34" charset="-122"/>
                <a:cs typeface="Arial" pitchFamily="34" charset="-120"/>
              </a:rPr>
              <a:t>Night travel rules</a:t>
            </a:r>
            <a:endParaRPr lang="en-US" sz="1450" dirty="0"/>
          </a:p>
        </p:txBody>
      </p:sp>
      <p:sp>
        <p:nvSpPr>
          <p:cNvPr id="20" name="Text 15"/>
          <p:cNvSpPr txBox="1"/>
          <p:nvPr/>
        </p:nvSpPr>
        <p:spPr>
          <a:xfrm>
            <a:off x="8408213" y="2926080"/>
            <a:ext cx="2942234" cy="640080"/>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Policy-based rules for late rides, with trip sharing to a manager or to family for the duration of the trip.</a:t>
            </a:r>
            <a:endParaRPr lang="en-US" sz="1100" dirty="0"/>
          </a:p>
        </p:txBody>
      </p:sp>
      <p:sp>
        <p:nvSpPr>
          <p:cNvPr id="21" name="Shape 16"/>
          <p:cNvSpPr/>
          <p:nvPr/>
        </p:nvSpPr>
        <p:spPr>
          <a:xfrm>
            <a:off x="566928" y="3858768"/>
            <a:ext cx="3490874" cy="1956816"/>
          </a:xfrm>
          <a:prstGeom prst="roundRect">
            <a:avLst>
              <a:gd name="adj" fmla="val 5607"/>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22" name="Shape 17"/>
          <p:cNvSpPr/>
          <p:nvPr/>
        </p:nvSpPr>
        <p:spPr>
          <a:xfrm>
            <a:off x="841248" y="4133088"/>
            <a:ext cx="548640" cy="548640"/>
          </a:xfrm>
          <a:prstGeom prst="ellipse">
            <a:avLst/>
          </a:prstGeom>
          <a:solidFill>
            <a:srgbClr val="E2F6F3"/>
          </a:solidFill>
          <a:ln/>
        </p:spPr>
      </p:sp>
      <p:pic>
        <p:nvPicPr>
          <p:cNvPr id="23" name="Image 3" descr="preencoded.png"/>
          <p:cNvPicPr>
            <a:picLocks noChangeAspect="1"/>
          </p:cNvPicPr>
          <p:nvPr/>
        </p:nvPicPr>
        <p:blipFill>
          <a:blip r:embed="rId6"/>
          <a:stretch>
            <a:fillRect/>
          </a:stretch>
        </p:blipFill>
        <p:spPr>
          <a:xfrm>
            <a:off x="983894" y="4275734"/>
            <a:ext cx="263347" cy="263347"/>
          </a:xfrm>
          <a:prstGeom prst="rect">
            <a:avLst/>
          </a:prstGeom>
        </p:spPr>
      </p:pic>
      <p:sp>
        <p:nvSpPr>
          <p:cNvPr id="24" name="Text 18"/>
          <p:cNvSpPr txBox="1"/>
          <p:nvPr/>
        </p:nvSpPr>
        <p:spPr>
          <a:xfrm>
            <a:off x="841248" y="4809744"/>
            <a:ext cx="2942234" cy="292608"/>
          </a:xfrm>
          <a:prstGeom prst="rect">
            <a:avLst/>
          </a:prstGeom>
          <a:noFill/>
          <a:ln/>
        </p:spPr>
        <p:txBody>
          <a:bodyPr wrap="square" lIns="0" tIns="0" rIns="0" bIns="0" rtlCol="0" anchor="ctr"/>
          <a:lstStyle/>
          <a:p>
            <a:pPr marL="0" indent="0">
              <a:buNone/>
            </a:pPr>
            <a:r>
              <a:rPr lang="en-US" sz="1450" b="1" dirty="0">
                <a:solidFill>
                  <a:srgbClr val="16202B"/>
                </a:solidFill>
                <a:latin typeface="Arial" pitchFamily="34" charset="0"/>
                <a:ea typeface="Arial" pitchFamily="34" charset="-122"/>
                <a:cs typeface="Arial" pitchFamily="34" charset="-120"/>
              </a:rPr>
              <a:t>Vehicle compliance</a:t>
            </a:r>
            <a:endParaRPr lang="en-US" sz="1450" dirty="0"/>
          </a:p>
        </p:txBody>
      </p:sp>
      <p:sp>
        <p:nvSpPr>
          <p:cNvPr id="25" name="Text 19"/>
          <p:cNvSpPr txBox="1"/>
          <p:nvPr/>
        </p:nvSpPr>
        <p:spPr>
          <a:xfrm>
            <a:off x="841248" y="5157216"/>
            <a:ext cx="2942234" cy="640080"/>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An expired licence, fitness certificate or insurance policy blocks dispatch outright - not a warning, a block.</a:t>
            </a:r>
            <a:endParaRPr lang="en-US" sz="1100" dirty="0"/>
          </a:p>
        </p:txBody>
      </p:sp>
      <p:sp>
        <p:nvSpPr>
          <p:cNvPr id="26" name="Shape 20"/>
          <p:cNvSpPr/>
          <p:nvPr/>
        </p:nvSpPr>
        <p:spPr>
          <a:xfrm>
            <a:off x="4350410" y="3858768"/>
            <a:ext cx="3490874" cy="1956816"/>
          </a:xfrm>
          <a:prstGeom prst="roundRect">
            <a:avLst>
              <a:gd name="adj" fmla="val 5607"/>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27" name="Shape 21"/>
          <p:cNvSpPr/>
          <p:nvPr/>
        </p:nvSpPr>
        <p:spPr>
          <a:xfrm>
            <a:off x="4624730" y="4133088"/>
            <a:ext cx="548640" cy="548640"/>
          </a:xfrm>
          <a:prstGeom prst="ellipse">
            <a:avLst/>
          </a:prstGeom>
          <a:solidFill>
            <a:srgbClr val="E2F6F3"/>
          </a:solidFill>
          <a:ln/>
        </p:spPr>
      </p:sp>
      <p:pic>
        <p:nvPicPr>
          <p:cNvPr id="28" name="Image 4" descr="preencoded.png"/>
          <p:cNvPicPr>
            <a:picLocks noChangeAspect="1"/>
          </p:cNvPicPr>
          <p:nvPr/>
        </p:nvPicPr>
        <p:blipFill>
          <a:blip r:embed="rId7"/>
          <a:stretch>
            <a:fillRect/>
          </a:stretch>
        </p:blipFill>
        <p:spPr>
          <a:xfrm>
            <a:off x="4767377" y="4275734"/>
            <a:ext cx="263347" cy="263347"/>
          </a:xfrm>
          <a:prstGeom prst="rect">
            <a:avLst/>
          </a:prstGeom>
        </p:spPr>
      </p:pic>
      <p:sp>
        <p:nvSpPr>
          <p:cNvPr id="29" name="Text 22"/>
          <p:cNvSpPr txBox="1"/>
          <p:nvPr/>
        </p:nvSpPr>
        <p:spPr>
          <a:xfrm>
            <a:off x="4624730" y="4809744"/>
            <a:ext cx="2942234" cy="292608"/>
          </a:xfrm>
          <a:prstGeom prst="rect">
            <a:avLst/>
          </a:prstGeom>
          <a:noFill/>
          <a:ln/>
        </p:spPr>
        <p:txBody>
          <a:bodyPr wrap="square" lIns="0" tIns="0" rIns="0" bIns="0" rtlCol="0" anchor="ctr"/>
          <a:lstStyle/>
          <a:p>
            <a:pPr marL="0" indent="0">
              <a:buNone/>
            </a:pPr>
            <a:r>
              <a:rPr lang="en-US" sz="1450" b="1" dirty="0">
                <a:solidFill>
                  <a:srgbClr val="16202B"/>
                </a:solidFill>
                <a:latin typeface="Arial" pitchFamily="34" charset="0"/>
                <a:ea typeface="Arial" pitchFamily="34" charset="-122"/>
                <a:cs typeface="Arial" pitchFamily="34" charset="-120"/>
              </a:rPr>
              <a:t>Secure access</a:t>
            </a:r>
            <a:endParaRPr lang="en-US" sz="1450" dirty="0"/>
          </a:p>
        </p:txBody>
      </p:sp>
      <p:sp>
        <p:nvSpPr>
          <p:cNvPr id="30" name="Text 23"/>
          <p:cNvSpPr txBox="1"/>
          <p:nvPr/>
        </p:nvSpPr>
        <p:spPr>
          <a:xfrm>
            <a:off x="4624730" y="5157216"/>
            <a:ext cx="2942234" cy="640080"/>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Company single sign-on, role-based access, encryption in transit and at rest, and a QR trip check at the gate.</a:t>
            </a:r>
            <a:endParaRPr lang="en-US" sz="1100" dirty="0"/>
          </a:p>
        </p:txBody>
      </p:sp>
      <p:sp>
        <p:nvSpPr>
          <p:cNvPr id="31" name="Shape 24"/>
          <p:cNvSpPr/>
          <p:nvPr/>
        </p:nvSpPr>
        <p:spPr>
          <a:xfrm>
            <a:off x="8133893" y="3858768"/>
            <a:ext cx="3490874" cy="1956816"/>
          </a:xfrm>
          <a:prstGeom prst="roundRect">
            <a:avLst>
              <a:gd name="adj" fmla="val 5607"/>
            </a:avLst>
          </a:prstGeom>
          <a:solidFill>
            <a:srgbClr val="F3F6F9"/>
          </a:solidFill>
          <a:ln w="12700">
            <a:solidFill>
              <a:srgbClr val="DCE4EC"/>
            </a:solidFill>
            <a:prstDash val="solid"/>
          </a:ln>
          <a:effectLst>
            <a:outerShdw blurRad="127000" dist="25400" dir="5400000" algn="bl" rotWithShape="0">
              <a:srgbClr val="0E141B">
                <a:alpha val="10000"/>
              </a:srgbClr>
            </a:outerShdw>
          </a:effectLst>
        </p:spPr>
      </p:sp>
      <p:sp>
        <p:nvSpPr>
          <p:cNvPr id="32" name="Shape 25"/>
          <p:cNvSpPr/>
          <p:nvPr/>
        </p:nvSpPr>
        <p:spPr>
          <a:xfrm>
            <a:off x="8408213" y="4133088"/>
            <a:ext cx="548640" cy="548640"/>
          </a:xfrm>
          <a:prstGeom prst="ellipse">
            <a:avLst/>
          </a:prstGeom>
          <a:solidFill>
            <a:srgbClr val="E2F6F3"/>
          </a:solidFill>
          <a:ln/>
        </p:spPr>
      </p:sp>
      <p:pic>
        <p:nvPicPr>
          <p:cNvPr id="33" name="Image 5" descr="preencoded.png"/>
          <p:cNvPicPr>
            <a:picLocks noChangeAspect="1"/>
          </p:cNvPicPr>
          <p:nvPr/>
        </p:nvPicPr>
        <p:blipFill>
          <a:blip r:embed="rId8"/>
          <a:stretch>
            <a:fillRect/>
          </a:stretch>
        </p:blipFill>
        <p:spPr>
          <a:xfrm>
            <a:off x="8550859" y="4275734"/>
            <a:ext cx="263347" cy="263347"/>
          </a:xfrm>
          <a:prstGeom prst="rect">
            <a:avLst/>
          </a:prstGeom>
        </p:spPr>
      </p:pic>
      <p:sp>
        <p:nvSpPr>
          <p:cNvPr id="34" name="Text 26"/>
          <p:cNvSpPr txBox="1"/>
          <p:nvPr/>
        </p:nvSpPr>
        <p:spPr>
          <a:xfrm>
            <a:off x="8408213" y="4809744"/>
            <a:ext cx="2942234" cy="292608"/>
          </a:xfrm>
          <a:prstGeom prst="rect">
            <a:avLst/>
          </a:prstGeom>
          <a:noFill/>
          <a:ln/>
        </p:spPr>
        <p:txBody>
          <a:bodyPr wrap="square" lIns="0" tIns="0" rIns="0" bIns="0" rtlCol="0" anchor="ctr"/>
          <a:lstStyle/>
          <a:p>
            <a:pPr marL="0" indent="0">
              <a:buNone/>
            </a:pPr>
            <a:r>
              <a:rPr lang="en-US" sz="1450" b="1" dirty="0">
                <a:solidFill>
                  <a:srgbClr val="16202B"/>
                </a:solidFill>
                <a:latin typeface="Arial" pitchFamily="34" charset="0"/>
                <a:ea typeface="Arial" pitchFamily="34" charset="-122"/>
                <a:cs typeface="Arial" pitchFamily="34" charset="-120"/>
              </a:rPr>
              <a:t>Privacy first</a:t>
            </a:r>
            <a:endParaRPr lang="en-US" sz="1450" dirty="0"/>
          </a:p>
        </p:txBody>
      </p:sp>
      <p:sp>
        <p:nvSpPr>
          <p:cNvPr id="35" name="Text 27"/>
          <p:cNvSpPr txBox="1"/>
          <p:nvPr/>
        </p:nvSpPr>
        <p:spPr>
          <a:xfrm>
            <a:off x="8408213" y="5157216"/>
            <a:ext cx="2942234" cy="640080"/>
          </a:xfrm>
          <a:prstGeom prst="rect">
            <a:avLst/>
          </a:prstGeom>
          <a:noFill/>
          <a:ln/>
        </p:spPr>
        <p:txBody>
          <a:bodyPr wrap="square" lIns="0" tIns="0" rIns="0" bIns="0" rtlCol="0" anchor="t"/>
          <a:lstStyle/>
          <a:p>
            <a:pPr marL="0" indent="0">
              <a:lnSpc>
                <a:spcPts val="1500"/>
              </a:lnSpc>
              <a:buNone/>
            </a:pPr>
            <a:r>
              <a:rPr lang="en-US" sz="1100" dirty="0">
                <a:solidFill>
                  <a:srgbClr val="5E6D7D"/>
                </a:solidFill>
                <a:latin typeface="Calibri" pitchFamily="34" charset="0"/>
                <a:ea typeface="Calibri" pitchFamily="34" charset="-122"/>
                <a:cs typeface="Calibri" pitchFamily="34" charset="-120"/>
              </a:rPr>
              <a:t>We track vehicles, not people. DPDP Act consent, a retention period agreed with LHS, and a full audit trail.</a:t>
            </a:r>
            <a:endParaRPr lang="en-US" sz="1100" dirty="0"/>
          </a:p>
        </p:txBody>
      </p:sp>
      <p:sp>
        <p:nvSpPr>
          <p:cNvPr id="36" name="Text 28"/>
          <p:cNvSpPr txBox="1"/>
          <p:nvPr/>
        </p:nvSpPr>
        <p:spPr>
          <a:xfrm>
            <a:off x="566928" y="5925312"/>
            <a:ext cx="11057839" cy="274320"/>
          </a:xfrm>
          <a:prstGeom prst="rect">
            <a:avLst/>
          </a:prstGeom>
          <a:noFill/>
          <a:ln/>
        </p:spPr>
        <p:txBody>
          <a:bodyPr wrap="square" lIns="0" tIns="0" rIns="0" bIns="0" rtlCol="0" anchor="t"/>
          <a:lstStyle/>
          <a:p>
            <a:pPr marL="0" indent="0">
              <a:buNone/>
            </a:pPr>
            <a:r>
              <a:rPr lang="en-US" sz="1050" i="1" dirty="0">
                <a:solidFill>
                  <a:srgbClr val="5E6D7D"/>
                </a:solidFill>
                <a:latin typeface="Calibri" pitchFamily="34" charset="0"/>
                <a:ea typeface="Calibri" pitchFamily="34" charset="-122"/>
                <a:cs typeface="Calibri" pitchFamily="34" charset="-120"/>
              </a:rPr>
              <a:t>Who booked, who changed it, who approved and who overrode - every action is logged, with a retention period LHS sets.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41B"/>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A3B4C4"/>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A3B4C4"/>
                </a:solidFill>
                <a:latin typeface="Arial" pitchFamily="34" charset="0"/>
                <a:ea typeface="Arial" pitchFamily="34" charset="-122"/>
                <a:cs typeface="Arial" pitchFamily="34" charset="-120"/>
              </a:rPr>
              <a:t>18</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ARCHITECTURE</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FFFFFF"/>
                </a:solidFill>
                <a:latin typeface="Arial" pitchFamily="34" charset="0"/>
                <a:ea typeface="Arial" pitchFamily="34" charset="-122"/>
                <a:cs typeface="Arial" pitchFamily="34" charset="-120"/>
              </a:rPr>
              <a:t>A modular platform that fits the systems LHS already runs</a:t>
            </a:r>
            <a:endParaRPr lang="en-US" sz="3000" dirty="0"/>
          </a:p>
        </p:txBody>
      </p:sp>
      <p:sp>
        <p:nvSpPr>
          <p:cNvPr id="6" name="Shape 4"/>
          <p:cNvSpPr/>
          <p:nvPr/>
        </p:nvSpPr>
        <p:spPr>
          <a:xfrm>
            <a:off x="566928" y="1627632"/>
            <a:ext cx="2176272" cy="658368"/>
          </a:xfrm>
          <a:prstGeom prst="roundRect">
            <a:avLst>
              <a:gd name="adj" fmla="val 16667"/>
            </a:avLst>
          </a:prstGeom>
          <a:solidFill>
            <a:srgbClr val="18222D"/>
          </a:solidFill>
          <a:ln w="12700">
            <a:solidFill>
              <a:srgbClr val="34465A"/>
            </a:solidFill>
            <a:prstDash val="solid"/>
          </a:ln>
        </p:spPr>
      </p:sp>
      <p:sp>
        <p:nvSpPr>
          <p:cNvPr id="7" name="Text 5"/>
          <p:cNvSpPr txBox="1"/>
          <p:nvPr/>
        </p:nvSpPr>
        <p:spPr>
          <a:xfrm>
            <a:off x="694944" y="1627632"/>
            <a:ext cx="1920240"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Employee app &amp; web</a:t>
            </a:r>
            <a:endParaRPr lang="en-US" sz="1100" dirty="0"/>
          </a:p>
        </p:txBody>
      </p:sp>
      <p:sp>
        <p:nvSpPr>
          <p:cNvPr id="8" name="Shape 6"/>
          <p:cNvSpPr/>
          <p:nvPr/>
        </p:nvSpPr>
        <p:spPr>
          <a:xfrm>
            <a:off x="2962656" y="1627632"/>
            <a:ext cx="2176272" cy="658368"/>
          </a:xfrm>
          <a:prstGeom prst="roundRect">
            <a:avLst>
              <a:gd name="adj" fmla="val 16667"/>
            </a:avLst>
          </a:prstGeom>
          <a:solidFill>
            <a:srgbClr val="18222D"/>
          </a:solidFill>
          <a:ln w="12700">
            <a:solidFill>
              <a:srgbClr val="34465A"/>
            </a:solidFill>
            <a:prstDash val="solid"/>
          </a:ln>
        </p:spPr>
      </p:sp>
      <p:sp>
        <p:nvSpPr>
          <p:cNvPr id="9" name="Text 7"/>
          <p:cNvSpPr txBox="1"/>
          <p:nvPr/>
        </p:nvSpPr>
        <p:spPr>
          <a:xfrm>
            <a:off x="3090672" y="1627632"/>
            <a:ext cx="1920240"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Driver app</a:t>
            </a:r>
            <a:endParaRPr lang="en-US" sz="1100" dirty="0"/>
          </a:p>
        </p:txBody>
      </p:sp>
      <p:sp>
        <p:nvSpPr>
          <p:cNvPr id="10" name="Shape 8"/>
          <p:cNvSpPr/>
          <p:nvPr/>
        </p:nvSpPr>
        <p:spPr>
          <a:xfrm>
            <a:off x="5358384" y="1627632"/>
            <a:ext cx="2176272" cy="658368"/>
          </a:xfrm>
          <a:prstGeom prst="roundRect">
            <a:avLst>
              <a:gd name="adj" fmla="val 16667"/>
            </a:avLst>
          </a:prstGeom>
          <a:solidFill>
            <a:srgbClr val="18222D"/>
          </a:solidFill>
          <a:ln w="12700">
            <a:solidFill>
              <a:srgbClr val="34465A"/>
            </a:solidFill>
            <a:prstDash val="solid"/>
          </a:ln>
        </p:spPr>
      </p:sp>
      <p:sp>
        <p:nvSpPr>
          <p:cNvPr id="11" name="Text 9"/>
          <p:cNvSpPr txBox="1"/>
          <p:nvPr/>
        </p:nvSpPr>
        <p:spPr>
          <a:xfrm>
            <a:off x="5486400" y="1627632"/>
            <a:ext cx="1920240"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Admin, desk &amp; vendor portal</a:t>
            </a:r>
            <a:endParaRPr lang="en-US" sz="1100" dirty="0"/>
          </a:p>
        </p:txBody>
      </p:sp>
      <p:sp>
        <p:nvSpPr>
          <p:cNvPr id="12" name="Shape 10"/>
          <p:cNvSpPr/>
          <p:nvPr/>
        </p:nvSpPr>
        <p:spPr>
          <a:xfrm>
            <a:off x="3973068" y="2340864"/>
            <a:ext cx="155448" cy="201168"/>
          </a:xfrm>
          <a:prstGeom prst="downArrow">
            <a:avLst/>
          </a:prstGeom>
          <a:solidFill>
            <a:srgbClr val="34465A"/>
          </a:solidFill>
          <a:ln/>
        </p:spPr>
      </p:sp>
      <p:sp>
        <p:nvSpPr>
          <p:cNvPr id="13" name="Shape 11"/>
          <p:cNvSpPr/>
          <p:nvPr/>
        </p:nvSpPr>
        <p:spPr>
          <a:xfrm>
            <a:off x="566928" y="2615184"/>
            <a:ext cx="6967728" cy="566928"/>
          </a:xfrm>
          <a:prstGeom prst="roundRect">
            <a:avLst>
              <a:gd name="adj" fmla="val 19355"/>
            </a:avLst>
          </a:prstGeom>
          <a:solidFill>
            <a:srgbClr val="22303F"/>
          </a:solidFill>
          <a:ln/>
        </p:spPr>
      </p:sp>
      <p:sp>
        <p:nvSpPr>
          <p:cNvPr id="14" name="Text 12"/>
          <p:cNvSpPr txBox="1"/>
          <p:nvPr/>
        </p:nvSpPr>
        <p:spPr>
          <a:xfrm>
            <a:off x="566928" y="2615184"/>
            <a:ext cx="6967728" cy="566928"/>
          </a:xfrm>
          <a:prstGeom prst="rect">
            <a:avLst/>
          </a:prstGeom>
          <a:noFill/>
          <a:ln/>
        </p:spPr>
        <p:txBody>
          <a:bodyPr wrap="square" lIns="0" tIns="0" rIns="0" bIns="0" rtlCol="0" anchor="ctr"/>
          <a:lstStyle/>
          <a:p>
            <a:pPr marL="0" indent="0" algn="ctr">
              <a:buNone/>
            </a:pPr>
            <a:r>
              <a:rPr lang="en-US" sz="1100" b="1" dirty="0">
                <a:solidFill>
                  <a:srgbClr val="4FD1C2"/>
                </a:solidFill>
                <a:latin typeface="Calibri" pitchFamily="34" charset="0"/>
                <a:ea typeface="Calibri" pitchFamily="34" charset="-122"/>
                <a:cs typeface="Calibri" pitchFamily="34" charset="-120"/>
              </a:rPr>
              <a:t>API gateway   ·   Single sign-on   ·   Role-based access   ·   Encryption</a:t>
            </a:r>
            <a:endParaRPr lang="en-US" sz="1100" dirty="0"/>
          </a:p>
        </p:txBody>
      </p:sp>
      <p:sp>
        <p:nvSpPr>
          <p:cNvPr id="15" name="Shape 13"/>
          <p:cNvSpPr/>
          <p:nvPr/>
        </p:nvSpPr>
        <p:spPr>
          <a:xfrm>
            <a:off x="3973068" y="3236976"/>
            <a:ext cx="155448" cy="201168"/>
          </a:xfrm>
          <a:prstGeom prst="downArrow">
            <a:avLst/>
          </a:prstGeom>
          <a:solidFill>
            <a:srgbClr val="34465A"/>
          </a:solidFill>
          <a:ln/>
        </p:spPr>
      </p:sp>
      <p:sp>
        <p:nvSpPr>
          <p:cNvPr id="16" name="Shape 14"/>
          <p:cNvSpPr/>
          <p:nvPr/>
        </p:nvSpPr>
        <p:spPr>
          <a:xfrm>
            <a:off x="566928" y="3511296"/>
            <a:ext cx="6967728" cy="1298448"/>
          </a:xfrm>
          <a:prstGeom prst="roundRect">
            <a:avLst>
              <a:gd name="adj" fmla="val 8451"/>
            </a:avLst>
          </a:prstGeom>
          <a:solidFill>
            <a:srgbClr val="E85D04"/>
          </a:solidFill>
          <a:ln/>
        </p:spPr>
      </p:sp>
      <p:sp>
        <p:nvSpPr>
          <p:cNvPr id="17" name="Text 15"/>
          <p:cNvSpPr txBox="1"/>
          <p:nvPr/>
        </p:nvSpPr>
        <p:spPr>
          <a:xfrm>
            <a:off x="804672" y="3621024"/>
            <a:ext cx="6492240" cy="219456"/>
          </a:xfrm>
          <a:prstGeom prst="rect">
            <a:avLst/>
          </a:prstGeom>
          <a:noFill/>
          <a:ln/>
        </p:spPr>
        <p:txBody>
          <a:bodyPr wrap="square" lIns="0" tIns="0" rIns="0" bIns="0" rtlCol="0" anchor="t"/>
          <a:lstStyle/>
          <a:p>
            <a:pPr marL="0" indent="0">
              <a:buNone/>
            </a:pPr>
            <a:r>
              <a:rPr lang="en-US" sz="850" b="1" kern="0" spc="160" dirty="0">
                <a:solidFill>
                  <a:srgbClr val="FFFFFF"/>
                </a:solidFill>
                <a:latin typeface="Arial" pitchFamily="34" charset="0"/>
                <a:ea typeface="Arial" pitchFamily="34" charset="-122"/>
                <a:cs typeface="Arial" pitchFamily="34" charset="-120"/>
              </a:rPr>
              <a:t>SPRING BOOT  ·  ONE APPLICATION, CLEAR MODULES</a:t>
            </a:r>
            <a:endParaRPr lang="en-US" sz="850" dirty="0"/>
          </a:p>
        </p:txBody>
      </p:sp>
      <p:sp>
        <p:nvSpPr>
          <p:cNvPr id="18" name="Shape 16"/>
          <p:cNvSpPr/>
          <p:nvPr/>
        </p:nvSpPr>
        <p:spPr>
          <a:xfrm>
            <a:off x="804672" y="3913632"/>
            <a:ext cx="1527048" cy="310896"/>
          </a:xfrm>
          <a:prstGeom prst="roundRect">
            <a:avLst>
              <a:gd name="adj" fmla="val 20588"/>
            </a:avLst>
          </a:prstGeom>
          <a:solidFill>
            <a:srgbClr val="FFFFFF">
              <a:alpha val="20000"/>
            </a:srgbClr>
          </a:solidFill>
          <a:ln/>
        </p:spPr>
      </p:sp>
      <p:sp>
        <p:nvSpPr>
          <p:cNvPr id="19" name="Text 17"/>
          <p:cNvSpPr txBox="1"/>
          <p:nvPr/>
        </p:nvSpPr>
        <p:spPr>
          <a:xfrm>
            <a:off x="804672" y="3913632"/>
            <a:ext cx="1527048"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Identity &amp; roles</a:t>
            </a:r>
            <a:endParaRPr lang="en-US" sz="950" dirty="0"/>
          </a:p>
        </p:txBody>
      </p:sp>
      <p:sp>
        <p:nvSpPr>
          <p:cNvPr id="20" name="Shape 18"/>
          <p:cNvSpPr/>
          <p:nvPr/>
        </p:nvSpPr>
        <p:spPr>
          <a:xfrm>
            <a:off x="2459736" y="3913632"/>
            <a:ext cx="1527048" cy="310896"/>
          </a:xfrm>
          <a:prstGeom prst="roundRect">
            <a:avLst>
              <a:gd name="adj" fmla="val 20588"/>
            </a:avLst>
          </a:prstGeom>
          <a:solidFill>
            <a:srgbClr val="FFFFFF">
              <a:alpha val="20000"/>
            </a:srgbClr>
          </a:solidFill>
          <a:ln/>
        </p:spPr>
      </p:sp>
      <p:sp>
        <p:nvSpPr>
          <p:cNvPr id="21" name="Text 19"/>
          <p:cNvSpPr txBox="1"/>
          <p:nvPr/>
        </p:nvSpPr>
        <p:spPr>
          <a:xfrm>
            <a:off x="2459736" y="3913632"/>
            <a:ext cx="1527048"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Master data</a:t>
            </a:r>
            <a:endParaRPr lang="en-US" sz="950" dirty="0"/>
          </a:p>
        </p:txBody>
      </p:sp>
      <p:sp>
        <p:nvSpPr>
          <p:cNvPr id="22" name="Shape 20"/>
          <p:cNvSpPr/>
          <p:nvPr/>
        </p:nvSpPr>
        <p:spPr>
          <a:xfrm>
            <a:off x="4114800" y="3913632"/>
            <a:ext cx="1527048" cy="310896"/>
          </a:xfrm>
          <a:prstGeom prst="roundRect">
            <a:avLst>
              <a:gd name="adj" fmla="val 20588"/>
            </a:avLst>
          </a:prstGeom>
          <a:solidFill>
            <a:srgbClr val="FFFFFF">
              <a:alpha val="20000"/>
            </a:srgbClr>
          </a:solidFill>
          <a:ln/>
        </p:spPr>
      </p:sp>
      <p:sp>
        <p:nvSpPr>
          <p:cNvPr id="23" name="Text 21"/>
          <p:cNvSpPr txBox="1"/>
          <p:nvPr/>
        </p:nvSpPr>
        <p:spPr>
          <a:xfrm>
            <a:off x="4114800" y="3913632"/>
            <a:ext cx="1527048"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Booking</a:t>
            </a:r>
            <a:endParaRPr lang="en-US" sz="950" dirty="0"/>
          </a:p>
        </p:txBody>
      </p:sp>
      <p:sp>
        <p:nvSpPr>
          <p:cNvPr id="24" name="Shape 22"/>
          <p:cNvSpPr/>
          <p:nvPr/>
        </p:nvSpPr>
        <p:spPr>
          <a:xfrm>
            <a:off x="5769864" y="3913632"/>
            <a:ext cx="1527048" cy="310896"/>
          </a:xfrm>
          <a:prstGeom prst="roundRect">
            <a:avLst>
              <a:gd name="adj" fmla="val 20588"/>
            </a:avLst>
          </a:prstGeom>
          <a:solidFill>
            <a:srgbClr val="FFFFFF">
              <a:alpha val="20000"/>
            </a:srgbClr>
          </a:solidFill>
          <a:ln/>
        </p:spPr>
      </p:sp>
      <p:sp>
        <p:nvSpPr>
          <p:cNvPr id="25" name="Text 23"/>
          <p:cNvSpPr txBox="1"/>
          <p:nvPr/>
        </p:nvSpPr>
        <p:spPr>
          <a:xfrm>
            <a:off x="5769864" y="3913632"/>
            <a:ext cx="1527048"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Matching engine</a:t>
            </a:r>
            <a:endParaRPr lang="en-US" sz="950" dirty="0"/>
          </a:p>
        </p:txBody>
      </p:sp>
      <p:sp>
        <p:nvSpPr>
          <p:cNvPr id="26" name="Shape 24"/>
          <p:cNvSpPr/>
          <p:nvPr/>
        </p:nvSpPr>
        <p:spPr>
          <a:xfrm>
            <a:off x="804672" y="4279392"/>
            <a:ext cx="1527048" cy="310896"/>
          </a:xfrm>
          <a:prstGeom prst="roundRect">
            <a:avLst>
              <a:gd name="adj" fmla="val 20588"/>
            </a:avLst>
          </a:prstGeom>
          <a:solidFill>
            <a:srgbClr val="FFFFFF">
              <a:alpha val="20000"/>
            </a:srgbClr>
          </a:solidFill>
          <a:ln/>
        </p:spPr>
      </p:sp>
      <p:sp>
        <p:nvSpPr>
          <p:cNvPr id="27" name="Text 25"/>
          <p:cNvSpPr txBox="1"/>
          <p:nvPr/>
        </p:nvSpPr>
        <p:spPr>
          <a:xfrm>
            <a:off x="804672" y="4279392"/>
            <a:ext cx="1527048"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Trips</a:t>
            </a:r>
            <a:endParaRPr lang="en-US" sz="950" dirty="0"/>
          </a:p>
        </p:txBody>
      </p:sp>
      <p:sp>
        <p:nvSpPr>
          <p:cNvPr id="28" name="Shape 26"/>
          <p:cNvSpPr/>
          <p:nvPr/>
        </p:nvSpPr>
        <p:spPr>
          <a:xfrm>
            <a:off x="2459736" y="4279392"/>
            <a:ext cx="1527048" cy="310896"/>
          </a:xfrm>
          <a:prstGeom prst="roundRect">
            <a:avLst>
              <a:gd name="adj" fmla="val 20588"/>
            </a:avLst>
          </a:prstGeom>
          <a:solidFill>
            <a:srgbClr val="FFFFFF">
              <a:alpha val="20000"/>
            </a:srgbClr>
          </a:solidFill>
          <a:ln/>
        </p:spPr>
      </p:sp>
      <p:sp>
        <p:nvSpPr>
          <p:cNvPr id="29" name="Text 27"/>
          <p:cNvSpPr txBox="1"/>
          <p:nvPr/>
        </p:nvSpPr>
        <p:spPr>
          <a:xfrm>
            <a:off x="2459736" y="4279392"/>
            <a:ext cx="1527048"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GPS ingest</a:t>
            </a:r>
            <a:endParaRPr lang="en-US" sz="950" dirty="0"/>
          </a:p>
        </p:txBody>
      </p:sp>
      <p:sp>
        <p:nvSpPr>
          <p:cNvPr id="30" name="Shape 28"/>
          <p:cNvSpPr/>
          <p:nvPr/>
        </p:nvSpPr>
        <p:spPr>
          <a:xfrm>
            <a:off x="4114800" y="4279392"/>
            <a:ext cx="1527048" cy="310896"/>
          </a:xfrm>
          <a:prstGeom prst="roundRect">
            <a:avLst>
              <a:gd name="adj" fmla="val 20588"/>
            </a:avLst>
          </a:prstGeom>
          <a:solidFill>
            <a:srgbClr val="FFFFFF">
              <a:alpha val="20000"/>
            </a:srgbClr>
          </a:solidFill>
          <a:ln/>
        </p:spPr>
      </p:sp>
      <p:sp>
        <p:nvSpPr>
          <p:cNvPr id="31" name="Text 29"/>
          <p:cNvSpPr txBox="1"/>
          <p:nvPr/>
        </p:nvSpPr>
        <p:spPr>
          <a:xfrm>
            <a:off x="4114800" y="4279392"/>
            <a:ext cx="1527048"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Notifications</a:t>
            </a:r>
            <a:endParaRPr lang="en-US" sz="950" dirty="0"/>
          </a:p>
        </p:txBody>
      </p:sp>
      <p:sp>
        <p:nvSpPr>
          <p:cNvPr id="32" name="Shape 30"/>
          <p:cNvSpPr/>
          <p:nvPr/>
        </p:nvSpPr>
        <p:spPr>
          <a:xfrm>
            <a:off x="5769864" y="4279392"/>
            <a:ext cx="1527048" cy="310896"/>
          </a:xfrm>
          <a:prstGeom prst="roundRect">
            <a:avLst>
              <a:gd name="adj" fmla="val 20588"/>
            </a:avLst>
          </a:prstGeom>
          <a:solidFill>
            <a:srgbClr val="FFFFFF">
              <a:alpha val="20000"/>
            </a:srgbClr>
          </a:solidFill>
          <a:ln/>
        </p:spPr>
      </p:sp>
      <p:sp>
        <p:nvSpPr>
          <p:cNvPr id="33" name="Text 31"/>
          <p:cNvSpPr txBox="1"/>
          <p:nvPr/>
        </p:nvSpPr>
        <p:spPr>
          <a:xfrm>
            <a:off x="5769864" y="4279392"/>
            <a:ext cx="1527048"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Billing &amp; reports</a:t>
            </a:r>
            <a:endParaRPr lang="en-US" sz="950" dirty="0"/>
          </a:p>
        </p:txBody>
      </p:sp>
      <p:sp>
        <p:nvSpPr>
          <p:cNvPr id="34" name="Shape 32"/>
          <p:cNvSpPr/>
          <p:nvPr/>
        </p:nvSpPr>
        <p:spPr>
          <a:xfrm>
            <a:off x="3973068" y="4864608"/>
            <a:ext cx="155448" cy="201168"/>
          </a:xfrm>
          <a:prstGeom prst="downArrow">
            <a:avLst/>
          </a:prstGeom>
          <a:solidFill>
            <a:srgbClr val="34465A"/>
          </a:solidFill>
          <a:ln/>
        </p:spPr>
      </p:sp>
      <p:sp>
        <p:nvSpPr>
          <p:cNvPr id="35" name="Shape 33"/>
          <p:cNvSpPr/>
          <p:nvPr/>
        </p:nvSpPr>
        <p:spPr>
          <a:xfrm>
            <a:off x="566928" y="5138928"/>
            <a:ext cx="2176272" cy="804672"/>
          </a:xfrm>
          <a:prstGeom prst="roundRect">
            <a:avLst>
              <a:gd name="adj" fmla="val 13636"/>
            </a:avLst>
          </a:prstGeom>
          <a:solidFill>
            <a:srgbClr val="18222D"/>
          </a:solidFill>
          <a:ln w="12700">
            <a:solidFill>
              <a:srgbClr val="34465A"/>
            </a:solidFill>
            <a:prstDash val="solid"/>
          </a:ln>
        </p:spPr>
      </p:sp>
      <p:sp>
        <p:nvSpPr>
          <p:cNvPr id="36" name="Text 34"/>
          <p:cNvSpPr txBox="1"/>
          <p:nvPr/>
        </p:nvSpPr>
        <p:spPr>
          <a:xfrm>
            <a:off x="694944" y="5212080"/>
            <a:ext cx="192024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PostgreSQL + PostGIS</a:t>
            </a:r>
            <a:endParaRPr lang="en-US" sz="1050" dirty="0"/>
          </a:p>
        </p:txBody>
      </p:sp>
      <p:sp>
        <p:nvSpPr>
          <p:cNvPr id="37" name="Text 35"/>
          <p:cNvSpPr txBox="1"/>
          <p:nvPr/>
        </p:nvSpPr>
        <p:spPr>
          <a:xfrm>
            <a:off x="694944" y="5468112"/>
            <a:ext cx="1920240" cy="365760"/>
          </a:xfrm>
          <a:prstGeom prst="rect">
            <a:avLst/>
          </a:prstGeom>
          <a:noFill/>
          <a:ln/>
        </p:spPr>
        <p:txBody>
          <a:bodyPr wrap="square" lIns="0" tIns="0" rIns="0" bIns="0" rtlCol="0" anchor="t"/>
          <a:lstStyle/>
          <a:p>
            <a:pPr marL="0" indent="0" algn="ctr">
              <a:lnSpc>
                <a:spcPts val="1100"/>
              </a:lnSpc>
              <a:buNone/>
            </a:pPr>
            <a:r>
              <a:rPr lang="en-US" sz="900" dirty="0">
                <a:solidFill>
                  <a:srgbClr val="A3B4C4"/>
                </a:solidFill>
                <a:latin typeface="Calibri" pitchFamily="34" charset="0"/>
                <a:ea typeface="Calibri" pitchFamily="34" charset="-122"/>
                <a:cs typeface="Calibri" pitchFamily="34" charset="-120"/>
              </a:rPr>
              <a:t>Bookings, trips, master data</a:t>
            </a:r>
            <a:endParaRPr lang="en-US" sz="900" dirty="0"/>
          </a:p>
        </p:txBody>
      </p:sp>
      <p:sp>
        <p:nvSpPr>
          <p:cNvPr id="38" name="Shape 36"/>
          <p:cNvSpPr/>
          <p:nvPr/>
        </p:nvSpPr>
        <p:spPr>
          <a:xfrm>
            <a:off x="2962656" y="5138928"/>
            <a:ext cx="2176272" cy="804672"/>
          </a:xfrm>
          <a:prstGeom prst="roundRect">
            <a:avLst>
              <a:gd name="adj" fmla="val 13636"/>
            </a:avLst>
          </a:prstGeom>
          <a:solidFill>
            <a:srgbClr val="18222D"/>
          </a:solidFill>
          <a:ln w="12700">
            <a:solidFill>
              <a:srgbClr val="34465A"/>
            </a:solidFill>
            <a:prstDash val="solid"/>
          </a:ln>
        </p:spPr>
      </p:sp>
      <p:sp>
        <p:nvSpPr>
          <p:cNvPr id="39" name="Text 37"/>
          <p:cNvSpPr txBox="1"/>
          <p:nvPr/>
        </p:nvSpPr>
        <p:spPr>
          <a:xfrm>
            <a:off x="3090672" y="5212080"/>
            <a:ext cx="192024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ClickHouse</a:t>
            </a:r>
            <a:endParaRPr lang="en-US" sz="1050" dirty="0"/>
          </a:p>
        </p:txBody>
      </p:sp>
      <p:sp>
        <p:nvSpPr>
          <p:cNvPr id="40" name="Text 38"/>
          <p:cNvSpPr txBox="1"/>
          <p:nvPr/>
        </p:nvSpPr>
        <p:spPr>
          <a:xfrm>
            <a:off x="3090672" y="5468112"/>
            <a:ext cx="1920240" cy="365760"/>
          </a:xfrm>
          <a:prstGeom prst="rect">
            <a:avLst/>
          </a:prstGeom>
          <a:noFill/>
          <a:ln/>
        </p:spPr>
        <p:txBody>
          <a:bodyPr wrap="square" lIns="0" tIns="0" rIns="0" bIns="0" rtlCol="0" anchor="t"/>
          <a:lstStyle/>
          <a:p>
            <a:pPr marL="0" indent="0" algn="ctr">
              <a:lnSpc>
                <a:spcPts val="1100"/>
              </a:lnSpc>
              <a:buNone/>
            </a:pPr>
            <a:r>
              <a:rPr lang="en-US" sz="900" dirty="0">
                <a:solidFill>
                  <a:srgbClr val="A3B4C4"/>
                </a:solidFill>
                <a:latin typeface="Calibri" pitchFamily="34" charset="0"/>
                <a:ea typeface="Calibri" pitchFamily="34" charset="-122"/>
                <a:cs typeface="Calibri" pitchFamily="34" charset="-120"/>
              </a:rPr>
              <a:t>Raw GPS points at scale</a:t>
            </a:r>
            <a:endParaRPr lang="en-US" sz="900" dirty="0"/>
          </a:p>
        </p:txBody>
      </p:sp>
      <p:sp>
        <p:nvSpPr>
          <p:cNvPr id="41" name="Shape 39"/>
          <p:cNvSpPr/>
          <p:nvPr/>
        </p:nvSpPr>
        <p:spPr>
          <a:xfrm>
            <a:off x="5358384" y="5138928"/>
            <a:ext cx="2176272" cy="804672"/>
          </a:xfrm>
          <a:prstGeom prst="roundRect">
            <a:avLst>
              <a:gd name="adj" fmla="val 13636"/>
            </a:avLst>
          </a:prstGeom>
          <a:solidFill>
            <a:srgbClr val="18222D"/>
          </a:solidFill>
          <a:ln w="12700">
            <a:solidFill>
              <a:srgbClr val="34465A"/>
            </a:solidFill>
            <a:prstDash val="solid"/>
          </a:ln>
        </p:spPr>
      </p:sp>
      <p:sp>
        <p:nvSpPr>
          <p:cNvPr id="42" name="Text 40"/>
          <p:cNvSpPr txBox="1"/>
          <p:nvPr/>
        </p:nvSpPr>
        <p:spPr>
          <a:xfrm>
            <a:off x="5486400" y="5212080"/>
            <a:ext cx="192024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Redis</a:t>
            </a:r>
            <a:endParaRPr lang="en-US" sz="1050" dirty="0"/>
          </a:p>
        </p:txBody>
      </p:sp>
      <p:sp>
        <p:nvSpPr>
          <p:cNvPr id="43" name="Text 41"/>
          <p:cNvSpPr txBox="1"/>
          <p:nvPr/>
        </p:nvSpPr>
        <p:spPr>
          <a:xfrm>
            <a:off x="5486400" y="5468112"/>
            <a:ext cx="1920240" cy="365760"/>
          </a:xfrm>
          <a:prstGeom prst="rect">
            <a:avLst/>
          </a:prstGeom>
          <a:noFill/>
          <a:ln/>
        </p:spPr>
        <p:txBody>
          <a:bodyPr wrap="square" lIns="0" tIns="0" rIns="0" bIns="0" rtlCol="0" anchor="t"/>
          <a:lstStyle/>
          <a:p>
            <a:pPr marL="0" indent="0" algn="ctr">
              <a:lnSpc>
                <a:spcPts val="1100"/>
              </a:lnSpc>
              <a:buNone/>
            </a:pPr>
            <a:r>
              <a:rPr lang="en-US" sz="900" dirty="0">
                <a:solidFill>
                  <a:srgbClr val="A3B4C4"/>
                </a:solidFill>
                <a:latin typeface="Calibri" pitchFamily="34" charset="0"/>
                <a:ea typeface="Calibri" pitchFamily="34" charset="-122"/>
                <a:cs typeface="Calibri" pitchFamily="34" charset="-120"/>
              </a:rPr>
              <a:t>Live positions and cache</a:t>
            </a:r>
            <a:endParaRPr lang="en-US" sz="900" dirty="0"/>
          </a:p>
        </p:txBody>
      </p:sp>
      <p:sp>
        <p:nvSpPr>
          <p:cNvPr id="44" name="Text 42"/>
          <p:cNvSpPr txBox="1"/>
          <p:nvPr/>
        </p:nvSpPr>
        <p:spPr>
          <a:xfrm>
            <a:off x="7863840" y="1627632"/>
            <a:ext cx="3760927" cy="219456"/>
          </a:xfrm>
          <a:prstGeom prst="rect">
            <a:avLst/>
          </a:prstGeom>
          <a:noFill/>
          <a:ln/>
        </p:spPr>
        <p:txBody>
          <a:bodyPr wrap="square" lIns="0" tIns="0" rIns="0" bIns="0" rtlCol="0" anchor="t"/>
          <a:lstStyle/>
          <a:p>
            <a:pPr marL="0" indent="0">
              <a:buNone/>
            </a:pPr>
            <a:r>
              <a:rPr lang="en-US" sz="900" b="1" kern="0" spc="160" dirty="0">
                <a:solidFill>
                  <a:srgbClr val="FF9E5E"/>
                </a:solidFill>
                <a:latin typeface="Arial" pitchFamily="34" charset="0"/>
                <a:ea typeface="Arial" pitchFamily="34" charset="-122"/>
                <a:cs typeface="Arial" pitchFamily="34" charset="-120"/>
              </a:rPr>
              <a:t>CONNECTS TO</a:t>
            </a:r>
            <a:endParaRPr lang="en-US" sz="900" dirty="0"/>
          </a:p>
        </p:txBody>
      </p:sp>
      <p:sp>
        <p:nvSpPr>
          <p:cNvPr id="45" name="Shape 43"/>
          <p:cNvSpPr/>
          <p:nvPr/>
        </p:nvSpPr>
        <p:spPr>
          <a:xfrm>
            <a:off x="7863840" y="1929384"/>
            <a:ext cx="365760" cy="365760"/>
          </a:xfrm>
          <a:prstGeom prst="ellipse">
            <a:avLst/>
          </a:prstGeom>
          <a:solidFill>
            <a:srgbClr val="18222D"/>
          </a:solidFill>
          <a:ln/>
        </p:spPr>
      </p:sp>
      <p:pic>
        <p:nvPicPr>
          <p:cNvPr id="46" name="Image 0" descr="preencoded.png"/>
          <p:cNvPicPr>
            <a:picLocks noChangeAspect="1"/>
          </p:cNvPicPr>
          <p:nvPr/>
        </p:nvPicPr>
        <p:blipFill>
          <a:blip r:embed="rId3"/>
          <a:stretch>
            <a:fillRect/>
          </a:stretch>
        </p:blipFill>
        <p:spPr>
          <a:xfrm>
            <a:off x="7958938" y="2024482"/>
            <a:ext cx="175565" cy="175565"/>
          </a:xfrm>
          <a:prstGeom prst="rect">
            <a:avLst/>
          </a:prstGeom>
        </p:spPr>
      </p:pic>
      <p:sp>
        <p:nvSpPr>
          <p:cNvPr id="47" name="Text 44"/>
          <p:cNvSpPr txBox="1"/>
          <p:nvPr/>
        </p:nvSpPr>
        <p:spPr>
          <a:xfrm>
            <a:off x="8339328" y="1901952"/>
            <a:ext cx="3285439" cy="42062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HRMS</a:t>
            </a:r>
            <a:r>
              <a:rPr lang="en-US" sz="950" dirty="0">
                <a:solidFill>
                  <a:srgbClr val="A3B4C4"/>
                </a:solidFill>
                <a:latin typeface="Calibri" pitchFamily="34" charset="0"/>
                <a:ea typeface="Calibri" pitchFamily="34" charset="-122"/>
                <a:cs typeface="Calibri" pitchFamily="34" charset="-120"/>
              </a:rPr>
              <a:t>   Employee master</a:t>
            </a:r>
            <a:endParaRPr lang="en-US" sz="1050" dirty="0"/>
          </a:p>
        </p:txBody>
      </p:sp>
      <p:sp>
        <p:nvSpPr>
          <p:cNvPr id="48" name="Shape 45"/>
          <p:cNvSpPr/>
          <p:nvPr/>
        </p:nvSpPr>
        <p:spPr>
          <a:xfrm>
            <a:off x="7863840" y="2404872"/>
            <a:ext cx="365760" cy="365760"/>
          </a:xfrm>
          <a:prstGeom prst="ellipse">
            <a:avLst/>
          </a:prstGeom>
          <a:solidFill>
            <a:srgbClr val="18222D"/>
          </a:solidFill>
          <a:ln/>
        </p:spPr>
      </p:sp>
      <p:pic>
        <p:nvPicPr>
          <p:cNvPr id="49" name="Image 1" descr="preencoded.png"/>
          <p:cNvPicPr>
            <a:picLocks noChangeAspect="1"/>
          </p:cNvPicPr>
          <p:nvPr/>
        </p:nvPicPr>
        <p:blipFill>
          <a:blip r:embed="rId4"/>
          <a:stretch>
            <a:fillRect/>
          </a:stretch>
        </p:blipFill>
        <p:spPr>
          <a:xfrm>
            <a:off x="7958938" y="2499970"/>
            <a:ext cx="175565" cy="175565"/>
          </a:xfrm>
          <a:prstGeom prst="rect">
            <a:avLst/>
          </a:prstGeom>
        </p:spPr>
      </p:pic>
      <p:sp>
        <p:nvSpPr>
          <p:cNvPr id="50" name="Text 46"/>
          <p:cNvSpPr txBox="1"/>
          <p:nvPr/>
        </p:nvSpPr>
        <p:spPr>
          <a:xfrm>
            <a:off x="8339328" y="2377440"/>
            <a:ext cx="3285439" cy="42062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SSO / AD</a:t>
            </a:r>
            <a:r>
              <a:rPr lang="en-US" sz="950" dirty="0">
                <a:solidFill>
                  <a:srgbClr val="A3B4C4"/>
                </a:solidFill>
                <a:latin typeface="Calibri" pitchFamily="34" charset="0"/>
                <a:ea typeface="Calibri" pitchFamily="34" charset="-122"/>
                <a:cs typeface="Calibri" pitchFamily="34" charset="-120"/>
              </a:rPr>
              <a:t>   Company login</a:t>
            </a:r>
            <a:endParaRPr lang="en-US" sz="1050" dirty="0"/>
          </a:p>
        </p:txBody>
      </p:sp>
      <p:sp>
        <p:nvSpPr>
          <p:cNvPr id="51" name="Shape 47"/>
          <p:cNvSpPr/>
          <p:nvPr/>
        </p:nvSpPr>
        <p:spPr>
          <a:xfrm>
            <a:off x="7863840" y="2880360"/>
            <a:ext cx="365760" cy="365760"/>
          </a:xfrm>
          <a:prstGeom prst="ellipse">
            <a:avLst/>
          </a:prstGeom>
          <a:solidFill>
            <a:srgbClr val="18222D"/>
          </a:solidFill>
          <a:ln/>
        </p:spPr>
      </p:sp>
      <p:pic>
        <p:nvPicPr>
          <p:cNvPr id="52" name="Image 2" descr="preencoded.png"/>
          <p:cNvPicPr>
            <a:picLocks noChangeAspect="1"/>
          </p:cNvPicPr>
          <p:nvPr/>
        </p:nvPicPr>
        <p:blipFill>
          <a:blip r:embed="rId5"/>
          <a:stretch>
            <a:fillRect/>
          </a:stretch>
        </p:blipFill>
        <p:spPr>
          <a:xfrm>
            <a:off x="7958938" y="2975458"/>
            <a:ext cx="175565" cy="175565"/>
          </a:xfrm>
          <a:prstGeom prst="rect">
            <a:avLst/>
          </a:prstGeom>
        </p:spPr>
      </p:pic>
      <p:sp>
        <p:nvSpPr>
          <p:cNvPr id="53" name="Text 48"/>
          <p:cNvSpPr txBox="1"/>
          <p:nvPr/>
        </p:nvSpPr>
        <p:spPr>
          <a:xfrm>
            <a:off x="8339328" y="2852928"/>
            <a:ext cx="3285439" cy="42062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ERP / SAP</a:t>
            </a:r>
            <a:r>
              <a:rPr lang="en-US" sz="950" dirty="0">
                <a:solidFill>
                  <a:srgbClr val="A3B4C4"/>
                </a:solidFill>
                <a:latin typeface="Calibri" pitchFamily="34" charset="0"/>
                <a:ea typeface="Calibri" pitchFamily="34" charset="-122"/>
                <a:cs typeface="Calibri" pitchFamily="34" charset="-120"/>
              </a:rPr>
              <a:t>   Cost centres</a:t>
            </a:r>
            <a:endParaRPr lang="en-US" sz="1050" dirty="0"/>
          </a:p>
        </p:txBody>
      </p:sp>
      <p:sp>
        <p:nvSpPr>
          <p:cNvPr id="54" name="Shape 49"/>
          <p:cNvSpPr/>
          <p:nvPr/>
        </p:nvSpPr>
        <p:spPr>
          <a:xfrm>
            <a:off x="7863840" y="3355848"/>
            <a:ext cx="365760" cy="365760"/>
          </a:xfrm>
          <a:prstGeom prst="ellipse">
            <a:avLst/>
          </a:prstGeom>
          <a:solidFill>
            <a:srgbClr val="18222D"/>
          </a:solidFill>
          <a:ln/>
        </p:spPr>
      </p:sp>
      <p:pic>
        <p:nvPicPr>
          <p:cNvPr id="55" name="Image 3" descr="preencoded.png"/>
          <p:cNvPicPr>
            <a:picLocks noChangeAspect="1"/>
          </p:cNvPicPr>
          <p:nvPr/>
        </p:nvPicPr>
        <p:blipFill>
          <a:blip r:embed="rId6"/>
          <a:stretch>
            <a:fillRect/>
          </a:stretch>
        </p:blipFill>
        <p:spPr>
          <a:xfrm>
            <a:off x="7958938" y="3450946"/>
            <a:ext cx="175565" cy="175565"/>
          </a:xfrm>
          <a:prstGeom prst="rect">
            <a:avLst/>
          </a:prstGeom>
        </p:spPr>
      </p:pic>
      <p:sp>
        <p:nvSpPr>
          <p:cNvPr id="56" name="Text 50"/>
          <p:cNvSpPr txBox="1"/>
          <p:nvPr/>
        </p:nvSpPr>
        <p:spPr>
          <a:xfrm>
            <a:off x="8339328" y="3328416"/>
            <a:ext cx="3285439" cy="42062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SMS &amp; WhatsApp</a:t>
            </a:r>
            <a:r>
              <a:rPr lang="en-US" sz="950" dirty="0">
                <a:solidFill>
                  <a:srgbClr val="A3B4C4"/>
                </a:solidFill>
                <a:latin typeface="Calibri" pitchFamily="34" charset="0"/>
                <a:ea typeface="Calibri" pitchFamily="34" charset="-122"/>
                <a:cs typeface="Calibri" pitchFamily="34" charset="-120"/>
              </a:rPr>
              <a:t>   Notification gateway</a:t>
            </a:r>
            <a:endParaRPr lang="en-US" sz="1050" dirty="0"/>
          </a:p>
        </p:txBody>
      </p:sp>
      <p:sp>
        <p:nvSpPr>
          <p:cNvPr id="57" name="Shape 51"/>
          <p:cNvSpPr/>
          <p:nvPr/>
        </p:nvSpPr>
        <p:spPr>
          <a:xfrm>
            <a:off x="7863840" y="3831336"/>
            <a:ext cx="365760" cy="365760"/>
          </a:xfrm>
          <a:prstGeom prst="ellipse">
            <a:avLst/>
          </a:prstGeom>
          <a:solidFill>
            <a:srgbClr val="18222D"/>
          </a:solidFill>
          <a:ln/>
        </p:spPr>
      </p:sp>
      <p:pic>
        <p:nvPicPr>
          <p:cNvPr id="58" name="Image 4" descr="preencoded.png"/>
          <p:cNvPicPr>
            <a:picLocks noChangeAspect="1"/>
          </p:cNvPicPr>
          <p:nvPr/>
        </p:nvPicPr>
        <p:blipFill>
          <a:blip r:embed="rId7"/>
          <a:stretch>
            <a:fillRect/>
          </a:stretch>
        </p:blipFill>
        <p:spPr>
          <a:xfrm>
            <a:off x="7958938" y="3926434"/>
            <a:ext cx="175565" cy="175565"/>
          </a:xfrm>
          <a:prstGeom prst="rect">
            <a:avLst/>
          </a:prstGeom>
        </p:spPr>
      </p:pic>
      <p:sp>
        <p:nvSpPr>
          <p:cNvPr id="59" name="Text 52"/>
          <p:cNvSpPr txBox="1"/>
          <p:nvPr/>
        </p:nvSpPr>
        <p:spPr>
          <a:xfrm>
            <a:off x="8339328" y="3803904"/>
            <a:ext cx="3285439" cy="42062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Maps</a:t>
            </a:r>
            <a:r>
              <a:rPr lang="en-US" sz="950" dirty="0">
                <a:solidFill>
                  <a:srgbClr val="A3B4C4"/>
                </a:solidFill>
                <a:latin typeface="Calibri" pitchFamily="34" charset="0"/>
                <a:ea typeface="Calibri" pitchFamily="34" charset="-122"/>
                <a:cs typeface="Calibri" pitchFamily="34" charset="-120"/>
              </a:rPr>
              <a:t>   Plant road network</a:t>
            </a:r>
            <a:endParaRPr lang="en-US" sz="1050" dirty="0"/>
          </a:p>
        </p:txBody>
      </p:sp>
      <p:sp>
        <p:nvSpPr>
          <p:cNvPr id="60" name="Shape 53"/>
          <p:cNvSpPr/>
          <p:nvPr/>
        </p:nvSpPr>
        <p:spPr>
          <a:xfrm>
            <a:off x="7863840" y="4306824"/>
            <a:ext cx="365760" cy="365760"/>
          </a:xfrm>
          <a:prstGeom prst="ellipse">
            <a:avLst/>
          </a:prstGeom>
          <a:solidFill>
            <a:srgbClr val="18222D"/>
          </a:solidFill>
          <a:ln/>
        </p:spPr>
      </p:sp>
      <p:pic>
        <p:nvPicPr>
          <p:cNvPr id="61" name="Image 5" descr="preencoded.png"/>
          <p:cNvPicPr>
            <a:picLocks noChangeAspect="1"/>
          </p:cNvPicPr>
          <p:nvPr/>
        </p:nvPicPr>
        <p:blipFill>
          <a:blip r:embed="rId8"/>
          <a:stretch>
            <a:fillRect/>
          </a:stretch>
        </p:blipFill>
        <p:spPr>
          <a:xfrm>
            <a:off x="7958938" y="4401922"/>
            <a:ext cx="175565" cy="175565"/>
          </a:xfrm>
          <a:prstGeom prst="rect">
            <a:avLst/>
          </a:prstGeom>
        </p:spPr>
      </p:pic>
      <p:sp>
        <p:nvSpPr>
          <p:cNvPr id="62" name="Text 54"/>
          <p:cNvSpPr txBox="1"/>
          <p:nvPr/>
        </p:nvSpPr>
        <p:spPr>
          <a:xfrm>
            <a:off x="8339328" y="4279392"/>
            <a:ext cx="3285439" cy="42062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GPS devices</a:t>
            </a:r>
            <a:r>
              <a:rPr lang="en-US" sz="950" dirty="0">
                <a:solidFill>
                  <a:srgbClr val="A3B4C4"/>
                </a:solidFill>
                <a:latin typeface="Calibri" pitchFamily="34" charset="0"/>
                <a:ea typeface="Calibri" pitchFamily="34" charset="-122"/>
                <a:cs typeface="Calibri" pitchFamily="34" charset="-120"/>
              </a:rPr>
              <a:t>   AIS-140 and phone GPS</a:t>
            </a:r>
            <a:endParaRPr lang="en-US" sz="1050" dirty="0"/>
          </a:p>
        </p:txBody>
      </p:sp>
      <p:sp>
        <p:nvSpPr>
          <p:cNvPr id="63" name="Shape 55"/>
          <p:cNvSpPr/>
          <p:nvPr/>
        </p:nvSpPr>
        <p:spPr>
          <a:xfrm>
            <a:off x="7863840" y="4782312"/>
            <a:ext cx="365760" cy="365760"/>
          </a:xfrm>
          <a:prstGeom prst="ellipse">
            <a:avLst/>
          </a:prstGeom>
          <a:solidFill>
            <a:srgbClr val="18222D"/>
          </a:solidFill>
          <a:ln/>
        </p:spPr>
      </p:sp>
      <p:pic>
        <p:nvPicPr>
          <p:cNvPr id="64" name="Image 6" descr="preencoded.png"/>
          <p:cNvPicPr>
            <a:picLocks noChangeAspect="1"/>
          </p:cNvPicPr>
          <p:nvPr/>
        </p:nvPicPr>
        <p:blipFill>
          <a:blip r:embed="rId9"/>
          <a:stretch>
            <a:fillRect/>
          </a:stretch>
        </p:blipFill>
        <p:spPr>
          <a:xfrm>
            <a:off x="7958938" y="4877410"/>
            <a:ext cx="175565" cy="175565"/>
          </a:xfrm>
          <a:prstGeom prst="rect">
            <a:avLst/>
          </a:prstGeom>
        </p:spPr>
      </p:pic>
      <p:sp>
        <p:nvSpPr>
          <p:cNvPr id="65" name="Text 56"/>
          <p:cNvSpPr txBox="1"/>
          <p:nvPr/>
        </p:nvSpPr>
        <p:spPr>
          <a:xfrm>
            <a:off x="8339328" y="4754880"/>
            <a:ext cx="3285439" cy="42062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Gate access</a:t>
            </a:r>
            <a:r>
              <a:rPr lang="en-US" sz="950" dirty="0">
                <a:solidFill>
                  <a:srgbClr val="A3B4C4"/>
                </a:solidFill>
                <a:latin typeface="Calibri" pitchFamily="34" charset="0"/>
                <a:ea typeface="Calibri" pitchFamily="34" charset="-122"/>
                <a:cs typeface="Calibri" pitchFamily="34" charset="-120"/>
              </a:rPr>
              <a:t>   Entry and exit events</a:t>
            </a:r>
            <a:endParaRPr lang="en-US" sz="1050" dirty="0"/>
          </a:p>
        </p:txBody>
      </p:sp>
      <p:sp>
        <p:nvSpPr>
          <p:cNvPr id="66" name="Shape 57"/>
          <p:cNvSpPr/>
          <p:nvPr/>
        </p:nvSpPr>
        <p:spPr>
          <a:xfrm>
            <a:off x="7863840" y="5212080"/>
            <a:ext cx="3760927" cy="786384"/>
          </a:xfrm>
          <a:prstGeom prst="roundRect">
            <a:avLst>
              <a:gd name="adj" fmla="val 13953"/>
            </a:avLst>
          </a:prstGeom>
          <a:solidFill>
            <a:srgbClr val="18222D"/>
          </a:solidFill>
          <a:ln w="12700">
            <a:solidFill>
              <a:srgbClr val="34465A"/>
            </a:solidFill>
            <a:prstDash val="solid"/>
          </a:ln>
        </p:spPr>
      </p:sp>
      <p:sp>
        <p:nvSpPr>
          <p:cNvPr id="67" name="Text 58"/>
          <p:cNvSpPr txBox="1"/>
          <p:nvPr/>
        </p:nvSpPr>
        <p:spPr>
          <a:xfrm>
            <a:off x="8065008" y="5212080"/>
            <a:ext cx="3358591" cy="786384"/>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Deploys on-premise in the LHS data centre or in a dedicated private cloud. </a:t>
            </a:r>
            <a:r>
              <a:rPr lang="en-US" sz="950" dirty="0">
                <a:solidFill>
                  <a:srgbClr val="A3B4C4"/>
                </a:solidFill>
                <a:latin typeface="Calibri" pitchFamily="34" charset="0"/>
                <a:ea typeface="Calibri" pitchFamily="34" charset="-122"/>
                <a:cs typeface="Calibri" pitchFamily="34" charset="-120"/>
              </a:rPr>
              <a:t>Open APIs and webhooks let other LHS systems read trips and events.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5E6D7D"/>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5E6D7D"/>
                </a:solidFill>
                <a:latin typeface="Arial" pitchFamily="34" charset="0"/>
                <a:ea typeface="Arial" pitchFamily="34" charset="-122"/>
                <a:cs typeface="Arial" pitchFamily="34" charset="-120"/>
              </a:rPr>
              <a:t>19</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ROLLOUT</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16202B"/>
                </a:solidFill>
                <a:latin typeface="Arial" pitchFamily="34" charset="0"/>
                <a:ea typeface="Arial" pitchFamily="34" charset="-122"/>
                <a:cs typeface="Arial" pitchFamily="34" charset="-120"/>
              </a:rPr>
              <a:t>Start small, prove the numbers, then scale</a:t>
            </a:r>
            <a:endParaRPr lang="en-US" sz="3000" dirty="0"/>
          </a:p>
        </p:txBody>
      </p:sp>
      <p:sp>
        <p:nvSpPr>
          <p:cNvPr id="6" name="Text 4"/>
          <p:cNvSpPr txBox="1"/>
          <p:nvPr/>
        </p:nvSpPr>
        <p:spPr>
          <a:xfrm>
            <a:off x="566928" y="1179576"/>
            <a:ext cx="9509742" cy="274320"/>
          </a:xfrm>
          <a:prstGeom prst="rect">
            <a:avLst/>
          </a:prstGeom>
          <a:noFill/>
          <a:ln/>
        </p:spPr>
        <p:txBody>
          <a:bodyPr wrap="square" lIns="0" tIns="0" rIns="0" bIns="0" rtlCol="0" anchor="ctr"/>
          <a:lstStyle/>
          <a:p>
            <a:pPr marL="0" indent="0">
              <a:buNone/>
            </a:pPr>
            <a:r>
              <a:rPr lang="en-US" sz="1300" dirty="0">
                <a:solidFill>
                  <a:srgbClr val="5E6D7D"/>
                </a:solidFill>
                <a:latin typeface="Calibri" pitchFamily="34" charset="0"/>
                <a:ea typeface="Calibri" pitchFamily="34" charset="-122"/>
                <a:cs typeface="Calibri" pitchFamily="34" charset="-120"/>
              </a:rPr>
              <a:t>Each phase ends with a decision point. Nothing scales until the phase before it has measured its benefit.</a:t>
            </a:r>
            <a:endParaRPr lang="en-US" sz="1300" dirty="0"/>
          </a:p>
        </p:txBody>
      </p:sp>
      <p:sp>
        <p:nvSpPr>
          <p:cNvPr id="7" name="Shape 5"/>
          <p:cNvSpPr/>
          <p:nvPr/>
        </p:nvSpPr>
        <p:spPr>
          <a:xfrm>
            <a:off x="566928" y="1755648"/>
            <a:ext cx="2558720" cy="4005072"/>
          </a:xfrm>
          <a:prstGeom prst="roundRect">
            <a:avLst>
              <a:gd name="adj" fmla="val 4288"/>
            </a:avLst>
          </a:prstGeom>
          <a:solidFill>
            <a:srgbClr val="FFFFFF"/>
          </a:solidFill>
          <a:ln w="12700">
            <a:solidFill>
              <a:srgbClr val="DCE4EC"/>
            </a:solidFill>
            <a:prstDash val="solid"/>
          </a:ln>
          <a:effectLst>
            <a:outerShdw blurRad="127000" dist="25400" dir="5400000" algn="bl" rotWithShape="0">
              <a:srgbClr val="0E141B">
                <a:alpha val="10000"/>
              </a:srgbClr>
            </a:outerShdw>
          </a:effectLst>
        </p:spPr>
      </p:sp>
      <p:sp>
        <p:nvSpPr>
          <p:cNvPr id="8" name="Shape 6"/>
          <p:cNvSpPr/>
          <p:nvPr/>
        </p:nvSpPr>
        <p:spPr>
          <a:xfrm>
            <a:off x="841248" y="2029968"/>
            <a:ext cx="512064" cy="512064"/>
          </a:xfrm>
          <a:prstGeom prst="ellipse">
            <a:avLst/>
          </a:prstGeom>
          <a:solidFill>
            <a:srgbClr val="5E6D7D"/>
          </a:solidFill>
          <a:ln/>
        </p:spPr>
      </p:sp>
      <p:sp>
        <p:nvSpPr>
          <p:cNvPr id="9" name="Text 7"/>
          <p:cNvSpPr txBox="1"/>
          <p:nvPr/>
        </p:nvSpPr>
        <p:spPr>
          <a:xfrm>
            <a:off x="841248" y="202996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841248" y="2651760"/>
            <a:ext cx="2010080" cy="201168"/>
          </a:xfrm>
          <a:prstGeom prst="rect">
            <a:avLst/>
          </a:prstGeom>
          <a:noFill/>
          <a:ln/>
        </p:spPr>
        <p:txBody>
          <a:bodyPr wrap="square" lIns="0" tIns="0" rIns="0" bIns="0" rtlCol="0" anchor="ctr"/>
          <a:lstStyle/>
          <a:p>
            <a:pPr marL="0" indent="0">
              <a:buNone/>
            </a:pPr>
            <a:r>
              <a:rPr lang="en-US" sz="850" b="1" kern="0" spc="160" dirty="0">
                <a:solidFill>
                  <a:srgbClr val="5E6D7D"/>
                </a:solidFill>
                <a:latin typeface="Arial" pitchFamily="34" charset="0"/>
                <a:ea typeface="Arial" pitchFamily="34" charset="-122"/>
                <a:cs typeface="Arial" pitchFamily="34" charset="-120"/>
              </a:rPr>
              <a:t>PHASE 1</a:t>
            </a:r>
            <a:endParaRPr lang="en-US" sz="850" dirty="0"/>
          </a:p>
        </p:txBody>
      </p:sp>
      <p:sp>
        <p:nvSpPr>
          <p:cNvPr id="11" name="Text 9"/>
          <p:cNvSpPr txBox="1"/>
          <p:nvPr/>
        </p:nvSpPr>
        <p:spPr>
          <a:xfrm>
            <a:off x="841248" y="2852928"/>
            <a:ext cx="2010080" cy="347472"/>
          </a:xfrm>
          <a:prstGeom prst="rect">
            <a:avLst/>
          </a:prstGeom>
          <a:noFill/>
          <a:ln/>
        </p:spPr>
        <p:txBody>
          <a:bodyPr wrap="square" lIns="0" tIns="0" rIns="0" bIns="0" rtlCol="0" anchor="ctr"/>
          <a:lstStyle/>
          <a:p>
            <a:pPr marL="0" indent="0">
              <a:buNone/>
            </a:pPr>
            <a:r>
              <a:rPr lang="en-US" sz="1900" b="1" dirty="0">
                <a:solidFill>
                  <a:srgbClr val="16202B"/>
                </a:solidFill>
                <a:latin typeface="Arial" pitchFamily="34" charset="0"/>
                <a:ea typeface="Arial" pitchFamily="34" charset="-122"/>
                <a:cs typeface="Arial" pitchFamily="34" charset="-120"/>
              </a:rPr>
              <a:t>Discover</a:t>
            </a:r>
            <a:endParaRPr lang="en-US" sz="1900" dirty="0"/>
          </a:p>
        </p:txBody>
      </p:sp>
      <p:sp>
        <p:nvSpPr>
          <p:cNvPr id="12" name="Shape 10"/>
          <p:cNvSpPr/>
          <p:nvPr/>
        </p:nvSpPr>
        <p:spPr>
          <a:xfrm>
            <a:off x="859536" y="3419856"/>
            <a:ext cx="91440" cy="91440"/>
          </a:xfrm>
          <a:prstGeom prst="ellipse">
            <a:avLst/>
          </a:prstGeom>
          <a:solidFill>
            <a:srgbClr val="5E6D7D"/>
          </a:solidFill>
          <a:ln/>
        </p:spPr>
      </p:sp>
      <p:sp>
        <p:nvSpPr>
          <p:cNvPr id="13" name="Text 11"/>
          <p:cNvSpPr txBox="1"/>
          <p:nvPr/>
        </p:nvSpPr>
        <p:spPr>
          <a:xfrm>
            <a:off x="1078992" y="3328416"/>
            <a:ext cx="1772336" cy="548640"/>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Workshops with transport, HR, finance and security</a:t>
            </a:r>
            <a:endParaRPr lang="en-US" sz="1000" dirty="0"/>
          </a:p>
        </p:txBody>
      </p:sp>
      <p:sp>
        <p:nvSpPr>
          <p:cNvPr id="14" name="Shape 12"/>
          <p:cNvSpPr/>
          <p:nvPr/>
        </p:nvSpPr>
        <p:spPr>
          <a:xfrm>
            <a:off x="859536" y="4023360"/>
            <a:ext cx="91440" cy="91440"/>
          </a:xfrm>
          <a:prstGeom prst="ellipse">
            <a:avLst/>
          </a:prstGeom>
          <a:solidFill>
            <a:srgbClr val="5E6D7D"/>
          </a:solidFill>
          <a:ln/>
        </p:spPr>
      </p:sp>
      <p:sp>
        <p:nvSpPr>
          <p:cNvPr id="15" name="Text 13"/>
          <p:cNvSpPr txBox="1"/>
          <p:nvPr/>
        </p:nvSpPr>
        <p:spPr>
          <a:xfrm>
            <a:off x="1078992" y="3931920"/>
            <a:ext cx="1772336" cy="548640"/>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GPS survey of the pilot area and the plant road network</a:t>
            </a:r>
            <a:endParaRPr lang="en-US" sz="1000" dirty="0"/>
          </a:p>
        </p:txBody>
      </p:sp>
      <p:sp>
        <p:nvSpPr>
          <p:cNvPr id="16" name="Shape 14"/>
          <p:cNvSpPr/>
          <p:nvPr/>
        </p:nvSpPr>
        <p:spPr>
          <a:xfrm>
            <a:off x="859536" y="4626864"/>
            <a:ext cx="91440" cy="91440"/>
          </a:xfrm>
          <a:prstGeom prst="ellipse">
            <a:avLst/>
          </a:prstGeom>
          <a:solidFill>
            <a:srgbClr val="5E6D7D"/>
          </a:solidFill>
          <a:ln/>
        </p:spPr>
      </p:sp>
      <p:sp>
        <p:nvSpPr>
          <p:cNvPr id="17" name="Text 15"/>
          <p:cNvSpPr txBox="1"/>
          <p:nvPr/>
        </p:nvSpPr>
        <p:spPr>
          <a:xfrm>
            <a:off x="1078992" y="4535424"/>
            <a:ext cx="1772336" cy="548640"/>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Master data set up: vehicles, drivers, stops, routes, cost centres</a:t>
            </a:r>
            <a:endParaRPr lang="en-US" sz="1000" dirty="0"/>
          </a:p>
        </p:txBody>
      </p:sp>
      <p:sp>
        <p:nvSpPr>
          <p:cNvPr id="18" name="Shape 16"/>
          <p:cNvSpPr/>
          <p:nvPr/>
        </p:nvSpPr>
        <p:spPr>
          <a:xfrm>
            <a:off x="859536" y="5230368"/>
            <a:ext cx="91440" cy="91440"/>
          </a:xfrm>
          <a:prstGeom prst="ellipse">
            <a:avLst/>
          </a:prstGeom>
          <a:solidFill>
            <a:srgbClr val="5E6D7D"/>
          </a:solidFill>
          <a:ln/>
        </p:spPr>
      </p:sp>
      <p:sp>
        <p:nvSpPr>
          <p:cNvPr id="19" name="Text 17"/>
          <p:cNvSpPr txBox="1"/>
          <p:nvPr/>
        </p:nvSpPr>
        <p:spPr>
          <a:xfrm>
            <a:off x="1078992" y="5138928"/>
            <a:ext cx="1772336" cy="548640"/>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Baselines measured and success targets agreed</a:t>
            </a:r>
            <a:endParaRPr lang="en-US" sz="1000" dirty="0"/>
          </a:p>
        </p:txBody>
      </p:sp>
      <p:sp>
        <p:nvSpPr>
          <p:cNvPr id="20" name="Shape 18"/>
          <p:cNvSpPr/>
          <p:nvPr/>
        </p:nvSpPr>
        <p:spPr>
          <a:xfrm>
            <a:off x="3399968" y="1755648"/>
            <a:ext cx="2558720" cy="4005072"/>
          </a:xfrm>
          <a:prstGeom prst="roundRect">
            <a:avLst>
              <a:gd name="adj" fmla="val 4288"/>
            </a:avLst>
          </a:prstGeom>
          <a:solidFill>
            <a:srgbClr val="0E141B"/>
          </a:solidFill>
          <a:ln/>
        </p:spPr>
      </p:sp>
      <p:sp>
        <p:nvSpPr>
          <p:cNvPr id="21" name="Shape 19"/>
          <p:cNvSpPr/>
          <p:nvPr/>
        </p:nvSpPr>
        <p:spPr>
          <a:xfrm>
            <a:off x="3674288" y="2029968"/>
            <a:ext cx="512064" cy="512064"/>
          </a:xfrm>
          <a:prstGeom prst="ellipse">
            <a:avLst/>
          </a:prstGeom>
          <a:solidFill>
            <a:srgbClr val="E85D04"/>
          </a:solidFill>
          <a:ln/>
        </p:spPr>
      </p:sp>
      <p:sp>
        <p:nvSpPr>
          <p:cNvPr id="22" name="Text 20"/>
          <p:cNvSpPr txBox="1"/>
          <p:nvPr/>
        </p:nvSpPr>
        <p:spPr>
          <a:xfrm>
            <a:off x="3674288" y="202996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23" name="Text 21"/>
          <p:cNvSpPr txBox="1"/>
          <p:nvPr/>
        </p:nvSpPr>
        <p:spPr>
          <a:xfrm>
            <a:off x="3674288" y="2651760"/>
            <a:ext cx="2010080" cy="201168"/>
          </a:xfrm>
          <a:prstGeom prst="rect">
            <a:avLst/>
          </a:prstGeom>
          <a:noFill/>
          <a:ln/>
        </p:spPr>
        <p:txBody>
          <a:bodyPr wrap="square" lIns="0" tIns="0" rIns="0" bIns="0" rtlCol="0" anchor="ctr"/>
          <a:lstStyle/>
          <a:p>
            <a:pPr marL="0" indent="0">
              <a:buNone/>
            </a:pPr>
            <a:r>
              <a:rPr lang="en-US" sz="850" b="1" kern="0" spc="160" dirty="0">
                <a:solidFill>
                  <a:srgbClr val="A3B4C4"/>
                </a:solidFill>
                <a:latin typeface="Arial" pitchFamily="34" charset="0"/>
                <a:ea typeface="Arial" pitchFamily="34" charset="-122"/>
                <a:cs typeface="Arial" pitchFamily="34" charset="-120"/>
              </a:rPr>
              <a:t>PHASE 2</a:t>
            </a:r>
            <a:endParaRPr lang="en-US" sz="850" dirty="0"/>
          </a:p>
        </p:txBody>
      </p:sp>
      <p:sp>
        <p:nvSpPr>
          <p:cNvPr id="24" name="Text 22"/>
          <p:cNvSpPr txBox="1"/>
          <p:nvPr/>
        </p:nvSpPr>
        <p:spPr>
          <a:xfrm>
            <a:off x="3674288" y="2852928"/>
            <a:ext cx="2010080" cy="347472"/>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Pilot</a:t>
            </a:r>
            <a:endParaRPr lang="en-US" sz="1900" dirty="0"/>
          </a:p>
        </p:txBody>
      </p:sp>
      <p:sp>
        <p:nvSpPr>
          <p:cNvPr id="25" name="Shape 23"/>
          <p:cNvSpPr/>
          <p:nvPr/>
        </p:nvSpPr>
        <p:spPr>
          <a:xfrm>
            <a:off x="3692576" y="3419856"/>
            <a:ext cx="91440" cy="91440"/>
          </a:xfrm>
          <a:prstGeom prst="ellipse">
            <a:avLst/>
          </a:prstGeom>
          <a:solidFill>
            <a:srgbClr val="E85D04"/>
          </a:solidFill>
          <a:ln/>
        </p:spPr>
      </p:sp>
      <p:sp>
        <p:nvSpPr>
          <p:cNvPr id="26" name="Text 24"/>
          <p:cNvSpPr txBox="1"/>
          <p:nvPr/>
        </p:nvSpPr>
        <p:spPr>
          <a:xfrm>
            <a:off x="3912032" y="3328416"/>
            <a:ext cx="1772336" cy="548640"/>
          </a:xfrm>
          <a:prstGeom prst="rect">
            <a:avLst/>
          </a:prstGeom>
          <a:noFill/>
          <a:ln/>
        </p:spPr>
        <p:txBody>
          <a:bodyPr wrap="square" lIns="0" tIns="0" rIns="0" bIns="0" rtlCol="0" anchor="t"/>
          <a:lstStyle/>
          <a:p>
            <a:pPr marL="0" indent="0">
              <a:lnSpc>
                <a:spcPts val="1300"/>
              </a:lnSpc>
              <a:buNone/>
            </a:pPr>
            <a:r>
              <a:rPr lang="en-US" sz="1000" dirty="0">
                <a:solidFill>
                  <a:srgbClr val="A3B4C4"/>
                </a:solidFill>
                <a:latin typeface="Calibri" pitchFamily="34" charset="0"/>
                <a:ea typeface="Calibri" pitchFamily="34" charset="-122"/>
                <a:cs typeface="Calibri" pitchFamily="34" charset="-120"/>
              </a:rPr>
              <a:t>One site and the three configured routes</a:t>
            </a:r>
            <a:endParaRPr lang="en-US" sz="1000" dirty="0"/>
          </a:p>
        </p:txBody>
      </p:sp>
      <p:sp>
        <p:nvSpPr>
          <p:cNvPr id="27" name="Shape 25"/>
          <p:cNvSpPr/>
          <p:nvPr/>
        </p:nvSpPr>
        <p:spPr>
          <a:xfrm>
            <a:off x="3692576" y="4023360"/>
            <a:ext cx="91440" cy="91440"/>
          </a:xfrm>
          <a:prstGeom prst="ellipse">
            <a:avLst/>
          </a:prstGeom>
          <a:solidFill>
            <a:srgbClr val="E85D04"/>
          </a:solidFill>
          <a:ln/>
        </p:spPr>
      </p:sp>
      <p:sp>
        <p:nvSpPr>
          <p:cNvPr id="28" name="Text 26"/>
          <p:cNvSpPr txBox="1"/>
          <p:nvPr/>
        </p:nvSpPr>
        <p:spPr>
          <a:xfrm>
            <a:off x="3912032" y="3931920"/>
            <a:ext cx="1772336" cy="548640"/>
          </a:xfrm>
          <a:prstGeom prst="rect">
            <a:avLst/>
          </a:prstGeom>
          <a:noFill/>
          <a:ln/>
        </p:spPr>
        <p:txBody>
          <a:bodyPr wrap="square" lIns="0" tIns="0" rIns="0" bIns="0" rtlCol="0" anchor="t"/>
          <a:lstStyle/>
          <a:p>
            <a:pPr marL="0" indent="0">
              <a:lnSpc>
                <a:spcPts val="1300"/>
              </a:lnSpc>
              <a:buNone/>
            </a:pPr>
            <a:r>
              <a:rPr lang="en-US" sz="1000" dirty="0">
                <a:solidFill>
                  <a:srgbClr val="A3B4C4"/>
                </a:solidFill>
                <a:latin typeface="Calibri" pitchFamily="34" charset="0"/>
                <a:ea typeface="Calibri" pitchFamily="34" charset="-122"/>
                <a:cs typeface="Calibri" pitchFamily="34" charset="-120"/>
              </a:rPr>
              <a:t>Scheduled, shuttle and exclusive rides</a:t>
            </a:r>
            <a:endParaRPr lang="en-US" sz="1000" dirty="0"/>
          </a:p>
        </p:txBody>
      </p:sp>
      <p:sp>
        <p:nvSpPr>
          <p:cNvPr id="29" name="Shape 27"/>
          <p:cNvSpPr/>
          <p:nvPr/>
        </p:nvSpPr>
        <p:spPr>
          <a:xfrm>
            <a:off x="3692576" y="4626864"/>
            <a:ext cx="91440" cy="91440"/>
          </a:xfrm>
          <a:prstGeom prst="ellipse">
            <a:avLst/>
          </a:prstGeom>
          <a:solidFill>
            <a:srgbClr val="E85D04"/>
          </a:solidFill>
          <a:ln/>
        </p:spPr>
      </p:sp>
      <p:sp>
        <p:nvSpPr>
          <p:cNvPr id="30" name="Text 28"/>
          <p:cNvSpPr txBox="1"/>
          <p:nvPr/>
        </p:nvSpPr>
        <p:spPr>
          <a:xfrm>
            <a:off x="3912032" y="4535424"/>
            <a:ext cx="1772336" cy="548640"/>
          </a:xfrm>
          <a:prstGeom prst="rect">
            <a:avLst/>
          </a:prstGeom>
          <a:noFill/>
          <a:ln/>
        </p:spPr>
        <p:txBody>
          <a:bodyPr wrap="square" lIns="0" tIns="0" rIns="0" bIns="0" rtlCol="0" anchor="t"/>
          <a:lstStyle/>
          <a:p>
            <a:pPr marL="0" indent="0">
              <a:lnSpc>
                <a:spcPts val="1300"/>
              </a:lnSpc>
              <a:buNone/>
            </a:pPr>
            <a:r>
              <a:rPr lang="en-US" sz="1000" dirty="0">
                <a:solidFill>
                  <a:srgbClr val="A3B4C4"/>
                </a:solidFill>
                <a:latin typeface="Calibri" pitchFamily="34" charset="0"/>
                <a:ea typeface="Calibri" pitchFamily="34" charset="-122"/>
                <a:cs typeface="Calibri" pitchFamily="34" charset="-120"/>
              </a:rPr>
              <a:t>Driver app, OTP boarding and live tracking links</a:t>
            </a:r>
            <a:endParaRPr lang="en-US" sz="1000" dirty="0"/>
          </a:p>
        </p:txBody>
      </p:sp>
      <p:sp>
        <p:nvSpPr>
          <p:cNvPr id="31" name="Shape 29"/>
          <p:cNvSpPr/>
          <p:nvPr/>
        </p:nvSpPr>
        <p:spPr>
          <a:xfrm>
            <a:off x="3692576" y="5230368"/>
            <a:ext cx="91440" cy="91440"/>
          </a:xfrm>
          <a:prstGeom prst="ellipse">
            <a:avLst/>
          </a:prstGeom>
          <a:solidFill>
            <a:srgbClr val="E85D04"/>
          </a:solidFill>
          <a:ln/>
        </p:spPr>
      </p:sp>
      <p:sp>
        <p:nvSpPr>
          <p:cNvPr id="32" name="Text 30"/>
          <p:cNvSpPr txBox="1"/>
          <p:nvPr/>
        </p:nvSpPr>
        <p:spPr>
          <a:xfrm>
            <a:off x="3912032" y="5138928"/>
            <a:ext cx="1772336" cy="548640"/>
          </a:xfrm>
          <a:prstGeom prst="rect">
            <a:avLst/>
          </a:prstGeom>
          <a:noFill/>
          <a:ln/>
        </p:spPr>
        <p:txBody>
          <a:bodyPr wrap="square" lIns="0" tIns="0" rIns="0" bIns="0" rtlCol="0" anchor="t"/>
          <a:lstStyle/>
          <a:p>
            <a:pPr marL="0" indent="0">
              <a:lnSpc>
                <a:spcPts val="1300"/>
              </a:lnSpc>
              <a:buNone/>
            </a:pPr>
            <a:r>
              <a:rPr lang="en-US" sz="1000" dirty="0">
                <a:solidFill>
                  <a:srgbClr val="A3B4C4"/>
                </a:solidFill>
                <a:latin typeface="Calibri" pitchFamily="34" charset="0"/>
                <a:ea typeface="Calibri" pitchFamily="34" charset="-122"/>
                <a:cs typeface="Calibri" pitchFamily="34" charset="-120"/>
              </a:rPr>
              <a:t>Command centre live for the transport desk</a:t>
            </a:r>
            <a:endParaRPr lang="en-US" sz="1000" dirty="0"/>
          </a:p>
        </p:txBody>
      </p:sp>
      <p:sp>
        <p:nvSpPr>
          <p:cNvPr id="33" name="Shape 31"/>
          <p:cNvSpPr/>
          <p:nvPr/>
        </p:nvSpPr>
        <p:spPr>
          <a:xfrm>
            <a:off x="6233008" y="1755648"/>
            <a:ext cx="2558720" cy="4005072"/>
          </a:xfrm>
          <a:prstGeom prst="roundRect">
            <a:avLst>
              <a:gd name="adj" fmla="val 4288"/>
            </a:avLst>
          </a:prstGeom>
          <a:solidFill>
            <a:srgbClr val="FFFFFF"/>
          </a:solidFill>
          <a:ln w="12700">
            <a:solidFill>
              <a:srgbClr val="DCE4EC"/>
            </a:solidFill>
            <a:prstDash val="solid"/>
          </a:ln>
          <a:effectLst>
            <a:outerShdw blurRad="127000" dist="25400" dir="5400000" algn="bl" rotWithShape="0">
              <a:srgbClr val="0E141B">
                <a:alpha val="10000"/>
              </a:srgbClr>
            </a:outerShdw>
          </a:effectLst>
        </p:spPr>
      </p:sp>
      <p:sp>
        <p:nvSpPr>
          <p:cNvPr id="34" name="Shape 32"/>
          <p:cNvSpPr/>
          <p:nvPr/>
        </p:nvSpPr>
        <p:spPr>
          <a:xfrm>
            <a:off x="6507328" y="2029968"/>
            <a:ext cx="512064" cy="512064"/>
          </a:xfrm>
          <a:prstGeom prst="ellipse">
            <a:avLst/>
          </a:prstGeom>
          <a:solidFill>
            <a:srgbClr val="E85D04"/>
          </a:solidFill>
          <a:ln/>
        </p:spPr>
      </p:sp>
      <p:sp>
        <p:nvSpPr>
          <p:cNvPr id="35" name="Text 33"/>
          <p:cNvSpPr txBox="1"/>
          <p:nvPr/>
        </p:nvSpPr>
        <p:spPr>
          <a:xfrm>
            <a:off x="6507328" y="202996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36" name="Text 34"/>
          <p:cNvSpPr txBox="1"/>
          <p:nvPr/>
        </p:nvSpPr>
        <p:spPr>
          <a:xfrm>
            <a:off x="6507328" y="2651760"/>
            <a:ext cx="2010080" cy="201168"/>
          </a:xfrm>
          <a:prstGeom prst="rect">
            <a:avLst/>
          </a:prstGeom>
          <a:noFill/>
          <a:ln/>
        </p:spPr>
        <p:txBody>
          <a:bodyPr wrap="square" lIns="0" tIns="0" rIns="0" bIns="0" rtlCol="0" anchor="ctr"/>
          <a:lstStyle/>
          <a:p>
            <a:pPr marL="0" indent="0">
              <a:buNone/>
            </a:pPr>
            <a:r>
              <a:rPr lang="en-US" sz="850" b="1" kern="0" spc="160" dirty="0">
                <a:solidFill>
                  <a:srgbClr val="5E6D7D"/>
                </a:solidFill>
                <a:latin typeface="Arial" pitchFamily="34" charset="0"/>
                <a:ea typeface="Arial" pitchFamily="34" charset="-122"/>
                <a:cs typeface="Arial" pitchFamily="34" charset="-120"/>
              </a:rPr>
              <a:t>PHASE 3</a:t>
            </a:r>
            <a:endParaRPr lang="en-US" sz="850" dirty="0"/>
          </a:p>
        </p:txBody>
      </p:sp>
      <p:sp>
        <p:nvSpPr>
          <p:cNvPr id="37" name="Text 35"/>
          <p:cNvSpPr txBox="1"/>
          <p:nvPr/>
        </p:nvSpPr>
        <p:spPr>
          <a:xfrm>
            <a:off x="6507328" y="2852928"/>
            <a:ext cx="2010080" cy="347472"/>
          </a:xfrm>
          <a:prstGeom prst="rect">
            <a:avLst/>
          </a:prstGeom>
          <a:noFill/>
          <a:ln/>
        </p:spPr>
        <p:txBody>
          <a:bodyPr wrap="square" lIns="0" tIns="0" rIns="0" bIns="0" rtlCol="0" anchor="ctr"/>
          <a:lstStyle/>
          <a:p>
            <a:pPr marL="0" indent="0">
              <a:buNone/>
            </a:pPr>
            <a:r>
              <a:rPr lang="en-US" sz="1900" b="1" dirty="0">
                <a:solidFill>
                  <a:srgbClr val="16202B"/>
                </a:solidFill>
                <a:latin typeface="Arial" pitchFamily="34" charset="0"/>
                <a:ea typeface="Arial" pitchFamily="34" charset="-122"/>
                <a:cs typeface="Arial" pitchFamily="34" charset="-120"/>
              </a:rPr>
              <a:t>Scale</a:t>
            </a:r>
            <a:endParaRPr lang="en-US" sz="1900" dirty="0"/>
          </a:p>
        </p:txBody>
      </p:sp>
      <p:sp>
        <p:nvSpPr>
          <p:cNvPr id="38" name="Shape 36"/>
          <p:cNvSpPr/>
          <p:nvPr/>
        </p:nvSpPr>
        <p:spPr>
          <a:xfrm>
            <a:off x="6525616" y="3419856"/>
            <a:ext cx="91440" cy="91440"/>
          </a:xfrm>
          <a:prstGeom prst="ellipse">
            <a:avLst/>
          </a:prstGeom>
          <a:solidFill>
            <a:srgbClr val="E85D04"/>
          </a:solidFill>
          <a:ln/>
        </p:spPr>
      </p:sp>
      <p:sp>
        <p:nvSpPr>
          <p:cNvPr id="39" name="Text 37"/>
          <p:cNvSpPr txBox="1"/>
          <p:nvPr/>
        </p:nvSpPr>
        <p:spPr>
          <a:xfrm>
            <a:off x="6745072" y="3328416"/>
            <a:ext cx="1772336" cy="548640"/>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All sites and vendor cabs onboarded</a:t>
            </a:r>
            <a:endParaRPr lang="en-US" sz="1000" dirty="0"/>
          </a:p>
        </p:txBody>
      </p:sp>
      <p:sp>
        <p:nvSpPr>
          <p:cNvPr id="40" name="Shape 38"/>
          <p:cNvSpPr/>
          <p:nvPr/>
        </p:nvSpPr>
        <p:spPr>
          <a:xfrm>
            <a:off x="6525616" y="4023360"/>
            <a:ext cx="91440" cy="91440"/>
          </a:xfrm>
          <a:prstGeom prst="ellipse">
            <a:avLst/>
          </a:prstGeom>
          <a:solidFill>
            <a:srgbClr val="E85D04"/>
          </a:solidFill>
          <a:ln/>
        </p:spPr>
      </p:sp>
      <p:sp>
        <p:nvSpPr>
          <p:cNvPr id="41" name="Text 39"/>
          <p:cNvSpPr txBox="1"/>
          <p:nvPr/>
        </p:nvSpPr>
        <p:spPr>
          <a:xfrm>
            <a:off x="6745072" y="3931920"/>
            <a:ext cx="1772336" cy="548640"/>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Cost-centre billing and the month-end ERP export</a:t>
            </a:r>
            <a:endParaRPr lang="en-US" sz="1000" dirty="0"/>
          </a:p>
        </p:txBody>
      </p:sp>
      <p:sp>
        <p:nvSpPr>
          <p:cNvPr id="42" name="Shape 40"/>
          <p:cNvSpPr/>
          <p:nvPr/>
        </p:nvSpPr>
        <p:spPr>
          <a:xfrm>
            <a:off x="6525616" y="4626864"/>
            <a:ext cx="91440" cy="91440"/>
          </a:xfrm>
          <a:prstGeom prst="ellipse">
            <a:avLst/>
          </a:prstGeom>
          <a:solidFill>
            <a:srgbClr val="E85D04"/>
          </a:solidFill>
          <a:ln/>
        </p:spPr>
      </p:sp>
      <p:sp>
        <p:nvSpPr>
          <p:cNvPr id="43" name="Text 41"/>
          <p:cNvSpPr txBox="1"/>
          <p:nvPr/>
        </p:nvSpPr>
        <p:spPr>
          <a:xfrm>
            <a:off x="6745072" y="4535424"/>
            <a:ext cx="1772336" cy="548640"/>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All notification channels including WhatsApp</a:t>
            </a:r>
            <a:endParaRPr lang="en-US" sz="1000" dirty="0"/>
          </a:p>
        </p:txBody>
      </p:sp>
      <p:sp>
        <p:nvSpPr>
          <p:cNvPr id="44" name="Shape 42"/>
          <p:cNvSpPr/>
          <p:nvPr/>
        </p:nvSpPr>
        <p:spPr>
          <a:xfrm>
            <a:off x="6525616" y="5230368"/>
            <a:ext cx="91440" cy="91440"/>
          </a:xfrm>
          <a:prstGeom prst="ellipse">
            <a:avLst/>
          </a:prstGeom>
          <a:solidFill>
            <a:srgbClr val="E85D04"/>
          </a:solidFill>
          <a:ln/>
        </p:spPr>
      </p:sp>
      <p:sp>
        <p:nvSpPr>
          <p:cNvPr id="45" name="Text 43"/>
          <p:cNvSpPr txBox="1"/>
          <p:nvPr/>
        </p:nvSpPr>
        <p:spPr>
          <a:xfrm>
            <a:off x="6745072" y="5138928"/>
            <a:ext cx="1772336" cy="548640"/>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Vendor portal and GPS-versus-bill checking</a:t>
            </a:r>
            <a:endParaRPr lang="en-US" sz="1000" dirty="0"/>
          </a:p>
        </p:txBody>
      </p:sp>
      <p:sp>
        <p:nvSpPr>
          <p:cNvPr id="46" name="Shape 44"/>
          <p:cNvSpPr/>
          <p:nvPr/>
        </p:nvSpPr>
        <p:spPr>
          <a:xfrm>
            <a:off x="9066047" y="1755648"/>
            <a:ext cx="2558720" cy="4005072"/>
          </a:xfrm>
          <a:prstGeom prst="roundRect">
            <a:avLst>
              <a:gd name="adj" fmla="val 4288"/>
            </a:avLst>
          </a:prstGeom>
          <a:solidFill>
            <a:srgbClr val="FFFFFF"/>
          </a:solidFill>
          <a:ln w="12700">
            <a:solidFill>
              <a:srgbClr val="DCE4EC"/>
            </a:solidFill>
            <a:prstDash val="solid"/>
          </a:ln>
          <a:effectLst>
            <a:outerShdw blurRad="127000" dist="25400" dir="5400000" algn="bl" rotWithShape="0">
              <a:srgbClr val="0E141B">
                <a:alpha val="10000"/>
              </a:srgbClr>
            </a:outerShdw>
          </a:effectLst>
        </p:spPr>
      </p:sp>
      <p:sp>
        <p:nvSpPr>
          <p:cNvPr id="47" name="Shape 45"/>
          <p:cNvSpPr/>
          <p:nvPr/>
        </p:nvSpPr>
        <p:spPr>
          <a:xfrm>
            <a:off x="9340367" y="2029968"/>
            <a:ext cx="512064" cy="512064"/>
          </a:xfrm>
          <a:prstGeom prst="ellipse">
            <a:avLst/>
          </a:prstGeom>
          <a:solidFill>
            <a:srgbClr val="00A896"/>
          </a:solidFill>
          <a:ln/>
        </p:spPr>
      </p:sp>
      <p:sp>
        <p:nvSpPr>
          <p:cNvPr id="48" name="Text 46"/>
          <p:cNvSpPr txBox="1"/>
          <p:nvPr/>
        </p:nvSpPr>
        <p:spPr>
          <a:xfrm>
            <a:off x="9340367" y="202996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49" name="Text 47"/>
          <p:cNvSpPr txBox="1"/>
          <p:nvPr/>
        </p:nvSpPr>
        <p:spPr>
          <a:xfrm>
            <a:off x="9340367" y="2651760"/>
            <a:ext cx="2010080" cy="201168"/>
          </a:xfrm>
          <a:prstGeom prst="rect">
            <a:avLst/>
          </a:prstGeom>
          <a:noFill/>
          <a:ln/>
        </p:spPr>
        <p:txBody>
          <a:bodyPr wrap="square" lIns="0" tIns="0" rIns="0" bIns="0" rtlCol="0" anchor="ctr"/>
          <a:lstStyle/>
          <a:p>
            <a:pPr marL="0" indent="0">
              <a:buNone/>
            </a:pPr>
            <a:r>
              <a:rPr lang="en-US" sz="850" b="1" kern="0" spc="160" dirty="0">
                <a:solidFill>
                  <a:srgbClr val="5E6D7D"/>
                </a:solidFill>
                <a:latin typeface="Arial" pitchFamily="34" charset="0"/>
                <a:ea typeface="Arial" pitchFamily="34" charset="-122"/>
                <a:cs typeface="Arial" pitchFamily="34" charset="-120"/>
              </a:rPr>
              <a:t>PHASE 4</a:t>
            </a:r>
            <a:endParaRPr lang="en-US" sz="850" dirty="0"/>
          </a:p>
        </p:txBody>
      </p:sp>
      <p:sp>
        <p:nvSpPr>
          <p:cNvPr id="50" name="Text 48"/>
          <p:cNvSpPr txBox="1"/>
          <p:nvPr/>
        </p:nvSpPr>
        <p:spPr>
          <a:xfrm>
            <a:off x="9340367" y="2852928"/>
            <a:ext cx="2010080" cy="347472"/>
          </a:xfrm>
          <a:prstGeom prst="rect">
            <a:avLst/>
          </a:prstGeom>
          <a:noFill/>
          <a:ln/>
        </p:spPr>
        <p:txBody>
          <a:bodyPr wrap="square" lIns="0" tIns="0" rIns="0" bIns="0" rtlCol="0" anchor="ctr"/>
          <a:lstStyle/>
          <a:p>
            <a:pPr marL="0" indent="0">
              <a:buNone/>
            </a:pPr>
            <a:r>
              <a:rPr lang="en-US" sz="1900" b="1" dirty="0">
                <a:solidFill>
                  <a:srgbClr val="16202B"/>
                </a:solidFill>
                <a:latin typeface="Arial" pitchFamily="34" charset="0"/>
                <a:ea typeface="Arial" pitchFamily="34" charset="-122"/>
                <a:cs typeface="Arial" pitchFamily="34" charset="-120"/>
              </a:rPr>
              <a:t>Optimize</a:t>
            </a:r>
            <a:endParaRPr lang="en-US" sz="1900" dirty="0"/>
          </a:p>
        </p:txBody>
      </p:sp>
      <p:sp>
        <p:nvSpPr>
          <p:cNvPr id="51" name="Shape 49"/>
          <p:cNvSpPr/>
          <p:nvPr/>
        </p:nvSpPr>
        <p:spPr>
          <a:xfrm>
            <a:off x="9358655" y="3419856"/>
            <a:ext cx="91440" cy="91440"/>
          </a:xfrm>
          <a:prstGeom prst="ellipse">
            <a:avLst/>
          </a:prstGeom>
          <a:solidFill>
            <a:srgbClr val="00A896"/>
          </a:solidFill>
          <a:ln/>
        </p:spPr>
      </p:sp>
      <p:sp>
        <p:nvSpPr>
          <p:cNvPr id="52" name="Text 50"/>
          <p:cNvSpPr txBox="1"/>
          <p:nvPr/>
        </p:nvSpPr>
        <p:spPr>
          <a:xfrm>
            <a:off x="9578111" y="3328416"/>
            <a:ext cx="1772336" cy="548640"/>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Shared on-demand pooling switched on</a:t>
            </a:r>
            <a:endParaRPr lang="en-US" sz="1000" dirty="0"/>
          </a:p>
        </p:txBody>
      </p:sp>
      <p:sp>
        <p:nvSpPr>
          <p:cNvPr id="53" name="Shape 51"/>
          <p:cNvSpPr/>
          <p:nvPr/>
        </p:nvSpPr>
        <p:spPr>
          <a:xfrm>
            <a:off x="9358655" y="4023360"/>
            <a:ext cx="91440" cy="91440"/>
          </a:xfrm>
          <a:prstGeom prst="ellipse">
            <a:avLst/>
          </a:prstGeom>
          <a:solidFill>
            <a:srgbClr val="00A896"/>
          </a:solidFill>
          <a:ln/>
        </p:spPr>
      </p:sp>
      <p:sp>
        <p:nvSpPr>
          <p:cNvPr id="54" name="Text 52"/>
          <p:cNvSpPr txBox="1"/>
          <p:nvPr/>
        </p:nvSpPr>
        <p:spPr>
          <a:xfrm>
            <a:off x="9578111" y="3931920"/>
            <a:ext cx="1772336" cy="548640"/>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Demand forecasting and pre-positioning of cabs</a:t>
            </a:r>
            <a:endParaRPr lang="en-US" sz="1000" dirty="0"/>
          </a:p>
        </p:txBody>
      </p:sp>
      <p:sp>
        <p:nvSpPr>
          <p:cNvPr id="55" name="Shape 53"/>
          <p:cNvSpPr/>
          <p:nvPr/>
        </p:nvSpPr>
        <p:spPr>
          <a:xfrm>
            <a:off x="9358655" y="4626864"/>
            <a:ext cx="91440" cy="91440"/>
          </a:xfrm>
          <a:prstGeom prst="ellipse">
            <a:avLst/>
          </a:prstGeom>
          <a:solidFill>
            <a:srgbClr val="00A896"/>
          </a:solidFill>
          <a:ln/>
        </p:spPr>
      </p:sp>
      <p:sp>
        <p:nvSpPr>
          <p:cNvPr id="56" name="Text 54"/>
          <p:cNvSpPr txBox="1"/>
          <p:nvPr/>
        </p:nvSpPr>
        <p:spPr>
          <a:xfrm>
            <a:off x="9578111" y="4535424"/>
            <a:ext cx="1772336" cy="548640"/>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Route solver for scheduled batches</a:t>
            </a:r>
            <a:endParaRPr lang="en-US" sz="1000" dirty="0"/>
          </a:p>
        </p:txBody>
      </p:sp>
      <p:sp>
        <p:nvSpPr>
          <p:cNvPr id="57" name="Shape 55"/>
          <p:cNvSpPr/>
          <p:nvPr/>
        </p:nvSpPr>
        <p:spPr>
          <a:xfrm>
            <a:off x="9358655" y="5230368"/>
            <a:ext cx="91440" cy="91440"/>
          </a:xfrm>
          <a:prstGeom prst="ellipse">
            <a:avLst/>
          </a:prstGeom>
          <a:solidFill>
            <a:srgbClr val="00A896"/>
          </a:solidFill>
          <a:ln/>
        </p:spPr>
      </p:sp>
      <p:sp>
        <p:nvSpPr>
          <p:cNvPr id="58" name="Text 56"/>
          <p:cNvSpPr txBox="1"/>
          <p:nvPr/>
        </p:nvSpPr>
        <p:spPr>
          <a:xfrm>
            <a:off x="9578111" y="5138928"/>
            <a:ext cx="1772336" cy="548640"/>
          </a:xfrm>
          <a:prstGeom prst="rect">
            <a:avLst/>
          </a:prstGeom>
          <a:noFill/>
          <a:ln/>
        </p:spPr>
        <p:txBody>
          <a:bodyPr wrap="square" lIns="0" tIns="0" rIns="0" bIns="0" rtlCol="0" anchor="t"/>
          <a:lstStyle/>
          <a:p>
            <a:pPr marL="0" indent="0">
              <a:lnSpc>
                <a:spcPts val="1300"/>
              </a:lnSpc>
              <a:buNone/>
            </a:pPr>
            <a:r>
              <a:rPr lang="en-US" sz="1000" dirty="0">
                <a:solidFill>
                  <a:srgbClr val="5E6D7D"/>
                </a:solidFill>
                <a:latin typeface="Calibri" pitchFamily="34" charset="0"/>
                <a:ea typeface="Calibri" pitchFamily="34" charset="-122"/>
                <a:cs typeface="Calibri" pitchFamily="34" charset="-120"/>
              </a:rPr>
              <a:t>Fleet right-sizing on real utilization data</a:t>
            </a:r>
            <a:endParaRPr lang="en-US" sz="1000" dirty="0"/>
          </a:p>
        </p:txBody>
      </p:sp>
      <p:sp>
        <p:nvSpPr>
          <p:cNvPr id="59" name="Text 57"/>
          <p:cNvSpPr txBox="1"/>
          <p:nvPr/>
        </p:nvSpPr>
        <p:spPr>
          <a:xfrm>
            <a:off x="566928" y="5907024"/>
            <a:ext cx="11057839" cy="274320"/>
          </a:xfrm>
          <a:prstGeom prst="rect">
            <a:avLst/>
          </a:prstGeom>
          <a:noFill/>
          <a:ln/>
        </p:spPr>
        <p:txBody>
          <a:bodyPr wrap="square" lIns="0" tIns="0" rIns="0" bIns="0" rtlCol="0" anchor="t"/>
          <a:lstStyle/>
          <a:p>
            <a:pPr marL="0" indent="0">
              <a:buNone/>
            </a:pPr>
            <a:r>
              <a:rPr lang="en-US" sz="1050" i="1" dirty="0">
                <a:solidFill>
                  <a:srgbClr val="5E6D7D"/>
                </a:solidFill>
                <a:latin typeface="Calibri" pitchFamily="34" charset="0"/>
                <a:ea typeface="Calibri" pitchFamily="34" charset="-122"/>
                <a:cs typeface="Calibri" pitchFamily="34" charset="-120"/>
              </a:rPr>
              <a:t>Durations are set after discovery, once team size, scale and the integration list are known. Manual desk booking stays live through the first two months as a fallback.</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41B"/>
        </a:solidFill>
        <a:effectLst/>
      </p:bgPr>
    </p:bg>
    <p:spTree>
      <p:nvGrpSpPr>
        <p:cNvPr id="1" name=""/>
        <p:cNvGrpSpPr/>
        <p:nvPr/>
      </p:nvGrpSpPr>
      <p:grpSpPr>
        <a:xfrm>
          <a:off x="0" y="0"/>
          <a:ext cx="0" cy="0"/>
          <a:chOff x="0" y="0"/>
          <a:chExt cx="0" cy="0"/>
        </a:xfrm>
      </p:grpSpPr>
      <p:sp>
        <p:nvSpPr>
          <p:cNvPr id="2" name="Text 0"/>
          <p:cNvSpPr txBox="1"/>
          <p:nvPr/>
        </p:nvSpPr>
        <p:spPr>
          <a:xfrm>
            <a:off x="566928" y="6382512"/>
            <a:ext cx="5486400" cy="274320"/>
          </a:xfrm>
          <a:prstGeom prst="rect">
            <a:avLst/>
          </a:prstGeom>
          <a:noFill/>
          <a:ln/>
        </p:spPr>
        <p:txBody>
          <a:bodyPr wrap="square" lIns="0" tIns="0" rIns="0" bIns="0" rtlCol="0" anchor="ctr"/>
          <a:lstStyle/>
          <a:p>
            <a:pPr marL="0" indent="0">
              <a:buNone/>
            </a:pPr>
            <a:r>
              <a:rPr lang="en-US" sz="900" kern="0" spc="60" dirty="0">
                <a:solidFill>
                  <a:srgbClr val="A3B4C4"/>
                </a:solidFill>
                <a:latin typeface="Calibri" pitchFamily="34" charset="0"/>
                <a:ea typeface="Calibri" pitchFamily="34" charset="-122"/>
                <a:cs typeface="Calibri" pitchFamily="34" charset="-120"/>
              </a:rPr>
              <a:t>SRM ECO TECH  ·  Plant Ride for LHS</a:t>
            </a:r>
            <a:endParaRPr lang="en-US" sz="900" dirty="0"/>
          </a:p>
        </p:txBody>
      </p:sp>
      <p:sp>
        <p:nvSpPr>
          <p:cNvPr id="3" name="Text 1"/>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1000" b="1" dirty="0">
                <a:solidFill>
                  <a:srgbClr val="A3B4C4"/>
                </a:solidFill>
                <a:latin typeface="Arial" pitchFamily="34" charset="0"/>
                <a:ea typeface="Arial" pitchFamily="34" charset="-122"/>
                <a:cs typeface="Arial" pitchFamily="34" charset="-120"/>
              </a:rPr>
              <a:t>20</a:t>
            </a:r>
            <a:endParaRPr lang="en-US" sz="1000" dirty="0"/>
          </a:p>
        </p:txBody>
      </p:sp>
      <p:sp>
        <p:nvSpPr>
          <p:cNvPr id="4" name="Text 2"/>
          <p:cNvSpPr txBox="1"/>
          <p:nvPr/>
        </p:nvSpPr>
        <p:spPr>
          <a:xfrm>
            <a:off x="566928" y="402336"/>
            <a:ext cx="11057839" cy="237744"/>
          </a:xfrm>
          <a:prstGeom prst="rect">
            <a:avLst/>
          </a:prstGeom>
          <a:noFill/>
          <a:ln/>
        </p:spPr>
        <p:txBody>
          <a:bodyPr wrap="square" lIns="0" tIns="0" rIns="0" bIns="0" rtlCol="0" anchor="ctr"/>
          <a:lstStyle/>
          <a:p>
            <a:pPr marL="0" indent="0">
              <a:buNone/>
            </a:pPr>
            <a:r>
              <a:rPr lang="en-US" sz="1050" b="1" kern="0" spc="260" dirty="0">
                <a:solidFill>
                  <a:srgbClr val="E85D04"/>
                </a:solidFill>
                <a:latin typeface="Arial" pitchFamily="34" charset="0"/>
                <a:ea typeface="Arial" pitchFamily="34" charset="-122"/>
                <a:cs typeface="Arial" pitchFamily="34" charset="-120"/>
              </a:rPr>
              <a:t>WHAT LHS GAINS</a:t>
            </a:r>
            <a:endParaRPr lang="en-US" sz="1050" dirty="0"/>
          </a:p>
        </p:txBody>
      </p:sp>
      <p:sp>
        <p:nvSpPr>
          <p:cNvPr id="5" name="Text 3"/>
          <p:cNvSpPr txBox="1"/>
          <p:nvPr/>
        </p:nvSpPr>
        <p:spPr>
          <a:xfrm>
            <a:off x="566928" y="658368"/>
            <a:ext cx="11057839" cy="512064"/>
          </a:xfrm>
          <a:prstGeom prst="rect">
            <a:avLst/>
          </a:prstGeom>
          <a:noFill/>
          <a:ln/>
        </p:spPr>
        <p:txBody>
          <a:bodyPr wrap="square" lIns="0" tIns="0" rIns="0" bIns="0" rtlCol="0" anchor="ctr"/>
          <a:lstStyle/>
          <a:p>
            <a:pPr marL="0" indent="0">
              <a:buNone/>
            </a:pPr>
            <a:r>
              <a:rPr lang="en-US" sz="3000" b="1" kern="0" spc="-40" dirty="0">
                <a:solidFill>
                  <a:srgbClr val="FFFFFF"/>
                </a:solidFill>
                <a:latin typeface="Arial" pitchFamily="34" charset="0"/>
                <a:ea typeface="Arial" pitchFamily="34" charset="-122"/>
                <a:cs typeface="Arial" pitchFamily="34" charset="-120"/>
              </a:rPr>
              <a:t>Less waiting, fuller cabs, full control of plant movement</a:t>
            </a:r>
            <a:endParaRPr lang="en-US" sz="3000" dirty="0"/>
          </a:p>
        </p:txBody>
      </p:sp>
      <p:sp>
        <p:nvSpPr>
          <p:cNvPr id="6" name="Shape 4"/>
          <p:cNvSpPr/>
          <p:nvPr/>
        </p:nvSpPr>
        <p:spPr>
          <a:xfrm>
            <a:off x="566928" y="1554480"/>
            <a:ext cx="2021373" cy="1847088"/>
          </a:xfrm>
          <a:prstGeom prst="roundRect">
            <a:avLst>
              <a:gd name="adj" fmla="val 5941"/>
            </a:avLst>
          </a:prstGeom>
          <a:solidFill>
            <a:srgbClr val="18222D"/>
          </a:solidFill>
          <a:ln w="12700">
            <a:solidFill>
              <a:srgbClr val="34465A"/>
            </a:solidFill>
            <a:prstDash val="solid"/>
          </a:ln>
        </p:spPr>
      </p:sp>
      <p:sp>
        <p:nvSpPr>
          <p:cNvPr id="7" name="Shape 5"/>
          <p:cNvSpPr/>
          <p:nvPr/>
        </p:nvSpPr>
        <p:spPr>
          <a:xfrm>
            <a:off x="804672" y="1773936"/>
            <a:ext cx="512064" cy="512064"/>
          </a:xfrm>
          <a:prstGeom prst="ellipse">
            <a:avLst/>
          </a:prstGeom>
          <a:solidFill>
            <a:srgbClr val="22303F"/>
          </a:solidFill>
          <a:ln/>
        </p:spPr>
      </p:sp>
      <p:pic>
        <p:nvPicPr>
          <p:cNvPr id="8" name="Image 0" descr="preencoded.png"/>
          <p:cNvPicPr>
            <a:picLocks noChangeAspect="1"/>
          </p:cNvPicPr>
          <p:nvPr/>
        </p:nvPicPr>
        <p:blipFill>
          <a:blip r:embed="rId3"/>
          <a:stretch>
            <a:fillRect/>
          </a:stretch>
        </p:blipFill>
        <p:spPr>
          <a:xfrm>
            <a:off x="937809" y="1907073"/>
            <a:ext cx="245791" cy="245791"/>
          </a:xfrm>
          <a:prstGeom prst="rect">
            <a:avLst/>
          </a:prstGeom>
        </p:spPr>
      </p:pic>
      <p:sp>
        <p:nvSpPr>
          <p:cNvPr id="9" name="Text 6"/>
          <p:cNvSpPr txBox="1"/>
          <p:nvPr/>
        </p:nvSpPr>
        <p:spPr>
          <a:xfrm>
            <a:off x="804672" y="2377440"/>
            <a:ext cx="1545885"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Shorter waits</a:t>
            </a:r>
            <a:endParaRPr lang="en-US" sz="1300" dirty="0"/>
          </a:p>
        </p:txBody>
      </p:sp>
      <p:sp>
        <p:nvSpPr>
          <p:cNvPr id="10" name="Text 7"/>
          <p:cNvSpPr txBox="1"/>
          <p:nvPr/>
        </p:nvSpPr>
        <p:spPr>
          <a:xfrm>
            <a:off x="804672" y="2670048"/>
            <a:ext cx="1545885" cy="585216"/>
          </a:xfrm>
          <a:prstGeom prst="rect">
            <a:avLst/>
          </a:prstGeom>
          <a:noFill/>
          <a:ln/>
        </p:spPr>
        <p:txBody>
          <a:bodyPr wrap="square" lIns="0" tIns="0" rIns="0" bIns="0" rtlCol="0" anchor="t"/>
          <a:lstStyle/>
          <a:p>
            <a:pPr marL="0" indent="0">
              <a:lnSpc>
                <a:spcPts val="1300"/>
              </a:lnSpc>
              <a:buNone/>
            </a:pPr>
            <a:r>
              <a:rPr lang="en-US" sz="1000" dirty="0">
                <a:solidFill>
                  <a:srgbClr val="A3B4C4"/>
                </a:solidFill>
                <a:latin typeface="Calibri" pitchFamily="34" charset="0"/>
                <a:ea typeface="Calibri" pitchFamily="34" charset="-122"/>
                <a:cs typeface="Calibri" pitchFamily="34" charset="-120"/>
              </a:rPr>
              <a:t>People see the next cab and its free seats before they walk out.</a:t>
            </a:r>
            <a:endParaRPr lang="en-US" sz="1000" dirty="0"/>
          </a:p>
        </p:txBody>
      </p:sp>
      <p:sp>
        <p:nvSpPr>
          <p:cNvPr id="11" name="Shape 8"/>
          <p:cNvSpPr/>
          <p:nvPr/>
        </p:nvSpPr>
        <p:spPr>
          <a:xfrm>
            <a:off x="2826045" y="1554480"/>
            <a:ext cx="2021373" cy="1847088"/>
          </a:xfrm>
          <a:prstGeom prst="roundRect">
            <a:avLst>
              <a:gd name="adj" fmla="val 5941"/>
            </a:avLst>
          </a:prstGeom>
          <a:solidFill>
            <a:srgbClr val="18222D"/>
          </a:solidFill>
          <a:ln w="12700">
            <a:solidFill>
              <a:srgbClr val="34465A"/>
            </a:solidFill>
            <a:prstDash val="solid"/>
          </a:ln>
        </p:spPr>
      </p:sp>
      <p:sp>
        <p:nvSpPr>
          <p:cNvPr id="12" name="Shape 9"/>
          <p:cNvSpPr/>
          <p:nvPr/>
        </p:nvSpPr>
        <p:spPr>
          <a:xfrm>
            <a:off x="3063789" y="1773936"/>
            <a:ext cx="512064" cy="512064"/>
          </a:xfrm>
          <a:prstGeom prst="ellipse">
            <a:avLst/>
          </a:prstGeom>
          <a:solidFill>
            <a:srgbClr val="22303F"/>
          </a:solidFill>
          <a:ln/>
        </p:spPr>
      </p:sp>
      <p:pic>
        <p:nvPicPr>
          <p:cNvPr id="13" name="Image 1" descr="preencoded.png"/>
          <p:cNvPicPr>
            <a:picLocks noChangeAspect="1"/>
          </p:cNvPicPr>
          <p:nvPr/>
        </p:nvPicPr>
        <p:blipFill>
          <a:blip r:embed="rId4"/>
          <a:stretch>
            <a:fillRect/>
          </a:stretch>
        </p:blipFill>
        <p:spPr>
          <a:xfrm>
            <a:off x="3196925" y="1907073"/>
            <a:ext cx="245791" cy="245791"/>
          </a:xfrm>
          <a:prstGeom prst="rect">
            <a:avLst/>
          </a:prstGeom>
        </p:spPr>
      </p:pic>
      <p:sp>
        <p:nvSpPr>
          <p:cNvPr id="14" name="Text 10"/>
          <p:cNvSpPr txBox="1"/>
          <p:nvPr/>
        </p:nvSpPr>
        <p:spPr>
          <a:xfrm>
            <a:off x="3063789" y="2377440"/>
            <a:ext cx="1545885"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Fuller cabs</a:t>
            </a:r>
            <a:endParaRPr lang="en-US" sz="1300" dirty="0"/>
          </a:p>
        </p:txBody>
      </p:sp>
      <p:sp>
        <p:nvSpPr>
          <p:cNvPr id="15" name="Text 11"/>
          <p:cNvSpPr txBox="1"/>
          <p:nvPr/>
        </p:nvSpPr>
        <p:spPr>
          <a:xfrm>
            <a:off x="3063789" y="2670048"/>
            <a:ext cx="1545885" cy="585216"/>
          </a:xfrm>
          <a:prstGeom prst="rect">
            <a:avLst/>
          </a:prstGeom>
          <a:noFill/>
          <a:ln/>
        </p:spPr>
        <p:txBody>
          <a:bodyPr wrap="square" lIns="0" tIns="0" rIns="0" bIns="0" rtlCol="0" anchor="t"/>
          <a:lstStyle/>
          <a:p>
            <a:pPr marL="0" indent="0">
              <a:lnSpc>
                <a:spcPts val="1300"/>
              </a:lnSpc>
              <a:buNone/>
            </a:pPr>
            <a:r>
              <a:rPr lang="en-US" sz="1000" dirty="0">
                <a:solidFill>
                  <a:srgbClr val="A3B4C4"/>
                </a:solidFill>
                <a:latin typeface="Calibri" pitchFamily="34" charset="0"/>
                <a:ea typeface="Calibri" pitchFamily="34" charset="-122"/>
                <a:cs typeface="Calibri" pitchFamily="34" charset="-120"/>
              </a:rPr>
              <a:t>Sequenced routes and pooling carry more people per trip.</a:t>
            </a:r>
            <a:endParaRPr lang="en-US" sz="1000" dirty="0"/>
          </a:p>
        </p:txBody>
      </p:sp>
      <p:sp>
        <p:nvSpPr>
          <p:cNvPr id="16" name="Shape 12"/>
          <p:cNvSpPr/>
          <p:nvPr/>
        </p:nvSpPr>
        <p:spPr>
          <a:xfrm>
            <a:off x="5085161" y="1554480"/>
            <a:ext cx="2021373" cy="1847088"/>
          </a:xfrm>
          <a:prstGeom prst="roundRect">
            <a:avLst>
              <a:gd name="adj" fmla="val 5941"/>
            </a:avLst>
          </a:prstGeom>
          <a:solidFill>
            <a:srgbClr val="18222D"/>
          </a:solidFill>
          <a:ln w="12700">
            <a:solidFill>
              <a:srgbClr val="34465A"/>
            </a:solidFill>
            <a:prstDash val="solid"/>
          </a:ln>
        </p:spPr>
      </p:sp>
      <p:sp>
        <p:nvSpPr>
          <p:cNvPr id="17" name="Shape 13"/>
          <p:cNvSpPr/>
          <p:nvPr/>
        </p:nvSpPr>
        <p:spPr>
          <a:xfrm>
            <a:off x="5322905" y="1773936"/>
            <a:ext cx="512064" cy="512064"/>
          </a:xfrm>
          <a:prstGeom prst="ellipse">
            <a:avLst/>
          </a:prstGeom>
          <a:solidFill>
            <a:srgbClr val="22303F"/>
          </a:solidFill>
          <a:ln/>
        </p:spPr>
      </p:sp>
      <p:pic>
        <p:nvPicPr>
          <p:cNvPr id="18" name="Image 2" descr="preencoded.png"/>
          <p:cNvPicPr>
            <a:picLocks noChangeAspect="1"/>
          </p:cNvPicPr>
          <p:nvPr/>
        </p:nvPicPr>
        <p:blipFill>
          <a:blip r:embed="rId5"/>
          <a:stretch>
            <a:fillRect/>
          </a:stretch>
        </p:blipFill>
        <p:spPr>
          <a:xfrm>
            <a:off x="5456042" y="1907073"/>
            <a:ext cx="245791" cy="245791"/>
          </a:xfrm>
          <a:prstGeom prst="rect">
            <a:avLst/>
          </a:prstGeom>
        </p:spPr>
      </p:pic>
      <p:sp>
        <p:nvSpPr>
          <p:cNvPr id="19" name="Text 14"/>
          <p:cNvSpPr txBox="1"/>
          <p:nvPr/>
        </p:nvSpPr>
        <p:spPr>
          <a:xfrm>
            <a:off x="5322905" y="2377440"/>
            <a:ext cx="1545885"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Fewer empty km</a:t>
            </a:r>
            <a:endParaRPr lang="en-US" sz="1300" dirty="0"/>
          </a:p>
        </p:txBody>
      </p:sp>
      <p:sp>
        <p:nvSpPr>
          <p:cNvPr id="20" name="Text 15"/>
          <p:cNvSpPr txBox="1"/>
          <p:nvPr/>
        </p:nvSpPr>
        <p:spPr>
          <a:xfrm>
            <a:off x="5322905" y="2670048"/>
            <a:ext cx="1545885" cy="585216"/>
          </a:xfrm>
          <a:prstGeom prst="rect">
            <a:avLst/>
          </a:prstGeom>
          <a:noFill/>
          <a:ln/>
        </p:spPr>
        <p:txBody>
          <a:bodyPr wrap="square" lIns="0" tIns="0" rIns="0" bIns="0" rtlCol="0" anchor="t"/>
          <a:lstStyle/>
          <a:p>
            <a:pPr marL="0" indent="0">
              <a:lnSpc>
                <a:spcPts val="1300"/>
              </a:lnSpc>
              <a:buNone/>
            </a:pPr>
            <a:r>
              <a:rPr lang="en-US" sz="1000" dirty="0">
                <a:solidFill>
                  <a:srgbClr val="A3B4C4"/>
                </a:solidFill>
                <a:latin typeface="Calibri" pitchFamily="34" charset="0"/>
                <a:ea typeface="Calibri" pitchFamily="34" charset="-122"/>
                <a:cs typeface="Calibri" pitchFamily="34" charset="-120"/>
              </a:rPr>
              <a:t>Smart dispatch cuts running with no passengers on board.</a:t>
            </a:r>
            <a:endParaRPr lang="en-US" sz="1000" dirty="0"/>
          </a:p>
        </p:txBody>
      </p:sp>
      <p:sp>
        <p:nvSpPr>
          <p:cNvPr id="21" name="Shape 16"/>
          <p:cNvSpPr/>
          <p:nvPr/>
        </p:nvSpPr>
        <p:spPr>
          <a:xfrm>
            <a:off x="7344278" y="1554480"/>
            <a:ext cx="2021373" cy="1847088"/>
          </a:xfrm>
          <a:prstGeom prst="roundRect">
            <a:avLst>
              <a:gd name="adj" fmla="val 5941"/>
            </a:avLst>
          </a:prstGeom>
          <a:solidFill>
            <a:srgbClr val="18222D"/>
          </a:solidFill>
          <a:ln w="12700">
            <a:solidFill>
              <a:srgbClr val="34465A"/>
            </a:solidFill>
            <a:prstDash val="solid"/>
          </a:ln>
        </p:spPr>
      </p:sp>
      <p:sp>
        <p:nvSpPr>
          <p:cNvPr id="22" name="Shape 17"/>
          <p:cNvSpPr/>
          <p:nvPr/>
        </p:nvSpPr>
        <p:spPr>
          <a:xfrm>
            <a:off x="7582022" y="1773936"/>
            <a:ext cx="512064" cy="512064"/>
          </a:xfrm>
          <a:prstGeom prst="ellipse">
            <a:avLst/>
          </a:prstGeom>
          <a:solidFill>
            <a:srgbClr val="22303F"/>
          </a:solidFill>
          <a:ln/>
        </p:spPr>
      </p:sp>
      <p:pic>
        <p:nvPicPr>
          <p:cNvPr id="23" name="Image 3" descr="preencoded.png"/>
          <p:cNvPicPr>
            <a:picLocks noChangeAspect="1"/>
          </p:cNvPicPr>
          <p:nvPr/>
        </p:nvPicPr>
        <p:blipFill>
          <a:blip r:embed="rId6"/>
          <a:stretch>
            <a:fillRect/>
          </a:stretch>
        </p:blipFill>
        <p:spPr>
          <a:xfrm>
            <a:off x="7715159" y="1907073"/>
            <a:ext cx="245791" cy="245791"/>
          </a:xfrm>
          <a:prstGeom prst="rect">
            <a:avLst/>
          </a:prstGeom>
        </p:spPr>
      </p:pic>
      <p:sp>
        <p:nvSpPr>
          <p:cNvPr id="24" name="Text 18"/>
          <p:cNvSpPr txBox="1"/>
          <p:nvPr/>
        </p:nvSpPr>
        <p:spPr>
          <a:xfrm>
            <a:off x="7582022" y="2377440"/>
            <a:ext cx="1545885"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Clear cost view</a:t>
            </a:r>
            <a:endParaRPr lang="en-US" sz="1300" dirty="0"/>
          </a:p>
        </p:txBody>
      </p:sp>
      <p:sp>
        <p:nvSpPr>
          <p:cNvPr id="25" name="Text 19"/>
          <p:cNvSpPr txBox="1"/>
          <p:nvPr/>
        </p:nvSpPr>
        <p:spPr>
          <a:xfrm>
            <a:off x="7582022" y="2670048"/>
            <a:ext cx="1545885" cy="585216"/>
          </a:xfrm>
          <a:prstGeom prst="rect">
            <a:avLst/>
          </a:prstGeom>
          <a:noFill/>
          <a:ln/>
        </p:spPr>
        <p:txBody>
          <a:bodyPr wrap="square" lIns="0" tIns="0" rIns="0" bIns="0" rtlCol="0" anchor="t"/>
          <a:lstStyle/>
          <a:p>
            <a:pPr marL="0" indent="0">
              <a:lnSpc>
                <a:spcPts val="1300"/>
              </a:lnSpc>
              <a:buNone/>
            </a:pPr>
            <a:r>
              <a:rPr lang="en-US" sz="1000" dirty="0">
                <a:solidFill>
                  <a:srgbClr val="A3B4C4"/>
                </a:solidFill>
                <a:latin typeface="Calibri" pitchFamily="34" charset="0"/>
                <a:ea typeface="Calibri" pitchFamily="34" charset="-122"/>
                <a:cs typeface="Calibri" pitchFamily="34" charset="-120"/>
              </a:rPr>
              <a:t>Every trip traced to a department and a cost centre.</a:t>
            </a:r>
            <a:endParaRPr lang="en-US" sz="1000" dirty="0"/>
          </a:p>
        </p:txBody>
      </p:sp>
      <p:sp>
        <p:nvSpPr>
          <p:cNvPr id="26" name="Shape 20"/>
          <p:cNvSpPr/>
          <p:nvPr/>
        </p:nvSpPr>
        <p:spPr>
          <a:xfrm>
            <a:off x="9603395" y="1554480"/>
            <a:ext cx="2021373" cy="1847088"/>
          </a:xfrm>
          <a:prstGeom prst="roundRect">
            <a:avLst>
              <a:gd name="adj" fmla="val 5941"/>
            </a:avLst>
          </a:prstGeom>
          <a:solidFill>
            <a:srgbClr val="18222D"/>
          </a:solidFill>
          <a:ln w="12700">
            <a:solidFill>
              <a:srgbClr val="34465A"/>
            </a:solidFill>
            <a:prstDash val="solid"/>
          </a:ln>
        </p:spPr>
      </p:sp>
      <p:sp>
        <p:nvSpPr>
          <p:cNvPr id="27" name="Shape 21"/>
          <p:cNvSpPr/>
          <p:nvPr/>
        </p:nvSpPr>
        <p:spPr>
          <a:xfrm>
            <a:off x="9841139" y="1773936"/>
            <a:ext cx="512064" cy="512064"/>
          </a:xfrm>
          <a:prstGeom prst="ellipse">
            <a:avLst/>
          </a:prstGeom>
          <a:solidFill>
            <a:srgbClr val="22303F"/>
          </a:solidFill>
          <a:ln/>
        </p:spPr>
      </p:sp>
      <p:pic>
        <p:nvPicPr>
          <p:cNvPr id="28" name="Image 4" descr="preencoded.png"/>
          <p:cNvPicPr>
            <a:picLocks noChangeAspect="1"/>
          </p:cNvPicPr>
          <p:nvPr/>
        </p:nvPicPr>
        <p:blipFill>
          <a:blip r:embed="rId7"/>
          <a:stretch>
            <a:fillRect/>
          </a:stretch>
        </p:blipFill>
        <p:spPr>
          <a:xfrm>
            <a:off x="9974275" y="1907073"/>
            <a:ext cx="245791" cy="245791"/>
          </a:xfrm>
          <a:prstGeom prst="rect">
            <a:avLst/>
          </a:prstGeom>
        </p:spPr>
      </p:pic>
      <p:sp>
        <p:nvSpPr>
          <p:cNvPr id="29" name="Text 22"/>
          <p:cNvSpPr txBox="1"/>
          <p:nvPr/>
        </p:nvSpPr>
        <p:spPr>
          <a:xfrm>
            <a:off x="9841139" y="2377440"/>
            <a:ext cx="1545885" cy="2743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Safer movement</a:t>
            </a:r>
            <a:endParaRPr lang="en-US" sz="1300" dirty="0"/>
          </a:p>
        </p:txBody>
      </p:sp>
      <p:sp>
        <p:nvSpPr>
          <p:cNvPr id="30" name="Text 23"/>
          <p:cNvSpPr txBox="1"/>
          <p:nvPr/>
        </p:nvSpPr>
        <p:spPr>
          <a:xfrm>
            <a:off x="9841139" y="2670048"/>
            <a:ext cx="1545885" cy="585216"/>
          </a:xfrm>
          <a:prstGeom prst="rect">
            <a:avLst/>
          </a:prstGeom>
          <a:noFill/>
          <a:ln/>
        </p:spPr>
        <p:txBody>
          <a:bodyPr wrap="square" lIns="0" tIns="0" rIns="0" bIns="0" rtlCol="0" anchor="t"/>
          <a:lstStyle/>
          <a:p>
            <a:pPr marL="0" indent="0">
              <a:lnSpc>
                <a:spcPts val="1300"/>
              </a:lnSpc>
              <a:buNone/>
            </a:pPr>
            <a:r>
              <a:rPr lang="en-US" sz="1000" dirty="0">
                <a:solidFill>
                  <a:srgbClr val="A3B4C4"/>
                </a:solidFill>
                <a:latin typeface="Calibri" pitchFamily="34" charset="0"/>
                <a:ea typeface="Calibri" pitchFamily="34" charset="-122"/>
                <a:cs typeface="Calibri" pitchFamily="34" charset="-120"/>
              </a:rPr>
              <a:t>Live alerts, SOS and compliance checks that block dispatch.</a:t>
            </a:r>
            <a:endParaRPr lang="en-US" sz="1000" dirty="0"/>
          </a:p>
        </p:txBody>
      </p:sp>
      <p:sp>
        <p:nvSpPr>
          <p:cNvPr id="31" name="Shape 24"/>
          <p:cNvSpPr/>
          <p:nvPr/>
        </p:nvSpPr>
        <p:spPr>
          <a:xfrm>
            <a:off x="566928" y="3675888"/>
            <a:ext cx="5373472" cy="2103120"/>
          </a:xfrm>
          <a:prstGeom prst="roundRect">
            <a:avLst>
              <a:gd name="adj" fmla="val 5217"/>
            </a:avLst>
          </a:prstGeom>
          <a:solidFill>
            <a:srgbClr val="18222D"/>
          </a:solidFill>
          <a:ln w="12700">
            <a:solidFill>
              <a:srgbClr val="34465A"/>
            </a:solidFill>
            <a:prstDash val="solid"/>
          </a:ln>
        </p:spPr>
      </p:sp>
      <p:sp>
        <p:nvSpPr>
          <p:cNvPr id="32" name="Text 25"/>
          <p:cNvSpPr txBox="1"/>
          <p:nvPr/>
        </p:nvSpPr>
        <p:spPr>
          <a:xfrm>
            <a:off x="841248" y="3858768"/>
            <a:ext cx="4824832" cy="219456"/>
          </a:xfrm>
          <a:prstGeom prst="rect">
            <a:avLst/>
          </a:prstGeom>
          <a:noFill/>
          <a:ln/>
        </p:spPr>
        <p:txBody>
          <a:bodyPr wrap="square" lIns="0" tIns="0" rIns="0" bIns="0" rtlCol="0" anchor="t"/>
          <a:lstStyle/>
          <a:p>
            <a:pPr marL="0" indent="0">
              <a:buNone/>
            </a:pPr>
            <a:r>
              <a:rPr lang="en-US" sz="900" b="1" kern="0" spc="160" dirty="0">
                <a:solidFill>
                  <a:srgbClr val="FF9E5E"/>
                </a:solidFill>
                <a:latin typeface="Arial" pitchFamily="34" charset="0"/>
                <a:ea typeface="Arial" pitchFamily="34" charset="-122"/>
                <a:cs typeface="Arial" pitchFamily="34" charset="-120"/>
              </a:rPr>
              <a:t>WHY SRM ECO TECH</a:t>
            </a:r>
            <a:endParaRPr lang="en-US" sz="900" dirty="0"/>
          </a:p>
        </p:txBody>
      </p:sp>
      <p:sp>
        <p:nvSpPr>
          <p:cNvPr id="33" name="Shape 26"/>
          <p:cNvSpPr/>
          <p:nvPr/>
        </p:nvSpPr>
        <p:spPr>
          <a:xfrm>
            <a:off x="859536" y="4261104"/>
            <a:ext cx="100584" cy="100584"/>
          </a:xfrm>
          <a:prstGeom prst="ellipse">
            <a:avLst/>
          </a:prstGeom>
          <a:solidFill>
            <a:srgbClr val="E85D04"/>
          </a:solidFill>
          <a:ln/>
        </p:spPr>
      </p:sp>
      <p:sp>
        <p:nvSpPr>
          <p:cNvPr id="34" name="Text 27"/>
          <p:cNvSpPr txBox="1"/>
          <p:nvPr/>
        </p:nvSpPr>
        <p:spPr>
          <a:xfrm>
            <a:off x="1097280" y="4133088"/>
            <a:ext cx="456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GPS tracking is already our business</a:t>
            </a:r>
            <a:endParaRPr lang="en-US" sz="1100" dirty="0"/>
          </a:p>
        </p:txBody>
      </p:sp>
      <p:sp>
        <p:nvSpPr>
          <p:cNvPr id="35" name="Text 28"/>
          <p:cNvSpPr txBox="1"/>
          <p:nvPr/>
        </p:nvSpPr>
        <p:spPr>
          <a:xfrm>
            <a:off x="1097280" y="4352544"/>
            <a:ext cx="4568800" cy="274320"/>
          </a:xfrm>
          <a:prstGeom prst="rect">
            <a:avLst/>
          </a:prstGeom>
          <a:noFill/>
          <a:ln/>
        </p:spPr>
        <p:txBody>
          <a:bodyPr wrap="square" lIns="0" tIns="0" rIns="0" bIns="0" rtlCol="0" anchor="t"/>
          <a:lstStyle/>
          <a:p>
            <a:pPr marL="0" indent="0">
              <a:buNone/>
            </a:pPr>
            <a:r>
              <a:rPr lang="en-US" sz="950" dirty="0">
                <a:solidFill>
                  <a:srgbClr val="A3B4C4"/>
                </a:solidFill>
                <a:latin typeface="Calibri" pitchFamily="34" charset="0"/>
                <a:ea typeface="Calibri" pitchFamily="34" charset="-122"/>
                <a:cs typeface="Calibri" pitchFamily="34" charset="-120"/>
              </a:rPr>
              <a:t>We run telematics for trucks and heavy vehicles today.</a:t>
            </a:r>
            <a:endParaRPr lang="en-US" sz="950" dirty="0"/>
          </a:p>
        </p:txBody>
      </p:sp>
      <p:sp>
        <p:nvSpPr>
          <p:cNvPr id="36" name="Shape 29"/>
          <p:cNvSpPr/>
          <p:nvPr/>
        </p:nvSpPr>
        <p:spPr>
          <a:xfrm>
            <a:off x="859536" y="4809744"/>
            <a:ext cx="100584" cy="100584"/>
          </a:xfrm>
          <a:prstGeom prst="ellipse">
            <a:avLst/>
          </a:prstGeom>
          <a:solidFill>
            <a:srgbClr val="E85D04"/>
          </a:solidFill>
          <a:ln/>
        </p:spPr>
      </p:sp>
      <p:sp>
        <p:nvSpPr>
          <p:cNvPr id="37" name="Text 30"/>
          <p:cNvSpPr txBox="1"/>
          <p:nvPr/>
        </p:nvSpPr>
        <p:spPr>
          <a:xfrm>
            <a:off x="1097280" y="4681728"/>
            <a:ext cx="456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Configured for LHS</a:t>
            </a:r>
            <a:endParaRPr lang="en-US" sz="1100" dirty="0"/>
          </a:p>
        </p:txBody>
      </p:sp>
      <p:sp>
        <p:nvSpPr>
          <p:cNvPr id="38" name="Text 31"/>
          <p:cNvSpPr txBox="1"/>
          <p:nvPr/>
        </p:nvSpPr>
        <p:spPr>
          <a:xfrm>
            <a:off x="1097280" y="4901184"/>
            <a:ext cx="4568800" cy="274320"/>
          </a:xfrm>
          <a:prstGeom prst="rect">
            <a:avLst/>
          </a:prstGeom>
          <a:noFill/>
          <a:ln/>
        </p:spPr>
        <p:txBody>
          <a:bodyPr wrap="square" lIns="0" tIns="0" rIns="0" bIns="0" rtlCol="0" anchor="t"/>
          <a:lstStyle/>
          <a:p>
            <a:pPr marL="0" indent="0">
              <a:buNone/>
            </a:pPr>
            <a:r>
              <a:rPr lang="en-US" sz="950" dirty="0">
                <a:solidFill>
                  <a:srgbClr val="A3B4C4"/>
                </a:solidFill>
                <a:latin typeface="Calibri" pitchFamily="34" charset="0"/>
                <a:ea typeface="Calibri" pitchFamily="34" charset="-122"/>
                <a:cs typeface="Calibri" pitchFamily="34" charset="-120"/>
              </a:rPr>
              <a:t>Your sites, shifts, routes, rules and systems - not a generic product.</a:t>
            </a:r>
            <a:endParaRPr lang="en-US" sz="950" dirty="0"/>
          </a:p>
        </p:txBody>
      </p:sp>
      <p:sp>
        <p:nvSpPr>
          <p:cNvPr id="39" name="Shape 32"/>
          <p:cNvSpPr/>
          <p:nvPr/>
        </p:nvSpPr>
        <p:spPr>
          <a:xfrm>
            <a:off x="859536" y="5358384"/>
            <a:ext cx="100584" cy="100584"/>
          </a:xfrm>
          <a:prstGeom prst="ellipse">
            <a:avLst/>
          </a:prstGeom>
          <a:solidFill>
            <a:srgbClr val="E85D04"/>
          </a:solidFill>
          <a:ln/>
        </p:spPr>
      </p:sp>
      <p:sp>
        <p:nvSpPr>
          <p:cNvPr id="40" name="Text 33"/>
          <p:cNvSpPr txBox="1"/>
          <p:nvPr/>
        </p:nvSpPr>
        <p:spPr>
          <a:xfrm>
            <a:off x="1097280" y="5230368"/>
            <a:ext cx="456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Modular and open</a:t>
            </a:r>
            <a:endParaRPr lang="en-US" sz="1100" dirty="0"/>
          </a:p>
        </p:txBody>
      </p:sp>
      <p:sp>
        <p:nvSpPr>
          <p:cNvPr id="41" name="Text 34"/>
          <p:cNvSpPr txBox="1"/>
          <p:nvPr/>
        </p:nvSpPr>
        <p:spPr>
          <a:xfrm>
            <a:off x="1097280" y="5449824"/>
            <a:ext cx="4568800" cy="274320"/>
          </a:xfrm>
          <a:prstGeom prst="rect">
            <a:avLst/>
          </a:prstGeom>
          <a:noFill/>
          <a:ln/>
        </p:spPr>
        <p:txBody>
          <a:bodyPr wrap="square" lIns="0" tIns="0" rIns="0" bIns="0" rtlCol="0" anchor="t"/>
          <a:lstStyle/>
          <a:p>
            <a:pPr marL="0" indent="0">
              <a:buNone/>
            </a:pPr>
            <a:r>
              <a:rPr lang="en-US" sz="950" dirty="0">
                <a:solidFill>
                  <a:srgbClr val="A3B4C4"/>
                </a:solidFill>
                <a:latin typeface="Calibri" pitchFamily="34" charset="0"/>
                <a:ea typeface="Calibri" pitchFamily="34" charset="-122"/>
                <a:cs typeface="Calibri" pitchFamily="34" charset="-120"/>
              </a:rPr>
              <a:t>Each module grows on its own, behind open APIs you can build on.</a:t>
            </a:r>
            <a:endParaRPr lang="en-US" sz="950" dirty="0"/>
          </a:p>
        </p:txBody>
      </p:sp>
      <p:sp>
        <p:nvSpPr>
          <p:cNvPr id="42" name="Shape 35"/>
          <p:cNvSpPr/>
          <p:nvPr/>
        </p:nvSpPr>
        <p:spPr>
          <a:xfrm>
            <a:off x="6251296" y="3675888"/>
            <a:ext cx="5373472" cy="2103120"/>
          </a:xfrm>
          <a:prstGeom prst="roundRect">
            <a:avLst>
              <a:gd name="adj" fmla="val 5217"/>
            </a:avLst>
          </a:prstGeom>
          <a:solidFill>
            <a:srgbClr val="E85D04"/>
          </a:solidFill>
          <a:ln/>
        </p:spPr>
      </p:sp>
      <p:sp>
        <p:nvSpPr>
          <p:cNvPr id="43" name="Text 36"/>
          <p:cNvSpPr txBox="1"/>
          <p:nvPr/>
        </p:nvSpPr>
        <p:spPr>
          <a:xfrm>
            <a:off x="6525616" y="3858768"/>
            <a:ext cx="4824832" cy="219456"/>
          </a:xfrm>
          <a:prstGeom prst="rect">
            <a:avLst/>
          </a:prstGeom>
          <a:noFill/>
          <a:ln/>
        </p:spPr>
        <p:txBody>
          <a:bodyPr wrap="square" lIns="0" tIns="0" rIns="0" bIns="0" rtlCol="0" anchor="t"/>
          <a:lstStyle/>
          <a:p>
            <a:pPr marL="0" indent="0">
              <a:buNone/>
            </a:pPr>
            <a:r>
              <a:rPr lang="en-US" sz="900" b="1" kern="0" spc="160" dirty="0">
                <a:solidFill>
                  <a:srgbClr val="FFE6D2"/>
                </a:solidFill>
                <a:latin typeface="Arial" pitchFamily="34" charset="0"/>
                <a:ea typeface="Arial" pitchFamily="34" charset="-122"/>
                <a:cs typeface="Arial" pitchFamily="34" charset="-120"/>
              </a:rPr>
              <a:t>PROPOSED NEXT STEPS</a:t>
            </a:r>
            <a:endParaRPr lang="en-US" sz="900" dirty="0"/>
          </a:p>
        </p:txBody>
      </p:sp>
      <p:sp>
        <p:nvSpPr>
          <p:cNvPr id="44" name="Text 37"/>
          <p:cNvSpPr txBox="1"/>
          <p:nvPr/>
        </p:nvSpPr>
        <p:spPr>
          <a:xfrm>
            <a:off x="6543904" y="4151376"/>
            <a:ext cx="274320" cy="329184"/>
          </a:xfrm>
          <a:prstGeom prst="rect">
            <a:avLst/>
          </a:prstGeom>
          <a:noFill/>
          <a:ln/>
        </p:spPr>
        <p:txBody>
          <a:bodyPr wrap="square" lIns="0" tIns="0" rIns="0" bIns="0" rtlCol="0" anchor="ctr"/>
          <a:lstStyle/>
          <a:p>
            <a:pPr marL="0" indent="0">
              <a:buNone/>
            </a:pPr>
            <a:r>
              <a:rPr lang="en-US" sz="1100" b="1" dirty="0">
                <a:solidFill>
                  <a:srgbClr val="FFE6D2"/>
                </a:solidFill>
                <a:latin typeface="Arial" pitchFamily="34" charset="0"/>
                <a:ea typeface="Arial" pitchFamily="34" charset="-122"/>
                <a:cs typeface="Arial" pitchFamily="34" charset="-120"/>
              </a:rPr>
              <a:t>1.</a:t>
            </a:r>
            <a:endParaRPr lang="en-US" sz="1100" dirty="0"/>
          </a:p>
        </p:txBody>
      </p:sp>
      <p:sp>
        <p:nvSpPr>
          <p:cNvPr id="45" name="Text 38"/>
          <p:cNvSpPr txBox="1"/>
          <p:nvPr/>
        </p:nvSpPr>
        <p:spPr>
          <a:xfrm>
            <a:off x="6836512" y="4151376"/>
            <a:ext cx="4513936" cy="32918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Discovery workshop with transport, HR, finance and security</a:t>
            </a:r>
            <a:endParaRPr lang="en-US" sz="1100" dirty="0"/>
          </a:p>
        </p:txBody>
      </p:sp>
      <p:sp>
        <p:nvSpPr>
          <p:cNvPr id="46" name="Text 39"/>
          <p:cNvSpPr txBox="1"/>
          <p:nvPr/>
        </p:nvSpPr>
        <p:spPr>
          <a:xfrm>
            <a:off x="6543904" y="4553712"/>
            <a:ext cx="274320" cy="329184"/>
          </a:xfrm>
          <a:prstGeom prst="rect">
            <a:avLst/>
          </a:prstGeom>
          <a:noFill/>
          <a:ln/>
        </p:spPr>
        <p:txBody>
          <a:bodyPr wrap="square" lIns="0" tIns="0" rIns="0" bIns="0" rtlCol="0" anchor="ctr"/>
          <a:lstStyle/>
          <a:p>
            <a:pPr marL="0" indent="0">
              <a:buNone/>
            </a:pPr>
            <a:r>
              <a:rPr lang="en-US" sz="1100" b="1" dirty="0">
                <a:solidFill>
                  <a:srgbClr val="FFE6D2"/>
                </a:solidFill>
                <a:latin typeface="Arial" pitchFamily="34" charset="0"/>
                <a:ea typeface="Arial" pitchFamily="34" charset="-122"/>
                <a:cs typeface="Arial" pitchFamily="34" charset="-120"/>
              </a:rPr>
              <a:t>2.</a:t>
            </a:r>
            <a:endParaRPr lang="en-US" sz="1100" dirty="0"/>
          </a:p>
        </p:txBody>
      </p:sp>
      <p:sp>
        <p:nvSpPr>
          <p:cNvPr id="47" name="Text 40"/>
          <p:cNvSpPr txBox="1"/>
          <p:nvPr/>
        </p:nvSpPr>
        <p:spPr>
          <a:xfrm>
            <a:off x="6836512" y="4553712"/>
            <a:ext cx="4513936" cy="32918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Agree the pilot site, the three routes and the success measures</a:t>
            </a:r>
            <a:endParaRPr lang="en-US" sz="1100" dirty="0"/>
          </a:p>
        </p:txBody>
      </p:sp>
      <p:sp>
        <p:nvSpPr>
          <p:cNvPr id="48" name="Text 41"/>
          <p:cNvSpPr txBox="1"/>
          <p:nvPr/>
        </p:nvSpPr>
        <p:spPr>
          <a:xfrm>
            <a:off x="6543904" y="4956048"/>
            <a:ext cx="274320" cy="329184"/>
          </a:xfrm>
          <a:prstGeom prst="rect">
            <a:avLst/>
          </a:prstGeom>
          <a:noFill/>
          <a:ln/>
        </p:spPr>
        <p:txBody>
          <a:bodyPr wrap="square" lIns="0" tIns="0" rIns="0" bIns="0" rtlCol="0" anchor="ctr"/>
          <a:lstStyle/>
          <a:p>
            <a:pPr marL="0" indent="0">
              <a:buNone/>
            </a:pPr>
            <a:r>
              <a:rPr lang="en-US" sz="1100" b="1" dirty="0">
                <a:solidFill>
                  <a:srgbClr val="FFE6D2"/>
                </a:solidFill>
                <a:latin typeface="Arial" pitchFamily="34" charset="0"/>
                <a:ea typeface="Arial" pitchFamily="34" charset="-122"/>
                <a:cs typeface="Arial" pitchFamily="34" charset="-120"/>
              </a:rPr>
              <a:t>3.</a:t>
            </a:r>
            <a:endParaRPr lang="en-US" sz="1100" dirty="0"/>
          </a:p>
        </p:txBody>
      </p:sp>
      <p:sp>
        <p:nvSpPr>
          <p:cNvPr id="49" name="Text 42"/>
          <p:cNvSpPr txBox="1"/>
          <p:nvPr/>
        </p:nvSpPr>
        <p:spPr>
          <a:xfrm>
            <a:off x="6836512" y="4956048"/>
            <a:ext cx="4513936" cy="32918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GPS survey of the pilot area and the plant road network</a:t>
            </a:r>
            <a:endParaRPr lang="en-US" sz="1100" dirty="0"/>
          </a:p>
        </p:txBody>
      </p:sp>
      <p:sp>
        <p:nvSpPr>
          <p:cNvPr id="50" name="Text 43"/>
          <p:cNvSpPr txBox="1"/>
          <p:nvPr/>
        </p:nvSpPr>
        <p:spPr>
          <a:xfrm>
            <a:off x="6543904" y="5358384"/>
            <a:ext cx="274320" cy="329184"/>
          </a:xfrm>
          <a:prstGeom prst="rect">
            <a:avLst/>
          </a:prstGeom>
          <a:noFill/>
          <a:ln/>
        </p:spPr>
        <p:txBody>
          <a:bodyPr wrap="square" lIns="0" tIns="0" rIns="0" bIns="0" rtlCol="0" anchor="ctr"/>
          <a:lstStyle/>
          <a:p>
            <a:pPr marL="0" indent="0">
              <a:buNone/>
            </a:pPr>
            <a:r>
              <a:rPr lang="en-US" sz="1100" b="1" dirty="0">
                <a:solidFill>
                  <a:srgbClr val="FFE6D2"/>
                </a:solidFill>
                <a:latin typeface="Arial" pitchFamily="34" charset="0"/>
                <a:ea typeface="Arial" pitchFamily="34" charset="-122"/>
                <a:cs typeface="Arial" pitchFamily="34" charset="-120"/>
              </a:rPr>
              <a:t>4.</a:t>
            </a:r>
            <a:endParaRPr lang="en-US" sz="1100" dirty="0"/>
          </a:p>
        </p:txBody>
      </p:sp>
      <p:sp>
        <p:nvSpPr>
          <p:cNvPr id="51" name="Text 44"/>
          <p:cNvSpPr txBox="1"/>
          <p:nvPr/>
        </p:nvSpPr>
        <p:spPr>
          <a:xfrm>
            <a:off x="6836512" y="5358384"/>
            <a:ext cx="4513936" cy="329184"/>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Pilot plan and sign-off</a:t>
            </a:r>
            <a:endParaRPr lang="en-US" sz="1100" dirty="0"/>
          </a:p>
        </p:txBody>
      </p:sp>
      <p:sp>
        <p:nvSpPr>
          <p:cNvPr id="52" name="Text 45"/>
          <p:cNvSpPr txBox="1"/>
          <p:nvPr/>
        </p:nvSpPr>
        <p:spPr>
          <a:xfrm>
            <a:off x="566928" y="5961888"/>
            <a:ext cx="11057839" cy="310896"/>
          </a:xfrm>
          <a:prstGeom prst="rect">
            <a:avLst/>
          </a:prstGeom>
          <a:noFill/>
          <a:ln/>
        </p:spPr>
        <p:txBody>
          <a:bodyPr wrap="square" lIns="0" tIns="0" rIns="0" bIns="0" rtlCol="0" anchor="ctr"/>
          <a:lstStyle/>
          <a:p>
            <a:pPr marL="0" indent="0">
              <a:buNone/>
            </a:pPr>
            <a:r>
              <a:rPr lang="en-US" sz="1100" dirty="0">
                <a:solidFill>
                  <a:srgbClr val="A3B4C4"/>
                </a:solidFill>
                <a:latin typeface="Calibri" pitchFamily="34" charset="0"/>
                <a:ea typeface="Calibri" pitchFamily="34" charset="-122"/>
                <a:cs typeface="Calibri" pitchFamily="34" charset="-120"/>
              </a:rPr>
              <a:t>SRM ECO TECH   ·   [Krishna]   ·   [info@srmecotech.com]   </a:t>
            </a:r>
            <a:r>
              <a:rPr lang="en-US" sz="1100">
                <a:solidFill>
                  <a:srgbClr val="A3B4C4"/>
                </a:solidFill>
                <a:latin typeface="Calibri" pitchFamily="34" charset="0"/>
                <a:ea typeface="Calibri" pitchFamily="34" charset="-122"/>
                <a:cs typeface="Calibri" pitchFamily="34" charset="-120"/>
              </a:rPr>
              <a:t>·   [8986272307]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3940</Words>
  <Application>Microsoft Office PowerPoint</Application>
  <PresentationFormat>Widescreen</PresentationFormat>
  <Paragraphs>603</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SRM ECO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 Ride - Solution Proposal for LHS</dc:title>
  <dc:subject>Smart cab booking, ride sharing and fleet optimization</dc:subject>
  <dc:creator>SRM ECO TECH</dc:creator>
  <cp:lastModifiedBy>Krishna Manohar</cp:lastModifiedBy>
  <cp:revision>2</cp:revision>
  <dcterms:created xsi:type="dcterms:W3CDTF">2026-09-22T15:24:18Z</dcterms:created>
  <dcterms:modified xsi:type="dcterms:W3CDTF">2026-09-23T03:11:39Z</dcterms:modified>
</cp:coreProperties>
</file>